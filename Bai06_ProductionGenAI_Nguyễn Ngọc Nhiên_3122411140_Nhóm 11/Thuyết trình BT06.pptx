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Lst>
  <p:sldSz cx="18288000" cy="10287000"/>
  <p:notesSz cx="6858000" cy="9144000"/>
  <p:embeddedFontLst>
    <p:embeddedFont>
      <p:font typeface="Asap Bold" charset="1" panose="020F0804030202060203"/>
      <p:regular r:id="rId55"/>
    </p:embeddedFont>
    <p:embeddedFont>
      <p:font typeface="Faustina Bold" charset="1" panose="00000800000000000000"/>
      <p:regular r:id="rId56"/>
    </p:embeddedFont>
    <p:embeddedFont>
      <p:font typeface="Faustina" charset="1" panose="00000500000000000000"/>
      <p:regular r:id="rId57"/>
    </p:embeddedFont>
    <p:embeddedFont>
      <p:font typeface="Asap" charset="1" panose="020F0504030202060203"/>
      <p:regular r:id="rId58"/>
    </p:embeddedFont>
    <p:embeddedFont>
      <p:font typeface="Open Sans" charset="1" panose="020B0606030504020204"/>
      <p:regular r:id="rId59"/>
    </p:embeddedFont>
    <p:embeddedFont>
      <p:font typeface="Birthstone Bounce Medium" charset="1" panose="00000000000000000000"/>
      <p:regular r:id="rId6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slides/slide46.xml" Type="http://schemas.openxmlformats.org/officeDocument/2006/relationships/slide"/><Relationship Id="rId52" Target="slides/slide47.xml" Type="http://schemas.openxmlformats.org/officeDocument/2006/relationships/slide"/><Relationship Id="rId53" Target="slides/slide48.xml" Type="http://schemas.openxmlformats.org/officeDocument/2006/relationships/slide"/><Relationship Id="rId54" Target="slides/slide49.xml" Type="http://schemas.openxmlformats.org/officeDocument/2006/relationships/slide"/><Relationship Id="rId55" Target="fonts/font55.fntdata" Type="http://schemas.openxmlformats.org/officeDocument/2006/relationships/font"/><Relationship Id="rId56" Target="fonts/font56.fntdata" Type="http://schemas.openxmlformats.org/officeDocument/2006/relationships/font"/><Relationship Id="rId57" Target="fonts/font57.fntdata" Type="http://schemas.openxmlformats.org/officeDocument/2006/relationships/font"/><Relationship Id="rId58" Target="fonts/font58.fntdata" Type="http://schemas.openxmlformats.org/officeDocument/2006/relationships/font"/><Relationship Id="rId59" Target="fonts/font59.fntdata" Type="http://schemas.openxmlformats.org/officeDocument/2006/relationships/font"/><Relationship Id="rId6" Target="slides/slide1.xml" Type="http://schemas.openxmlformats.org/officeDocument/2006/relationships/slide"/><Relationship Id="rId60" Target="fonts/font60.fntdata" Type="http://schemas.openxmlformats.org/officeDocument/2006/relationships/font"/><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21" Target="../media/image20.svg" Type="http://schemas.openxmlformats.org/officeDocument/2006/relationships/image"/><Relationship Id="rId22" Target="../media/image21.png" Type="http://schemas.openxmlformats.org/officeDocument/2006/relationships/image"/><Relationship Id="rId23" Target="../media/image22.svg" Type="http://schemas.openxmlformats.org/officeDocument/2006/relationships/image"/><Relationship Id="rId24" Target="../media/image23.png" Type="http://schemas.openxmlformats.org/officeDocument/2006/relationships/image"/><Relationship Id="rId25" Target="../media/image24.svg" Type="http://schemas.openxmlformats.org/officeDocument/2006/relationships/image"/><Relationship Id="rId26" Target="../media/image25.png" Type="http://schemas.openxmlformats.org/officeDocument/2006/relationships/image"/><Relationship Id="rId27" Target="../media/image26.svg" Type="http://schemas.openxmlformats.org/officeDocument/2006/relationships/image"/><Relationship Id="rId28" Target="../media/image27.png" Type="http://schemas.openxmlformats.org/officeDocument/2006/relationships/image"/><Relationship Id="rId29" Target="../media/image28.svg" Type="http://schemas.openxmlformats.org/officeDocument/2006/relationships/image"/><Relationship Id="rId3" Target="../media/image2.svg" Type="http://schemas.openxmlformats.org/officeDocument/2006/relationships/image"/><Relationship Id="rId30" Target="../media/image29.png" Type="http://schemas.openxmlformats.org/officeDocument/2006/relationships/image"/><Relationship Id="rId31" Target="../media/image30.svg" Type="http://schemas.openxmlformats.org/officeDocument/2006/relationships/image"/><Relationship Id="rId32" Target="../media/image31.png" Type="http://schemas.openxmlformats.org/officeDocument/2006/relationships/image"/><Relationship Id="rId33" Target="../media/image32.svg" Type="http://schemas.openxmlformats.org/officeDocument/2006/relationships/image"/><Relationship Id="rId34" Target="../media/image33.png" Type="http://schemas.openxmlformats.org/officeDocument/2006/relationships/image"/><Relationship Id="rId35" Target="../media/image34.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 Id="rId3" Target="../media/image36.svg" Type="http://schemas.openxmlformats.org/officeDocument/2006/relationships/image"/><Relationship Id="rId4" Target="../media/image37.png" Type="http://schemas.openxmlformats.org/officeDocument/2006/relationships/image"/><Relationship Id="rId5" Target="../media/image3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3.png" Type="http://schemas.openxmlformats.org/officeDocument/2006/relationships/image"/><Relationship Id="rId13" Target="../media/image4.svg" Type="http://schemas.openxmlformats.org/officeDocument/2006/relationships/image"/><Relationship Id="rId14" Target="../media/image17.png" Type="http://schemas.openxmlformats.org/officeDocument/2006/relationships/image"/><Relationship Id="rId15" Target="../media/image18.svg" Type="http://schemas.openxmlformats.org/officeDocument/2006/relationships/image"/><Relationship Id="rId2" Target="../media/image23.png" Type="http://schemas.openxmlformats.org/officeDocument/2006/relationships/image"/><Relationship Id="rId3" Target="../media/image24.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25.png" Type="http://schemas.openxmlformats.org/officeDocument/2006/relationships/image"/><Relationship Id="rId7" Target="../media/image26.svg" Type="http://schemas.openxmlformats.org/officeDocument/2006/relationships/image"/><Relationship Id="rId8" Target="../media/image27.png" Type="http://schemas.openxmlformats.org/officeDocument/2006/relationships/image"/><Relationship Id="rId9" Target="../media/image2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9.png" Type="http://schemas.openxmlformats.org/officeDocument/2006/relationships/image"/><Relationship Id="rId3" Target="../media/image40.svg" Type="http://schemas.openxmlformats.org/officeDocument/2006/relationships/image"/><Relationship Id="rId4" Target="../media/image41.png" Type="http://schemas.openxmlformats.org/officeDocument/2006/relationships/image"/><Relationship Id="rId5" Target="../media/image4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3.png" Type="http://schemas.openxmlformats.org/officeDocument/2006/relationships/image"/><Relationship Id="rId13" Target="../media/image4.svg" Type="http://schemas.openxmlformats.org/officeDocument/2006/relationships/image"/><Relationship Id="rId14" Target="../media/image17.png" Type="http://schemas.openxmlformats.org/officeDocument/2006/relationships/image"/><Relationship Id="rId15" Target="../media/image18.svg" Type="http://schemas.openxmlformats.org/officeDocument/2006/relationships/image"/><Relationship Id="rId2" Target="../media/image23.png" Type="http://schemas.openxmlformats.org/officeDocument/2006/relationships/image"/><Relationship Id="rId3" Target="../media/image24.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25.png" Type="http://schemas.openxmlformats.org/officeDocument/2006/relationships/image"/><Relationship Id="rId7" Target="../media/image26.svg" Type="http://schemas.openxmlformats.org/officeDocument/2006/relationships/image"/><Relationship Id="rId8" Target="../media/image27.png" Type="http://schemas.openxmlformats.org/officeDocument/2006/relationships/image"/><Relationship Id="rId9" Target="../media/image2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3.png" Type="http://schemas.openxmlformats.org/officeDocument/2006/relationships/image"/><Relationship Id="rId3" Target="../media/image44.svg" Type="http://schemas.openxmlformats.org/officeDocument/2006/relationships/image"/><Relationship Id="rId4" Target="../media/image45.png" Type="http://schemas.openxmlformats.org/officeDocument/2006/relationships/image"/><Relationship Id="rId5" Target="../media/image46.svg" Type="http://schemas.openxmlformats.org/officeDocument/2006/relationships/image"/><Relationship Id="rId6" Target="../media/image47.png" Type="http://schemas.openxmlformats.org/officeDocument/2006/relationships/image"/><Relationship Id="rId7" Target="../media/image48.svg" Type="http://schemas.openxmlformats.org/officeDocument/2006/relationships/image"/><Relationship Id="rId8" Target="../media/image49.png" Type="http://schemas.openxmlformats.org/officeDocument/2006/relationships/image"/><Relationship Id="rId9" Target="../media/image50.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3.png" Type="http://schemas.openxmlformats.org/officeDocument/2006/relationships/image"/><Relationship Id="rId13" Target="../media/image4.svg" Type="http://schemas.openxmlformats.org/officeDocument/2006/relationships/image"/><Relationship Id="rId14" Target="../media/image17.png" Type="http://schemas.openxmlformats.org/officeDocument/2006/relationships/image"/><Relationship Id="rId15" Target="../media/image18.svg" Type="http://schemas.openxmlformats.org/officeDocument/2006/relationships/image"/><Relationship Id="rId2" Target="../media/image23.png" Type="http://schemas.openxmlformats.org/officeDocument/2006/relationships/image"/><Relationship Id="rId3" Target="../media/image24.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25.png" Type="http://schemas.openxmlformats.org/officeDocument/2006/relationships/image"/><Relationship Id="rId7" Target="../media/image26.svg" Type="http://schemas.openxmlformats.org/officeDocument/2006/relationships/image"/><Relationship Id="rId8" Target="../media/image27.png" Type="http://schemas.openxmlformats.org/officeDocument/2006/relationships/image"/><Relationship Id="rId9" Target="../media/image2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 Id="rId3" Target="../media/image36.svg" Type="http://schemas.openxmlformats.org/officeDocument/2006/relationships/image"/><Relationship Id="rId4" Target="../media/image37.png" Type="http://schemas.openxmlformats.org/officeDocument/2006/relationships/image"/><Relationship Id="rId5" Target="../media/image3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3.png" Type="http://schemas.openxmlformats.org/officeDocument/2006/relationships/image"/><Relationship Id="rId13" Target="../media/image4.svg" Type="http://schemas.openxmlformats.org/officeDocument/2006/relationships/image"/><Relationship Id="rId14" Target="../media/image17.png" Type="http://schemas.openxmlformats.org/officeDocument/2006/relationships/image"/><Relationship Id="rId15" Target="../media/image18.svg" Type="http://schemas.openxmlformats.org/officeDocument/2006/relationships/image"/><Relationship Id="rId2" Target="../media/image23.png" Type="http://schemas.openxmlformats.org/officeDocument/2006/relationships/image"/><Relationship Id="rId3" Target="../media/image24.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25.png" Type="http://schemas.openxmlformats.org/officeDocument/2006/relationships/image"/><Relationship Id="rId7" Target="../media/image26.svg" Type="http://schemas.openxmlformats.org/officeDocument/2006/relationships/image"/><Relationship Id="rId8" Target="../media/image27.png" Type="http://schemas.openxmlformats.org/officeDocument/2006/relationships/image"/><Relationship Id="rId9" Target="../media/image28.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1.png" Type="http://schemas.openxmlformats.org/officeDocument/2006/relationships/image"/><Relationship Id="rId3" Target="../media/image52.svg" Type="http://schemas.openxmlformats.org/officeDocument/2006/relationships/image"/><Relationship Id="rId4" Target="../media/image53.png" Type="http://schemas.openxmlformats.org/officeDocument/2006/relationships/image"/><Relationship Id="rId5" Target="../media/image54.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png" Type="http://schemas.openxmlformats.org/officeDocument/2006/relationships/image"/><Relationship Id="rId11" Target="../media/image26.svg" Type="http://schemas.openxmlformats.org/officeDocument/2006/relationships/image"/><Relationship Id="rId12" Target="../media/image3.png" Type="http://schemas.openxmlformats.org/officeDocument/2006/relationships/image"/><Relationship Id="rId13" Target="../media/image4.svg" Type="http://schemas.openxmlformats.org/officeDocument/2006/relationships/image"/><Relationship Id="rId14" Target="../media/image5.png" Type="http://schemas.openxmlformats.org/officeDocument/2006/relationships/image"/><Relationship Id="rId15" Target="../media/image6.svg" Type="http://schemas.openxmlformats.org/officeDocument/2006/relationships/image"/><Relationship Id="rId16" Target="../media/image13.png" Type="http://schemas.openxmlformats.org/officeDocument/2006/relationships/image"/><Relationship Id="rId17" Target="../media/image14.svg" Type="http://schemas.openxmlformats.org/officeDocument/2006/relationships/image"/><Relationship Id="rId18" Target="../media/image57.png" Type="http://schemas.openxmlformats.org/officeDocument/2006/relationships/image"/><Relationship Id="rId19" Target="../media/image58.svg" Type="http://schemas.openxmlformats.org/officeDocument/2006/relationships/image"/><Relationship Id="rId2" Target="../media/image23.png" Type="http://schemas.openxmlformats.org/officeDocument/2006/relationships/image"/><Relationship Id="rId3" Target="../media/image24.svg" Type="http://schemas.openxmlformats.org/officeDocument/2006/relationships/image"/><Relationship Id="rId4" Target="../media/image55.png" Type="http://schemas.openxmlformats.org/officeDocument/2006/relationships/image"/><Relationship Id="rId5" Target="../media/image56.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17.png" Type="http://schemas.openxmlformats.org/officeDocument/2006/relationships/image"/><Relationship Id="rId9" Target="../media/image18.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3.png" Type="http://schemas.openxmlformats.org/officeDocument/2006/relationships/image"/><Relationship Id="rId13" Target="../media/image4.svg" Type="http://schemas.openxmlformats.org/officeDocument/2006/relationships/image"/><Relationship Id="rId14" Target="../media/image17.png" Type="http://schemas.openxmlformats.org/officeDocument/2006/relationships/image"/><Relationship Id="rId15" Target="../media/image18.svg" Type="http://schemas.openxmlformats.org/officeDocument/2006/relationships/image"/><Relationship Id="rId2" Target="../media/image23.png" Type="http://schemas.openxmlformats.org/officeDocument/2006/relationships/image"/><Relationship Id="rId3" Target="../media/image24.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25.png" Type="http://schemas.openxmlformats.org/officeDocument/2006/relationships/image"/><Relationship Id="rId7" Target="../media/image26.svg" Type="http://schemas.openxmlformats.org/officeDocument/2006/relationships/image"/><Relationship Id="rId8" Target="../media/image27.png" Type="http://schemas.openxmlformats.org/officeDocument/2006/relationships/image"/><Relationship Id="rId9" Target="../media/image28.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3.png" Type="http://schemas.openxmlformats.org/officeDocument/2006/relationships/image"/><Relationship Id="rId13" Target="../media/image4.svg" Type="http://schemas.openxmlformats.org/officeDocument/2006/relationships/image"/><Relationship Id="rId14" Target="../media/image17.png" Type="http://schemas.openxmlformats.org/officeDocument/2006/relationships/image"/><Relationship Id="rId15" Target="../media/image18.svg" Type="http://schemas.openxmlformats.org/officeDocument/2006/relationships/image"/><Relationship Id="rId2" Target="../media/image23.png" Type="http://schemas.openxmlformats.org/officeDocument/2006/relationships/image"/><Relationship Id="rId3" Target="../media/image24.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25.png" Type="http://schemas.openxmlformats.org/officeDocument/2006/relationships/image"/><Relationship Id="rId7" Target="../media/image26.svg" Type="http://schemas.openxmlformats.org/officeDocument/2006/relationships/image"/><Relationship Id="rId8" Target="../media/image27.png" Type="http://schemas.openxmlformats.org/officeDocument/2006/relationships/image"/><Relationship Id="rId9" Target="../media/image28.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3.png" Type="http://schemas.openxmlformats.org/officeDocument/2006/relationships/image"/><Relationship Id="rId13" Target="../media/image4.svg" Type="http://schemas.openxmlformats.org/officeDocument/2006/relationships/image"/><Relationship Id="rId14" Target="../media/image17.png" Type="http://schemas.openxmlformats.org/officeDocument/2006/relationships/image"/><Relationship Id="rId15" Target="../media/image18.svg" Type="http://schemas.openxmlformats.org/officeDocument/2006/relationships/image"/><Relationship Id="rId2" Target="../media/image23.png" Type="http://schemas.openxmlformats.org/officeDocument/2006/relationships/image"/><Relationship Id="rId3" Target="../media/image24.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25.png" Type="http://schemas.openxmlformats.org/officeDocument/2006/relationships/image"/><Relationship Id="rId7" Target="../media/image26.svg" Type="http://schemas.openxmlformats.org/officeDocument/2006/relationships/image"/><Relationship Id="rId8" Target="../media/image27.png" Type="http://schemas.openxmlformats.org/officeDocument/2006/relationships/image"/><Relationship Id="rId9" Target="../media/image28.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C8E3ED"/>
        </a:solidFill>
      </p:bgPr>
    </p:bg>
    <p:spTree>
      <p:nvGrpSpPr>
        <p:cNvPr id="1" name=""/>
        <p:cNvGrpSpPr/>
        <p:nvPr/>
      </p:nvGrpSpPr>
      <p:grpSpPr>
        <a:xfrm>
          <a:off x="0" y="0"/>
          <a:ext cx="0" cy="0"/>
          <a:chOff x="0" y="0"/>
          <a:chExt cx="0" cy="0"/>
        </a:xfrm>
      </p:grpSpPr>
      <p:sp>
        <p:nvSpPr>
          <p:cNvPr name="Freeform 2" id="2"/>
          <p:cNvSpPr/>
          <p:nvPr/>
        </p:nvSpPr>
        <p:spPr>
          <a:xfrm flipH="false" flipV="false" rot="0">
            <a:off x="15980697" y="-1310862"/>
            <a:ext cx="2934034" cy="3440765"/>
          </a:xfrm>
          <a:custGeom>
            <a:avLst/>
            <a:gdLst/>
            <a:ahLst/>
            <a:cxnLst/>
            <a:rect r="r" b="b" t="t" l="l"/>
            <a:pathLst>
              <a:path h="3440765" w="2934034">
                <a:moveTo>
                  <a:pt x="0" y="0"/>
                </a:moveTo>
                <a:lnTo>
                  <a:pt x="2934034" y="0"/>
                </a:lnTo>
                <a:lnTo>
                  <a:pt x="2934034" y="3440765"/>
                </a:lnTo>
                <a:lnTo>
                  <a:pt x="0" y="344076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907961">
            <a:off x="2766698" y="8543297"/>
            <a:ext cx="1768567" cy="1835089"/>
          </a:xfrm>
          <a:custGeom>
            <a:avLst/>
            <a:gdLst/>
            <a:ahLst/>
            <a:cxnLst/>
            <a:rect r="r" b="b" t="t" l="l"/>
            <a:pathLst>
              <a:path h="1835089" w="1768567">
                <a:moveTo>
                  <a:pt x="0" y="0"/>
                </a:moveTo>
                <a:lnTo>
                  <a:pt x="1768567" y="0"/>
                </a:lnTo>
                <a:lnTo>
                  <a:pt x="1768567" y="1835089"/>
                </a:lnTo>
                <a:lnTo>
                  <a:pt x="0" y="18350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326775">
            <a:off x="5608313" y="9494579"/>
            <a:ext cx="2307981" cy="3134779"/>
          </a:xfrm>
          <a:custGeom>
            <a:avLst/>
            <a:gdLst/>
            <a:ahLst/>
            <a:cxnLst/>
            <a:rect r="r" b="b" t="t" l="l"/>
            <a:pathLst>
              <a:path h="3134779" w="2307981">
                <a:moveTo>
                  <a:pt x="0" y="0"/>
                </a:moveTo>
                <a:lnTo>
                  <a:pt x="2307981" y="0"/>
                </a:lnTo>
                <a:lnTo>
                  <a:pt x="2307981" y="3134779"/>
                </a:lnTo>
                <a:lnTo>
                  <a:pt x="0" y="313477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568969">
            <a:off x="5784602" y="-844965"/>
            <a:ext cx="3202547" cy="2169725"/>
          </a:xfrm>
          <a:custGeom>
            <a:avLst/>
            <a:gdLst/>
            <a:ahLst/>
            <a:cxnLst/>
            <a:rect r="r" b="b" t="t" l="l"/>
            <a:pathLst>
              <a:path h="2169725" w="3202547">
                <a:moveTo>
                  <a:pt x="0" y="0"/>
                </a:moveTo>
                <a:lnTo>
                  <a:pt x="3202546" y="0"/>
                </a:lnTo>
                <a:lnTo>
                  <a:pt x="3202546" y="2169726"/>
                </a:lnTo>
                <a:lnTo>
                  <a:pt x="0" y="216972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1656121">
            <a:off x="13550342" y="-185484"/>
            <a:ext cx="1708446" cy="1719191"/>
          </a:xfrm>
          <a:custGeom>
            <a:avLst/>
            <a:gdLst/>
            <a:ahLst/>
            <a:cxnLst/>
            <a:rect r="r" b="b" t="t" l="l"/>
            <a:pathLst>
              <a:path h="1719191" w="1708446">
                <a:moveTo>
                  <a:pt x="0" y="0"/>
                </a:moveTo>
                <a:lnTo>
                  <a:pt x="1708446" y="0"/>
                </a:lnTo>
                <a:lnTo>
                  <a:pt x="1708446" y="1719191"/>
                </a:lnTo>
                <a:lnTo>
                  <a:pt x="0" y="171919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7" id="7"/>
          <p:cNvGrpSpPr/>
          <p:nvPr/>
        </p:nvGrpSpPr>
        <p:grpSpPr>
          <a:xfrm rot="0">
            <a:off x="2355552" y="75256"/>
            <a:ext cx="13625145" cy="9569407"/>
            <a:chOff x="0" y="0"/>
            <a:chExt cx="18166860" cy="12759209"/>
          </a:xfrm>
        </p:grpSpPr>
        <p:grpSp>
          <p:nvGrpSpPr>
            <p:cNvPr name="Group 8" id="8"/>
            <p:cNvGrpSpPr/>
            <p:nvPr/>
          </p:nvGrpSpPr>
          <p:grpSpPr>
            <a:xfrm rot="0">
              <a:off x="0" y="227787"/>
              <a:ext cx="9173687" cy="8411684"/>
              <a:chOff x="0" y="0"/>
              <a:chExt cx="9826871" cy="9010612"/>
            </a:xfrm>
          </p:grpSpPr>
          <p:sp>
            <p:nvSpPr>
              <p:cNvPr name="Freeform 9" id="9"/>
              <p:cNvSpPr/>
              <p:nvPr/>
            </p:nvSpPr>
            <p:spPr>
              <a:xfrm flipH="false" flipV="false" rot="0">
                <a:off x="-1" y="0"/>
                <a:ext cx="9826872" cy="9010612"/>
              </a:xfrm>
              <a:custGeom>
                <a:avLst/>
                <a:gdLst/>
                <a:ahLst/>
                <a:cxnLst/>
                <a:rect r="r" b="b" t="t" l="l"/>
                <a:pathLst>
                  <a:path h="9010612" w="9826872">
                    <a:moveTo>
                      <a:pt x="9328091" y="8993693"/>
                    </a:moveTo>
                    <a:cubicBezTo>
                      <a:pt x="9328091" y="8993693"/>
                      <a:pt x="9091096" y="8983723"/>
                      <a:pt x="8728957" y="8997168"/>
                    </a:cubicBezTo>
                    <a:cubicBezTo>
                      <a:pt x="8366818" y="9010612"/>
                      <a:pt x="490924" y="9010612"/>
                      <a:pt x="490924" y="9010612"/>
                    </a:cubicBezTo>
                    <a:cubicBezTo>
                      <a:pt x="245502" y="9010612"/>
                      <a:pt x="32509" y="8913344"/>
                      <a:pt x="31032" y="8753230"/>
                    </a:cubicBezTo>
                    <a:cubicBezTo>
                      <a:pt x="31032" y="8753230"/>
                      <a:pt x="0" y="6210924"/>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9281543" y="0"/>
                      <a:pt x="9281543" y="0"/>
                    </a:cubicBezTo>
                    <a:cubicBezTo>
                      <a:pt x="9593444" y="0"/>
                      <a:pt x="9826872" y="101069"/>
                      <a:pt x="9819015" y="303616"/>
                    </a:cubicBezTo>
                    <a:cubicBezTo>
                      <a:pt x="9819015" y="303616"/>
                      <a:pt x="9817020" y="5712302"/>
                      <a:pt x="9825775" y="8053643"/>
                    </a:cubicBezTo>
                    <a:cubicBezTo>
                      <a:pt x="9834530" y="8346944"/>
                      <a:pt x="9787983" y="8680015"/>
                      <a:pt x="9787983" y="8680015"/>
                    </a:cubicBezTo>
                    <a:cubicBezTo>
                      <a:pt x="9785017" y="8860041"/>
                      <a:pt x="9573514" y="8993693"/>
                      <a:pt x="9328091" y="8993693"/>
                    </a:cubicBezTo>
                    <a:close/>
                  </a:path>
                </a:pathLst>
              </a:custGeom>
              <a:solidFill>
                <a:srgbClr val="8FB7C6"/>
              </a:solidFill>
            </p:spPr>
          </p:sp>
        </p:grpSp>
        <p:grpSp>
          <p:nvGrpSpPr>
            <p:cNvPr name="Group 10" id="10"/>
            <p:cNvGrpSpPr/>
            <p:nvPr/>
          </p:nvGrpSpPr>
          <p:grpSpPr>
            <a:xfrm rot="0">
              <a:off x="8993173" y="227787"/>
              <a:ext cx="9173687" cy="8411684"/>
              <a:chOff x="0" y="0"/>
              <a:chExt cx="9826871" cy="9010612"/>
            </a:xfrm>
          </p:grpSpPr>
          <p:sp>
            <p:nvSpPr>
              <p:cNvPr name="Freeform 11" id="11"/>
              <p:cNvSpPr/>
              <p:nvPr/>
            </p:nvSpPr>
            <p:spPr>
              <a:xfrm flipH="false" flipV="false" rot="0">
                <a:off x="-1" y="0"/>
                <a:ext cx="9826872" cy="9010612"/>
              </a:xfrm>
              <a:custGeom>
                <a:avLst/>
                <a:gdLst/>
                <a:ahLst/>
                <a:cxnLst/>
                <a:rect r="r" b="b" t="t" l="l"/>
                <a:pathLst>
                  <a:path h="9010612" w="9826872">
                    <a:moveTo>
                      <a:pt x="9328091" y="8993693"/>
                    </a:moveTo>
                    <a:cubicBezTo>
                      <a:pt x="9328091" y="8993693"/>
                      <a:pt x="9091096" y="8983723"/>
                      <a:pt x="8728957" y="8997168"/>
                    </a:cubicBezTo>
                    <a:cubicBezTo>
                      <a:pt x="8366818" y="9010612"/>
                      <a:pt x="490924" y="9010612"/>
                      <a:pt x="490924" y="9010612"/>
                    </a:cubicBezTo>
                    <a:cubicBezTo>
                      <a:pt x="245502" y="9010612"/>
                      <a:pt x="32509" y="8913344"/>
                      <a:pt x="31032" y="8753230"/>
                    </a:cubicBezTo>
                    <a:cubicBezTo>
                      <a:pt x="31032" y="8753230"/>
                      <a:pt x="0" y="6210924"/>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9281543" y="0"/>
                      <a:pt x="9281543" y="0"/>
                    </a:cubicBezTo>
                    <a:cubicBezTo>
                      <a:pt x="9593444" y="0"/>
                      <a:pt x="9826872" y="101069"/>
                      <a:pt x="9819015" y="303616"/>
                    </a:cubicBezTo>
                    <a:cubicBezTo>
                      <a:pt x="9819015" y="303616"/>
                      <a:pt x="9817020" y="5712302"/>
                      <a:pt x="9825775" y="8053643"/>
                    </a:cubicBezTo>
                    <a:cubicBezTo>
                      <a:pt x="9834530" y="8346944"/>
                      <a:pt x="9787983" y="8680015"/>
                      <a:pt x="9787983" y="8680015"/>
                    </a:cubicBezTo>
                    <a:cubicBezTo>
                      <a:pt x="9785017" y="8860041"/>
                      <a:pt x="9573514" y="8993693"/>
                      <a:pt x="9328091" y="8993693"/>
                    </a:cubicBezTo>
                    <a:close/>
                  </a:path>
                </a:pathLst>
              </a:custGeom>
              <a:solidFill>
                <a:srgbClr val="8FB7C6"/>
              </a:solidFill>
            </p:spPr>
          </p:sp>
        </p:grpSp>
        <p:grpSp>
          <p:nvGrpSpPr>
            <p:cNvPr name="Group 12" id="12"/>
            <p:cNvGrpSpPr/>
            <p:nvPr/>
          </p:nvGrpSpPr>
          <p:grpSpPr>
            <a:xfrm rot="0">
              <a:off x="134132" y="309304"/>
              <a:ext cx="9038222" cy="8205953"/>
              <a:chOff x="0" y="0"/>
              <a:chExt cx="9826871" cy="8921981"/>
            </a:xfrm>
          </p:grpSpPr>
          <p:sp>
            <p:nvSpPr>
              <p:cNvPr name="Freeform 13" id="13"/>
              <p:cNvSpPr/>
              <p:nvPr/>
            </p:nvSpPr>
            <p:spPr>
              <a:xfrm flipH="false" flipV="false" rot="0">
                <a:off x="-1" y="0"/>
                <a:ext cx="9826872" cy="8921981"/>
              </a:xfrm>
              <a:custGeom>
                <a:avLst/>
                <a:gdLst/>
                <a:ahLst/>
                <a:cxnLst/>
                <a:rect r="r" b="b" t="t" l="l"/>
                <a:pathLst>
                  <a:path h="8921981" w="9826872">
                    <a:moveTo>
                      <a:pt x="9328091" y="8905062"/>
                    </a:moveTo>
                    <a:cubicBezTo>
                      <a:pt x="9328091" y="8905062"/>
                      <a:pt x="9091096" y="8895093"/>
                      <a:pt x="8728957" y="8908537"/>
                    </a:cubicBezTo>
                    <a:cubicBezTo>
                      <a:pt x="8366818" y="8921981"/>
                      <a:pt x="490924" y="8921981"/>
                      <a:pt x="490924" y="8921981"/>
                    </a:cubicBezTo>
                    <a:cubicBezTo>
                      <a:pt x="245502" y="8921981"/>
                      <a:pt x="32509" y="8824713"/>
                      <a:pt x="31032" y="8664599"/>
                    </a:cubicBezTo>
                    <a:cubicBezTo>
                      <a:pt x="31032" y="8664599"/>
                      <a:pt x="0" y="6142272"/>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9281543" y="0"/>
                      <a:pt x="9281543" y="0"/>
                    </a:cubicBezTo>
                    <a:cubicBezTo>
                      <a:pt x="9593444" y="0"/>
                      <a:pt x="9826872" y="101069"/>
                      <a:pt x="9819015" y="303616"/>
                    </a:cubicBezTo>
                    <a:cubicBezTo>
                      <a:pt x="9819015" y="303616"/>
                      <a:pt x="9817020" y="5649759"/>
                      <a:pt x="9825775" y="7965011"/>
                    </a:cubicBezTo>
                    <a:cubicBezTo>
                      <a:pt x="9834530" y="8258313"/>
                      <a:pt x="9787983" y="8591385"/>
                      <a:pt x="9787983" y="8591385"/>
                    </a:cubicBezTo>
                    <a:cubicBezTo>
                      <a:pt x="9785017" y="8771410"/>
                      <a:pt x="9573514" y="8905062"/>
                      <a:pt x="9328091" y="8905062"/>
                    </a:cubicBezTo>
                    <a:close/>
                  </a:path>
                </a:pathLst>
              </a:custGeom>
              <a:solidFill>
                <a:srgbClr val="8FB7C6"/>
              </a:solidFill>
            </p:spPr>
          </p:sp>
        </p:grpSp>
        <p:grpSp>
          <p:nvGrpSpPr>
            <p:cNvPr name="Group 14" id="14"/>
            <p:cNvGrpSpPr/>
            <p:nvPr/>
          </p:nvGrpSpPr>
          <p:grpSpPr>
            <a:xfrm rot="0">
              <a:off x="8994506" y="309304"/>
              <a:ext cx="9038222" cy="8205953"/>
              <a:chOff x="0" y="0"/>
              <a:chExt cx="9826871" cy="8921981"/>
            </a:xfrm>
          </p:grpSpPr>
          <p:sp>
            <p:nvSpPr>
              <p:cNvPr name="Freeform 15" id="15"/>
              <p:cNvSpPr/>
              <p:nvPr/>
            </p:nvSpPr>
            <p:spPr>
              <a:xfrm flipH="false" flipV="false" rot="0">
                <a:off x="-1" y="0"/>
                <a:ext cx="9826872" cy="8921981"/>
              </a:xfrm>
              <a:custGeom>
                <a:avLst/>
                <a:gdLst/>
                <a:ahLst/>
                <a:cxnLst/>
                <a:rect r="r" b="b" t="t" l="l"/>
                <a:pathLst>
                  <a:path h="8921981" w="9826872">
                    <a:moveTo>
                      <a:pt x="9328091" y="8905062"/>
                    </a:moveTo>
                    <a:cubicBezTo>
                      <a:pt x="9328091" y="8905062"/>
                      <a:pt x="9091096" y="8895093"/>
                      <a:pt x="8728957" y="8908537"/>
                    </a:cubicBezTo>
                    <a:cubicBezTo>
                      <a:pt x="8366818" y="8921981"/>
                      <a:pt x="490924" y="8921981"/>
                      <a:pt x="490924" y="8921981"/>
                    </a:cubicBezTo>
                    <a:cubicBezTo>
                      <a:pt x="245502" y="8921981"/>
                      <a:pt x="32509" y="8824713"/>
                      <a:pt x="31032" y="8664599"/>
                    </a:cubicBezTo>
                    <a:cubicBezTo>
                      <a:pt x="31032" y="8664599"/>
                      <a:pt x="0" y="6142272"/>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9281543" y="0"/>
                      <a:pt x="9281543" y="0"/>
                    </a:cubicBezTo>
                    <a:cubicBezTo>
                      <a:pt x="9593444" y="0"/>
                      <a:pt x="9826872" y="101069"/>
                      <a:pt x="9819015" y="303616"/>
                    </a:cubicBezTo>
                    <a:cubicBezTo>
                      <a:pt x="9819015" y="303616"/>
                      <a:pt x="9817020" y="5649759"/>
                      <a:pt x="9825775" y="7965011"/>
                    </a:cubicBezTo>
                    <a:cubicBezTo>
                      <a:pt x="9834530" y="8258313"/>
                      <a:pt x="9787983" y="8591385"/>
                      <a:pt x="9787983" y="8591385"/>
                    </a:cubicBezTo>
                    <a:cubicBezTo>
                      <a:pt x="9785017" y="8771410"/>
                      <a:pt x="9573514" y="8905062"/>
                      <a:pt x="9328091" y="8905062"/>
                    </a:cubicBezTo>
                    <a:close/>
                  </a:path>
                </a:pathLst>
              </a:custGeom>
              <a:solidFill>
                <a:srgbClr val="8FB7C6"/>
              </a:solidFill>
            </p:spPr>
          </p:sp>
        </p:grpSp>
        <p:grpSp>
          <p:nvGrpSpPr>
            <p:cNvPr name="Group 16" id="16"/>
            <p:cNvGrpSpPr/>
            <p:nvPr/>
          </p:nvGrpSpPr>
          <p:grpSpPr>
            <a:xfrm rot="0">
              <a:off x="550380" y="0"/>
              <a:ext cx="8604781" cy="8106895"/>
              <a:chOff x="0" y="0"/>
              <a:chExt cx="9826871" cy="9258274"/>
            </a:xfrm>
          </p:grpSpPr>
          <p:sp>
            <p:nvSpPr>
              <p:cNvPr name="Freeform 17" id="17"/>
              <p:cNvSpPr/>
              <p:nvPr/>
            </p:nvSpPr>
            <p:spPr>
              <a:xfrm flipH="false" flipV="false" rot="0">
                <a:off x="-1" y="0"/>
                <a:ext cx="9826872" cy="9258274"/>
              </a:xfrm>
              <a:custGeom>
                <a:avLst/>
                <a:gdLst/>
                <a:ahLst/>
                <a:cxnLst/>
                <a:rect r="r" b="b" t="t" l="l"/>
                <a:pathLst>
                  <a:path h="9258274" w="9826872">
                    <a:moveTo>
                      <a:pt x="9328091" y="9241355"/>
                    </a:moveTo>
                    <a:cubicBezTo>
                      <a:pt x="9328091" y="9241355"/>
                      <a:pt x="9091096" y="9231386"/>
                      <a:pt x="8728957" y="9244830"/>
                    </a:cubicBezTo>
                    <a:cubicBezTo>
                      <a:pt x="8366818" y="9258274"/>
                      <a:pt x="490924" y="9258274"/>
                      <a:pt x="490924" y="9258274"/>
                    </a:cubicBezTo>
                    <a:cubicBezTo>
                      <a:pt x="245502" y="9258274"/>
                      <a:pt x="32509" y="9161006"/>
                      <a:pt x="31032" y="9000892"/>
                    </a:cubicBezTo>
                    <a:cubicBezTo>
                      <a:pt x="31032" y="9000892"/>
                      <a:pt x="0" y="6402763"/>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9281543" y="0"/>
                      <a:pt x="9281543" y="0"/>
                    </a:cubicBezTo>
                    <a:cubicBezTo>
                      <a:pt x="9593444" y="0"/>
                      <a:pt x="9826872" y="101069"/>
                      <a:pt x="9819015" y="303616"/>
                    </a:cubicBezTo>
                    <a:cubicBezTo>
                      <a:pt x="9819015" y="303616"/>
                      <a:pt x="9817020" y="5887069"/>
                      <a:pt x="9825775" y="8301305"/>
                    </a:cubicBezTo>
                    <a:cubicBezTo>
                      <a:pt x="9834530" y="8594606"/>
                      <a:pt x="9787983" y="8927678"/>
                      <a:pt x="9787983" y="8927678"/>
                    </a:cubicBezTo>
                    <a:cubicBezTo>
                      <a:pt x="9785017" y="9107703"/>
                      <a:pt x="9573514" y="9241355"/>
                      <a:pt x="9328091" y="9241355"/>
                    </a:cubicBezTo>
                    <a:close/>
                  </a:path>
                </a:pathLst>
              </a:custGeom>
              <a:solidFill>
                <a:srgbClr val="F3FCFF"/>
              </a:solidFill>
            </p:spPr>
          </p:sp>
        </p:grpSp>
        <p:grpSp>
          <p:nvGrpSpPr>
            <p:cNvPr name="Group 18" id="18"/>
            <p:cNvGrpSpPr/>
            <p:nvPr/>
          </p:nvGrpSpPr>
          <p:grpSpPr>
            <a:xfrm rot="0">
              <a:off x="8985841" y="0"/>
              <a:ext cx="8604781" cy="8106895"/>
              <a:chOff x="0" y="0"/>
              <a:chExt cx="9826871" cy="9258274"/>
            </a:xfrm>
          </p:grpSpPr>
          <p:sp>
            <p:nvSpPr>
              <p:cNvPr name="Freeform 19" id="19"/>
              <p:cNvSpPr/>
              <p:nvPr/>
            </p:nvSpPr>
            <p:spPr>
              <a:xfrm flipH="false" flipV="false" rot="0">
                <a:off x="-1" y="0"/>
                <a:ext cx="9826872" cy="9258274"/>
              </a:xfrm>
              <a:custGeom>
                <a:avLst/>
                <a:gdLst/>
                <a:ahLst/>
                <a:cxnLst/>
                <a:rect r="r" b="b" t="t" l="l"/>
                <a:pathLst>
                  <a:path h="9258274" w="9826872">
                    <a:moveTo>
                      <a:pt x="9328091" y="9241355"/>
                    </a:moveTo>
                    <a:cubicBezTo>
                      <a:pt x="9328091" y="9241355"/>
                      <a:pt x="9091096" y="9231386"/>
                      <a:pt x="8728957" y="9244830"/>
                    </a:cubicBezTo>
                    <a:cubicBezTo>
                      <a:pt x="8366818" y="9258274"/>
                      <a:pt x="490924" y="9258274"/>
                      <a:pt x="490924" y="9258274"/>
                    </a:cubicBezTo>
                    <a:cubicBezTo>
                      <a:pt x="245502" y="9258274"/>
                      <a:pt x="32509" y="9161006"/>
                      <a:pt x="31032" y="9000892"/>
                    </a:cubicBezTo>
                    <a:cubicBezTo>
                      <a:pt x="31032" y="9000892"/>
                      <a:pt x="0" y="6402763"/>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9281543" y="0"/>
                      <a:pt x="9281543" y="0"/>
                    </a:cubicBezTo>
                    <a:cubicBezTo>
                      <a:pt x="9593444" y="0"/>
                      <a:pt x="9826872" y="101069"/>
                      <a:pt x="9819015" y="303616"/>
                    </a:cubicBezTo>
                    <a:cubicBezTo>
                      <a:pt x="9819015" y="303616"/>
                      <a:pt x="9817020" y="5887069"/>
                      <a:pt x="9825775" y="8301305"/>
                    </a:cubicBezTo>
                    <a:cubicBezTo>
                      <a:pt x="9834530" y="8594606"/>
                      <a:pt x="9787983" y="8927678"/>
                      <a:pt x="9787983" y="8927678"/>
                    </a:cubicBezTo>
                    <a:cubicBezTo>
                      <a:pt x="9785017" y="9107703"/>
                      <a:pt x="9573514" y="9241355"/>
                      <a:pt x="9328091" y="9241355"/>
                    </a:cubicBezTo>
                    <a:close/>
                  </a:path>
                </a:pathLst>
              </a:custGeom>
              <a:solidFill>
                <a:srgbClr val="F3FCFF"/>
              </a:solidFill>
            </p:spPr>
          </p:sp>
        </p:grpSp>
        <p:sp>
          <p:nvSpPr>
            <p:cNvPr name="AutoShape 20" id="20"/>
            <p:cNvSpPr/>
            <p:nvPr/>
          </p:nvSpPr>
          <p:spPr>
            <a:xfrm>
              <a:off x="1565021" y="7711455"/>
              <a:ext cx="15036818" cy="31117"/>
            </a:xfrm>
            <a:prstGeom prst="line">
              <a:avLst/>
            </a:prstGeom>
            <a:ln cap="rnd" w="46796">
              <a:solidFill>
                <a:srgbClr val="8FB7C6"/>
              </a:solidFill>
              <a:prstDash val="solid"/>
              <a:headEnd type="none" len="sm" w="sm"/>
              <a:tailEnd type="none" len="sm" w="sm"/>
            </a:ln>
          </p:spPr>
        </p:sp>
        <p:sp>
          <p:nvSpPr>
            <p:cNvPr name="TextBox 21" id="21"/>
            <p:cNvSpPr txBox="true"/>
            <p:nvPr/>
          </p:nvSpPr>
          <p:spPr>
            <a:xfrm rot="0">
              <a:off x="1655278" y="9233975"/>
              <a:ext cx="15036818" cy="3525234"/>
            </a:xfrm>
            <a:prstGeom prst="rect">
              <a:avLst/>
            </a:prstGeom>
          </p:spPr>
          <p:txBody>
            <a:bodyPr anchor="t" rtlCol="false" tIns="0" lIns="0" bIns="0" rIns="0">
              <a:spAutoFit/>
            </a:bodyPr>
            <a:lstStyle/>
            <a:p>
              <a:pPr algn="ctr">
                <a:lnSpc>
                  <a:spcPts val="5270"/>
                </a:lnSpc>
              </a:pPr>
              <a:r>
                <a:rPr lang="en-US" b="true" sz="4392" spc="-43">
                  <a:solidFill>
                    <a:srgbClr val="000000"/>
                  </a:solidFill>
                  <a:latin typeface="Asap Bold"/>
                  <a:ea typeface="Asap Bold"/>
                  <a:cs typeface="Asap Bold"/>
                  <a:sym typeface="Asap Bold"/>
                </a:rPr>
                <a:t>Nguyễn Ngọc Nhiên (3122411140)</a:t>
              </a:r>
            </a:p>
            <a:p>
              <a:pPr algn="ctr">
                <a:lnSpc>
                  <a:spcPts val="5270"/>
                </a:lnSpc>
              </a:pPr>
              <a:r>
                <a:rPr lang="en-US" b="true" sz="4392" spc="-43">
                  <a:solidFill>
                    <a:srgbClr val="000000"/>
                  </a:solidFill>
                  <a:latin typeface="Asap Bold"/>
                  <a:ea typeface="Asap Bold"/>
                  <a:cs typeface="Asap Bold"/>
                  <a:sym typeface="Asap Bold"/>
                </a:rPr>
                <a:t>Nguyễn Hồng Thắm (3122411194)</a:t>
              </a:r>
            </a:p>
            <a:p>
              <a:pPr algn="ctr">
                <a:lnSpc>
                  <a:spcPts val="5270"/>
                </a:lnSpc>
              </a:pPr>
              <a:r>
                <a:rPr lang="en-US" b="true" sz="4392" spc="-43">
                  <a:solidFill>
                    <a:srgbClr val="000000"/>
                  </a:solidFill>
                  <a:latin typeface="Asap Bold"/>
                  <a:ea typeface="Asap Bold"/>
                  <a:cs typeface="Asap Bold"/>
                  <a:sym typeface="Asap Bold"/>
                </a:rPr>
                <a:t>Lương Thị Thùy Quyên (3122411172)</a:t>
              </a:r>
            </a:p>
            <a:p>
              <a:pPr algn="ctr">
                <a:lnSpc>
                  <a:spcPts val="5270"/>
                </a:lnSpc>
              </a:pPr>
            </a:p>
          </p:txBody>
        </p:sp>
        <p:sp>
          <p:nvSpPr>
            <p:cNvPr name="TextBox 22" id="22"/>
            <p:cNvSpPr txBox="true"/>
            <p:nvPr/>
          </p:nvSpPr>
          <p:spPr>
            <a:xfrm rot="0">
              <a:off x="1065836" y="1951495"/>
              <a:ext cx="15536004" cy="4274200"/>
            </a:xfrm>
            <a:prstGeom prst="rect">
              <a:avLst/>
            </a:prstGeom>
          </p:spPr>
          <p:txBody>
            <a:bodyPr anchor="t" rtlCol="false" tIns="0" lIns="0" bIns="0" rIns="0">
              <a:spAutoFit/>
            </a:bodyPr>
            <a:lstStyle/>
            <a:p>
              <a:pPr algn="ctr" marL="0" indent="0" lvl="0">
                <a:lnSpc>
                  <a:spcPts val="12632"/>
                </a:lnSpc>
              </a:pPr>
              <a:r>
                <a:rPr lang="en-US" b="true" sz="10527">
                  <a:solidFill>
                    <a:srgbClr val="1D2B74"/>
                  </a:solidFill>
                  <a:latin typeface="Faustina Bold"/>
                  <a:ea typeface="Faustina Bold"/>
                  <a:cs typeface="Faustina Bold"/>
                  <a:sym typeface="Faustina Bold"/>
                </a:rPr>
                <a:t>Từ Mã nguồn đến Sản xuất với GenAI</a:t>
              </a:r>
            </a:p>
          </p:txBody>
        </p:sp>
      </p:grpSp>
      <p:sp>
        <p:nvSpPr>
          <p:cNvPr name="Freeform 23" id="23"/>
          <p:cNvSpPr/>
          <p:nvPr/>
        </p:nvSpPr>
        <p:spPr>
          <a:xfrm flipH="false" flipV="false" rot="-1474466">
            <a:off x="12069978" y="9177931"/>
            <a:ext cx="1319340" cy="1686057"/>
          </a:xfrm>
          <a:custGeom>
            <a:avLst/>
            <a:gdLst/>
            <a:ahLst/>
            <a:cxnLst/>
            <a:rect r="r" b="b" t="t" l="l"/>
            <a:pathLst>
              <a:path h="1686057" w="1319340">
                <a:moveTo>
                  <a:pt x="0" y="0"/>
                </a:moveTo>
                <a:lnTo>
                  <a:pt x="1319340" y="0"/>
                </a:lnTo>
                <a:lnTo>
                  <a:pt x="1319340" y="1686058"/>
                </a:lnTo>
                <a:lnTo>
                  <a:pt x="0" y="168605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4" id="24"/>
          <p:cNvSpPr/>
          <p:nvPr/>
        </p:nvSpPr>
        <p:spPr>
          <a:xfrm flipH="false" flipV="false" rot="1449204">
            <a:off x="9178207" y="8954666"/>
            <a:ext cx="1753980" cy="2319313"/>
          </a:xfrm>
          <a:custGeom>
            <a:avLst/>
            <a:gdLst/>
            <a:ahLst/>
            <a:cxnLst/>
            <a:rect r="r" b="b" t="t" l="l"/>
            <a:pathLst>
              <a:path h="2319313" w="1753980">
                <a:moveTo>
                  <a:pt x="0" y="0"/>
                </a:moveTo>
                <a:lnTo>
                  <a:pt x="1753981" y="0"/>
                </a:lnTo>
                <a:lnTo>
                  <a:pt x="1753981" y="2319312"/>
                </a:lnTo>
                <a:lnTo>
                  <a:pt x="0" y="231931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25" id="25"/>
          <p:cNvSpPr/>
          <p:nvPr/>
        </p:nvSpPr>
        <p:spPr>
          <a:xfrm flipH="false" flipV="false" rot="709918">
            <a:off x="10091683" y="30722"/>
            <a:ext cx="2632797" cy="1286779"/>
          </a:xfrm>
          <a:custGeom>
            <a:avLst/>
            <a:gdLst/>
            <a:ahLst/>
            <a:cxnLst/>
            <a:rect r="r" b="b" t="t" l="l"/>
            <a:pathLst>
              <a:path h="1286779" w="2632797">
                <a:moveTo>
                  <a:pt x="0" y="0"/>
                </a:moveTo>
                <a:lnTo>
                  <a:pt x="2632797" y="0"/>
                </a:lnTo>
                <a:lnTo>
                  <a:pt x="2632797" y="1286780"/>
                </a:lnTo>
                <a:lnTo>
                  <a:pt x="0" y="128678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26" id="26"/>
          <p:cNvSpPr/>
          <p:nvPr/>
        </p:nvSpPr>
        <p:spPr>
          <a:xfrm flipH="false" flipV="false" rot="-843910">
            <a:off x="16408389" y="7954843"/>
            <a:ext cx="2287819" cy="2367730"/>
          </a:xfrm>
          <a:custGeom>
            <a:avLst/>
            <a:gdLst/>
            <a:ahLst/>
            <a:cxnLst/>
            <a:rect r="r" b="b" t="t" l="l"/>
            <a:pathLst>
              <a:path h="2367730" w="2287819">
                <a:moveTo>
                  <a:pt x="0" y="0"/>
                </a:moveTo>
                <a:lnTo>
                  <a:pt x="2287820" y="0"/>
                </a:lnTo>
                <a:lnTo>
                  <a:pt x="2287820" y="2367730"/>
                </a:lnTo>
                <a:lnTo>
                  <a:pt x="0" y="2367730"/>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27" id="27"/>
          <p:cNvSpPr/>
          <p:nvPr/>
        </p:nvSpPr>
        <p:spPr>
          <a:xfrm flipH="false" flipV="false" rot="1302801">
            <a:off x="-398760" y="5608448"/>
            <a:ext cx="1919165" cy="2468379"/>
          </a:xfrm>
          <a:custGeom>
            <a:avLst/>
            <a:gdLst/>
            <a:ahLst/>
            <a:cxnLst/>
            <a:rect r="r" b="b" t="t" l="l"/>
            <a:pathLst>
              <a:path h="2468379" w="1919165">
                <a:moveTo>
                  <a:pt x="0" y="0"/>
                </a:moveTo>
                <a:lnTo>
                  <a:pt x="1919165" y="0"/>
                </a:lnTo>
                <a:lnTo>
                  <a:pt x="1919165" y="2468379"/>
                </a:lnTo>
                <a:lnTo>
                  <a:pt x="0" y="2468379"/>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28" id="28"/>
          <p:cNvSpPr/>
          <p:nvPr/>
        </p:nvSpPr>
        <p:spPr>
          <a:xfrm flipH="false" flipV="false" rot="-1477465">
            <a:off x="-437621" y="2455492"/>
            <a:ext cx="1615159" cy="2424254"/>
          </a:xfrm>
          <a:custGeom>
            <a:avLst/>
            <a:gdLst/>
            <a:ahLst/>
            <a:cxnLst/>
            <a:rect r="r" b="b" t="t" l="l"/>
            <a:pathLst>
              <a:path h="2424254" w="1615159">
                <a:moveTo>
                  <a:pt x="0" y="0"/>
                </a:moveTo>
                <a:lnTo>
                  <a:pt x="1615159" y="0"/>
                </a:lnTo>
                <a:lnTo>
                  <a:pt x="1615159" y="2424254"/>
                </a:lnTo>
                <a:lnTo>
                  <a:pt x="0" y="2424254"/>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Freeform 29" id="29"/>
          <p:cNvSpPr/>
          <p:nvPr/>
        </p:nvSpPr>
        <p:spPr>
          <a:xfrm flipH="false" flipV="false" rot="-238041">
            <a:off x="-262310" y="-4897"/>
            <a:ext cx="2025851" cy="2067195"/>
          </a:xfrm>
          <a:custGeom>
            <a:avLst/>
            <a:gdLst/>
            <a:ahLst/>
            <a:cxnLst/>
            <a:rect r="r" b="b" t="t" l="l"/>
            <a:pathLst>
              <a:path h="2067195" w="2025851">
                <a:moveTo>
                  <a:pt x="0" y="0"/>
                </a:moveTo>
                <a:lnTo>
                  <a:pt x="2025851" y="0"/>
                </a:lnTo>
                <a:lnTo>
                  <a:pt x="2025851" y="2067194"/>
                </a:lnTo>
                <a:lnTo>
                  <a:pt x="0" y="2067194"/>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
        <p:nvSpPr>
          <p:cNvPr name="Freeform 30" id="30"/>
          <p:cNvSpPr/>
          <p:nvPr/>
        </p:nvSpPr>
        <p:spPr>
          <a:xfrm flipH="false" flipV="false" rot="-10562790">
            <a:off x="16624110" y="5325618"/>
            <a:ext cx="2025851" cy="2067195"/>
          </a:xfrm>
          <a:custGeom>
            <a:avLst/>
            <a:gdLst/>
            <a:ahLst/>
            <a:cxnLst/>
            <a:rect r="r" b="b" t="t" l="l"/>
            <a:pathLst>
              <a:path h="2067195" w="2025851">
                <a:moveTo>
                  <a:pt x="0" y="0"/>
                </a:moveTo>
                <a:lnTo>
                  <a:pt x="2025851" y="0"/>
                </a:lnTo>
                <a:lnTo>
                  <a:pt x="2025851" y="2067195"/>
                </a:lnTo>
                <a:lnTo>
                  <a:pt x="0" y="2067195"/>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
        <p:nvSpPr>
          <p:cNvPr name="Freeform 31" id="31"/>
          <p:cNvSpPr/>
          <p:nvPr/>
        </p:nvSpPr>
        <p:spPr>
          <a:xfrm flipH="false" flipV="false" rot="4573298">
            <a:off x="13990220" y="8709564"/>
            <a:ext cx="1913611" cy="1913611"/>
          </a:xfrm>
          <a:custGeom>
            <a:avLst/>
            <a:gdLst/>
            <a:ahLst/>
            <a:cxnLst/>
            <a:rect r="r" b="b" t="t" l="l"/>
            <a:pathLst>
              <a:path h="1913611" w="1913611">
                <a:moveTo>
                  <a:pt x="0" y="0"/>
                </a:moveTo>
                <a:lnTo>
                  <a:pt x="1913611" y="0"/>
                </a:lnTo>
                <a:lnTo>
                  <a:pt x="1913611" y="1913610"/>
                </a:lnTo>
                <a:lnTo>
                  <a:pt x="0" y="1913610"/>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p:spPr>
      </p:sp>
      <p:sp>
        <p:nvSpPr>
          <p:cNvPr name="Freeform 32" id="32"/>
          <p:cNvSpPr/>
          <p:nvPr/>
        </p:nvSpPr>
        <p:spPr>
          <a:xfrm flipH="false" flipV="false" rot="-6082012">
            <a:off x="-217091" y="8662100"/>
            <a:ext cx="2603235" cy="2069572"/>
          </a:xfrm>
          <a:custGeom>
            <a:avLst/>
            <a:gdLst/>
            <a:ahLst/>
            <a:cxnLst/>
            <a:rect r="r" b="b" t="t" l="l"/>
            <a:pathLst>
              <a:path h="2069572" w="2603235">
                <a:moveTo>
                  <a:pt x="0" y="0"/>
                </a:moveTo>
                <a:lnTo>
                  <a:pt x="2603235" y="0"/>
                </a:lnTo>
                <a:lnTo>
                  <a:pt x="2603235" y="2069572"/>
                </a:lnTo>
                <a:lnTo>
                  <a:pt x="0" y="2069572"/>
                </a:lnTo>
                <a:lnTo>
                  <a:pt x="0" y="0"/>
                </a:lnTo>
                <a:close/>
              </a:path>
            </a:pathLst>
          </a:custGeom>
          <a:blipFill>
            <a:blip r:embed="rId28">
              <a:extLst>
                <a:ext uri="{96DAC541-7B7A-43D3-8B79-37D633B846F1}">
                  <asvg:svgBlip xmlns:asvg="http://schemas.microsoft.com/office/drawing/2016/SVG/main" r:embed="rId29"/>
                </a:ext>
              </a:extLst>
            </a:blip>
            <a:stretch>
              <a:fillRect l="0" t="0" r="0" b="0"/>
            </a:stretch>
          </a:blipFill>
        </p:spPr>
      </p:sp>
      <p:sp>
        <p:nvSpPr>
          <p:cNvPr name="Freeform 33" id="33"/>
          <p:cNvSpPr/>
          <p:nvPr/>
        </p:nvSpPr>
        <p:spPr>
          <a:xfrm flipH="false" flipV="false" rot="0">
            <a:off x="16678849" y="2430349"/>
            <a:ext cx="2564114" cy="2580241"/>
          </a:xfrm>
          <a:custGeom>
            <a:avLst/>
            <a:gdLst/>
            <a:ahLst/>
            <a:cxnLst/>
            <a:rect r="r" b="b" t="t" l="l"/>
            <a:pathLst>
              <a:path h="2580241" w="2564114">
                <a:moveTo>
                  <a:pt x="0" y="0"/>
                </a:moveTo>
                <a:lnTo>
                  <a:pt x="2564115" y="0"/>
                </a:lnTo>
                <a:lnTo>
                  <a:pt x="2564115" y="2580241"/>
                </a:lnTo>
                <a:lnTo>
                  <a:pt x="0" y="2580241"/>
                </a:lnTo>
                <a:lnTo>
                  <a:pt x="0" y="0"/>
                </a:lnTo>
                <a:close/>
              </a:path>
            </a:pathLst>
          </a:custGeom>
          <a:blipFill>
            <a:blip r:embed="rId30">
              <a:extLst>
                <a:ext uri="{96DAC541-7B7A-43D3-8B79-37D633B846F1}">
                  <asvg:svgBlip xmlns:asvg="http://schemas.microsoft.com/office/drawing/2016/SVG/main" r:embed="rId31"/>
                </a:ext>
              </a:extLst>
            </a:blip>
            <a:stretch>
              <a:fillRect l="0" t="0" r="0" b="0"/>
            </a:stretch>
          </a:blipFill>
        </p:spPr>
      </p:sp>
      <p:sp>
        <p:nvSpPr>
          <p:cNvPr name="Freeform 34" id="34"/>
          <p:cNvSpPr/>
          <p:nvPr/>
        </p:nvSpPr>
        <p:spPr>
          <a:xfrm flipH="false" flipV="false" rot="-3224222">
            <a:off x="2399943" y="-1020725"/>
            <a:ext cx="2060316" cy="2535774"/>
          </a:xfrm>
          <a:custGeom>
            <a:avLst/>
            <a:gdLst/>
            <a:ahLst/>
            <a:cxnLst/>
            <a:rect r="r" b="b" t="t" l="l"/>
            <a:pathLst>
              <a:path h="2535774" w="2060316">
                <a:moveTo>
                  <a:pt x="0" y="0"/>
                </a:moveTo>
                <a:lnTo>
                  <a:pt x="2060316" y="0"/>
                </a:lnTo>
                <a:lnTo>
                  <a:pt x="2060316" y="2535774"/>
                </a:lnTo>
                <a:lnTo>
                  <a:pt x="0" y="2535774"/>
                </a:lnTo>
                <a:lnTo>
                  <a:pt x="0" y="0"/>
                </a:lnTo>
                <a:close/>
              </a:path>
            </a:pathLst>
          </a:custGeom>
          <a:blipFill>
            <a:blip r:embed="rId32">
              <a:extLst>
                <a:ext uri="{96DAC541-7B7A-43D3-8B79-37D633B846F1}">
                  <asvg:svgBlip xmlns:asvg="http://schemas.microsoft.com/office/drawing/2016/SVG/main" r:embed="rId33"/>
                </a:ext>
              </a:extLst>
            </a:blip>
            <a:stretch>
              <a:fillRect l="0" t="0" r="0" b="0"/>
            </a:stretch>
          </a:blipFill>
        </p:spPr>
      </p:sp>
      <p:sp>
        <p:nvSpPr>
          <p:cNvPr name="Freeform 35" id="35"/>
          <p:cNvSpPr/>
          <p:nvPr/>
        </p:nvSpPr>
        <p:spPr>
          <a:xfrm flipH="false" flipV="false" rot="0">
            <a:off x="14150691" y="918266"/>
            <a:ext cx="1084526" cy="1310966"/>
          </a:xfrm>
          <a:custGeom>
            <a:avLst/>
            <a:gdLst/>
            <a:ahLst/>
            <a:cxnLst/>
            <a:rect r="r" b="b" t="t" l="l"/>
            <a:pathLst>
              <a:path h="1310966" w="1084526">
                <a:moveTo>
                  <a:pt x="0" y="0"/>
                </a:moveTo>
                <a:lnTo>
                  <a:pt x="1084526" y="0"/>
                </a:lnTo>
                <a:lnTo>
                  <a:pt x="1084526" y="1310966"/>
                </a:lnTo>
                <a:lnTo>
                  <a:pt x="0" y="1310966"/>
                </a:lnTo>
                <a:lnTo>
                  <a:pt x="0" y="0"/>
                </a:lnTo>
                <a:close/>
              </a:path>
            </a:pathLst>
          </a:custGeom>
          <a:blipFill>
            <a:blip r:embed="rId34">
              <a:extLst>
                <a:ext uri="{96DAC541-7B7A-43D3-8B79-37D633B846F1}">
                  <asvg:svgBlip xmlns:asvg="http://schemas.microsoft.com/office/drawing/2016/SVG/main" r:embed="rId35"/>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C8E3ED"/>
        </a:solidFill>
      </p:bgPr>
    </p:bg>
    <p:spTree>
      <p:nvGrpSpPr>
        <p:cNvPr id="1" name=""/>
        <p:cNvGrpSpPr/>
        <p:nvPr/>
      </p:nvGrpSpPr>
      <p:grpSpPr>
        <a:xfrm>
          <a:off x="0" y="0"/>
          <a:ext cx="0" cy="0"/>
          <a:chOff x="0" y="0"/>
          <a:chExt cx="0" cy="0"/>
        </a:xfrm>
      </p:grpSpPr>
      <p:grpSp>
        <p:nvGrpSpPr>
          <p:cNvPr name="Group 2" id="2"/>
          <p:cNvGrpSpPr/>
          <p:nvPr/>
        </p:nvGrpSpPr>
        <p:grpSpPr>
          <a:xfrm rot="0">
            <a:off x="-1164692" y="1028700"/>
            <a:ext cx="12989382" cy="8229600"/>
            <a:chOff x="0" y="0"/>
            <a:chExt cx="17319176" cy="10972800"/>
          </a:xfrm>
        </p:grpSpPr>
        <p:grpSp>
          <p:nvGrpSpPr>
            <p:cNvPr name="Group 3" id="3"/>
            <p:cNvGrpSpPr/>
            <p:nvPr/>
          </p:nvGrpSpPr>
          <p:grpSpPr>
            <a:xfrm rot="0">
              <a:off x="1318048" y="977717"/>
              <a:ext cx="16001128" cy="9995083"/>
              <a:chOff x="0" y="0"/>
              <a:chExt cx="15556160" cy="9717134"/>
            </a:xfrm>
          </p:grpSpPr>
          <p:sp>
            <p:nvSpPr>
              <p:cNvPr name="Freeform 4" id="4"/>
              <p:cNvSpPr/>
              <p:nvPr/>
            </p:nvSpPr>
            <p:spPr>
              <a:xfrm flipH="false" flipV="false" rot="0">
                <a:off x="-1" y="0"/>
                <a:ext cx="15556160" cy="9717134"/>
              </a:xfrm>
              <a:custGeom>
                <a:avLst/>
                <a:gdLst/>
                <a:ahLst/>
                <a:cxnLst/>
                <a:rect r="r" b="b" t="t" l="l"/>
                <a:pathLst>
                  <a:path h="9717134" w="15556160">
                    <a:moveTo>
                      <a:pt x="15057380" y="9700216"/>
                    </a:moveTo>
                    <a:cubicBezTo>
                      <a:pt x="15057380" y="9700216"/>
                      <a:pt x="14820385" y="9690246"/>
                      <a:pt x="14458246" y="9703690"/>
                    </a:cubicBezTo>
                    <a:cubicBezTo>
                      <a:pt x="14096106" y="9717134"/>
                      <a:pt x="490924" y="9717134"/>
                      <a:pt x="490924" y="9717134"/>
                    </a:cubicBezTo>
                    <a:cubicBezTo>
                      <a:pt x="245502" y="9717134"/>
                      <a:pt x="32509" y="9619866"/>
                      <a:pt x="31032" y="9459752"/>
                    </a:cubicBezTo>
                    <a:cubicBezTo>
                      <a:pt x="31032" y="9459752"/>
                      <a:pt x="0" y="6758194"/>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15010832" y="0"/>
                      <a:pt x="15010832" y="0"/>
                    </a:cubicBezTo>
                    <a:cubicBezTo>
                      <a:pt x="15322732" y="0"/>
                      <a:pt x="15556162" y="101069"/>
                      <a:pt x="15548303" y="303616"/>
                    </a:cubicBezTo>
                    <a:cubicBezTo>
                      <a:pt x="15548303" y="303616"/>
                      <a:pt x="15546308" y="6210870"/>
                      <a:pt x="15555064" y="8760165"/>
                    </a:cubicBezTo>
                    <a:cubicBezTo>
                      <a:pt x="15563818" y="9053467"/>
                      <a:pt x="15517271" y="9386538"/>
                      <a:pt x="15517271" y="9386538"/>
                    </a:cubicBezTo>
                    <a:cubicBezTo>
                      <a:pt x="15514305" y="9566563"/>
                      <a:pt x="15302802" y="9700216"/>
                      <a:pt x="15057380" y="9700216"/>
                    </a:cubicBezTo>
                    <a:close/>
                  </a:path>
                </a:pathLst>
              </a:custGeom>
              <a:solidFill>
                <a:srgbClr val="8FB7C6"/>
              </a:solidFill>
            </p:spPr>
          </p:sp>
        </p:grpSp>
        <p:grpSp>
          <p:nvGrpSpPr>
            <p:cNvPr name="Group 5" id="5"/>
            <p:cNvGrpSpPr/>
            <p:nvPr/>
          </p:nvGrpSpPr>
          <p:grpSpPr>
            <a:xfrm rot="0">
              <a:off x="1318048" y="1067537"/>
              <a:ext cx="15863089" cy="9778026"/>
              <a:chOff x="0" y="0"/>
              <a:chExt cx="15653105" cy="9648591"/>
            </a:xfrm>
          </p:grpSpPr>
          <p:sp>
            <p:nvSpPr>
              <p:cNvPr name="Freeform 6" id="6"/>
              <p:cNvSpPr/>
              <p:nvPr/>
            </p:nvSpPr>
            <p:spPr>
              <a:xfrm flipH="false" flipV="false" rot="0">
                <a:off x="-1" y="0"/>
                <a:ext cx="15653105" cy="9648591"/>
              </a:xfrm>
              <a:custGeom>
                <a:avLst/>
                <a:gdLst/>
                <a:ahLst/>
                <a:cxnLst/>
                <a:rect r="r" b="b" t="t" l="l"/>
                <a:pathLst>
                  <a:path h="9648591" w="15653105">
                    <a:moveTo>
                      <a:pt x="15154326" y="9631673"/>
                    </a:moveTo>
                    <a:cubicBezTo>
                      <a:pt x="15154326" y="9631673"/>
                      <a:pt x="14917329" y="9621703"/>
                      <a:pt x="14555190" y="9635147"/>
                    </a:cubicBezTo>
                    <a:cubicBezTo>
                      <a:pt x="14193053" y="9648591"/>
                      <a:pt x="490924" y="9648591"/>
                      <a:pt x="490924" y="9648591"/>
                    </a:cubicBezTo>
                    <a:cubicBezTo>
                      <a:pt x="245502" y="9648591"/>
                      <a:pt x="32509" y="9551323"/>
                      <a:pt x="31032" y="9391209"/>
                    </a:cubicBezTo>
                    <a:cubicBezTo>
                      <a:pt x="31032" y="9391209"/>
                      <a:pt x="0" y="6705102"/>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15107777" y="0"/>
                      <a:pt x="15107777" y="0"/>
                    </a:cubicBezTo>
                    <a:cubicBezTo>
                      <a:pt x="15419677" y="0"/>
                      <a:pt x="15653106" y="101069"/>
                      <a:pt x="15645248" y="303616"/>
                    </a:cubicBezTo>
                    <a:cubicBezTo>
                      <a:pt x="15645248" y="303616"/>
                      <a:pt x="15643254" y="6162502"/>
                      <a:pt x="15652008" y="8691622"/>
                    </a:cubicBezTo>
                    <a:cubicBezTo>
                      <a:pt x="15660764" y="8984924"/>
                      <a:pt x="15614215" y="9317995"/>
                      <a:pt x="15614215" y="9317995"/>
                    </a:cubicBezTo>
                    <a:cubicBezTo>
                      <a:pt x="15611251" y="9498020"/>
                      <a:pt x="15399748" y="9631673"/>
                      <a:pt x="15154326" y="9631673"/>
                    </a:cubicBezTo>
                    <a:close/>
                  </a:path>
                </a:pathLst>
              </a:custGeom>
              <a:solidFill>
                <a:srgbClr val="8FB7C6"/>
              </a:solidFill>
            </p:spPr>
          </p:sp>
        </p:grpSp>
        <p:grpSp>
          <p:nvGrpSpPr>
            <p:cNvPr name="Group 7" id="7"/>
            <p:cNvGrpSpPr/>
            <p:nvPr/>
          </p:nvGrpSpPr>
          <p:grpSpPr>
            <a:xfrm rot="0">
              <a:off x="1318048" y="0"/>
              <a:ext cx="15408107" cy="10328670"/>
              <a:chOff x="0" y="0"/>
              <a:chExt cx="15970011" cy="10705337"/>
            </a:xfrm>
          </p:grpSpPr>
          <p:sp>
            <p:nvSpPr>
              <p:cNvPr name="Freeform 8" id="8"/>
              <p:cNvSpPr/>
              <p:nvPr/>
            </p:nvSpPr>
            <p:spPr>
              <a:xfrm flipH="false" flipV="false" rot="0">
                <a:off x="-1" y="0"/>
                <a:ext cx="15970011" cy="10705337"/>
              </a:xfrm>
              <a:custGeom>
                <a:avLst/>
                <a:gdLst/>
                <a:ahLst/>
                <a:cxnLst/>
                <a:rect r="r" b="b" t="t" l="l"/>
                <a:pathLst>
                  <a:path h="10705337" w="15970011">
                    <a:moveTo>
                      <a:pt x="15471232" y="10688418"/>
                    </a:moveTo>
                    <a:cubicBezTo>
                      <a:pt x="15471232" y="10688418"/>
                      <a:pt x="15234235" y="10678449"/>
                      <a:pt x="14872096" y="10691893"/>
                    </a:cubicBezTo>
                    <a:cubicBezTo>
                      <a:pt x="14509959" y="10705337"/>
                      <a:pt x="490924" y="10705337"/>
                      <a:pt x="490924" y="10705337"/>
                    </a:cubicBezTo>
                    <a:cubicBezTo>
                      <a:pt x="245502" y="10705337"/>
                      <a:pt x="32509" y="10608069"/>
                      <a:pt x="31032" y="10447955"/>
                    </a:cubicBezTo>
                    <a:cubicBezTo>
                      <a:pt x="31032" y="10447955"/>
                      <a:pt x="0" y="7523653"/>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15424683" y="0"/>
                      <a:pt x="15424683" y="0"/>
                    </a:cubicBezTo>
                    <a:cubicBezTo>
                      <a:pt x="15736583" y="0"/>
                      <a:pt x="15970012" y="101069"/>
                      <a:pt x="15962154" y="303616"/>
                    </a:cubicBezTo>
                    <a:cubicBezTo>
                      <a:pt x="15962154" y="303616"/>
                      <a:pt x="15960160" y="6908210"/>
                      <a:pt x="15968915" y="9748368"/>
                    </a:cubicBezTo>
                    <a:cubicBezTo>
                      <a:pt x="15977671" y="10041669"/>
                      <a:pt x="15931122" y="10374741"/>
                      <a:pt x="15931122" y="10374741"/>
                    </a:cubicBezTo>
                    <a:cubicBezTo>
                      <a:pt x="15928157" y="10554766"/>
                      <a:pt x="15716654" y="10688418"/>
                      <a:pt x="15471232" y="10688418"/>
                    </a:cubicBezTo>
                    <a:close/>
                  </a:path>
                </a:pathLst>
              </a:custGeom>
              <a:solidFill>
                <a:srgbClr val="F3FCFF"/>
              </a:solidFill>
            </p:spPr>
          </p:sp>
        </p:grpSp>
        <p:sp>
          <p:nvSpPr>
            <p:cNvPr name="AutoShape 9" id="9"/>
            <p:cNvSpPr/>
            <p:nvPr/>
          </p:nvSpPr>
          <p:spPr>
            <a:xfrm>
              <a:off x="56" y="9826016"/>
              <a:ext cx="15474734" cy="34286"/>
            </a:xfrm>
            <a:prstGeom prst="line">
              <a:avLst/>
            </a:prstGeom>
            <a:ln cap="rnd" w="50800">
              <a:solidFill>
                <a:srgbClr val="8FB7C6"/>
              </a:solidFill>
              <a:prstDash val="solid"/>
              <a:headEnd type="none" len="sm" w="sm"/>
              <a:tailEnd type="none" len="sm" w="sm"/>
            </a:ln>
          </p:spPr>
        </p:sp>
        <p:sp>
          <p:nvSpPr>
            <p:cNvPr name="AutoShape 10" id="10"/>
            <p:cNvSpPr/>
            <p:nvPr/>
          </p:nvSpPr>
          <p:spPr>
            <a:xfrm>
              <a:off x="56" y="717206"/>
              <a:ext cx="15474734" cy="34286"/>
            </a:xfrm>
            <a:prstGeom prst="line">
              <a:avLst/>
            </a:prstGeom>
            <a:ln cap="rnd" w="50800">
              <a:solidFill>
                <a:srgbClr val="8FB7C6"/>
              </a:solidFill>
              <a:prstDash val="solid"/>
              <a:headEnd type="none" len="sm" w="sm"/>
              <a:tailEnd type="none" len="sm" w="sm"/>
            </a:ln>
          </p:spPr>
        </p:sp>
      </p:grpSp>
      <p:sp>
        <p:nvSpPr>
          <p:cNvPr name="TextBox 11" id="11"/>
          <p:cNvSpPr txBox="true"/>
          <p:nvPr/>
        </p:nvSpPr>
        <p:spPr>
          <a:xfrm rot="0">
            <a:off x="731395" y="3500438"/>
            <a:ext cx="9197207" cy="3286125"/>
          </a:xfrm>
          <a:prstGeom prst="rect">
            <a:avLst/>
          </a:prstGeom>
        </p:spPr>
        <p:txBody>
          <a:bodyPr anchor="t" rtlCol="false" tIns="0" lIns="0" bIns="0" rIns="0">
            <a:spAutoFit/>
          </a:bodyPr>
          <a:lstStyle/>
          <a:p>
            <a:pPr algn="ctr">
              <a:lnSpc>
                <a:spcPts val="8639"/>
              </a:lnSpc>
            </a:pPr>
            <a:r>
              <a:rPr lang="en-US" sz="7199" b="true">
                <a:solidFill>
                  <a:srgbClr val="1D2B74"/>
                </a:solidFill>
                <a:latin typeface="Faustina Bold"/>
                <a:ea typeface="Faustina Bold"/>
                <a:cs typeface="Faustina Bold"/>
                <a:sym typeface="Faustina Bold"/>
              </a:rPr>
              <a:t>Chương 12</a:t>
            </a:r>
          </a:p>
          <a:p>
            <a:pPr algn="ctr">
              <a:lnSpc>
                <a:spcPts val="8639"/>
              </a:lnSpc>
            </a:pPr>
            <a:r>
              <a:rPr lang="en-US" b="true" sz="7199">
                <a:solidFill>
                  <a:srgbClr val="1D2B74"/>
                </a:solidFill>
                <a:latin typeface="Faustina Bold"/>
                <a:ea typeface="Faustina Bold"/>
                <a:cs typeface="Faustina Bold"/>
                <a:sym typeface="Faustina Bold"/>
              </a:rPr>
              <a:t> Tài liệu hóa Mã nguồn với GenAI</a:t>
            </a:r>
          </a:p>
        </p:txBody>
      </p:sp>
      <p:sp>
        <p:nvSpPr>
          <p:cNvPr name="Freeform 12" id="12"/>
          <p:cNvSpPr/>
          <p:nvPr/>
        </p:nvSpPr>
        <p:spPr>
          <a:xfrm flipH="false" flipV="false" rot="0">
            <a:off x="11970043" y="1611369"/>
            <a:ext cx="4487225" cy="9678328"/>
          </a:xfrm>
          <a:custGeom>
            <a:avLst/>
            <a:gdLst/>
            <a:ahLst/>
            <a:cxnLst/>
            <a:rect r="r" b="b" t="t" l="l"/>
            <a:pathLst>
              <a:path h="9678328" w="4487225">
                <a:moveTo>
                  <a:pt x="0" y="0"/>
                </a:moveTo>
                <a:lnTo>
                  <a:pt x="4487224" y="0"/>
                </a:lnTo>
                <a:lnTo>
                  <a:pt x="4487224" y="9678328"/>
                </a:lnTo>
                <a:lnTo>
                  <a:pt x="0" y="96783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4490472" y="1611369"/>
            <a:ext cx="3519392" cy="9678328"/>
          </a:xfrm>
          <a:custGeom>
            <a:avLst/>
            <a:gdLst/>
            <a:ahLst/>
            <a:cxnLst/>
            <a:rect r="r" b="b" t="t" l="l"/>
            <a:pathLst>
              <a:path h="9678328" w="3519392">
                <a:moveTo>
                  <a:pt x="0" y="0"/>
                </a:moveTo>
                <a:lnTo>
                  <a:pt x="3519392" y="0"/>
                </a:lnTo>
                <a:lnTo>
                  <a:pt x="3519392" y="9678328"/>
                </a:lnTo>
                <a:lnTo>
                  <a:pt x="0" y="96783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transition spd="slow">
    <p:push dir="l"/>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C8E3ED"/>
        </a:solidFill>
      </p:bgPr>
    </p:bg>
    <p:spTree>
      <p:nvGrpSpPr>
        <p:cNvPr id="1" name=""/>
        <p:cNvGrpSpPr/>
        <p:nvPr/>
      </p:nvGrpSpPr>
      <p:grpSpPr>
        <a:xfrm>
          <a:off x="0" y="0"/>
          <a:ext cx="0" cy="0"/>
          <a:chOff x="0" y="0"/>
          <a:chExt cx="0" cy="0"/>
        </a:xfrm>
      </p:grpSpPr>
      <p:sp>
        <p:nvSpPr>
          <p:cNvPr name="Freeform 2" id="2"/>
          <p:cNvSpPr/>
          <p:nvPr/>
        </p:nvSpPr>
        <p:spPr>
          <a:xfrm flipH="false" flipV="false" rot="-5113635">
            <a:off x="-531325" y="8224703"/>
            <a:ext cx="2025851" cy="2067195"/>
          </a:xfrm>
          <a:custGeom>
            <a:avLst/>
            <a:gdLst/>
            <a:ahLst/>
            <a:cxnLst/>
            <a:rect r="r" b="b" t="t" l="l"/>
            <a:pathLst>
              <a:path h="2067195" w="2025851">
                <a:moveTo>
                  <a:pt x="0" y="0"/>
                </a:moveTo>
                <a:lnTo>
                  <a:pt x="2025851" y="0"/>
                </a:lnTo>
                <a:lnTo>
                  <a:pt x="2025851" y="2067194"/>
                </a:lnTo>
                <a:lnTo>
                  <a:pt x="0" y="20671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729243" y="2482718"/>
            <a:ext cx="14867614" cy="8114767"/>
            <a:chOff x="0" y="0"/>
            <a:chExt cx="19823485" cy="10819690"/>
          </a:xfrm>
        </p:grpSpPr>
        <p:grpSp>
          <p:nvGrpSpPr>
            <p:cNvPr name="Group 4" id="4"/>
            <p:cNvGrpSpPr/>
            <p:nvPr/>
          </p:nvGrpSpPr>
          <p:grpSpPr>
            <a:xfrm rot="0">
              <a:off x="0" y="266122"/>
              <a:ext cx="10010230" cy="10553568"/>
              <a:chOff x="0" y="0"/>
              <a:chExt cx="9178315" cy="9676498"/>
            </a:xfrm>
          </p:grpSpPr>
          <p:sp>
            <p:nvSpPr>
              <p:cNvPr name="Freeform 5" id="5"/>
              <p:cNvSpPr/>
              <p:nvPr/>
            </p:nvSpPr>
            <p:spPr>
              <a:xfrm flipH="false" flipV="false" rot="0">
                <a:off x="-1" y="0"/>
                <a:ext cx="9178316" cy="9676498"/>
              </a:xfrm>
              <a:custGeom>
                <a:avLst/>
                <a:gdLst/>
                <a:ahLst/>
                <a:cxnLst/>
                <a:rect r="r" b="b" t="t" l="l"/>
                <a:pathLst>
                  <a:path h="9676498" w="9178316">
                    <a:moveTo>
                      <a:pt x="8679536" y="9659579"/>
                    </a:moveTo>
                    <a:cubicBezTo>
                      <a:pt x="8679536" y="9659579"/>
                      <a:pt x="8442539" y="9649609"/>
                      <a:pt x="8080400" y="9663054"/>
                    </a:cubicBezTo>
                    <a:cubicBezTo>
                      <a:pt x="7718262" y="9676498"/>
                      <a:pt x="490924" y="9676498"/>
                      <a:pt x="490924" y="9676498"/>
                    </a:cubicBezTo>
                    <a:cubicBezTo>
                      <a:pt x="245502" y="9676498"/>
                      <a:pt x="32509" y="9579230"/>
                      <a:pt x="31032" y="9419116"/>
                    </a:cubicBezTo>
                    <a:cubicBezTo>
                      <a:pt x="31032" y="9419116"/>
                      <a:pt x="0" y="6726718"/>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8632987" y="0"/>
                      <a:pt x="8632987" y="0"/>
                    </a:cubicBezTo>
                    <a:cubicBezTo>
                      <a:pt x="8944888" y="0"/>
                      <a:pt x="9178316" y="101069"/>
                      <a:pt x="9170458" y="303616"/>
                    </a:cubicBezTo>
                    <a:cubicBezTo>
                      <a:pt x="9170458" y="303616"/>
                      <a:pt x="9168464" y="6182194"/>
                      <a:pt x="9177219" y="8719529"/>
                    </a:cubicBezTo>
                    <a:cubicBezTo>
                      <a:pt x="9185974" y="9012830"/>
                      <a:pt x="9139426" y="9345902"/>
                      <a:pt x="9139426" y="9345902"/>
                    </a:cubicBezTo>
                    <a:cubicBezTo>
                      <a:pt x="9136461" y="9525927"/>
                      <a:pt x="8924958" y="9659579"/>
                      <a:pt x="8679536" y="9659579"/>
                    </a:cubicBezTo>
                    <a:close/>
                  </a:path>
                </a:pathLst>
              </a:custGeom>
              <a:solidFill>
                <a:srgbClr val="8FB7C6"/>
              </a:solidFill>
            </p:spPr>
          </p:sp>
        </p:grpSp>
        <p:grpSp>
          <p:nvGrpSpPr>
            <p:cNvPr name="Group 6" id="6"/>
            <p:cNvGrpSpPr/>
            <p:nvPr/>
          </p:nvGrpSpPr>
          <p:grpSpPr>
            <a:xfrm rot="0">
              <a:off x="9813255" y="266122"/>
              <a:ext cx="10010230" cy="10553568"/>
              <a:chOff x="0" y="0"/>
              <a:chExt cx="9178315" cy="9676498"/>
            </a:xfrm>
          </p:grpSpPr>
          <p:sp>
            <p:nvSpPr>
              <p:cNvPr name="Freeform 7" id="7"/>
              <p:cNvSpPr/>
              <p:nvPr/>
            </p:nvSpPr>
            <p:spPr>
              <a:xfrm flipH="false" flipV="false" rot="0">
                <a:off x="-1" y="0"/>
                <a:ext cx="9178316" cy="9676498"/>
              </a:xfrm>
              <a:custGeom>
                <a:avLst/>
                <a:gdLst/>
                <a:ahLst/>
                <a:cxnLst/>
                <a:rect r="r" b="b" t="t" l="l"/>
                <a:pathLst>
                  <a:path h="9676498" w="9178316">
                    <a:moveTo>
                      <a:pt x="8679536" y="9659579"/>
                    </a:moveTo>
                    <a:cubicBezTo>
                      <a:pt x="8679536" y="9659579"/>
                      <a:pt x="8442539" y="9649609"/>
                      <a:pt x="8080400" y="9663054"/>
                    </a:cubicBezTo>
                    <a:cubicBezTo>
                      <a:pt x="7718262" y="9676498"/>
                      <a:pt x="490924" y="9676498"/>
                      <a:pt x="490924" y="9676498"/>
                    </a:cubicBezTo>
                    <a:cubicBezTo>
                      <a:pt x="245502" y="9676498"/>
                      <a:pt x="32509" y="9579230"/>
                      <a:pt x="31032" y="9419116"/>
                    </a:cubicBezTo>
                    <a:cubicBezTo>
                      <a:pt x="31032" y="9419116"/>
                      <a:pt x="0" y="6726718"/>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8632987" y="0"/>
                      <a:pt x="8632987" y="0"/>
                    </a:cubicBezTo>
                    <a:cubicBezTo>
                      <a:pt x="8944888" y="0"/>
                      <a:pt x="9178316" y="101069"/>
                      <a:pt x="9170458" y="303616"/>
                    </a:cubicBezTo>
                    <a:cubicBezTo>
                      <a:pt x="9170458" y="303616"/>
                      <a:pt x="9168464" y="6182194"/>
                      <a:pt x="9177219" y="8719529"/>
                    </a:cubicBezTo>
                    <a:cubicBezTo>
                      <a:pt x="9185974" y="9012830"/>
                      <a:pt x="9139426" y="9345902"/>
                      <a:pt x="9139426" y="9345902"/>
                    </a:cubicBezTo>
                    <a:cubicBezTo>
                      <a:pt x="9136461" y="9525927"/>
                      <a:pt x="8924958" y="9659579"/>
                      <a:pt x="8679536" y="9659579"/>
                    </a:cubicBezTo>
                    <a:close/>
                  </a:path>
                </a:pathLst>
              </a:custGeom>
              <a:solidFill>
                <a:srgbClr val="8FB7C6"/>
              </a:solidFill>
            </p:spPr>
          </p:sp>
        </p:grpSp>
        <p:grpSp>
          <p:nvGrpSpPr>
            <p:cNvPr name="Group 8" id="8"/>
            <p:cNvGrpSpPr/>
            <p:nvPr/>
          </p:nvGrpSpPr>
          <p:grpSpPr>
            <a:xfrm rot="0">
              <a:off x="146364" y="361359"/>
              <a:ext cx="9862412" cy="9586972"/>
              <a:chOff x="0" y="0"/>
              <a:chExt cx="9178315" cy="8921981"/>
            </a:xfrm>
          </p:grpSpPr>
          <p:sp>
            <p:nvSpPr>
              <p:cNvPr name="Freeform 9" id="9"/>
              <p:cNvSpPr/>
              <p:nvPr/>
            </p:nvSpPr>
            <p:spPr>
              <a:xfrm flipH="false" flipV="false" rot="0">
                <a:off x="-1" y="0"/>
                <a:ext cx="9178316" cy="8921981"/>
              </a:xfrm>
              <a:custGeom>
                <a:avLst/>
                <a:gdLst/>
                <a:ahLst/>
                <a:cxnLst/>
                <a:rect r="r" b="b" t="t" l="l"/>
                <a:pathLst>
                  <a:path h="8921981" w="9178316">
                    <a:moveTo>
                      <a:pt x="8679536" y="8905062"/>
                    </a:moveTo>
                    <a:cubicBezTo>
                      <a:pt x="8679536" y="8905062"/>
                      <a:pt x="8442539" y="8895093"/>
                      <a:pt x="8080400" y="8908537"/>
                    </a:cubicBezTo>
                    <a:cubicBezTo>
                      <a:pt x="7718262" y="8921981"/>
                      <a:pt x="490924" y="8921981"/>
                      <a:pt x="490924" y="8921981"/>
                    </a:cubicBezTo>
                    <a:cubicBezTo>
                      <a:pt x="245502" y="8921981"/>
                      <a:pt x="32509" y="8824713"/>
                      <a:pt x="31032" y="8664599"/>
                    </a:cubicBezTo>
                    <a:cubicBezTo>
                      <a:pt x="31032" y="8664599"/>
                      <a:pt x="0" y="6142272"/>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8632987" y="0"/>
                      <a:pt x="8632987" y="0"/>
                    </a:cubicBezTo>
                    <a:cubicBezTo>
                      <a:pt x="8944888" y="0"/>
                      <a:pt x="9178316" y="101069"/>
                      <a:pt x="9170458" y="303616"/>
                    </a:cubicBezTo>
                    <a:cubicBezTo>
                      <a:pt x="9170458" y="303616"/>
                      <a:pt x="9168464" y="5649759"/>
                      <a:pt x="9177219" y="7965011"/>
                    </a:cubicBezTo>
                    <a:cubicBezTo>
                      <a:pt x="9185974" y="8258313"/>
                      <a:pt x="9139426" y="8591385"/>
                      <a:pt x="9139426" y="8591385"/>
                    </a:cubicBezTo>
                    <a:cubicBezTo>
                      <a:pt x="9136461" y="8771410"/>
                      <a:pt x="8924958" y="8905062"/>
                      <a:pt x="8679536" y="8905062"/>
                    </a:cubicBezTo>
                    <a:close/>
                  </a:path>
                </a:pathLst>
              </a:custGeom>
              <a:solidFill>
                <a:srgbClr val="8FB7C6"/>
              </a:solidFill>
            </p:spPr>
          </p:sp>
        </p:grpSp>
        <p:grpSp>
          <p:nvGrpSpPr>
            <p:cNvPr name="Group 10" id="10"/>
            <p:cNvGrpSpPr/>
            <p:nvPr/>
          </p:nvGrpSpPr>
          <p:grpSpPr>
            <a:xfrm rot="0">
              <a:off x="9814709" y="361359"/>
              <a:ext cx="9862412" cy="9586972"/>
              <a:chOff x="0" y="0"/>
              <a:chExt cx="9178315" cy="8921981"/>
            </a:xfrm>
          </p:grpSpPr>
          <p:sp>
            <p:nvSpPr>
              <p:cNvPr name="Freeform 11" id="11"/>
              <p:cNvSpPr/>
              <p:nvPr/>
            </p:nvSpPr>
            <p:spPr>
              <a:xfrm flipH="false" flipV="false" rot="0">
                <a:off x="-1" y="0"/>
                <a:ext cx="9178316" cy="8921981"/>
              </a:xfrm>
              <a:custGeom>
                <a:avLst/>
                <a:gdLst/>
                <a:ahLst/>
                <a:cxnLst/>
                <a:rect r="r" b="b" t="t" l="l"/>
                <a:pathLst>
                  <a:path h="8921981" w="9178316">
                    <a:moveTo>
                      <a:pt x="8679536" y="8905062"/>
                    </a:moveTo>
                    <a:cubicBezTo>
                      <a:pt x="8679536" y="8905062"/>
                      <a:pt x="8442539" y="8895093"/>
                      <a:pt x="8080400" y="8908537"/>
                    </a:cubicBezTo>
                    <a:cubicBezTo>
                      <a:pt x="7718262" y="8921981"/>
                      <a:pt x="490924" y="8921981"/>
                      <a:pt x="490924" y="8921981"/>
                    </a:cubicBezTo>
                    <a:cubicBezTo>
                      <a:pt x="245502" y="8921981"/>
                      <a:pt x="32509" y="8824713"/>
                      <a:pt x="31032" y="8664599"/>
                    </a:cubicBezTo>
                    <a:cubicBezTo>
                      <a:pt x="31032" y="8664599"/>
                      <a:pt x="0" y="6142272"/>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8632987" y="0"/>
                      <a:pt x="8632987" y="0"/>
                    </a:cubicBezTo>
                    <a:cubicBezTo>
                      <a:pt x="8944888" y="0"/>
                      <a:pt x="9178316" y="101069"/>
                      <a:pt x="9170458" y="303616"/>
                    </a:cubicBezTo>
                    <a:cubicBezTo>
                      <a:pt x="9170458" y="303616"/>
                      <a:pt x="9168464" y="5649759"/>
                      <a:pt x="9177219" y="7965011"/>
                    </a:cubicBezTo>
                    <a:cubicBezTo>
                      <a:pt x="9185974" y="8258313"/>
                      <a:pt x="9139426" y="8591385"/>
                      <a:pt x="9139426" y="8591385"/>
                    </a:cubicBezTo>
                    <a:cubicBezTo>
                      <a:pt x="9136461" y="8771410"/>
                      <a:pt x="8924958" y="8905062"/>
                      <a:pt x="8679536" y="8905062"/>
                    </a:cubicBezTo>
                    <a:close/>
                  </a:path>
                </a:pathLst>
              </a:custGeom>
              <a:solidFill>
                <a:srgbClr val="8FB7C6"/>
              </a:solidFill>
            </p:spPr>
          </p:sp>
        </p:grpSp>
        <p:grpSp>
          <p:nvGrpSpPr>
            <p:cNvPr name="Group 12" id="12"/>
            <p:cNvGrpSpPr/>
            <p:nvPr/>
          </p:nvGrpSpPr>
          <p:grpSpPr>
            <a:xfrm rot="0">
              <a:off x="600568" y="0"/>
              <a:ext cx="9389445" cy="10819690"/>
              <a:chOff x="0" y="0"/>
              <a:chExt cx="9178315" cy="10576399"/>
            </a:xfrm>
          </p:grpSpPr>
          <p:sp>
            <p:nvSpPr>
              <p:cNvPr name="Freeform 13" id="13"/>
              <p:cNvSpPr/>
              <p:nvPr/>
            </p:nvSpPr>
            <p:spPr>
              <a:xfrm flipH="false" flipV="false" rot="0">
                <a:off x="-1" y="0"/>
                <a:ext cx="9178316" cy="10576399"/>
              </a:xfrm>
              <a:custGeom>
                <a:avLst/>
                <a:gdLst/>
                <a:ahLst/>
                <a:cxnLst/>
                <a:rect r="r" b="b" t="t" l="l"/>
                <a:pathLst>
                  <a:path h="10576399" w="9178316">
                    <a:moveTo>
                      <a:pt x="8679536" y="10559480"/>
                    </a:moveTo>
                    <a:cubicBezTo>
                      <a:pt x="8679536" y="10559480"/>
                      <a:pt x="8442539" y="10549511"/>
                      <a:pt x="8080400" y="10562955"/>
                    </a:cubicBezTo>
                    <a:cubicBezTo>
                      <a:pt x="7718262" y="10576399"/>
                      <a:pt x="490924" y="10576399"/>
                      <a:pt x="490924" y="10576399"/>
                    </a:cubicBezTo>
                    <a:cubicBezTo>
                      <a:pt x="245502" y="10576399"/>
                      <a:pt x="32509" y="10479132"/>
                      <a:pt x="31032" y="10319017"/>
                    </a:cubicBezTo>
                    <a:cubicBezTo>
                      <a:pt x="31032" y="10319017"/>
                      <a:pt x="0" y="7423779"/>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8632987" y="0"/>
                      <a:pt x="8632987" y="0"/>
                    </a:cubicBezTo>
                    <a:cubicBezTo>
                      <a:pt x="8944888" y="0"/>
                      <a:pt x="9178316" y="101069"/>
                      <a:pt x="9170458" y="303616"/>
                    </a:cubicBezTo>
                    <a:cubicBezTo>
                      <a:pt x="9170458" y="303616"/>
                      <a:pt x="9168464" y="6817223"/>
                      <a:pt x="9177219" y="9619430"/>
                    </a:cubicBezTo>
                    <a:cubicBezTo>
                      <a:pt x="9185974" y="9912731"/>
                      <a:pt x="9139426" y="10245803"/>
                      <a:pt x="9139426" y="10245803"/>
                    </a:cubicBezTo>
                    <a:cubicBezTo>
                      <a:pt x="9136461" y="10425828"/>
                      <a:pt x="8924958" y="10559480"/>
                      <a:pt x="8679536" y="10559480"/>
                    </a:cubicBezTo>
                    <a:close/>
                  </a:path>
                </a:pathLst>
              </a:custGeom>
              <a:solidFill>
                <a:srgbClr val="F3FCFF"/>
              </a:solidFill>
            </p:spPr>
          </p:sp>
        </p:grpSp>
        <p:grpSp>
          <p:nvGrpSpPr>
            <p:cNvPr name="Group 14" id="14"/>
            <p:cNvGrpSpPr/>
            <p:nvPr/>
          </p:nvGrpSpPr>
          <p:grpSpPr>
            <a:xfrm rot="0">
              <a:off x="9805254" y="0"/>
              <a:ext cx="9389445" cy="10819690"/>
              <a:chOff x="0" y="0"/>
              <a:chExt cx="9178315" cy="10576399"/>
            </a:xfrm>
          </p:grpSpPr>
          <p:sp>
            <p:nvSpPr>
              <p:cNvPr name="Freeform 15" id="15"/>
              <p:cNvSpPr/>
              <p:nvPr/>
            </p:nvSpPr>
            <p:spPr>
              <a:xfrm flipH="false" flipV="false" rot="0">
                <a:off x="-1" y="0"/>
                <a:ext cx="9178316" cy="10576399"/>
              </a:xfrm>
              <a:custGeom>
                <a:avLst/>
                <a:gdLst/>
                <a:ahLst/>
                <a:cxnLst/>
                <a:rect r="r" b="b" t="t" l="l"/>
                <a:pathLst>
                  <a:path h="10576399" w="9178316">
                    <a:moveTo>
                      <a:pt x="8679536" y="10559480"/>
                    </a:moveTo>
                    <a:cubicBezTo>
                      <a:pt x="8679536" y="10559480"/>
                      <a:pt x="8442539" y="10549511"/>
                      <a:pt x="8080400" y="10562955"/>
                    </a:cubicBezTo>
                    <a:cubicBezTo>
                      <a:pt x="7718262" y="10576399"/>
                      <a:pt x="490924" y="10576399"/>
                      <a:pt x="490924" y="10576399"/>
                    </a:cubicBezTo>
                    <a:cubicBezTo>
                      <a:pt x="245502" y="10576399"/>
                      <a:pt x="32509" y="10479132"/>
                      <a:pt x="31032" y="10319017"/>
                    </a:cubicBezTo>
                    <a:cubicBezTo>
                      <a:pt x="31032" y="10319017"/>
                      <a:pt x="0" y="7423779"/>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8632987" y="0"/>
                      <a:pt x="8632987" y="0"/>
                    </a:cubicBezTo>
                    <a:cubicBezTo>
                      <a:pt x="8944888" y="0"/>
                      <a:pt x="9178316" y="101069"/>
                      <a:pt x="9170458" y="303616"/>
                    </a:cubicBezTo>
                    <a:cubicBezTo>
                      <a:pt x="9170458" y="303616"/>
                      <a:pt x="9168464" y="6817223"/>
                      <a:pt x="9177219" y="9619430"/>
                    </a:cubicBezTo>
                    <a:cubicBezTo>
                      <a:pt x="9185974" y="9912731"/>
                      <a:pt x="9139426" y="10245803"/>
                      <a:pt x="9139426" y="10245803"/>
                    </a:cubicBezTo>
                    <a:cubicBezTo>
                      <a:pt x="9136461" y="10425828"/>
                      <a:pt x="8924958" y="10559480"/>
                      <a:pt x="8679536" y="10559480"/>
                    </a:cubicBezTo>
                    <a:close/>
                  </a:path>
                </a:pathLst>
              </a:custGeom>
              <a:solidFill>
                <a:srgbClr val="F3FCFF"/>
              </a:solidFill>
            </p:spPr>
          </p:sp>
        </p:grpSp>
        <p:sp>
          <p:nvSpPr>
            <p:cNvPr name="AutoShape 16" id="16"/>
            <p:cNvSpPr/>
            <p:nvPr/>
          </p:nvSpPr>
          <p:spPr>
            <a:xfrm>
              <a:off x="1808896" y="762843"/>
              <a:ext cx="16177474" cy="34286"/>
            </a:xfrm>
            <a:prstGeom prst="line">
              <a:avLst/>
            </a:prstGeom>
            <a:ln cap="rnd" w="50800">
              <a:solidFill>
                <a:srgbClr val="8FB7C6"/>
              </a:solidFill>
              <a:prstDash val="solid"/>
              <a:headEnd type="none" len="sm" w="sm"/>
              <a:tailEnd type="none" len="sm" w="sm"/>
            </a:ln>
          </p:spPr>
        </p:sp>
      </p:grpSp>
      <p:sp>
        <p:nvSpPr>
          <p:cNvPr name="TextBox 17" id="17"/>
          <p:cNvSpPr txBox="true"/>
          <p:nvPr/>
        </p:nvSpPr>
        <p:spPr>
          <a:xfrm rot="0">
            <a:off x="3606570" y="1217523"/>
            <a:ext cx="11074860" cy="942975"/>
          </a:xfrm>
          <a:prstGeom prst="rect">
            <a:avLst/>
          </a:prstGeom>
        </p:spPr>
        <p:txBody>
          <a:bodyPr anchor="t" rtlCol="false" tIns="0" lIns="0" bIns="0" rIns="0">
            <a:spAutoFit/>
          </a:bodyPr>
          <a:lstStyle/>
          <a:p>
            <a:pPr algn="ctr" marL="0" indent="0" lvl="1">
              <a:lnSpc>
                <a:spcPts val="7440"/>
              </a:lnSpc>
              <a:spcBef>
                <a:spcPct val="0"/>
              </a:spcBef>
            </a:pPr>
            <a:r>
              <a:rPr lang="en-US" b="true" sz="6200" strike="noStrike" u="none">
                <a:solidFill>
                  <a:srgbClr val="1D2B74"/>
                </a:solidFill>
                <a:latin typeface="Faustina Bold"/>
                <a:ea typeface="Faustina Bold"/>
                <a:cs typeface="Faustina Bold"/>
                <a:sym typeface="Faustina Bold"/>
              </a:rPr>
              <a:t> DOCSTRING LÀ GÌ?</a:t>
            </a:r>
          </a:p>
        </p:txBody>
      </p:sp>
      <p:grpSp>
        <p:nvGrpSpPr>
          <p:cNvPr name="Group 18" id="18"/>
          <p:cNvGrpSpPr/>
          <p:nvPr/>
        </p:nvGrpSpPr>
        <p:grpSpPr>
          <a:xfrm rot="0">
            <a:off x="3755054" y="3787551"/>
            <a:ext cx="10815993" cy="3858216"/>
            <a:chOff x="0" y="0"/>
            <a:chExt cx="14421324" cy="5144287"/>
          </a:xfrm>
        </p:grpSpPr>
        <p:sp>
          <p:nvSpPr>
            <p:cNvPr name="TextBox 19" id="19"/>
            <p:cNvSpPr txBox="true"/>
            <p:nvPr/>
          </p:nvSpPr>
          <p:spPr>
            <a:xfrm rot="0">
              <a:off x="0" y="0"/>
              <a:ext cx="14421324" cy="3543300"/>
            </a:xfrm>
            <a:prstGeom prst="rect">
              <a:avLst/>
            </a:prstGeom>
          </p:spPr>
          <p:txBody>
            <a:bodyPr anchor="t" rtlCol="false" tIns="0" lIns="0" bIns="0" rIns="0">
              <a:spAutoFit/>
            </a:bodyPr>
            <a:lstStyle/>
            <a:p>
              <a:pPr algn="ctr">
                <a:lnSpc>
                  <a:spcPts val="6989"/>
                </a:lnSpc>
              </a:pPr>
              <a:r>
                <a:rPr lang="en-US" sz="5824" b="true">
                  <a:solidFill>
                    <a:srgbClr val="1D2B74"/>
                  </a:solidFill>
                  <a:latin typeface="Faustina Bold"/>
                  <a:ea typeface="Faustina Bold"/>
                  <a:cs typeface="Faustina Bold"/>
                  <a:sym typeface="Faustina Bold"/>
                </a:rPr>
                <a:t>Định nghĩa:</a:t>
              </a:r>
            </a:p>
            <a:p>
              <a:pPr algn="l" marL="1257610" indent="-628805" lvl="1">
                <a:lnSpc>
                  <a:spcPts val="6989"/>
                </a:lnSpc>
                <a:buFont typeface="Arial"/>
                <a:buChar char="•"/>
              </a:pPr>
              <a:r>
                <a:rPr lang="en-US" b="true" sz="5824">
                  <a:solidFill>
                    <a:srgbClr val="1D2B74"/>
                  </a:solidFill>
                  <a:latin typeface="Faustina Bold"/>
                  <a:ea typeface="Faustina Bold"/>
                  <a:cs typeface="Faustina Bold"/>
                  <a:sym typeface="Faustina Bold"/>
                </a:rPr>
                <a:t>Chuỗi mô tả trong code</a:t>
              </a:r>
            </a:p>
            <a:p>
              <a:pPr algn="l" marL="1257610" indent="-628805" lvl="1">
                <a:lnSpc>
                  <a:spcPts val="6989"/>
                </a:lnSpc>
                <a:buFont typeface="Arial"/>
                <a:buChar char="•"/>
              </a:pPr>
              <a:r>
                <a:rPr lang="en-US" b="true" sz="5824">
                  <a:solidFill>
                    <a:srgbClr val="1D2B74"/>
                  </a:solidFill>
                  <a:latin typeface="Faustina Bold"/>
                  <a:ea typeface="Faustina Bold"/>
                  <a:cs typeface="Faustina Bold"/>
                  <a:sym typeface="Faustina Bold"/>
                </a:rPr>
                <a:t>Giải thích chức năng</a:t>
              </a:r>
            </a:p>
          </p:txBody>
        </p:sp>
        <p:sp>
          <p:nvSpPr>
            <p:cNvPr name="TextBox 20" id="20"/>
            <p:cNvSpPr txBox="true"/>
            <p:nvPr/>
          </p:nvSpPr>
          <p:spPr>
            <a:xfrm rot="0">
              <a:off x="0" y="4382287"/>
              <a:ext cx="14421324" cy="762000"/>
            </a:xfrm>
            <a:prstGeom prst="rect">
              <a:avLst/>
            </a:prstGeom>
          </p:spPr>
          <p:txBody>
            <a:bodyPr anchor="t" rtlCol="false" tIns="0" lIns="0" bIns="0" rIns="0">
              <a:spAutoFit/>
            </a:bodyPr>
            <a:lstStyle/>
            <a:p>
              <a:pPr algn="ctr">
                <a:lnSpc>
                  <a:spcPts val="4559"/>
                </a:lnSpc>
              </a:pPr>
            </a:p>
          </p:txBody>
        </p:sp>
      </p:grpSp>
      <p:sp>
        <p:nvSpPr>
          <p:cNvPr name="Freeform 21" id="21"/>
          <p:cNvSpPr/>
          <p:nvPr/>
        </p:nvSpPr>
        <p:spPr>
          <a:xfrm flipH="false" flipV="false" rot="1186719">
            <a:off x="16925814" y="3640910"/>
            <a:ext cx="1863737" cy="2381773"/>
          </a:xfrm>
          <a:custGeom>
            <a:avLst/>
            <a:gdLst/>
            <a:ahLst/>
            <a:cxnLst/>
            <a:rect r="r" b="b" t="t" l="l"/>
            <a:pathLst>
              <a:path h="2381773" w="1863737">
                <a:moveTo>
                  <a:pt x="0" y="0"/>
                </a:moveTo>
                <a:lnTo>
                  <a:pt x="1863737" y="0"/>
                </a:lnTo>
                <a:lnTo>
                  <a:pt x="1863737" y="2381773"/>
                </a:lnTo>
                <a:lnTo>
                  <a:pt x="0" y="23817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2" id="22"/>
          <p:cNvSpPr/>
          <p:nvPr/>
        </p:nvSpPr>
        <p:spPr>
          <a:xfrm flipH="false" flipV="false" rot="-458302">
            <a:off x="16900877" y="6386450"/>
            <a:ext cx="1913611" cy="1913611"/>
          </a:xfrm>
          <a:custGeom>
            <a:avLst/>
            <a:gdLst/>
            <a:ahLst/>
            <a:cxnLst/>
            <a:rect r="r" b="b" t="t" l="l"/>
            <a:pathLst>
              <a:path h="1913611" w="1913611">
                <a:moveTo>
                  <a:pt x="0" y="0"/>
                </a:moveTo>
                <a:lnTo>
                  <a:pt x="1913611" y="0"/>
                </a:lnTo>
                <a:lnTo>
                  <a:pt x="1913611" y="1913611"/>
                </a:lnTo>
                <a:lnTo>
                  <a:pt x="0" y="191361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3" id="23"/>
          <p:cNvSpPr/>
          <p:nvPr/>
        </p:nvSpPr>
        <p:spPr>
          <a:xfrm flipH="false" flipV="false" rot="-1055302">
            <a:off x="-552465" y="274878"/>
            <a:ext cx="2767204" cy="2199927"/>
          </a:xfrm>
          <a:custGeom>
            <a:avLst/>
            <a:gdLst/>
            <a:ahLst/>
            <a:cxnLst/>
            <a:rect r="r" b="b" t="t" l="l"/>
            <a:pathLst>
              <a:path h="2199927" w="2767204">
                <a:moveTo>
                  <a:pt x="0" y="0"/>
                </a:moveTo>
                <a:lnTo>
                  <a:pt x="2767204" y="0"/>
                </a:lnTo>
                <a:lnTo>
                  <a:pt x="2767204" y="2199927"/>
                </a:lnTo>
                <a:lnTo>
                  <a:pt x="0" y="21999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4" id="24"/>
          <p:cNvSpPr/>
          <p:nvPr/>
        </p:nvSpPr>
        <p:spPr>
          <a:xfrm flipH="false" flipV="false" rot="-1656121">
            <a:off x="16327664" y="237013"/>
            <a:ext cx="2885843" cy="2903993"/>
          </a:xfrm>
          <a:custGeom>
            <a:avLst/>
            <a:gdLst/>
            <a:ahLst/>
            <a:cxnLst/>
            <a:rect r="r" b="b" t="t" l="l"/>
            <a:pathLst>
              <a:path h="2903993" w="2885843">
                <a:moveTo>
                  <a:pt x="0" y="0"/>
                </a:moveTo>
                <a:lnTo>
                  <a:pt x="2885843" y="0"/>
                </a:lnTo>
                <a:lnTo>
                  <a:pt x="2885843" y="2903994"/>
                </a:lnTo>
                <a:lnTo>
                  <a:pt x="0" y="290399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5" id="25"/>
          <p:cNvSpPr/>
          <p:nvPr/>
        </p:nvSpPr>
        <p:spPr>
          <a:xfrm flipH="false" flipV="false" rot="-2237841">
            <a:off x="17105360" y="8414200"/>
            <a:ext cx="1768567" cy="1835089"/>
          </a:xfrm>
          <a:custGeom>
            <a:avLst/>
            <a:gdLst/>
            <a:ahLst/>
            <a:cxnLst/>
            <a:rect r="r" b="b" t="t" l="l"/>
            <a:pathLst>
              <a:path h="1835089" w="1768567">
                <a:moveTo>
                  <a:pt x="0" y="0"/>
                </a:moveTo>
                <a:lnTo>
                  <a:pt x="1768567" y="0"/>
                </a:lnTo>
                <a:lnTo>
                  <a:pt x="1768567" y="1835089"/>
                </a:lnTo>
                <a:lnTo>
                  <a:pt x="0" y="183508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6" id="26"/>
          <p:cNvSpPr/>
          <p:nvPr/>
        </p:nvSpPr>
        <p:spPr>
          <a:xfrm flipH="false" flipV="false" rot="-1479392">
            <a:off x="-577273" y="5940385"/>
            <a:ext cx="1488231" cy="1901893"/>
          </a:xfrm>
          <a:custGeom>
            <a:avLst/>
            <a:gdLst/>
            <a:ahLst/>
            <a:cxnLst/>
            <a:rect r="r" b="b" t="t" l="l"/>
            <a:pathLst>
              <a:path h="1901893" w="1488231">
                <a:moveTo>
                  <a:pt x="0" y="0"/>
                </a:moveTo>
                <a:lnTo>
                  <a:pt x="1488232" y="0"/>
                </a:lnTo>
                <a:lnTo>
                  <a:pt x="1488232" y="1901893"/>
                </a:lnTo>
                <a:lnTo>
                  <a:pt x="0" y="190189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7" id="27"/>
          <p:cNvSpPr/>
          <p:nvPr/>
        </p:nvSpPr>
        <p:spPr>
          <a:xfrm flipH="false" flipV="false" rot="-458292">
            <a:off x="-903414" y="3078267"/>
            <a:ext cx="2287819" cy="2367730"/>
          </a:xfrm>
          <a:custGeom>
            <a:avLst/>
            <a:gdLst/>
            <a:ahLst/>
            <a:cxnLst/>
            <a:rect r="r" b="b" t="t" l="l"/>
            <a:pathLst>
              <a:path h="2367730" w="2287819">
                <a:moveTo>
                  <a:pt x="0" y="0"/>
                </a:moveTo>
                <a:lnTo>
                  <a:pt x="2287819" y="0"/>
                </a:lnTo>
                <a:lnTo>
                  <a:pt x="2287819" y="2367731"/>
                </a:lnTo>
                <a:lnTo>
                  <a:pt x="0" y="236773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28" id="28"/>
          <p:cNvGrpSpPr/>
          <p:nvPr/>
        </p:nvGrpSpPr>
        <p:grpSpPr>
          <a:xfrm rot="0">
            <a:off x="5003144" y="7141730"/>
            <a:ext cx="10815993" cy="4972641"/>
            <a:chOff x="0" y="0"/>
            <a:chExt cx="14421324" cy="6630187"/>
          </a:xfrm>
        </p:grpSpPr>
        <p:sp>
          <p:nvSpPr>
            <p:cNvPr name="TextBox 29" id="29"/>
            <p:cNvSpPr txBox="true"/>
            <p:nvPr/>
          </p:nvSpPr>
          <p:spPr>
            <a:xfrm rot="0">
              <a:off x="0" y="0"/>
              <a:ext cx="14421324" cy="5029200"/>
            </a:xfrm>
            <a:prstGeom prst="rect">
              <a:avLst/>
            </a:prstGeom>
          </p:spPr>
          <p:txBody>
            <a:bodyPr anchor="t" rtlCol="false" tIns="0" lIns="0" bIns="0" rIns="0">
              <a:spAutoFit/>
            </a:bodyPr>
            <a:lstStyle/>
            <a:p>
              <a:pPr algn="l">
                <a:lnSpc>
                  <a:spcPts val="4950"/>
                </a:lnSpc>
              </a:pPr>
              <a:r>
                <a:rPr lang="en-US" sz="4125" spc="-41" b="true">
                  <a:solidFill>
                    <a:srgbClr val="1D2B74"/>
                  </a:solidFill>
                  <a:latin typeface="Faustina Bold"/>
                  <a:ea typeface="Faustina Bold"/>
                  <a:cs typeface="Faustina Bold"/>
                  <a:sym typeface="Faustina Bold"/>
                </a:rPr>
                <a:t>Ví dụ:</a:t>
              </a:r>
              <a:r>
                <a:rPr lang="en-US" sz="4125" spc="-41" b="true">
                  <a:solidFill>
                    <a:srgbClr val="1D2B74"/>
                  </a:solidFill>
                  <a:latin typeface="Faustina Bold"/>
                  <a:ea typeface="Faustina Bold"/>
                  <a:cs typeface="Faustina Bold"/>
                  <a:sym typeface="Faustina Bold"/>
                </a:rPr>
                <a:t> </a:t>
              </a:r>
            </a:p>
            <a:p>
              <a:pPr algn="l">
                <a:lnSpc>
                  <a:spcPts val="4950"/>
                </a:lnSpc>
              </a:pPr>
              <a:r>
                <a:rPr lang="en-US" sz="4125" spc="-41">
                  <a:solidFill>
                    <a:srgbClr val="1D2B74"/>
                  </a:solidFill>
                  <a:latin typeface="Faustina"/>
                  <a:ea typeface="Faustina"/>
                  <a:cs typeface="Faustina"/>
                  <a:sym typeface="Faustina"/>
                </a:rPr>
                <a:t> </a:t>
              </a:r>
              <a:r>
                <a:rPr lang="en-US" sz="4125" spc="-41" b="true">
                  <a:solidFill>
                    <a:srgbClr val="1D2B74"/>
                  </a:solidFill>
                  <a:latin typeface="Faustina Bold"/>
                  <a:ea typeface="Faustina Bold"/>
                  <a:cs typeface="Faustina Bold"/>
                  <a:sym typeface="Faustina Bold"/>
                </a:rPr>
                <a:t>def add(a, b):</a:t>
              </a:r>
            </a:p>
            <a:p>
              <a:pPr algn="l">
                <a:lnSpc>
                  <a:spcPts val="4950"/>
                </a:lnSpc>
              </a:pPr>
              <a:r>
                <a:rPr lang="en-US" sz="4125" spc="-41" b="true">
                  <a:solidFill>
                    <a:srgbClr val="1D2B74"/>
                  </a:solidFill>
                  <a:latin typeface="Faustina Bold"/>
                  <a:ea typeface="Faustina Bold"/>
                  <a:cs typeface="Faustina Bold"/>
                  <a:sym typeface="Faustina Bold"/>
                </a:rPr>
                <a:t>                """Return sum of two numbers"""</a:t>
              </a:r>
            </a:p>
            <a:p>
              <a:pPr algn="l">
                <a:lnSpc>
                  <a:spcPts val="4950"/>
                </a:lnSpc>
              </a:pPr>
              <a:r>
                <a:rPr lang="en-US" sz="4125" spc="-41" b="true">
                  <a:solidFill>
                    <a:srgbClr val="1D2B74"/>
                  </a:solidFill>
                  <a:latin typeface="Faustina Bold"/>
                  <a:ea typeface="Faustina Bold"/>
                  <a:cs typeface="Faustina Bold"/>
                  <a:sym typeface="Faustina Bold"/>
                </a:rPr>
                <a:t> return a + b</a:t>
              </a:r>
            </a:p>
            <a:p>
              <a:pPr algn="l">
                <a:lnSpc>
                  <a:spcPts val="4950"/>
                </a:lnSpc>
              </a:pPr>
            </a:p>
            <a:p>
              <a:pPr algn="l">
                <a:lnSpc>
                  <a:spcPts val="4950"/>
                </a:lnSpc>
              </a:pPr>
            </a:p>
          </p:txBody>
        </p:sp>
        <p:sp>
          <p:nvSpPr>
            <p:cNvPr name="TextBox 30" id="30"/>
            <p:cNvSpPr txBox="true"/>
            <p:nvPr/>
          </p:nvSpPr>
          <p:spPr>
            <a:xfrm rot="0">
              <a:off x="0" y="5868187"/>
              <a:ext cx="14421324" cy="762000"/>
            </a:xfrm>
            <a:prstGeom prst="rect">
              <a:avLst/>
            </a:prstGeom>
          </p:spPr>
          <p:txBody>
            <a:bodyPr anchor="t" rtlCol="false" tIns="0" lIns="0" bIns="0" rIns="0">
              <a:spAutoFit/>
            </a:bodyPr>
            <a:lstStyle/>
            <a:p>
              <a:pPr algn="ctr">
                <a:lnSpc>
                  <a:spcPts val="4559"/>
                </a:lnSpc>
              </a:pPr>
            </a:p>
          </p:txBody>
        </p:sp>
      </p:grpSp>
    </p:spTree>
  </p:cSld>
  <p:clrMapOvr>
    <a:masterClrMapping/>
  </p:clrMapOvr>
  <p:transition spd="slow">
    <p:push dir="d"/>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C8E3ED"/>
        </a:solidFill>
      </p:bgPr>
    </p:bg>
    <p:spTree>
      <p:nvGrpSpPr>
        <p:cNvPr id="1" name=""/>
        <p:cNvGrpSpPr/>
        <p:nvPr/>
      </p:nvGrpSpPr>
      <p:grpSpPr>
        <a:xfrm>
          <a:off x="0" y="0"/>
          <a:ext cx="0" cy="0"/>
          <a:chOff x="0" y="0"/>
          <a:chExt cx="0" cy="0"/>
        </a:xfrm>
      </p:grpSpPr>
      <p:grpSp>
        <p:nvGrpSpPr>
          <p:cNvPr name="Group 2" id="2"/>
          <p:cNvGrpSpPr/>
          <p:nvPr/>
        </p:nvGrpSpPr>
        <p:grpSpPr>
          <a:xfrm rot="0">
            <a:off x="6544073" y="1028700"/>
            <a:ext cx="12768544" cy="8229600"/>
            <a:chOff x="0" y="0"/>
            <a:chExt cx="17024725" cy="10972800"/>
          </a:xfrm>
        </p:grpSpPr>
        <p:grpSp>
          <p:nvGrpSpPr>
            <p:cNvPr name="Group 3" id="3"/>
            <p:cNvGrpSpPr/>
            <p:nvPr/>
          </p:nvGrpSpPr>
          <p:grpSpPr>
            <a:xfrm rot="0">
              <a:off x="0" y="977717"/>
              <a:ext cx="16085166" cy="9995083"/>
              <a:chOff x="0" y="0"/>
              <a:chExt cx="15637861" cy="9717134"/>
            </a:xfrm>
          </p:grpSpPr>
          <p:sp>
            <p:nvSpPr>
              <p:cNvPr name="Freeform 4" id="4"/>
              <p:cNvSpPr/>
              <p:nvPr/>
            </p:nvSpPr>
            <p:spPr>
              <a:xfrm flipH="false" flipV="false" rot="0">
                <a:off x="-1" y="0"/>
                <a:ext cx="15637861" cy="9717134"/>
              </a:xfrm>
              <a:custGeom>
                <a:avLst/>
                <a:gdLst/>
                <a:ahLst/>
                <a:cxnLst/>
                <a:rect r="r" b="b" t="t" l="l"/>
                <a:pathLst>
                  <a:path h="9717134" w="15637861">
                    <a:moveTo>
                      <a:pt x="15139082" y="9700216"/>
                    </a:moveTo>
                    <a:cubicBezTo>
                      <a:pt x="15139082" y="9700216"/>
                      <a:pt x="14902085" y="9690246"/>
                      <a:pt x="14539946" y="9703690"/>
                    </a:cubicBezTo>
                    <a:cubicBezTo>
                      <a:pt x="14177807" y="9717134"/>
                      <a:pt x="490924" y="9717134"/>
                      <a:pt x="490924" y="9717134"/>
                    </a:cubicBezTo>
                    <a:cubicBezTo>
                      <a:pt x="245502" y="9717134"/>
                      <a:pt x="32509" y="9619866"/>
                      <a:pt x="31032" y="9459752"/>
                    </a:cubicBezTo>
                    <a:cubicBezTo>
                      <a:pt x="31032" y="9459752"/>
                      <a:pt x="0" y="6758194"/>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15092532" y="0"/>
                      <a:pt x="15092532" y="0"/>
                    </a:cubicBezTo>
                    <a:cubicBezTo>
                      <a:pt x="15404433" y="0"/>
                      <a:pt x="15637862" y="101069"/>
                      <a:pt x="15630004" y="303616"/>
                    </a:cubicBezTo>
                    <a:cubicBezTo>
                      <a:pt x="15630004" y="303616"/>
                      <a:pt x="15628010" y="6210870"/>
                      <a:pt x="15636764" y="8760165"/>
                    </a:cubicBezTo>
                    <a:cubicBezTo>
                      <a:pt x="15645519" y="9053467"/>
                      <a:pt x="15598971" y="9386538"/>
                      <a:pt x="15598971" y="9386538"/>
                    </a:cubicBezTo>
                    <a:cubicBezTo>
                      <a:pt x="15596006" y="9566563"/>
                      <a:pt x="15384502" y="9700216"/>
                      <a:pt x="15139082" y="9700216"/>
                    </a:cubicBezTo>
                    <a:close/>
                  </a:path>
                </a:pathLst>
              </a:custGeom>
              <a:solidFill>
                <a:srgbClr val="8FB7C6"/>
              </a:solidFill>
            </p:spPr>
          </p:sp>
        </p:grpSp>
        <p:grpSp>
          <p:nvGrpSpPr>
            <p:cNvPr name="Group 5" id="5"/>
            <p:cNvGrpSpPr/>
            <p:nvPr/>
          </p:nvGrpSpPr>
          <p:grpSpPr>
            <a:xfrm rot="0">
              <a:off x="175613" y="1067537"/>
              <a:ext cx="15771514" cy="9778026"/>
              <a:chOff x="0" y="0"/>
              <a:chExt cx="15562742" cy="9648591"/>
            </a:xfrm>
          </p:grpSpPr>
          <p:sp>
            <p:nvSpPr>
              <p:cNvPr name="Freeform 6" id="6"/>
              <p:cNvSpPr/>
              <p:nvPr/>
            </p:nvSpPr>
            <p:spPr>
              <a:xfrm flipH="false" flipV="false" rot="0">
                <a:off x="-1" y="0"/>
                <a:ext cx="15562742" cy="9648591"/>
              </a:xfrm>
              <a:custGeom>
                <a:avLst/>
                <a:gdLst/>
                <a:ahLst/>
                <a:cxnLst/>
                <a:rect r="r" b="b" t="t" l="l"/>
                <a:pathLst>
                  <a:path h="9648591" w="15562742">
                    <a:moveTo>
                      <a:pt x="15063962" y="9631673"/>
                    </a:moveTo>
                    <a:cubicBezTo>
                      <a:pt x="15063962" y="9631673"/>
                      <a:pt x="14826966" y="9621703"/>
                      <a:pt x="14464827" y="9635147"/>
                    </a:cubicBezTo>
                    <a:cubicBezTo>
                      <a:pt x="14102689" y="9648591"/>
                      <a:pt x="490924" y="9648591"/>
                      <a:pt x="490924" y="9648591"/>
                    </a:cubicBezTo>
                    <a:cubicBezTo>
                      <a:pt x="245502" y="9648591"/>
                      <a:pt x="32509" y="9551323"/>
                      <a:pt x="31032" y="9391209"/>
                    </a:cubicBezTo>
                    <a:cubicBezTo>
                      <a:pt x="31032" y="9391209"/>
                      <a:pt x="0" y="6705102"/>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15017413" y="0"/>
                      <a:pt x="15017413" y="0"/>
                    </a:cubicBezTo>
                    <a:cubicBezTo>
                      <a:pt x="15329315" y="0"/>
                      <a:pt x="15562743" y="101069"/>
                      <a:pt x="15554886" y="303616"/>
                    </a:cubicBezTo>
                    <a:cubicBezTo>
                      <a:pt x="15554886" y="303616"/>
                      <a:pt x="15552890" y="6162502"/>
                      <a:pt x="15561645" y="8691622"/>
                    </a:cubicBezTo>
                    <a:cubicBezTo>
                      <a:pt x="15570401" y="8984924"/>
                      <a:pt x="15523853" y="9317995"/>
                      <a:pt x="15523853" y="9317995"/>
                    </a:cubicBezTo>
                    <a:cubicBezTo>
                      <a:pt x="15520888" y="9498020"/>
                      <a:pt x="15309384" y="9631673"/>
                      <a:pt x="15063962" y="9631673"/>
                    </a:cubicBezTo>
                    <a:close/>
                  </a:path>
                </a:pathLst>
              </a:custGeom>
              <a:solidFill>
                <a:srgbClr val="8FB7C6"/>
              </a:solidFill>
            </p:spPr>
          </p:sp>
        </p:grpSp>
        <p:grpSp>
          <p:nvGrpSpPr>
            <p:cNvPr name="Group 7" id="7"/>
            <p:cNvGrpSpPr/>
            <p:nvPr/>
          </p:nvGrpSpPr>
          <p:grpSpPr>
            <a:xfrm rot="0">
              <a:off x="633489" y="0"/>
              <a:ext cx="15313638" cy="10328670"/>
              <a:chOff x="0" y="0"/>
              <a:chExt cx="15872097" cy="10705337"/>
            </a:xfrm>
          </p:grpSpPr>
          <p:sp>
            <p:nvSpPr>
              <p:cNvPr name="Freeform 8" id="8"/>
              <p:cNvSpPr/>
              <p:nvPr/>
            </p:nvSpPr>
            <p:spPr>
              <a:xfrm flipH="false" flipV="false" rot="0">
                <a:off x="-1" y="0"/>
                <a:ext cx="15872097" cy="10705337"/>
              </a:xfrm>
              <a:custGeom>
                <a:avLst/>
                <a:gdLst/>
                <a:ahLst/>
                <a:cxnLst/>
                <a:rect r="r" b="b" t="t" l="l"/>
                <a:pathLst>
                  <a:path h="10705337" w="15872097">
                    <a:moveTo>
                      <a:pt x="15373317" y="10688418"/>
                    </a:moveTo>
                    <a:cubicBezTo>
                      <a:pt x="15373317" y="10688418"/>
                      <a:pt x="15136321" y="10678449"/>
                      <a:pt x="14774181" y="10691893"/>
                    </a:cubicBezTo>
                    <a:cubicBezTo>
                      <a:pt x="14412044" y="10705337"/>
                      <a:pt x="490924" y="10705337"/>
                      <a:pt x="490924" y="10705337"/>
                    </a:cubicBezTo>
                    <a:cubicBezTo>
                      <a:pt x="245502" y="10705337"/>
                      <a:pt x="32509" y="10608069"/>
                      <a:pt x="31032" y="10447955"/>
                    </a:cubicBezTo>
                    <a:cubicBezTo>
                      <a:pt x="31032" y="10447955"/>
                      <a:pt x="0" y="7523653"/>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15326768" y="0"/>
                      <a:pt x="15326768" y="0"/>
                    </a:cubicBezTo>
                    <a:cubicBezTo>
                      <a:pt x="15638670" y="0"/>
                      <a:pt x="15872097" y="101069"/>
                      <a:pt x="15864240" y="303616"/>
                    </a:cubicBezTo>
                    <a:cubicBezTo>
                      <a:pt x="15864240" y="303616"/>
                      <a:pt x="15862245" y="6908210"/>
                      <a:pt x="15871000" y="9748368"/>
                    </a:cubicBezTo>
                    <a:cubicBezTo>
                      <a:pt x="15879756" y="10041669"/>
                      <a:pt x="15833208" y="10374741"/>
                      <a:pt x="15833208" y="10374741"/>
                    </a:cubicBezTo>
                    <a:cubicBezTo>
                      <a:pt x="15830242" y="10554766"/>
                      <a:pt x="15618739" y="10688418"/>
                      <a:pt x="15373317" y="10688418"/>
                    </a:cubicBezTo>
                    <a:close/>
                  </a:path>
                </a:pathLst>
              </a:custGeom>
              <a:solidFill>
                <a:srgbClr val="F3FCFF"/>
              </a:solidFill>
            </p:spPr>
          </p:sp>
        </p:grpSp>
        <p:sp>
          <p:nvSpPr>
            <p:cNvPr name="AutoShape 9" id="9"/>
            <p:cNvSpPr/>
            <p:nvPr/>
          </p:nvSpPr>
          <p:spPr>
            <a:xfrm>
              <a:off x="1549934" y="9826016"/>
              <a:ext cx="15474734" cy="34286"/>
            </a:xfrm>
            <a:prstGeom prst="line">
              <a:avLst/>
            </a:prstGeom>
            <a:ln cap="rnd" w="50800">
              <a:solidFill>
                <a:srgbClr val="8FB7C6"/>
              </a:solidFill>
              <a:prstDash val="solid"/>
              <a:headEnd type="none" len="sm" w="sm"/>
              <a:tailEnd type="none" len="sm" w="sm"/>
            </a:ln>
          </p:spPr>
        </p:sp>
        <p:sp>
          <p:nvSpPr>
            <p:cNvPr name="AutoShape 10" id="10"/>
            <p:cNvSpPr/>
            <p:nvPr/>
          </p:nvSpPr>
          <p:spPr>
            <a:xfrm>
              <a:off x="1549934" y="717206"/>
              <a:ext cx="15474734" cy="34286"/>
            </a:xfrm>
            <a:prstGeom prst="line">
              <a:avLst/>
            </a:prstGeom>
            <a:ln cap="rnd" w="50800">
              <a:solidFill>
                <a:srgbClr val="8FB7C6"/>
              </a:solidFill>
              <a:prstDash val="solid"/>
              <a:headEnd type="none" len="sm" w="sm"/>
              <a:tailEnd type="none" len="sm" w="sm"/>
            </a:ln>
          </p:spPr>
        </p:sp>
      </p:grpSp>
      <p:grpSp>
        <p:nvGrpSpPr>
          <p:cNvPr name="Group 11" id="11"/>
          <p:cNvGrpSpPr/>
          <p:nvPr/>
        </p:nvGrpSpPr>
        <p:grpSpPr>
          <a:xfrm rot="0">
            <a:off x="8055433" y="2610165"/>
            <a:ext cx="9203867" cy="4606259"/>
            <a:chOff x="0" y="0"/>
            <a:chExt cx="12271823" cy="6141679"/>
          </a:xfrm>
        </p:grpSpPr>
        <p:sp>
          <p:nvSpPr>
            <p:cNvPr name="TextBox 12" id="12"/>
            <p:cNvSpPr txBox="true"/>
            <p:nvPr/>
          </p:nvSpPr>
          <p:spPr>
            <a:xfrm rot="0">
              <a:off x="0" y="2038200"/>
              <a:ext cx="12271823" cy="4027170"/>
            </a:xfrm>
            <a:prstGeom prst="rect">
              <a:avLst/>
            </a:prstGeom>
          </p:spPr>
          <p:txBody>
            <a:bodyPr anchor="t" rtlCol="false" tIns="0" lIns="0" bIns="0" rIns="0">
              <a:spAutoFit/>
            </a:bodyPr>
            <a:lstStyle/>
            <a:p>
              <a:pPr algn="l" marL="960754" indent="-480377" lvl="1">
                <a:lnSpc>
                  <a:spcPts val="6007"/>
                </a:lnSpc>
                <a:buFont typeface="Arial"/>
                <a:buChar char="•"/>
              </a:pPr>
              <a:r>
                <a:rPr lang="en-US" sz="4449" spc="-44">
                  <a:solidFill>
                    <a:srgbClr val="000000"/>
                  </a:solidFill>
                  <a:latin typeface="Asap"/>
                  <a:ea typeface="Asap"/>
                  <a:cs typeface="Asap"/>
                  <a:sym typeface="Asap"/>
                </a:rPr>
                <a:t>Giúp hiểu code nhanh</a:t>
              </a:r>
            </a:p>
            <a:p>
              <a:pPr algn="l" marL="960754" indent="-480377" lvl="1">
                <a:lnSpc>
                  <a:spcPts val="6007"/>
                </a:lnSpc>
                <a:buFont typeface="Arial"/>
                <a:buChar char="•"/>
              </a:pPr>
              <a:r>
                <a:rPr lang="en-US" sz="4449" spc="-44">
                  <a:solidFill>
                    <a:srgbClr val="000000"/>
                  </a:solidFill>
                  <a:latin typeface="Asap"/>
                  <a:ea typeface="Asap"/>
                  <a:cs typeface="Asap"/>
                  <a:sym typeface="Asap"/>
                </a:rPr>
                <a:t>Hỗ trợ bảo trì</a:t>
              </a:r>
            </a:p>
            <a:p>
              <a:pPr algn="l" marL="960754" indent="-480377" lvl="1">
                <a:lnSpc>
                  <a:spcPts val="6007"/>
                </a:lnSpc>
                <a:buFont typeface="Arial"/>
                <a:buChar char="•"/>
              </a:pPr>
              <a:r>
                <a:rPr lang="en-US" sz="4449" spc="-44">
                  <a:solidFill>
                    <a:srgbClr val="000000"/>
                  </a:solidFill>
                  <a:latin typeface="Asap"/>
                  <a:ea typeface="Asap"/>
                  <a:cs typeface="Asap"/>
                  <a:sym typeface="Asap"/>
                </a:rPr>
                <a:t>Sinh tài liệu tự động</a:t>
              </a:r>
            </a:p>
            <a:p>
              <a:pPr algn="l" marL="960754" indent="-480377" lvl="1">
                <a:lnSpc>
                  <a:spcPts val="6007"/>
                </a:lnSpc>
                <a:buFont typeface="Arial"/>
                <a:buChar char="•"/>
              </a:pPr>
              <a:r>
                <a:rPr lang="en-US" sz="4449" spc="-44">
                  <a:solidFill>
                    <a:srgbClr val="000000"/>
                  </a:solidFill>
                  <a:latin typeface="Asap"/>
                  <a:ea typeface="Asap"/>
                  <a:cs typeface="Asap"/>
                  <a:sym typeface="Asap"/>
                </a:rPr>
                <a:t>Giảm chi phí lâu dài</a:t>
              </a:r>
            </a:p>
          </p:txBody>
        </p:sp>
        <p:sp>
          <p:nvSpPr>
            <p:cNvPr name="TextBox 13" id="13"/>
            <p:cNvSpPr txBox="true"/>
            <p:nvPr/>
          </p:nvSpPr>
          <p:spPr>
            <a:xfrm rot="0">
              <a:off x="0" y="0"/>
              <a:ext cx="12271823" cy="1460500"/>
            </a:xfrm>
            <a:prstGeom prst="rect">
              <a:avLst/>
            </a:prstGeom>
          </p:spPr>
          <p:txBody>
            <a:bodyPr anchor="t" rtlCol="false" tIns="0" lIns="0" bIns="0" rIns="0">
              <a:spAutoFit/>
            </a:bodyPr>
            <a:lstStyle/>
            <a:p>
              <a:pPr algn="just">
                <a:lnSpc>
                  <a:spcPts val="8639"/>
                </a:lnSpc>
              </a:pPr>
              <a:r>
                <a:rPr lang="en-US" b="true" sz="7199">
                  <a:solidFill>
                    <a:srgbClr val="1D2B74"/>
                  </a:solidFill>
                  <a:latin typeface="Faustina Bold"/>
                  <a:ea typeface="Faustina Bold"/>
                  <a:cs typeface="Faustina Bold"/>
                  <a:sym typeface="Faustina Bold"/>
                </a:rPr>
                <a:t>VAI TRÒ DOCSTRING</a:t>
              </a:r>
            </a:p>
          </p:txBody>
        </p:sp>
      </p:grpSp>
      <p:sp>
        <p:nvSpPr>
          <p:cNvPr name="Freeform 14" id="14"/>
          <p:cNvSpPr/>
          <p:nvPr/>
        </p:nvSpPr>
        <p:spPr>
          <a:xfrm flipH="false" flipV="false" rot="0">
            <a:off x="3047482" y="1611369"/>
            <a:ext cx="4328852" cy="9678328"/>
          </a:xfrm>
          <a:custGeom>
            <a:avLst/>
            <a:gdLst/>
            <a:ahLst/>
            <a:cxnLst/>
            <a:rect r="r" b="b" t="t" l="l"/>
            <a:pathLst>
              <a:path h="9678328" w="4328852">
                <a:moveTo>
                  <a:pt x="0" y="0"/>
                </a:moveTo>
                <a:lnTo>
                  <a:pt x="4328852" y="0"/>
                </a:lnTo>
                <a:lnTo>
                  <a:pt x="4328852" y="9678328"/>
                </a:lnTo>
                <a:lnTo>
                  <a:pt x="0" y="96783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false" rot="0">
            <a:off x="337550" y="1761988"/>
            <a:ext cx="4874358" cy="9678328"/>
          </a:xfrm>
          <a:custGeom>
            <a:avLst/>
            <a:gdLst/>
            <a:ahLst/>
            <a:cxnLst/>
            <a:rect r="r" b="b" t="t" l="l"/>
            <a:pathLst>
              <a:path h="9678328" w="4874358">
                <a:moveTo>
                  <a:pt x="0" y="0"/>
                </a:moveTo>
                <a:lnTo>
                  <a:pt x="4874358" y="0"/>
                </a:lnTo>
                <a:lnTo>
                  <a:pt x="4874358" y="9678328"/>
                </a:lnTo>
                <a:lnTo>
                  <a:pt x="0" y="96783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transition spd="slow">
    <p:push dir="r"/>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C8E3ED"/>
        </a:solidFill>
      </p:bgPr>
    </p:bg>
    <p:spTree>
      <p:nvGrpSpPr>
        <p:cNvPr id="1" name=""/>
        <p:cNvGrpSpPr/>
        <p:nvPr/>
      </p:nvGrpSpPr>
      <p:grpSpPr>
        <a:xfrm>
          <a:off x="0" y="0"/>
          <a:ext cx="0" cy="0"/>
          <a:chOff x="0" y="0"/>
          <a:chExt cx="0" cy="0"/>
        </a:xfrm>
      </p:grpSpPr>
      <p:sp>
        <p:nvSpPr>
          <p:cNvPr name="Freeform 2" id="2"/>
          <p:cNvSpPr/>
          <p:nvPr/>
        </p:nvSpPr>
        <p:spPr>
          <a:xfrm flipH="false" flipV="false" rot="-5113635">
            <a:off x="-531325" y="8224703"/>
            <a:ext cx="2025851" cy="2067195"/>
          </a:xfrm>
          <a:custGeom>
            <a:avLst/>
            <a:gdLst/>
            <a:ahLst/>
            <a:cxnLst/>
            <a:rect r="r" b="b" t="t" l="l"/>
            <a:pathLst>
              <a:path h="2067195" w="2025851">
                <a:moveTo>
                  <a:pt x="0" y="0"/>
                </a:moveTo>
                <a:lnTo>
                  <a:pt x="2025851" y="0"/>
                </a:lnTo>
                <a:lnTo>
                  <a:pt x="2025851" y="2067194"/>
                </a:lnTo>
                <a:lnTo>
                  <a:pt x="0" y="20671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997542" y="2841476"/>
            <a:ext cx="14292915" cy="8802928"/>
            <a:chOff x="0" y="0"/>
            <a:chExt cx="19057220" cy="11737237"/>
          </a:xfrm>
        </p:grpSpPr>
        <p:grpSp>
          <p:nvGrpSpPr>
            <p:cNvPr name="Group 4" id="4"/>
            <p:cNvGrpSpPr/>
            <p:nvPr/>
          </p:nvGrpSpPr>
          <p:grpSpPr>
            <a:xfrm rot="0">
              <a:off x="0" y="288690"/>
              <a:ext cx="9623291" cy="11448547"/>
              <a:chOff x="0" y="0"/>
              <a:chExt cx="8133762" cy="9676498"/>
            </a:xfrm>
          </p:grpSpPr>
          <p:sp>
            <p:nvSpPr>
              <p:cNvPr name="Freeform 5" id="5"/>
              <p:cNvSpPr/>
              <p:nvPr/>
            </p:nvSpPr>
            <p:spPr>
              <a:xfrm flipH="false" flipV="false" rot="0">
                <a:off x="-1" y="0"/>
                <a:ext cx="8133762" cy="9676498"/>
              </a:xfrm>
              <a:custGeom>
                <a:avLst/>
                <a:gdLst/>
                <a:ahLst/>
                <a:cxnLst/>
                <a:rect r="r" b="b" t="t" l="l"/>
                <a:pathLst>
                  <a:path h="9676498" w="8133762">
                    <a:moveTo>
                      <a:pt x="7634981" y="9659579"/>
                    </a:moveTo>
                    <a:cubicBezTo>
                      <a:pt x="7634981" y="9659579"/>
                      <a:pt x="7397986" y="9649609"/>
                      <a:pt x="7035847" y="9663054"/>
                    </a:cubicBezTo>
                    <a:cubicBezTo>
                      <a:pt x="6673708" y="9676498"/>
                      <a:pt x="490924" y="9676498"/>
                      <a:pt x="490924" y="9676498"/>
                    </a:cubicBezTo>
                    <a:cubicBezTo>
                      <a:pt x="245502" y="9676498"/>
                      <a:pt x="32509" y="9579230"/>
                      <a:pt x="31032" y="9419116"/>
                    </a:cubicBezTo>
                    <a:cubicBezTo>
                      <a:pt x="31032" y="9419116"/>
                      <a:pt x="0" y="6726718"/>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7588433" y="0"/>
                      <a:pt x="7588433" y="0"/>
                    </a:cubicBezTo>
                    <a:cubicBezTo>
                      <a:pt x="7900334" y="0"/>
                      <a:pt x="8133763" y="101069"/>
                      <a:pt x="8125905" y="303616"/>
                    </a:cubicBezTo>
                    <a:cubicBezTo>
                      <a:pt x="8125905" y="303616"/>
                      <a:pt x="8123910" y="6182194"/>
                      <a:pt x="8132665" y="8719529"/>
                    </a:cubicBezTo>
                    <a:cubicBezTo>
                      <a:pt x="8141420" y="9012830"/>
                      <a:pt x="8094873" y="9345902"/>
                      <a:pt x="8094873" y="9345902"/>
                    </a:cubicBezTo>
                    <a:cubicBezTo>
                      <a:pt x="8091907" y="9525927"/>
                      <a:pt x="7880404" y="9659579"/>
                      <a:pt x="7634981" y="9659579"/>
                    </a:cubicBezTo>
                    <a:close/>
                  </a:path>
                </a:pathLst>
              </a:custGeom>
              <a:solidFill>
                <a:srgbClr val="8FB7C6"/>
              </a:solidFill>
            </p:spPr>
          </p:sp>
        </p:grpSp>
        <p:grpSp>
          <p:nvGrpSpPr>
            <p:cNvPr name="Group 6" id="6"/>
            <p:cNvGrpSpPr/>
            <p:nvPr/>
          </p:nvGrpSpPr>
          <p:grpSpPr>
            <a:xfrm rot="0">
              <a:off x="9433929" y="288690"/>
              <a:ext cx="9623291" cy="11448547"/>
              <a:chOff x="0" y="0"/>
              <a:chExt cx="8133762" cy="9676498"/>
            </a:xfrm>
          </p:grpSpPr>
          <p:sp>
            <p:nvSpPr>
              <p:cNvPr name="Freeform 7" id="7"/>
              <p:cNvSpPr/>
              <p:nvPr/>
            </p:nvSpPr>
            <p:spPr>
              <a:xfrm flipH="false" flipV="false" rot="0">
                <a:off x="-1" y="0"/>
                <a:ext cx="8133762" cy="9676498"/>
              </a:xfrm>
              <a:custGeom>
                <a:avLst/>
                <a:gdLst/>
                <a:ahLst/>
                <a:cxnLst/>
                <a:rect r="r" b="b" t="t" l="l"/>
                <a:pathLst>
                  <a:path h="9676498" w="8133762">
                    <a:moveTo>
                      <a:pt x="7634981" y="9659579"/>
                    </a:moveTo>
                    <a:cubicBezTo>
                      <a:pt x="7634981" y="9659579"/>
                      <a:pt x="7397986" y="9649609"/>
                      <a:pt x="7035847" y="9663054"/>
                    </a:cubicBezTo>
                    <a:cubicBezTo>
                      <a:pt x="6673708" y="9676498"/>
                      <a:pt x="490924" y="9676498"/>
                      <a:pt x="490924" y="9676498"/>
                    </a:cubicBezTo>
                    <a:cubicBezTo>
                      <a:pt x="245502" y="9676498"/>
                      <a:pt x="32509" y="9579230"/>
                      <a:pt x="31032" y="9419116"/>
                    </a:cubicBezTo>
                    <a:cubicBezTo>
                      <a:pt x="31032" y="9419116"/>
                      <a:pt x="0" y="6726718"/>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7588433" y="0"/>
                      <a:pt x="7588433" y="0"/>
                    </a:cubicBezTo>
                    <a:cubicBezTo>
                      <a:pt x="7900334" y="0"/>
                      <a:pt x="8133763" y="101069"/>
                      <a:pt x="8125905" y="303616"/>
                    </a:cubicBezTo>
                    <a:cubicBezTo>
                      <a:pt x="8125905" y="303616"/>
                      <a:pt x="8123910" y="6182194"/>
                      <a:pt x="8132665" y="8719529"/>
                    </a:cubicBezTo>
                    <a:cubicBezTo>
                      <a:pt x="8141420" y="9012830"/>
                      <a:pt x="8094873" y="9345902"/>
                      <a:pt x="8094873" y="9345902"/>
                    </a:cubicBezTo>
                    <a:cubicBezTo>
                      <a:pt x="8091907" y="9525927"/>
                      <a:pt x="7880404" y="9659579"/>
                      <a:pt x="7634981" y="9659579"/>
                    </a:cubicBezTo>
                    <a:close/>
                  </a:path>
                </a:pathLst>
              </a:custGeom>
              <a:solidFill>
                <a:srgbClr val="8FB7C6"/>
              </a:solidFill>
            </p:spPr>
          </p:sp>
        </p:grpSp>
        <p:grpSp>
          <p:nvGrpSpPr>
            <p:cNvPr name="Group 8" id="8"/>
            <p:cNvGrpSpPr/>
            <p:nvPr/>
          </p:nvGrpSpPr>
          <p:grpSpPr>
            <a:xfrm rot="0">
              <a:off x="140706" y="392003"/>
              <a:ext cx="9481186" cy="10399981"/>
              <a:chOff x="0" y="0"/>
              <a:chExt cx="8133762" cy="8921981"/>
            </a:xfrm>
          </p:grpSpPr>
          <p:sp>
            <p:nvSpPr>
              <p:cNvPr name="Freeform 9" id="9"/>
              <p:cNvSpPr/>
              <p:nvPr/>
            </p:nvSpPr>
            <p:spPr>
              <a:xfrm flipH="false" flipV="false" rot="0">
                <a:off x="-1" y="0"/>
                <a:ext cx="8133762" cy="8921981"/>
              </a:xfrm>
              <a:custGeom>
                <a:avLst/>
                <a:gdLst/>
                <a:ahLst/>
                <a:cxnLst/>
                <a:rect r="r" b="b" t="t" l="l"/>
                <a:pathLst>
                  <a:path h="8921981" w="8133762">
                    <a:moveTo>
                      <a:pt x="7634981" y="8905062"/>
                    </a:moveTo>
                    <a:cubicBezTo>
                      <a:pt x="7634981" y="8905062"/>
                      <a:pt x="7397986" y="8895093"/>
                      <a:pt x="7035847" y="8908537"/>
                    </a:cubicBezTo>
                    <a:cubicBezTo>
                      <a:pt x="6673708" y="8921981"/>
                      <a:pt x="490924" y="8921981"/>
                      <a:pt x="490924" y="8921981"/>
                    </a:cubicBezTo>
                    <a:cubicBezTo>
                      <a:pt x="245502" y="8921981"/>
                      <a:pt x="32509" y="8824713"/>
                      <a:pt x="31032" y="8664599"/>
                    </a:cubicBezTo>
                    <a:cubicBezTo>
                      <a:pt x="31032" y="8664599"/>
                      <a:pt x="0" y="6142272"/>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7588433" y="0"/>
                      <a:pt x="7588433" y="0"/>
                    </a:cubicBezTo>
                    <a:cubicBezTo>
                      <a:pt x="7900334" y="0"/>
                      <a:pt x="8133763" y="101069"/>
                      <a:pt x="8125905" y="303616"/>
                    </a:cubicBezTo>
                    <a:cubicBezTo>
                      <a:pt x="8125905" y="303616"/>
                      <a:pt x="8123910" y="5649759"/>
                      <a:pt x="8132665" y="7965011"/>
                    </a:cubicBezTo>
                    <a:cubicBezTo>
                      <a:pt x="8141420" y="8258313"/>
                      <a:pt x="8094873" y="8591385"/>
                      <a:pt x="8094873" y="8591385"/>
                    </a:cubicBezTo>
                    <a:cubicBezTo>
                      <a:pt x="8091907" y="8771410"/>
                      <a:pt x="7880404" y="8905062"/>
                      <a:pt x="7634981" y="8905062"/>
                    </a:cubicBezTo>
                    <a:close/>
                  </a:path>
                </a:pathLst>
              </a:custGeom>
              <a:solidFill>
                <a:srgbClr val="8FB7C6"/>
              </a:solidFill>
            </p:spPr>
          </p:sp>
        </p:grpSp>
        <p:grpSp>
          <p:nvGrpSpPr>
            <p:cNvPr name="Group 10" id="10"/>
            <p:cNvGrpSpPr/>
            <p:nvPr/>
          </p:nvGrpSpPr>
          <p:grpSpPr>
            <a:xfrm rot="0">
              <a:off x="9435328" y="392003"/>
              <a:ext cx="9481186" cy="10399981"/>
              <a:chOff x="0" y="0"/>
              <a:chExt cx="8133762" cy="8921981"/>
            </a:xfrm>
          </p:grpSpPr>
          <p:sp>
            <p:nvSpPr>
              <p:cNvPr name="Freeform 11" id="11"/>
              <p:cNvSpPr/>
              <p:nvPr/>
            </p:nvSpPr>
            <p:spPr>
              <a:xfrm flipH="false" flipV="false" rot="0">
                <a:off x="-1" y="0"/>
                <a:ext cx="8133762" cy="8921981"/>
              </a:xfrm>
              <a:custGeom>
                <a:avLst/>
                <a:gdLst/>
                <a:ahLst/>
                <a:cxnLst/>
                <a:rect r="r" b="b" t="t" l="l"/>
                <a:pathLst>
                  <a:path h="8921981" w="8133762">
                    <a:moveTo>
                      <a:pt x="7634981" y="8905062"/>
                    </a:moveTo>
                    <a:cubicBezTo>
                      <a:pt x="7634981" y="8905062"/>
                      <a:pt x="7397986" y="8895093"/>
                      <a:pt x="7035847" y="8908537"/>
                    </a:cubicBezTo>
                    <a:cubicBezTo>
                      <a:pt x="6673708" y="8921981"/>
                      <a:pt x="490924" y="8921981"/>
                      <a:pt x="490924" y="8921981"/>
                    </a:cubicBezTo>
                    <a:cubicBezTo>
                      <a:pt x="245502" y="8921981"/>
                      <a:pt x="32509" y="8824713"/>
                      <a:pt x="31032" y="8664599"/>
                    </a:cubicBezTo>
                    <a:cubicBezTo>
                      <a:pt x="31032" y="8664599"/>
                      <a:pt x="0" y="6142272"/>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7588433" y="0"/>
                      <a:pt x="7588433" y="0"/>
                    </a:cubicBezTo>
                    <a:cubicBezTo>
                      <a:pt x="7900334" y="0"/>
                      <a:pt x="8133763" y="101069"/>
                      <a:pt x="8125905" y="303616"/>
                    </a:cubicBezTo>
                    <a:cubicBezTo>
                      <a:pt x="8125905" y="303616"/>
                      <a:pt x="8123910" y="5649759"/>
                      <a:pt x="8132665" y="7965011"/>
                    </a:cubicBezTo>
                    <a:cubicBezTo>
                      <a:pt x="8141420" y="8258313"/>
                      <a:pt x="8094873" y="8591385"/>
                      <a:pt x="8094873" y="8591385"/>
                    </a:cubicBezTo>
                    <a:cubicBezTo>
                      <a:pt x="8091907" y="8771410"/>
                      <a:pt x="7880404" y="8905062"/>
                      <a:pt x="7634981" y="8905062"/>
                    </a:cubicBezTo>
                    <a:close/>
                  </a:path>
                </a:pathLst>
              </a:custGeom>
              <a:solidFill>
                <a:srgbClr val="8FB7C6"/>
              </a:solidFill>
            </p:spPr>
          </p:sp>
        </p:grpSp>
        <p:grpSp>
          <p:nvGrpSpPr>
            <p:cNvPr name="Group 12" id="12"/>
            <p:cNvGrpSpPr/>
            <p:nvPr/>
          </p:nvGrpSpPr>
          <p:grpSpPr>
            <a:xfrm rot="0">
              <a:off x="577354" y="0"/>
              <a:ext cx="9026502" cy="11737237"/>
              <a:chOff x="0" y="0"/>
              <a:chExt cx="8133762" cy="10576399"/>
            </a:xfrm>
          </p:grpSpPr>
          <p:sp>
            <p:nvSpPr>
              <p:cNvPr name="Freeform 13" id="13"/>
              <p:cNvSpPr/>
              <p:nvPr/>
            </p:nvSpPr>
            <p:spPr>
              <a:xfrm flipH="false" flipV="false" rot="0">
                <a:off x="-1" y="0"/>
                <a:ext cx="8133762" cy="10576399"/>
              </a:xfrm>
              <a:custGeom>
                <a:avLst/>
                <a:gdLst/>
                <a:ahLst/>
                <a:cxnLst/>
                <a:rect r="r" b="b" t="t" l="l"/>
                <a:pathLst>
                  <a:path h="10576399" w="8133762">
                    <a:moveTo>
                      <a:pt x="7634981" y="10559480"/>
                    </a:moveTo>
                    <a:cubicBezTo>
                      <a:pt x="7634981" y="10559480"/>
                      <a:pt x="7397986" y="10549511"/>
                      <a:pt x="7035847" y="10562955"/>
                    </a:cubicBezTo>
                    <a:cubicBezTo>
                      <a:pt x="6673708" y="10576399"/>
                      <a:pt x="490924" y="10576399"/>
                      <a:pt x="490924" y="10576399"/>
                    </a:cubicBezTo>
                    <a:cubicBezTo>
                      <a:pt x="245502" y="10576399"/>
                      <a:pt x="32509" y="10479132"/>
                      <a:pt x="31032" y="10319017"/>
                    </a:cubicBezTo>
                    <a:cubicBezTo>
                      <a:pt x="31032" y="10319017"/>
                      <a:pt x="0" y="7423779"/>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7588433" y="0"/>
                      <a:pt x="7588433" y="0"/>
                    </a:cubicBezTo>
                    <a:cubicBezTo>
                      <a:pt x="7900334" y="0"/>
                      <a:pt x="8133763" y="101069"/>
                      <a:pt x="8125905" y="303616"/>
                    </a:cubicBezTo>
                    <a:cubicBezTo>
                      <a:pt x="8125905" y="303616"/>
                      <a:pt x="8123910" y="6817223"/>
                      <a:pt x="8132665" y="9619430"/>
                    </a:cubicBezTo>
                    <a:cubicBezTo>
                      <a:pt x="8141420" y="9912731"/>
                      <a:pt x="8094873" y="10245803"/>
                      <a:pt x="8094873" y="10245803"/>
                    </a:cubicBezTo>
                    <a:cubicBezTo>
                      <a:pt x="8091907" y="10425828"/>
                      <a:pt x="7880404" y="10559480"/>
                      <a:pt x="7634981" y="10559480"/>
                    </a:cubicBezTo>
                    <a:close/>
                  </a:path>
                </a:pathLst>
              </a:custGeom>
              <a:solidFill>
                <a:srgbClr val="F3FCFF"/>
              </a:solidFill>
            </p:spPr>
          </p:sp>
        </p:grpSp>
        <p:grpSp>
          <p:nvGrpSpPr>
            <p:cNvPr name="Group 14" id="14"/>
            <p:cNvGrpSpPr/>
            <p:nvPr/>
          </p:nvGrpSpPr>
          <p:grpSpPr>
            <a:xfrm rot="0">
              <a:off x="9426238" y="0"/>
              <a:ext cx="9026502" cy="11737237"/>
              <a:chOff x="0" y="0"/>
              <a:chExt cx="8133762" cy="10576399"/>
            </a:xfrm>
          </p:grpSpPr>
          <p:sp>
            <p:nvSpPr>
              <p:cNvPr name="Freeform 15" id="15"/>
              <p:cNvSpPr/>
              <p:nvPr/>
            </p:nvSpPr>
            <p:spPr>
              <a:xfrm flipH="false" flipV="false" rot="0">
                <a:off x="-1" y="0"/>
                <a:ext cx="8133762" cy="10576399"/>
              </a:xfrm>
              <a:custGeom>
                <a:avLst/>
                <a:gdLst/>
                <a:ahLst/>
                <a:cxnLst/>
                <a:rect r="r" b="b" t="t" l="l"/>
                <a:pathLst>
                  <a:path h="10576399" w="8133762">
                    <a:moveTo>
                      <a:pt x="7634981" y="10559480"/>
                    </a:moveTo>
                    <a:cubicBezTo>
                      <a:pt x="7634981" y="10559480"/>
                      <a:pt x="7397986" y="10549511"/>
                      <a:pt x="7035847" y="10562955"/>
                    </a:cubicBezTo>
                    <a:cubicBezTo>
                      <a:pt x="6673708" y="10576399"/>
                      <a:pt x="490924" y="10576399"/>
                      <a:pt x="490924" y="10576399"/>
                    </a:cubicBezTo>
                    <a:cubicBezTo>
                      <a:pt x="245502" y="10576399"/>
                      <a:pt x="32509" y="10479132"/>
                      <a:pt x="31032" y="10319017"/>
                    </a:cubicBezTo>
                    <a:cubicBezTo>
                      <a:pt x="31032" y="10319017"/>
                      <a:pt x="0" y="7423779"/>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7588433" y="0"/>
                      <a:pt x="7588433" y="0"/>
                    </a:cubicBezTo>
                    <a:cubicBezTo>
                      <a:pt x="7900334" y="0"/>
                      <a:pt x="8133763" y="101069"/>
                      <a:pt x="8125905" y="303616"/>
                    </a:cubicBezTo>
                    <a:cubicBezTo>
                      <a:pt x="8125905" y="303616"/>
                      <a:pt x="8123910" y="6817223"/>
                      <a:pt x="8132665" y="9619430"/>
                    </a:cubicBezTo>
                    <a:cubicBezTo>
                      <a:pt x="8141420" y="9912731"/>
                      <a:pt x="8094873" y="10245803"/>
                      <a:pt x="8094873" y="10245803"/>
                    </a:cubicBezTo>
                    <a:cubicBezTo>
                      <a:pt x="8091907" y="10425828"/>
                      <a:pt x="7880404" y="10559480"/>
                      <a:pt x="7634981" y="10559480"/>
                    </a:cubicBezTo>
                    <a:close/>
                  </a:path>
                </a:pathLst>
              </a:custGeom>
              <a:solidFill>
                <a:srgbClr val="F3FCFF"/>
              </a:solidFill>
            </p:spPr>
          </p:sp>
        </p:grpSp>
        <p:sp>
          <p:nvSpPr>
            <p:cNvPr name="AutoShape 16" id="16"/>
            <p:cNvSpPr/>
            <p:nvPr/>
          </p:nvSpPr>
          <p:spPr>
            <a:xfrm>
              <a:off x="1738975" y="827535"/>
              <a:ext cx="15552144" cy="37193"/>
            </a:xfrm>
            <a:prstGeom prst="line">
              <a:avLst/>
            </a:prstGeom>
            <a:ln cap="rnd" w="55108">
              <a:solidFill>
                <a:srgbClr val="8FB7C6"/>
              </a:solidFill>
              <a:prstDash val="solid"/>
              <a:headEnd type="none" len="sm" w="sm"/>
              <a:tailEnd type="none" len="sm" w="sm"/>
            </a:ln>
          </p:spPr>
        </p:sp>
      </p:grpSp>
      <p:sp>
        <p:nvSpPr>
          <p:cNvPr name="TextBox 17" id="17"/>
          <p:cNvSpPr txBox="true"/>
          <p:nvPr/>
        </p:nvSpPr>
        <p:spPr>
          <a:xfrm rot="0">
            <a:off x="3606570" y="1217523"/>
            <a:ext cx="11074860" cy="942975"/>
          </a:xfrm>
          <a:prstGeom prst="rect">
            <a:avLst/>
          </a:prstGeom>
        </p:spPr>
        <p:txBody>
          <a:bodyPr anchor="t" rtlCol="false" tIns="0" lIns="0" bIns="0" rIns="0">
            <a:spAutoFit/>
          </a:bodyPr>
          <a:lstStyle/>
          <a:p>
            <a:pPr algn="ctr" marL="0" indent="0" lvl="1">
              <a:lnSpc>
                <a:spcPts val="7440"/>
              </a:lnSpc>
              <a:spcBef>
                <a:spcPct val="0"/>
              </a:spcBef>
            </a:pPr>
            <a:r>
              <a:rPr lang="en-US" b="true" sz="6200">
                <a:solidFill>
                  <a:srgbClr val="1D2B74"/>
                </a:solidFill>
                <a:latin typeface="Faustina Bold"/>
                <a:ea typeface="Faustina Bold"/>
                <a:cs typeface="Faustina Bold"/>
                <a:sym typeface="Faustina Bold"/>
              </a:rPr>
              <a:t>GENAI</a:t>
            </a:r>
            <a:r>
              <a:rPr lang="en-US" b="true" sz="6200" strike="noStrike" u="none">
                <a:solidFill>
                  <a:srgbClr val="1D2B74"/>
                </a:solidFill>
                <a:latin typeface="Faustina Bold"/>
                <a:ea typeface="Faustina Bold"/>
                <a:cs typeface="Faustina Bold"/>
                <a:sym typeface="Faustina Bold"/>
              </a:rPr>
              <a:t> GIẢI QUYẾT GÌ?</a:t>
            </a:r>
          </a:p>
        </p:txBody>
      </p:sp>
      <p:grpSp>
        <p:nvGrpSpPr>
          <p:cNvPr name="Group 18" id="18"/>
          <p:cNvGrpSpPr/>
          <p:nvPr/>
        </p:nvGrpSpPr>
        <p:grpSpPr>
          <a:xfrm rot="0">
            <a:off x="2955716" y="3365970"/>
            <a:ext cx="12376569" cy="7753941"/>
            <a:chOff x="0" y="0"/>
            <a:chExt cx="16502092" cy="10338587"/>
          </a:xfrm>
        </p:grpSpPr>
        <p:sp>
          <p:nvSpPr>
            <p:cNvPr name="TextBox 19" id="19"/>
            <p:cNvSpPr txBox="true"/>
            <p:nvPr/>
          </p:nvSpPr>
          <p:spPr>
            <a:xfrm rot="0">
              <a:off x="0" y="-9525"/>
              <a:ext cx="16502092" cy="7654925"/>
            </a:xfrm>
            <a:prstGeom prst="rect">
              <a:avLst/>
            </a:prstGeom>
          </p:spPr>
          <p:txBody>
            <a:bodyPr anchor="t" rtlCol="false" tIns="0" lIns="0" bIns="0" rIns="0">
              <a:spAutoFit/>
            </a:bodyPr>
            <a:lstStyle/>
            <a:p>
              <a:pPr algn="l">
                <a:lnSpc>
                  <a:spcPts val="6509"/>
                </a:lnSpc>
              </a:pPr>
            </a:p>
            <a:p>
              <a:pPr algn="l">
                <a:lnSpc>
                  <a:spcPts val="6509"/>
                </a:lnSpc>
              </a:pPr>
              <a:r>
                <a:rPr lang="en-US" sz="5424" b="true">
                  <a:solidFill>
                    <a:srgbClr val="1D2B74"/>
                  </a:solidFill>
                  <a:latin typeface="Faustina Bold"/>
                  <a:ea typeface="Faustina Bold"/>
                  <a:cs typeface="Faustina Bold"/>
                  <a:sym typeface="Faustina Bold"/>
                </a:rPr>
                <a:t>Trước đây: </a:t>
              </a:r>
            </a:p>
            <a:p>
              <a:pPr algn="l" marL="1171252" indent="-585626" lvl="1">
                <a:lnSpc>
                  <a:spcPts val="6509"/>
                </a:lnSpc>
                <a:buFont typeface="Arial"/>
                <a:buChar char="•"/>
              </a:pPr>
              <a:r>
                <a:rPr lang="en-US" b="true" sz="5424">
                  <a:solidFill>
                    <a:srgbClr val="1D2B74"/>
                  </a:solidFill>
                  <a:latin typeface="Faustina Bold"/>
                  <a:ea typeface="Faustina Bold"/>
                  <a:cs typeface="Faustina Bold"/>
                  <a:sym typeface="Faustina Bold"/>
                </a:rPr>
                <a:t>Viết docstring thủ công → mất thời gian</a:t>
              </a:r>
            </a:p>
            <a:p>
              <a:pPr algn="l">
                <a:lnSpc>
                  <a:spcPts val="6509"/>
                </a:lnSpc>
              </a:pPr>
              <a:r>
                <a:rPr lang="en-US" sz="5424" b="true">
                  <a:solidFill>
                    <a:srgbClr val="1D2B74"/>
                  </a:solidFill>
                  <a:latin typeface="Faustina Bold"/>
                  <a:ea typeface="Faustina Bold"/>
                  <a:cs typeface="Faustina Bold"/>
                  <a:sym typeface="Faustina Bold"/>
                </a:rPr>
                <a:t>Bây giờ: </a:t>
              </a:r>
            </a:p>
            <a:p>
              <a:pPr algn="l" marL="1171252" indent="-585626" lvl="1">
                <a:lnSpc>
                  <a:spcPts val="6509"/>
                </a:lnSpc>
                <a:buFont typeface="Arial"/>
                <a:buChar char="•"/>
              </a:pPr>
              <a:r>
                <a:rPr lang="en-US" b="true" sz="5424">
                  <a:solidFill>
                    <a:srgbClr val="1D2B74"/>
                  </a:solidFill>
                  <a:latin typeface="Faustina Bold"/>
                  <a:ea typeface="Faustina Bold"/>
                  <a:cs typeface="Faustina Bold"/>
                  <a:sym typeface="Faustina Bold"/>
                </a:rPr>
                <a:t>AI tự sinh docstring</a:t>
              </a:r>
            </a:p>
            <a:p>
              <a:pPr algn="l">
                <a:lnSpc>
                  <a:spcPts val="6509"/>
                </a:lnSpc>
              </a:pPr>
              <a:r>
                <a:rPr lang="en-US" b="true" sz="5424">
                  <a:solidFill>
                    <a:srgbClr val="1D2B74"/>
                  </a:solidFill>
                  <a:latin typeface="Faustina Bold"/>
                  <a:ea typeface="Faustina Bold"/>
                  <a:cs typeface="Faustina Bold"/>
                  <a:sym typeface="Faustina Bold"/>
                </a:rPr>
                <a:t>Ví dụ: Viết code → Copilot gợi ý docstring</a:t>
              </a:r>
            </a:p>
          </p:txBody>
        </p:sp>
        <p:sp>
          <p:nvSpPr>
            <p:cNvPr name="TextBox 20" id="20"/>
            <p:cNvSpPr txBox="true"/>
            <p:nvPr/>
          </p:nvSpPr>
          <p:spPr>
            <a:xfrm rot="0">
              <a:off x="0" y="9576587"/>
              <a:ext cx="11493333" cy="762000"/>
            </a:xfrm>
            <a:prstGeom prst="rect">
              <a:avLst/>
            </a:prstGeom>
          </p:spPr>
          <p:txBody>
            <a:bodyPr anchor="t" rtlCol="false" tIns="0" lIns="0" bIns="0" rIns="0">
              <a:spAutoFit/>
            </a:bodyPr>
            <a:lstStyle/>
            <a:p>
              <a:pPr algn="ctr">
                <a:lnSpc>
                  <a:spcPts val="4559"/>
                </a:lnSpc>
              </a:pPr>
            </a:p>
          </p:txBody>
        </p:sp>
      </p:grpSp>
      <p:sp>
        <p:nvSpPr>
          <p:cNvPr name="Freeform 21" id="21"/>
          <p:cNvSpPr/>
          <p:nvPr/>
        </p:nvSpPr>
        <p:spPr>
          <a:xfrm flipH="false" flipV="false" rot="1186719">
            <a:off x="17607307" y="3461775"/>
            <a:ext cx="1863737" cy="2381773"/>
          </a:xfrm>
          <a:custGeom>
            <a:avLst/>
            <a:gdLst/>
            <a:ahLst/>
            <a:cxnLst/>
            <a:rect r="r" b="b" t="t" l="l"/>
            <a:pathLst>
              <a:path h="2381773" w="1863737">
                <a:moveTo>
                  <a:pt x="0" y="0"/>
                </a:moveTo>
                <a:lnTo>
                  <a:pt x="1863737" y="0"/>
                </a:lnTo>
                <a:lnTo>
                  <a:pt x="1863737" y="2381772"/>
                </a:lnTo>
                <a:lnTo>
                  <a:pt x="0" y="23817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2" id="22"/>
          <p:cNvSpPr/>
          <p:nvPr/>
        </p:nvSpPr>
        <p:spPr>
          <a:xfrm flipH="false" flipV="false" rot="-458302">
            <a:off x="16900877" y="6386450"/>
            <a:ext cx="1913611" cy="1913611"/>
          </a:xfrm>
          <a:custGeom>
            <a:avLst/>
            <a:gdLst/>
            <a:ahLst/>
            <a:cxnLst/>
            <a:rect r="r" b="b" t="t" l="l"/>
            <a:pathLst>
              <a:path h="1913611" w="1913611">
                <a:moveTo>
                  <a:pt x="0" y="0"/>
                </a:moveTo>
                <a:lnTo>
                  <a:pt x="1913611" y="0"/>
                </a:lnTo>
                <a:lnTo>
                  <a:pt x="1913611" y="1913611"/>
                </a:lnTo>
                <a:lnTo>
                  <a:pt x="0" y="191361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3" id="23"/>
          <p:cNvSpPr/>
          <p:nvPr/>
        </p:nvSpPr>
        <p:spPr>
          <a:xfrm flipH="false" flipV="false" rot="-1055302">
            <a:off x="-552465" y="274878"/>
            <a:ext cx="2767204" cy="2199927"/>
          </a:xfrm>
          <a:custGeom>
            <a:avLst/>
            <a:gdLst/>
            <a:ahLst/>
            <a:cxnLst/>
            <a:rect r="r" b="b" t="t" l="l"/>
            <a:pathLst>
              <a:path h="2199927" w="2767204">
                <a:moveTo>
                  <a:pt x="0" y="0"/>
                </a:moveTo>
                <a:lnTo>
                  <a:pt x="2767204" y="0"/>
                </a:lnTo>
                <a:lnTo>
                  <a:pt x="2767204" y="2199927"/>
                </a:lnTo>
                <a:lnTo>
                  <a:pt x="0" y="21999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4" id="24"/>
          <p:cNvSpPr/>
          <p:nvPr/>
        </p:nvSpPr>
        <p:spPr>
          <a:xfrm flipH="false" flipV="false" rot="-1656121">
            <a:off x="16327664" y="237013"/>
            <a:ext cx="2885843" cy="2903993"/>
          </a:xfrm>
          <a:custGeom>
            <a:avLst/>
            <a:gdLst/>
            <a:ahLst/>
            <a:cxnLst/>
            <a:rect r="r" b="b" t="t" l="l"/>
            <a:pathLst>
              <a:path h="2903993" w="2885843">
                <a:moveTo>
                  <a:pt x="0" y="0"/>
                </a:moveTo>
                <a:lnTo>
                  <a:pt x="2885843" y="0"/>
                </a:lnTo>
                <a:lnTo>
                  <a:pt x="2885843" y="2903994"/>
                </a:lnTo>
                <a:lnTo>
                  <a:pt x="0" y="290399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5" id="25"/>
          <p:cNvSpPr/>
          <p:nvPr/>
        </p:nvSpPr>
        <p:spPr>
          <a:xfrm flipH="false" flipV="false" rot="-2237841">
            <a:off x="17105360" y="8414200"/>
            <a:ext cx="1768567" cy="1835089"/>
          </a:xfrm>
          <a:custGeom>
            <a:avLst/>
            <a:gdLst/>
            <a:ahLst/>
            <a:cxnLst/>
            <a:rect r="r" b="b" t="t" l="l"/>
            <a:pathLst>
              <a:path h="1835089" w="1768567">
                <a:moveTo>
                  <a:pt x="0" y="0"/>
                </a:moveTo>
                <a:lnTo>
                  <a:pt x="1768567" y="0"/>
                </a:lnTo>
                <a:lnTo>
                  <a:pt x="1768567" y="1835089"/>
                </a:lnTo>
                <a:lnTo>
                  <a:pt x="0" y="183508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6" id="26"/>
          <p:cNvSpPr/>
          <p:nvPr/>
        </p:nvSpPr>
        <p:spPr>
          <a:xfrm flipH="false" flipV="false" rot="-1479392">
            <a:off x="-577273" y="5940385"/>
            <a:ext cx="1488231" cy="1901893"/>
          </a:xfrm>
          <a:custGeom>
            <a:avLst/>
            <a:gdLst/>
            <a:ahLst/>
            <a:cxnLst/>
            <a:rect r="r" b="b" t="t" l="l"/>
            <a:pathLst>
              <a:path h="1901893" w="1488231">
                <a:moveTo>
                  <a:pt x="0" y="0"/>
                </a:moveTo>
                <a:lnTo>
                  <a:pt x="1488232" y="0"/>
                </a:lnTo>
                <a:lnTo>
                  <a:pt x="1488232" y="1901893"/>
                </a:lnTo>
                <a:lnTo>
                  <a:pt x="0" y="190189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7" id="27"/>
          <p:cNvSpPr/>
          <p:nvPr/>
        </p:nvSpPr>
        <p:spPr>
          <a:xfrm flipH="false" flipV="false" rot="-458292">
            <a:off x="-903414" y="3078267"/>
            <a:ext cx="2287819" cy="2367730"/>
          </a:xfrm>
          <a:custGeom>
            <a:avLst/>
            <a:gdLst/>
            <a:ahLst/>
            <a:cxnLst/>
            <a:rect r="r" b="b" t="t" l="l"/>
            <a:pathLst>
              <a:path h="2367730" w="2287819">
                <a:moveTo>
                  <a:pt x="0" y="0"/>
                </a:moveTo>
                <a:lnTo>
                  <a:pt x="2287819" y="0"/>
                </a:lnTo>
                <a:lnTo>
                  <a:pt x="2287819" y="2367731"/>
                </a:lnTo>
                <a:lnTo>
                  <a:pt x="0" y="236773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Tree>
  </p:cSld>
  <p:clrMapOvr>
    <a:masterClrMapping/>
  </p:clrMapOvr>
  <p:transition spd="slow">
    <p:push dir="d"/>
  </p:transition>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C8E3ED"/>
        </a:solidFill>
      </p:bgPr>
    </p:bg>
    <p:spTree>
      <p:nvGrpSpPr>
        <p:cNvPr id="1" name=""/>
        <p:cNvGrpSpPr/>
        <p:nvPr/>
      </p:nvGrpSpPr>
      <p:grpSpPr>
        <a:xfrm>
          <a:off x="0" y="0"/>
          <a:ext cx="0" cy="0"/>
          <a:chOff x="0" y="0"/>
          <a:chExt cx="0" cy="0"/>
        </a:xfrm>
      </p:grpSpPr>
      <p:sp>
        <p:nvSpPr>
          <p:cNvPr name="Freeform 2" id="2"/>
          <p:cNvSpPr/>
          <p:nvPr/>
        </p:nvSpPr>
        <p:spPr>
          <a:xfrm flipH="false" flipV="false" rot="0">
            <a:off x="13964137" y="645497"/>
            <a:ext cx="2419869" cy="6161703"/>
          </a:xfrm>
          <a:custGeom>
            <a:avLst/>
            <a:gdLst/>
            <a:ahLst/>
            <a:cxnLst/>
            <a:rect r="r" b="b" t="t" l="l"/>
            <a:pathLst>
              <a:path h="6161703" w="2419869">
                <a:moveTo>
                  <a:pt x="0" y="0"/>
                </a:moveTo>
                <a:lnTo>
                  <a:pt x="2419869" y="0"/>
                </a:lnTo>
                <a:lnTo>
                  <a:pt x="2419869" y="6161703"/>
                </a:lnTo>
                <a:lnTo>
                  <a:pt x="0" y="616170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520419" y="773250"/>
            <a:ext cx="2569880" cy="6172200"/>
          </a:xfrm>
          <a:custGeom>
            <a:avLst/>
            <a:gdLst/>
            <a:ahLst/>
            <a:cxnLst/>
            <a:rect r="r" b="b" t="t" l="l"/>
            <a:pathLst>
              <a:path h="6172200" w="2569880">
                <a:moveTo>
                  <a:pt x="2569880" y="0"/>
                </a:moveTo>
                <a:lnTo>
                  <a:pt x="0" y="0"/>
                </a:lnTo>
                <a:lnTo>
                  <a:pt x="0" y="6172200"/>
                </a:lnTo>
                <a:lnTo>
                  <a:pt x="2569880" y="6172200"/>
                </a:lnTo>
                <a:lnTo>
                  <a:pt x="256988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1028700" y="3255439"/>
            <a:ext cx="16230600" cy="8046184"/>
            <a:chOff x="0" y="0"/>
            <a:chExt cx="21640800" cy="10728245"/>
          </a:xfrm>
        </p:grpSpPr>
        <p:grpSp>
          <p:nvGrpSpPr>
            <p:cNvPr name="Group 5" id="5"/>
            <p:cNvGrpSpPr/>
            <p:nvPr/>
          </p:nvGrpSpPr>
          <p:grpSpPr>
            <a:xfrm rot="0">
              <a:off x="0" y="0"/>
              <a:ext cx="10927916" cy="10728245"/>
              <a:chOff x="0" y="0"/>
              <a:chExt cx="9178315" cy="9010612"/>
            </a:xfrm>
          </p:grpSpPr>
          <p:sp>
            <p:nvSpPr>
              <p:cNvPr name="Freeform 6" id="6"/>
              <p:cNvSpPr/>
              <p:nvPr/>
            </p:nvSpPr>
            <p:spPr>
              <a:xfrm flipH="false" flipV="false" rot="0">
                <a:off x="-1" y="0"/>
                <a:ext cx="9178316" cy="9010612"/>
              </a:xfrm>
              <a:custGeom>
                <a:avLst/>
                <a:gdLst/>
                <a:ahLst/>
                <a:cxnLst/>
                <a:rect r="r" b="b" t="t" l="l"/>
                <a:pathLst>
                  <a:path h="9010612" w="9178316">
                    <a:moveTo>
                      <a:pt x="8679536" y="8993693"/>
                    </a:moveTo>
                    <a:cubicBezTo>
                      <a:pt x="8679536" y="8993693"/>
                      <a:pt x="8442539" y="8983723"/>
                      <a:pt x="8080400" y="8997168"/>
                    </a:cubicBezTo>
                    <a:cubicBezTo>
                      <a:pt x="7718262" y="9010612"/>
                      <a:pt x="490924" y="9010612"/>
                      <a:pt x="490924" y="9010612"/>
                    </a:cubicBezTo>
                    <a:cubicBezTo>
                      <a:pt x="245502" y="9010612"/>
                      <a:pt x="32509" y="8913344"/>
                      <a:pt x="31032" y="8753230"/>
                    </a:cubicBezTo>
                    <a:cubicBezTo>
                      <a:pt x="31032" y="8753230"/>
                      <a:pt x="0" y="6210924"/>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8632987" y="0"/>
                      <a:pt x="8632987" y="0"/>
                    </a:cubicBezTo>
                    <a:cubicBezTo>
                      <a:pt x="8944888" y="0"/>
                      <a:pt x="9178316" y="101069"/>
                      <a:pt x="9170458" y="303616"/>
                    </a:cubicBezTo>
                    <a:cubicBezTo>
                      <a:pt x="9170458" y="303616"/>
                      <a:pt x="9168464" y="5712302"/>
                      <a:pt x="9177219" y="8053643"/>
                    </a:cubicBezTo>
                    <a:cubicBezTo>
                      <a:pt x="9185974" y="8346944"/>
                      <a:pt x="9139426" y="8680015"/>
                      <a:pt x="9139426" y="8680015"/>
                    </a:cubicBezTo>
                    <a:cubicBezTo>
                      <a:pt x="9136461" y="8860041"/>
                      <a:pt x="8924958" y="8993693"/>
                      <a:pt x="8679536" y="8993693"/>
                    </a:cubicBezTo>
                    <a:close/>
                  </a:path>
                </a:pathLst>
              </a:custGeom>
              <a:solidFill>
                <a:srgbClr val="8FB7C6"/>
              </a:solidFill>
            </p:spPr>
          </p:sp>
        </p:grpSp>
        <p:grpSp>
          <p:nvGrpSpPr>
            <p:cNvPr name="Group 7" id="7"/>
            <p:cNvGrpSpPr/>
            <p:nvPr/>
          </p:nvGrpSpPr>
          <p:grpSpPr>
            <a:xfrm rot="0">
              <a:off x="10712884" y="0"/>
              <a:ext cx="10927916" cy="10728245"/>
              <a:chOff x="0" y="0"/>
              <a:chExt cx="9178315" cy="9010612"/>
            </a:xfrm>
          </p:grpSpPr>
          <p:sp>
            <p:nvSpPr>
              <p:cNvPr name="Freeform 8" id="8"/>
              <p:cNvSpPr/>
              <p:nvPr/>
            </p:nvSpPr>
            <p:spPr>
              <a:xfrm flipH="false" flipV="false" rot="0">
                <a:off x="-1" y="0"/>
                <a:ext cx="9178316" cy="9010612"/>
              </a:xfrm>
              <a:custGeom>
                <a:avLst/>
                <a:gdLst/>
                <a:ahLst/>
                <a:cxnLst/>
                <a:rect r="r" b="b" t="t" l="l"/>
                <a:pathLst>
                  <a:path h="9010612" w="9178316">
                    <a:moveTo>
                      <a:pt x="8679536" y="8993693"/>
                    </a:moveTo>
                    <a:cubicBezTo>
                      <a:pt x="8679536" y="8993693"/>
                      <a:pt x="8442539" y="8983723"/>
                      <a:pt x="8080400" y="8997168"/>
                    </a:cubicBezTo>
                    <a:cubicBezTo>
                      <a:pt x="7718262" y="9010612"/>
                      <a:pt x="490924" y="9010612"/>
                      <a:pt x="490924" y="9010612"/>
                    </a:cubicBezTo>
                    <a:cubicBezTo>
                      <a:pt x="245502" y="9010612"/>
                      <a:pt x="32509" y="8913344"/>
                      <a:pt x="31032" y="8753230"/>
                    </a:cubicBezTo>
                    <a:cubicBezTo>
                      <a:pt x="31032" y="8753230"/>
                      <a:pt x="0" y="6210924"/>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8632987" y="0"/>
                      <a:pt x="8632987" y="0"/>
                    </a:cubicBezTo>
                    <a:cubicBezTo>
                      <a:pt x="8944888" y="0"/>
                      <a:pt x="9178316" y="101069"/>
                      <a:pt x="9170458" y="303616"/>
                    </a:cubicBezTo>
                    <a:cubicBezTo>
                      <a:pt x="9170458" y="303616"/>
                      <a:pt x="9168464" y="5712302"/>
                      <a:pt x="9177219" y="8053643"/>
                    </a:cubicBezTo>
                    <a:cubicBezTo>
                      <a:pt x="9185974" y="8346944"/>
                      <a:pt x="9139426" y="8680015"/>
                      <a:pt x="9139426" y="8680015"/>
                    </a:cubicBezTo>
                    <a:cubicBezTo>
                      <a:pt x="9136461" y="8860041"/>
                      <a:pt x="8924958" y="8993693"/>
                      <a:pt x="8679536" y="8993693"/>
                    </a:cubicBezTo>
                    <a:close/>
                  </a:path>
                </a:pathLst>
              </a:custGeom>
              <a:solidFill>
                <a:srgbClr val="8FB7C6"/>
              </a:solidFill>
            </p:spPr>
          </p:sp>
        </p:grpSp>
      </p:grpSp>
      <p:grpSp>
        <p:nvGrpSpPr>
          <p:cNvPr name="Group 9" id="9"/>
          <p:cNvGrpSpPr/>
          <p:nvPr/>
        </p:nvGrpSpPr>
        <p:grpSpPr>
          <a:xfrm rot="0">
            <a:off x="1148536" y="3333415"/>
            <a:ext cx="15990927" cy="7849392"/>
            <a:chOff x="0" y="0"/>
            <a:chExt cx="21321236" cy="10465856"/>
          </a:xfrm>
        </p:grpSpPr>
        <p:grpSp>
          <p:nvGrpSpPr>
            <p:cNvPr name="Group 10" id="10"/>
            <p:cNvGrpSpPr/>
            <p:nvPr/>
          </p:nvGrpSpPr>
          <p:grpSpPr>
            <a:xfrm rot="0">
              <a:off x="0" y="0"/>
              <a:ext cx="10766547" cy="10465856"/>
              <a:chOff x="0" y="0"/>
              <a:chExt cx="9178315" cy="8921981"/>
            </a:xfrm>
          </p:grpSpPr>
          <p:sp>
            <p:nvSpPr>
              <p:cNvPr name="Freeform 11" id="11"/>
              <p:cNvSpPr/>
              <p:nvPr/>
            </p:nvSpPr>
            <p:spPr>
              <a:xfrm flipH="false" flipV="false" rot="0">
                <a:off x="-1" y="0"/>
                <a:ext cx="9178316" cy="8921981"/>
              </a:xfrm>
              <a:custGeom>
                <a:avLst/>
                <a:gdLst/>
                <a:ahLst/>
                <a:cxnLst/>
                <a:rect r="r" b="b" t="t" l="l"/>
                <a:pathLst>
                  <a:path h="8921981" w="9178316">
                    <a:moveTo>
                      <a:pt x="8679536" y="8905062"/>
                    </a:moveTo>
                    <a:cubicBezTo>
                      <a:pt x="8679536" y="8905062"/>
                      <a:pt x="8442539" y="8895093"/>
                      <a:pt x="8080400" y="8908537"/>
                    </a:cubicBezTo>
                    <a:cubicBezTo>
                      <a:pt x="7718262" y="8921981"/>
                      <a:pt x="490924" y="8921981"/>
                      <a:pt x="490924" y="8921981"/>
                    </a:cubicBezTo>
                    <a:cubicBezTo>
                      <a:pt x="245502" y="8921981"/>
                      <a:pt x="32509" y="8824713"/>
                      <a:pt x="31032" y="8664599"/>
                    </a:cubicBezTo>
                    <a:cubicBezTo>
                      <a:pt x="31032" y="8664599"/>
                      <a:pt x="0" y="6142272"/>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8632987" y="0"/>
                      <a:pt x="8632987" y="0"/>
                    </a:cubicBezTo>
                    <a:cubicBezTo>
                      <a:pt x="8944888" y="0"/>
                      <a:pt x="9178316" y="101069"/>
                      <a:pt x="9170458" y="303616"/>
                    </a:cubicBezTo>
                    <a:cubicBezTo>
                      <a:pt x="9170458" y="303616"/>
                      <a:pt x="9168464" y="5649759"/>
                      <a:pt x="9177219" y="7965011"/>
                    </a:cubicBezTo>
                    <a:cubicBezTo>
                      <a:pt x="9185974" y="8258313"/>
                      <a:pt x="9139426" y="8591385"/>
                      <a:pt x="9139426" y="8591385"/>
                    </a:cubicBezTo>
                    <a:cubicBezTo>
                      <a:pt x="9136461" y="8771410"/>
                      <a:pt x="8924958" y="8905062"/>
                      <a:pt x="8679536" y="8905062"/>
                    </a:cubicBezTo>
                    <a:close/>
                  </a:path>
                </a:pathLst>
              </a:custGeom>
              <a:solidFill>
                <a:srgbClr val="8FB7C6"/>
              </a:solidFill>
            </p:spPr>
          </p:sp>
        </p:grpSp>
        <p:grpSp>
          <p:nvGrpSpPr>
            <p:cNvPr name="Group 12" id="12"/>
            <p:cNvGrpSpPr/>
            <p:nvPr/>
          </p:nvGrpSpPr>
          <p:grpSpPr>
            <a:xfrm rot="0">
              <a:off x="10554689" y="0"/>
              <a:ext cx="10766547" cy="10465856"/>
              <a:chOff x="0" y="0"/>
              <a:chExt cx="9178315" cy="8921981"/>
            </a:xfrm>
          </p:grpSpPr>
          <p:sp>
            <p:nvSpPr>
              <p:cNvPr name="Freeform 13" id="13"/>
              <p:cNvSpPr/>
              <p:nvPr/>
            </p:nvSpPr>
            <p:spPr>
              <a:xfrm flipH="false" flipV="false" rot="0">
                <a:off x="-1" y="0"/>
                <a:ext cx="9178316" cy="8921981"/>
              </a:xfrm>
              <a:custGeom>
                <a:avLst/>
                <a:gdLst/>
                <a:ahLst/>
                <a:cxnLst/>
                <a:rect r="r" b="b" t="t" l="l"/>
                <a:pathLst>
                  <a:path h="8921981" w="9178316">
                    <a:moveTo>
                      <a:pt x="8679536" y="8905062"/>
                    </a:moveTo>
                    <a:cubicBezTo>
                      <a:pt x="8679536" y="8905062"/>
                      <a:pt x="8442539" y="8895093"/>
                      <a:pt x="8080400" y="8908537"/>
                    </a:cubicBezTo>
                    <a:cubicBezTo>
                      <a:pt x="7718262" y="8921981"/>
                      <a:pt x="490924" y="8921981"/>
                      <a:pt x="490924" y="8921981"/>
                    </a:cubicBezTo>
                    <a:cubicBezTo>
                      <a:pt x="245502" y="8921981"/>
                      <a:pt x="32509" y="8824713"/>
                      <a:pt x="31032" y="8664599"/>
                    </a:cubicBezTo>
                    <a:cubicBezTo>
                      <a:pt x="31032" y="8664599"/>
                      <a:pt x="0" y="6142272"/>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8632987" y="0"/>
                      <a:pt x="8632987" y="0"/>
                    </a:cubicBezTo>
                    <a:cubicBezTo>
                      <a:pt x="8944888" y="0"/>
                      <a:pt x="9178316" y="101069"/>
                      <a:pt x="9170458" y="303616"/>
                    </a:cubicBezTo>
                    <a:cubicBezTo>
                      <a:pt x="9170458" y="303616"/>
                      <a:pt x="9168464" y="5649759"/>
                      <a:pt x="9177219" y="7965011"/>
                    </a:cubicBezTo>
                    <a:cubicBezTo>
                      <a:pt x="9185974" y="8258313"/>
                      <a:pt x="9139426" y="8591385"/>
                      <a:pt x="9139426" y="8591385"/>
                    </a:cubicBezTo>
                    <a:cubicBezTo>
                      <a:pt x="9136461" y="8771410"/>
                      <a:pt x="8924958" y="8905062"/>
                      <a:pt x="8679536" y="8905062"/>
                    </a:cubicBezTo>
                    <a:close/>
                  </a:path>
                </a:pathLst>
              </a:custGeom>
              <a:solidFill>
                <a:srgbClr val="8FB7C6"/>
              </a:solidFill>
            </p:spPr>
          </p:sp>
        </p:grpSp>
      </p:grpSp>
      <p:grpSp>
        <p:nvGrpSpPr>
          <p:cNvPr name="Group 14" id="14"/>
          <p:cNvGrpSpPr/>
          <p:nvPr/>
        </p:nvGrpSpPr>
        <p:grpSpPr>
          <a:xfrm rot="0">
            <a:off x="1520419" y="3037550"/>
            <a:ext cx="15224058" cy="8145257"/>
            <a:chOff x="0" y="0"/>
            <a:chExt cx="20298745" cy="10860342"/>
          </a:xfrm>
        </p:grpSpPr>
        <p:grpSp>
          <p:nvGrpSpPr>
            <p:cNvPr name="Group 15" id="15"/>
            <p:cNvGrpSpPr/>
            <p:nvPr/>
          </p:nvGrpSpPr>
          <p:grpSpPr>
            <a:xfrm rot="0">
              <a:off x="0" y="0"/>
              <a:ext cx="10250221" cy="10860342"/>
              <a:chOff x="0" y="0"/>
              <a:chExt cx="9178315" cy="9724634"/>
            </a:xfrm>
          </p:grpSpPr>
          <p:sp>
            <p:nvSpPr>
              <p:cNvPr name="Freeform 16" id="16"/>
              <p:cNvSpPr/>
              <p:nvPr/>
            </p:nvSpPr>
            <p:spPr>
              <a:xfrm flipH="false" flipV="false" rot="0">
                <a:off x="-1" y="0"/>
                <a:ext cx="9178316" cy="9724634"/>
              </a:xfrm>
              <a:custGeom>
                <a:avLst/>
                <a:gdLst/>
                <a:ahLst/>
                <a:cxnLst/>
                <a:rect r="r" b="b" t="t" l="l"/>
                <a:pathLst>
                  <a:path h="9724634" w="9178316">
                    <a:moveTo>
                      <a:pt x="8679536" y="9707714"/>
                    </a:moveTo>
                    <a:cubicBezTo>
                      <a:pt x="8679536" y="9707714"/>
                      <a:pt x="8442539" y="9697745"/>
                      <a:pt x="8080400" y="9711189"/>
                    </a:cubicBezTo>
                    <a:cubicBezTo>
                      <a:pt x="7718262" y="9724634"/>
                      <a:pt x="490924" y="9724634"/>
                      <a:pt x="490924" y="9724634"/>
                    </a:cubicBezTo>
                    <a:cubicBezTo>
                      <a:pt x="245502" y="9724634"/>
                      <a:pt x="32509" y="9627366"/>
                      <a:pt x="31032" y="9467252"/>
                    </a:cubicBezTo>
                    <a:cubicBezTo>
                      <a:pt x="31032" y="9467252"/>
                      <a:pt x="0" y="6764003"/>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8632987" y="0"/>
                      <a:pt x="8632987" y="0"/>
                    </a:cubicBezTo>
                    <a:cubicBezTo>
                      <a:pt x="8944888" y="0"/>
                      <a:pt x="9178316" y="101069"/>
                      <a:pt x="9170458" y="303616"/>
                    </a:cubicBezTo>
                    <a:cubicBezTo>
                      <a:pt x="9170458" y="303616"/>
                      <a:pt x="9168464" y="6216162"/>
                      <a:pt x="9177219" y="8767665"/>
                    </a:cubicBezTo>
                    <a:cubicBezTo>
                      <a:pt x="9185974" y="9060966"/>
                      <a:pt x="9139426" y="9394037"/>
                      <a:pt x="9139426" y="9394037"/>
                    </a:cubicBezTo>
                    <a:cubicBezTo>
                      <a:pt x="9136461" y="9574062"/>
                      <a:pt x="8924958" y="9707714"/>
                      <a:pt x="8679536" y="9707714"/>
                    </a:cubicBezTo>
                    <a:close/>
                  </a:path>
                </a:pathLst>
              </a:custGeom>
              <a:solidFill>
                <a:srgbClr val="F3FCFF"/>
              </a:solidFill>
            </p:spPr>
          </p:sp>
        </p:grpSp>
        <p:grpSp>
          <p:nvGrpSpPr>
            <p:cNvPr name="Group 17" id="17"/>
            <p:cNvGrpSpPr/>
            <p:nvPr/>
          </p:nvGrpSpPr>
          <p:grpSpPr>
            <a:xfrm rot="0">
              <a:off x="10048523" y="0"/>
              <a:ext cx="10250221" cy="10860342"/>
              <a:chOff x="0" y="0"/>
              <a:chExt cx="9178315" cy="9724634"/>
            </a:xfrm>
          </p:grpSpPr>
          <p:sp>
            <p:nvSpPr>
              <p:cNvPr name="Freeform 18" id="18"/>
              <p:cNvSpPr/>
              <p:nvPr/>
            </p:nvSpPr>
            <p:spPr>
              <a:xfrm flipH="false" flipV="false" rot="0">
                <a:off x="-1" y="0"/>
                <a:ext cx="9178316" cy="9724634"/>
              </a:xfrm>
              <a:custGeom>
                <a:avLst/>
                <a:gdLst/>
                <a:ahLst/>
                <a:cxnLst/>
                <a:rect r="r" b="b" t="t" l="l"/>
                <a:pathLst>
                  <a:path h="9724634" w="9178316">
                    <a:moveTo>
                      <a:pt x="8679536" y="9707714"/>
                    </a:moveTo>
                    <a:cubicBezTo>
                      <a:pt x="8679536" y="9707714"/>
                      <a:pt x="8442539" y="9697745"/>
                      <a:pt x="8080400" y="9711189"/>
                    </a:cubicBezTo>
                    <a:cubicBezTo>
                      <a:pt x="7718262" y="9724634"/>
                      <a:pt x="490924" y="9724634"/>
                      <a:pt x="490924" y="9724634"/>
                    </a:cubicBezTo>
                    <a:cubicBezTo>
                      <a:pt x="245502" y="9724634"/>
                      <a:pt x="32509" y="9627366"/>
                      <a:pt x="31032" y="9467252"/>
                    </a:cubicBezTo>
                    <a:cubicBezTo>
                      <a:pt x="31032" y="9467252"/>
                      <a:pt x="0" y="6764003"/>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8632987" y="0"/>
                      <a:pt x="8632987" y="0"/>
                    </a:cubicBezTo>
                    <a:cubicBezTo>
                      <a:pt x="8944888" y="0"/>
                      <a:pt x="9178316" y="101069"/>
                      <a:pt x="9170458" y="303616"/>
                    </a:cubicBezTo>
                    <a:cubicBezTo>
                      <a:pt x="9170458" y="303616"/>
                      <a:pt x="9168464" y="6216162"/>
                      <a:pt x="9177219" y="8767665"/>
                    </a:cubicBezTo>
                    <a:cubicBezTo>
                      <a:pt x="9185974" y="9060966"/>
                      <a:pt x="9139426" y="9394037"/>
                      <a:pt x="9139426" y="9394037"/>
                    </a:cubicBezTo>
                    <a:cubicBezTo>
                      <a:pt x="9136461" y="9574062"/>
                      <a:pt x="8924958" y="9707714"/>
                      <a:pt x="8679536" y="9707714"/>
                    </a:cubicBezTo>
                    <a:close/>
                  </a:path>
                </a:pathLst>
              </a:custGeom>
              <a:solidFill>
                <a:srgbClr val="F3FCFF"/>
              </a:solidFill>
            </p:spPr>
          </p:sp>
        </p:grpSp>
      </p:grpSp>
      <p:sp>
        <p:nvSpPr>
          <p:cNvPr name="AutoShape 19" id="19"/>
          <p:cNvSpPr/>
          <p:nvPr/>
        </p:nvSpPr>
        <p:spPr>
          <a:xfrm flipH="true" flipV="true">
            <a:off x="9144000" y="3584748"/>
            <a:ext cx="0" cy="10177505"/>
          </a:xfrm>
          <a:prstGeom prst="line">
            <a:avLst/>
          </a:prstGeom>
          <a:ln cap="rnd" w="38100">
            <a:solidFill>
              <a:srgbClr val="8FB7C6"/>
            </a:solidFill>
            <a:prstDash val="solid"/>
            <a:headEnd type="none" len="sm" w="sm"/>
            <a:tailEnd type="none" len="sm" w="sm"/>
          </a:ln>
        </p:spPr>
      </p:sp>
      <p:sp>
        <p:nvSpPr>
          <p:cNvPr name="TextBox 20" id="20"/>
          <p:cNvSpPr txBox="true"/>
          <p:nvPr/>
        </p:nvSpPr>
        <p:spPr>
          <a:xfrm rot="0">
            <a:off x="2142202" y="3872685"/>
            <a:ext cx="6519946" cy="6174105"/>
          </a:xfrm>
          <a:prstGeom prst="rect">
            <a:avLst/>
          </a:prstGeom>
        </p:spPr>
        <p:txBody>
          <a:bodyPr anchor="t" rtlCol="false" tIns="0" lIns="0" bIns="0" rIns="0">
            <a:spAutoFit/>
          </a:bodyPr>
          <a:lstStyle/>
          <a:p>
            <a:pPr algn="l">
              <a:lnSpc>
                <a:spcPts val="4485"/>
              </a:lnSpc>
            </a:pPr>
            <a:r>
              <a:rPr lang="en-US" sz="3250" spc="-32" b="true">
                <a:solidFill>
                  <a:srgbClr val="000000"/>
                </a:solidFill>
                <a:latin typeface="Asap Bold"/>
                <a:ea typeface="Asap Bold"/>
                <a:cs typeface="Asap Bold"/>
                <a:sym typeface="Asap Bold"/>
              </a:rPr>
              <a:t>Mức Ý tưởng (Conceptual Level)</a:t>
            </a:r>
          </a:p>
          <a:p>
            <a:pPr algn="l">
              <a:lnSpc>
                <a:spcPts val="4485"/>
              </a:lnSpc>
            </a:pPr>
            <a:r>
              <a:rPr lang="en-US" sz="3250" spc="-32">
                <a:solidFill>
                  <a:srgbClr val="000000"/>
                </a:solidFill>
                <a:latin typeface="Asap"/>
                <a:ea typeface="Asap"/>
                <a:cs typeface="Asap"/>
                <a:sym typeface="Asap"/>
              </a:rPr>
              <a:t>· Xác định nhu cầu tài liệu hóa</a:t>
            </a:r>
          </a:p>
          <a:p>
            <a:pPr algn="l">
              <a:lnSpc>
                <a:spcPts val="4485"/>
              </a:lnSpc>
            </a:pPr>
            <a:r>
              <a:rPr lang="en-US" sz="3250" spc="-32">
                <a:solidFill>
                  <a:srgbClr val="000000"/>
                </a:solidFill>
                <a:latin typeface="Asap"/>
                <a:ea typeface="Asap"/>
                <a:cs typeface="Asap"/>
                <a:sym typeface="Asap"/>
              </a:rPr>
              <a:t>· Lựa chọn công cụ AI phù hợp</a:t>
            </a:r>
          </a:p>
          <a:p>
            <a:pPr algn="l">
              <a:lnSpc>
                <a:spcPts val="4485"/>
              </a:lnSpc>
            </a:pPr>
            <a:r>
              <a:rPr lang="en-US" sz="3250" spc="-32">
                <a:solidFill>
                  <a:srgbClr val="000000"/>
                </a:solidFill>
                <a:latin typeface="Asap"/>
                <a:ea typeface="Asap"/>
                <a:cs typeface="Asap"/>
                <a:sym typeface="Asap"/>
              </a:rPr>
              <a:t>· Xác định style docstring (PEP257, Google...)</a:t>
            </a:r>
          </a:p>
          <a:p>
            <a:pPr algn="l">
              <a:lnSpc>
                <a:spcPts val="4485"/>
              </a:lnSpc>
            </a:pPr>
            <a:r>
              <a:rPr lang="en-US" sz="3250" spc="-32" b="true">
                <a:solidFill>
                  <a:srgbClr val="000000"/>
                </a:solidFill>
                <a:latin typeface="Asap Bold"/>
                <a:ea typeface="Asap Bold"/>
                <a:cs typeface="Asap Bold"/>
                <a:sym typeface="Asap Bold"/>
              </a:rPr>
              <a:t> Mức Vật lý (Implementation Level)</a:t>
            </a:r>
          </a:p>
          <a:p>
            <a:pPr algn="l">
              <a:lnSpc>
                <a:spcPts val="4485"/>
              </a:lnSpc>
            </a:pPr>
            <a:r>
              <a:rPr lang="en-US" sz="3250" spc="-32">
                <a:solidFill>
                  <a:srgbClr val="000000"/>
                </a:solidFill>
                <a:latin typeface="Asap"/>
                <a:ea typeface="Asap"/>
                <a:cs typeface="Asap"/>
                <a:sym typeface="Asap"/>
              </a:rPr>
              <a:t>Công cụ:</a:t>
            </a:r>
          </a:p>
          <a:p>
            <a:pPr algn="l">
              <a:lnSpc>
                <a:spcPts val="4485"/>
              </a:lnSpc>
            </a:pPr>
            <a:r>
              <a:rPr lang="en-US" sz="3250" spc="-32">
                <a:solidFill>
                  <a:srgbClr val="000000"/>
                </a:solidFill>
                <a:latin typeface="Asap"/>
                <a:ea typeface="Asap"/>
                <a:cs typeface="Asap"/>
                <a:sym typeface="Asap"/>
              </a:rPr>
              <a:t>· VS Code / PyCharm</a:t>
            </a:r>
          </a:p>
          <a:p>
            <a:pPr algn="l">
              <a:lnSpc>
                <a:spcPts val="4485"/>
              </a:lnSpc>
            </a:pPr>
            <a:r>
              <a:rPr lang="en-US" sz="3250" spc="-32">
                <a:solidFill>
                  <a:srgbClr val="000000"/>
                </a:solidFill>
                <a:latin typeface="Asap"/>
                <a:ea typeface="Asap"/>
                <a:cs typeface="Asap"/>
                <a:sym typeface="Asap"/>
              </a:rPr>
              <a:t>· GitHub Copilot</a:t>
            </a:r>
          </a:p>
          <a:p>
            <a:pPr algn="l">
              <a:lnSpc>
                <a:spcPts val="4485"/>
              </a:lnSpc>
            </a:pPr>
            <a:r>
              <a:rPr lang="en-US" sz="3250" spc="-32">
                <a:solidFill>
                  <a:srgbClr val="000000"/>
                </a:solidFill>
                <a:latin typeface="Asap"/>
                <a:ea typeface="Asap"/>
                <a:cs typeface="Asap"/>
                <a:sym typeface="Asap"/>
              </a:rPr>
              <a:t>· OpenAI API</a:t>
            </a:r>
          </a:p>
          <a:p>
            <a:pPr algn="l" marL="0" indent="0" lvl="0">
              <a:lnSpc>
                <a:spcPts val="4485"/>
              </a:lnSpc>
            </a:pPr>
          </a:p>
        </p:txBody>
      </p:sp>
      <p:sp>
        <p:nvSpPr>
          <p:cNvPr name="Freeform 21" id="21"/>
          <p:cNvSpPr/>
          <p:nvPr/>
        </p:nvSpPr>
        <p:spPr>
          <a:xfrm flipH="false" flipV="false" rot="0">
            <a:off x="238463" y="310113"/>
            <a:ext cx="1903739" cy="1696059"/>
          </a:xfrm>
          <a:custGeom>
            <a:avLst/>
            <a:gdLst/>
            <a:ahLst/>
            <a:cxnLst/>
            <a:rect r="r" b="b" t="t" l="l"/>
            <a:pathLst>
              <a:path h="1696059" w="1903739">
                <a:moveTo>
                  <a:pt x="0" y="0"/>
                </a:moveTo>
                <a:lnTo>
                  <a:pt x="1903739" y="0"/>
                </a:lnTo>
                <a:lnTo>
                  <a:pt x="1903739" y="1696059"/>
                </a:lnTo>
                <a:lnTo>
                  <a:pt x="0" y="169605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2" id="22"/>
          <p:cNvSpPr/>
          <p:nvPr/>
        </p:nvSpPr>
        <p:spPr>
          <a:xfrm flipH="false" flipV="false" rot="0">
            <a:off x="15906905" y="310113"/>
            <a:ext cx="2160317" cy="1661480"/>
          </a:xfrm>
          <a:custGeom>
            <a:avLst/>
            <a:gdLst/>
            <a:ahLst/>
            <a:cxnLst/>
            <a:rect r="r" b="b" t="t" l="l"/>
            <a:pathLst>
              <a:path h="1661480" w="2160317">
                <a:moveTo>
                  <a:pt x="0" y="0"/>
                </a:moveTo>
                <a:lnTo>
                  <a:pt x="2160317" y="0"/>
                </a:lnTo>
                <a:lnTo>
                  <a:pt x="2160317" y="1661481"/>
                </a:lnTo>
                <a:lnTo>
                  <a:pt x="0" y="16614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AutoShape 23" id="23"/>
          <p:cNvSpPr/>
          <p:nvPr/>
        </p:nvSpPr>
        <p:spPr>
          <a:xfrm>
            <a:off x="16192850" y="754200"/>
            <a:ext cx="1588427" cy="0"/>
          </a:xfrm>
          <a:prstGeom prst="line">
            <a:avLst/>
          </a:prstGeom>
          <a:ln cap="rnd" w="38100">
            <a:solidFill>
              <a:srgbClr val="476A76"/>
            </a:solidFill>
            <a:prstDash val="solid"/>
            <a:headEnd type="none" len="sm" w="sm"/>
            <a:tailEnd type="none" len="sm" w="sm"/>
          </a:ln>
        </p:spPr>
      </p:sp>
      <p:sp>
        <p:nvSpPr>
          <p:cNvPr name="AutoShape 24" id="24"/>
          <p:cNvSpPr/>
          <p:nvPr/>
        </p:nvSpPr>
        <p:spPr>
          <a:xfrm flipV="true">
            <a:off x="16441617" y="936073"/>
            <a:ext cx="1339661" cy="0"/>
          </a:xfrm>
          <a:prstGeom prst="line">
            <a:avLst/>
          </a:prstGeom>
          <a:ln cap="rnd" w="38100">
            <a:solidFill>
              <a:srgbClr val="476A76"/>
            </a:solidFill>
            <a:prstDash val="solid"/>
            <a:headEnd type="none" len="sm" w="sm"/>
            <a:tailEnd type="none" len="sm" w="sm"/>
          </a:ln>
        </p:spPr>
      </p:sp>
      <p:sp>
        <p:nvSpPr>
          <p:cNvPr name="AutoShape 25" id="25"/>
          <p:cNvSpPr/>
          <p:nvPr/>
        </p:nvSpPr>
        <p:spPr>
          <a:xfrm>
            <a:off x="16815732" y="1121804"/>
            <a:ext cx="965545" cy="0"/>
          </a:xfrm>
          <a:prstGeom prst="line">
            <a:avLst/>
          </a:prstGeom>
          <a:ln cap="rnd" w="38100">
            <a:solidFill>
              <a:srgbClr val="476A76"/>
            </a:solidFill>
            <a:prstDash val="solid"/>
            <a:headEnd type="none" len="sm" w="sm"/>
            <a:tailEnd type="none" len="sm" w="sm"/>
          </a:ln>
        </p:spPr>
      </p:sp>
      <p:grpSp>
        <p:nvGrpSpPr>
          <p:cNvPr name="Group 26" id="26"/>
          <p:cNvGrpSpPr/>
          <p:nvPr/>
        </p:nvGrpSpPr>
        <p:grpSpPr>
          <a:xfrm rot="0">
            <a:off x="753444" y="853517"/>
            <a:ext cx="203211" cy="203211"/>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6A76"/>
            </a:solidFill>
          </p:spPr>
        </p:sp>
        <p:sp>
          <p:nvSpPr>
            <p:cNvPr name="TextBox 28" id="28"/>
            <p:cNvSpPr txBox="true"/>
            <p:nvPr/>
          </p:nvSpPr>
          <p:spPr>
            <a:xfrm>
              <a:off x="76200" y="114300"/>
              <a:ext cx="660400" cy="622300"/>
            </a:xfrm>
            <a:prstGeom prst="rect">
              <a:avLst/>
            </a:prstGeom>
          </p:spPr>
          <p:txBody>
            <a:bodyPr anchor="ctr" rtlCol="false" tIns="50800" lIns="50800" bIns="50800" rIns="50800"/>
            <a:lstStyle/>
            <a:p>
              <a:pPr algn="ctr">
                <a:lnSpc>
                  <a:spcPts val="2694"/>
                </a:lnSpc>
              </a:pPr>
            </a:p>
          </p:txBody>
        </p:sp>
      </p:grpSp>
      <p:grpSp>
        <p:nvGrpSpPr>
          <p:cNvPr name="Group 29" id="29"/>
          <p:cNvGrpSpPr/>
          <p:nvPr/>
        </p:nvGrpSpPr>
        <p:grpSpPr>
          <a:xfrm rot="0">
            <a:off x="1088727" y="853517"/>
            <a:ext cx="203211" cy="203211"/>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6A76"/>
            </a:solidFill>
          </p:spPr>
        </p:sp>
        <p:sp>
          <p:nvSpPr>
            <p:cNvPr name="TextBox 31" id="31"/>
            <p:cNvSpPr txBox="true"/>
            <p:nvPr/>
          </p:nvSpPr>
          <p:spPr>
            <a:xfrm>
              <a:off x="76200" y="114300"/>
              <a:ext cx="660400" cy="622300"/>
            </a:xfrm>
            <a:prstGeom prst="rect">
              <a:avLst/>
            </a:prstGeom>
          </p:spPr>
          <p:txBody>
            <a:bodyPr anchor="ctr" rtlCol="false" tIns="50800" lIns="50800" bIns="50800" rIns="50800"/>
            <a:lstStyle/>
            <a:p>
              <a:pPr algn="ctr">
                <a:lnSpc>
                  <a:spcPts val="2694"/>
                </a:lnSpc>
              </a:pPr>
            </a:p>
          </p:txBody>
        </p:sp>
      </p:grpSp>
      <p:grpSp>
        <p:nvGrpSpPr>
          <p:cNvPr name="Group 32" id="32"/>
          <p:cNvGrpSpPr/>
          <p:nvPr/>
        </p:nvGrpSpPr>
        <p:grpSpPr>
          <a:xfrm rot="0">
            <a:off x="1424010" y="853517"/>
            <a:ext cx="203211" cy="203211"/>
            <a:chOff x="0" y="0"/>
            <a:chExt cx="812800" cy="812800"/>
          </a:xfrm>
        </p:grpSpPr>
        <p:sp>
          <p:nvSpPr>
            <p:cNvPr name="Freeform 33" id="3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6A76"/>
            </a:solidFill>
          </p:spPr>
        </p:sp>
        <p:sp>
          <p:nvSpPr>
            <p:cNvPr name="TextBox 34" id="34"/>
            <p:cNvSpPr txBox="true"/>
            <p:nvPr/>
          </p:nvSpPr>
          <p:spPr>
            <a:xfrm>
              <a:off x="76200" y="114300"/>
              <a:ext cx="660400" cy="622300"/>
            </a:xfrm>
            <a:prstGeom prst="rect">
              <a:avLst/>
            </a:prstGeom>
          </p:spPr>
          <p:txBody>
            <a:bodyPr anchor="ctr" rtlCol="false" tIns="50800" lIns="50800" bIns="50800" rIns="50800"/>
            <a:lstStyle/>
            <a:p>
              <a:pPr algn="ctr">
                <a:lnSpc>
                  <a:spcPts val="2694"/>
                </a:lnSpc>
              </a:pPr>
            </a:p>
          </p:txBody>
        </p:sp>
      </p:grpSp>
      <p:sp>
        <p:nvSpPr>
          <p:cNvPr name="TextBox 35" id="35"/>
          <p:cNvSpPr txBox="true"/>
          <p:nvPr/>
        </p:nvSpPr>
        <p:spPr>
          <a:xfrm rot="0">
            <a:off x="4321097" y="1229875"/>
            <a:ext cx="9622703" cy="1543069"/>
          </a:xfrm>
          <a:prstGeom prst="rect">
            <a:avLst/>
          </a:prstGeom>
        </p:spPr>
        <p:txBody>
          <a:bodyPr anchor="t" rtlCol="false" tIns="0" lIns="0" bIns="0" rIns="0">
            <a:spAutoFit/>
          </a:bodyPr>
          <a:lstStyle/>
          <a:p>
            <a:pPr algn="ctr">
              <a:lnSpc>
                <a:spcPts val="6049"/>
              </a:lnSpc>
            </a:pPr>
            <a:r>
              <a:rPr lang="en-US" sz="5041" b="true">
                <a:solidFill>
                  <a:srgbClr val="1D2B74"/>
                </a:solidFill>
                <a:latin typeface="Faustina Bold"/>
                <a:ea typeface="Faustina Bold"/>
                <a:cs typeface="Faustina Bold"/>
                <a:sym typeface="Faustina Bold"/>
              </a:rPr>
              <a:t>Phương pháp luận sử dụng GenAI</a:t>
            </a:r>
          </a:p>
          <a:p>
            <a:pPr algn="ctr" marL="0" indent="0" lvl="1">
              <a:lnSpc>
                <a:spcPts val="6049"/>
              </a:lnSpc>
              <a:spcBef>
                <a:spcPct val="0"/>
              </a:spcBef>
            </a:pPr>
          </a:p>
        </p:txBody>
      </p:sp>
      <p:sp>
        <p:nvSpPr>
          <p:cNvPr name="TextBox 36" id="36"/>
          <p:cNvSpPr txBox="true"/>
          <p:nvPr/>
        </p:nvSpPr>
        <p:spPr>
          <a:xfrm rot="0">
            <a:off x="9629775" y="3872685"/>
            <a:ext cx="6519946" cy="5612130"/>
          </a:xfrm>
          <a:prstGeom prst="rect">
            <a:avLst/>
          </a:prstGeom>
        </p:spPr>
        <p:txBody>
          <a:bodyPr anchor="t" rtlCol="false" tIns="0" lIns="0" bIns="0" rIns="0">
            <a:spAutoFit/>
          </a:bodyPr>
          <a:lstStyle/>
          <a:p>
            <a:pPr algn="l">
              <a:lnSpc>
                <a:spcPts val="4485"/>
              </a:lnSpc>
            </a:pPr>
            <a:r>
              <a:rPr lang="en-US" sz="3250" spc="-32" b="true">
                <a:solidFill>
                  <a:srgbClr val="000000"/>
                </a:solidFill>
                <a:latin typeface="Asap Bold"/>
                <a:ea typeface="Asap Bold"/>
                <a:cs typeface="Asap Bold"/>
                <a:sym typeface="Asap Bold"/>
              </a:rPr>
              <a:t>Mức Luận lý (Logical Level)</a:t>
            </a:r>
          </a:p>
          <a:p>
            <a:pPr algn="l">
              <a:lnSpc>
                <a:spcPts val="4485"/>
              </a:lnSpc>
            </a:pPr>
            <a:r>
              <a:rPr lang="en-US" sz="3250" spc="-32">
                <a:solidFill>
                  <a:srgbClr val="000000"/>
                </a:solidFill>
                <a:latin typeface="Asap"/>
                <a:ea typeface="Asap"/>
                <a:cs typeface="Asap"/>
                <a:sym typeface="Asap"/>
              </a:rPr>
              <a:t>Workflow:</a:t>
            </a:r>
          </a:p>
          <a:p>
            <a:pPr algn="l">
              <a:lnSpc>
                <a:spcPts val="4485"/>
              </a:lnSpc>
            </a:pPr>
            <a:r>
              <a:rPr lang="en-US" sz="3250" spc="-32">
                <a:solidFill>
                  <a:srgbClr val="000000"/>
                </a:solidFill>
                <a:latin typeface="Asap"/>
                <a:ea typeface="Asap"/>
                <a:cs typeface="Asap"/>
                <a:sym typeface="Asap"/>
              </a:rPr>
              <a:t>1. Viết</a:t>
            </a:r>
            <a:r>
              <a:rPr lang="en-US" sz="3250" spc="-32">
                <a:solidFill>
                  <a:srgbClr val="000000"/>
                </a:solidFill>
                <a:latin typeface="Asap"/>
                <a:ea typeface="Asap"/>
                <a:cs typeface="Asap"/>
                <a:sym typeface="Asap"/>
              </a:rPr>
              <a:t> code</a:t>
            </a:r>
          </a:p>
          <a:p>
            <a:pPr algn="l">
              <a:lnSpc>
                <a:spcPts val="4485"/>
              </a:lnSpc>
            </a:pPr>
            <a:r>
              <a:rPr lang="en-US" sz="3250" spc="-32">
                <a:solidFill>
                  <a:srgbClr val="000000"/>
                </a:solidFill>
                <a:latin typeface="Asap"/>
                <a:ea typeface="Asap"/>
                <a:cs typeface="Asap"/>
                <a:sym typeface="Asap"/>
              </a:rPr>
              <a:t>2. Gọi AI tạo docstring</a:t>
            </a:r>
          </a:p>
          <a:p>
            <a:pPr algn="l">
              <a:lnSpc>
                <a:spcPts val="4485"/>
              </a:lnSpc>
            </a:pPr>
            <a:r>
              <a:rPr lang="en-US" sz="3250" spc="-32">
                <a:solidFill>
                  <a:srgbClr val="000000"/>
                </a:solidFill>
                <a:latin typeface="Asap"/>
                <a:ea typeface="Asap"/>
                <a:cs typeface="Asap"/>
                <a:sym typeface="Asap"/>
              </a:rPr>
              <a:t>3. Kiểm tra tính chính xác</a:t>
            </a:r>
          </a:p>
          <a:p>
            <a:pPr algn="l">
              <a:lnSpc>
                <a:spcPts val="4485"/>
              </a:lnSpc>
            </a:pPr>
            <a:r>
              <a:rPr lang="en-US" sz="3250" spc="-32">
                <a:solidFill>
                  <a:srgbClr val="000000"/>
                </a:solidFill>
                <a:latin typeface="Asap"/>
                <a:ea typeface="Asap"/>
                <a:cs typeface="Asap"/>
                <a:sym typeface="Asap"/>
              </a:rPr>
              <a:t>4. Refactor code nếu cần</a:t>
            </a:r>
          </a:p>
          <a:p>
            <a:pPr algn="l">
              <a:lnSpc>
                <a:spcPts val="4485"/>
              </a:lnSpc>
            </a:pPr>
            <a:r>
              <a:rPr lang="en-US" sz="3250" spc="-32">
                <a:solidFill>
                  <a:srgbClr val="000000"/>
                </a:solidFill>
                <a:latin typeface="Asap"/>
                <a:ea typeface="Asap"/>
                <a:cs typeface="Asap"/>
                <a:sym typeface="Asap"/>
              </a:rPr>
              <a:t>5. Đồ</a:t>
            </a:r>
            <a:r>
              <a:rPr lang="en-US" sz="3250" spc="-32">
                <a:solidFill>
                  <a:srgbClr val="000000"/>
                </a:solidFill>
                <a:latin typeface="Asap"/>
                <a:ea typeface="Asap"/>
                <a:cs typeface="Asap"/>
                <a:sym typeface="Asap"/>
              </a:rPr>
              <a:t>ng bộ docstring</a:t>
            </a:r>
          </a:p>
          <a:p>
            <a:pPr algn="l">
              <a:lnSpc>
                <a:spcPts val="4485"/>
              </a:lnSpc>
            </a:pPr>
            <a:r>
              <a:rPr lang="en-US" sz="3250" spc="-32">
                <a:solidFill>
                  <a:srgbClr val="000000"/>
                </a:solidFill>
                <a:latin typeface="Asap"/>
                <a:ea typeface="Asap"/>
                <a:cs typeface="Asap"/>
                <a:sym typeface="Asap"/>
              </a:rPr>
              <a:t>Sơ đồ: Code → AI (Copilot/ChatGPT) → Docstring → Validate → Final Code</a:t>
            </a:r>
          </a:p>
          <a:p>
            <a:pPr algn="l" marL="0" indent="0" lvl="0">
              <a:lnSpc>
                <a:spcPts val="4485"/>
              </a:lnSpc>
            </a:pPr>
          </a:p>
        </p:txBody>
      </p:sp>
    </p:spTree>
  </p:cSld>
  <p:clrMapOvr>
    <a:masterClrMapping/>
  </p:clrMapOvr>
  <p:transition spd="slow">
    <p:push dir="r"/>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C8E3ED"/>
        </a:solidFill>
      </p:bgPr>
    </p:bg>
    <p:spTree>
      <p:nvGrpSpPr>
        <p:cNvPr id="1" name=""/>
        <p:cNvGrpSpPr/>
        <p:nvPr/>
      </p:nvGrpSpPr>
      <p:grpSpPr>
        <a:xfrm>
          <a:off x="0" y="0"/>
          <a:ext cx="0" cy="0"/>
          <a:chOff x="0" y="0"/>
          <a:chExt cx="0" cy="0"/>
        </a:xfrm>
      </p:grpSpPr>
      <p:sp>
        <p:nvSpPr>
          <p:cNvPr name="Freeform 2" id="2"/>
          <p:cNvSpPr/>
          <p:nvPr/>
        </p:nvSpPr>
        <p:spPr>
          <a:xfrm flipH="false" flipV="false" rot="-5113635">
            <a:off x="-531325" y="8224703"/>
            <a:ext cx="2025851" cy="2067195"/>
          </a:xfrm>
          <a:custGeom>
            <a:avLst/>
            <a:gdLst/>
            <a:ahLst/>
            <a:cxnLst/>
            <a:rect r="r" b="b" t="t" l="l"/>
            <a:pathLst>
              <a:path h="2067195" w="2025851">
                <a:moveTo>
                  <a:pt x="0" y="0"/>
                </a:moveTo>
                <a:lnTo>
                  <a:pt x="2025851" y="0"/>
                </a:lnTo>
                <a:lnTo>
                  <a:pt x="2025851" y="2067194"/>
                </a:lnTo>
                <a:lnTo>
                  <a:pt x="0" y="20671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997542" y="59081"/>
            <a:ext cx="14292915" cy="11071947"/>
            <a:chOff x="0" y="0"/>
            <a:chExt cx="19057220" cy="14762596"/>
          </a:xfrm>
        </p:grpSpPr>
        <p:grpSp>
          <p:nvGrpSpPr>
            <p:cNvPr name="Group 4" id="4"/>
            <p:cNvGrpSpPr/>
            <p:nvPr/>
          </p:nvGrpSpPr>
          <p:grpSpPr>
            <a:xfrm rot="0">
              <a:off x="0" y="663157"/>
              <a:ext cx="9623291" cy="14099439"/>
              <a:chOff x="0" y="0"/>
              <a:chExt cx="8133762" cy="11917075"/>
            </a:xfrm>
          </p:grpSpPr>
          <p:sp>
            <p:nvSpPr>
              <p:cNvPr name="Freeform 5" id="5"/>
              <p:cNvSpPr/>
              <p:nvPr/>
            </p:nvSpPr>
            <p:spPr>
              <a:xfrm flipH="false" flipV="false" rot="0">
                <a:off x="-1" y="0"/>
                <a:ext cx="8133762" cy="11917075"/>
              </a:xfrm>
              <a:custGeom>
                <a:avLst/>
                <a:gdLst/>
                <a:ahLst/>
                <a:cxnLst/>
                <a:rect r="r" b="b" t="t" l="l"/>
                <a:pathLst>
                  <a:path h="11917075" w="8133762">
                    <a:moveTo>
                      <a:pt x="7634981" y="11900157"/>
                    </a:moveTo>
                    <a:cubicBezTo>
                      <a:pt x="7634981" y="11900157"/>
                      <a:pt x="7397986" y="11890187"/>
                      <a:pt x="7035847" y="11903631"/>
                    </a:cubicBezTo>
                    <a:cubicBezTo>
                      <a:pt x="6673708" y="11917075"/>
                      <a:pt x="490924" y="11917075"/>
                      <a:pt x="490924" y="11917075"/>
                    </a:cubicBezTo>
                    <a:cubicBezTo>
                      <a:pt x="245502" y="11917075"/>
                      <a:pt x="32509" y="11819807"/>
                      <a:pt x="31032" y="11659693"/>
                    </a:cubicBezTo>
                    <a:cubicBezTo>
                      <a:pt x="31032" y="11659693"/>
                      <a:pt x="0" y="8462262"/>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7588433" y="0"/>
                      <a:pt x="7588433" y="0"/>
                    </a:cubicBezTo>
                    <a:cubicBezTo>
                      <a:pt x="7900334" y="0"/>
                      <a:pt x="8133763" y="101069"/>
                      <a:pt x="8125905" y="303616"/>
                    </a:cubicBezTo>
                    <a:cubicBezTo>
                      <a:pt x="8125905" y="303616"/>
                      <a:pt x="8123910" y="7763290"/>
                      <a:pt x="8132665" y="10960106"/>
                    </a:cubicBezTo>
                    <a:cubicBezTo>
                      <a:pt x="8141420" y="11253408"/>
                      <a:pt x="8094873" y="11586479"/>
                      <a:pt x="8094873" y="11586479"/>
                    </a:cubicBezTo>
                    <a:cubicBezTo>
                      <a:pt x="8091907" y="11766504"/>
                      <a:pt x="7880404" y="11900157"/>
                      <a:pt x="7634981" y="11900157"/>
                    </a:cubicBezTo>
                    <a:close/>
                  </a:path>
                </a:pathLst>
              </a:custGeom>
              <a:solidFill>
                <a:srgbClr val="8FB7C6"/>
              </a:solidFill>
            </p:spPr>
          </p:sp>
        </p:grpSp>
        <p:grpSp>
          <p:nvGrpSpPr>
            <p:cNvPr name="Group 6" id="6"/>
            <p:cNvGrpSpPr/>
            <p:nvPr/>
          </p:nvGrpSpPr>
          <p:grpSpPr>
            <a:xfrm rot="0">
              <a:off x="9433929" y="663157"/>
              <a:ext cx="9623291" cy="14099439"/>
              <a:chOff x="0" y="0"/>
              <a:chExt cx="8133762" cy="11917075"/>
            </a:xfrm>
          </p:grpSpPr>
          <p:sp>
            <p:nvSpPr>
              <p:cNvPr name="Freeform 7" id="7"/>
              <p:cNvSpPr/>
              <p:nvPr/>
            </p:nvSpPr>
            <p:spPr>
              <a:xfrm flipH="false" flipV="false" rot="0">
                <a:off x="-1" y="0"/>
                <a:ext cx="8133762" cy="11917075"/>
              </a:xfrm>
              <a:custGeom>
                <a:avLst/>
                <a:gdLst/>
                <a:ahLst/>
                <a:cxnLst/>
                <a:rect r="r" b="b" t="t" l="l"/>
                <a:pathLst>
                  <a:path h="11917075" w="8133762">
                    <a:moveTo>
                      <a:pt x="7634981" y="11900157"/>
                    </a:moveTo>
                    <a:cubicBezTo>
                      <a:pt x="7634981" y="11900157"/>
                      <a:pt x="7397986" y="11890187"/>
                      <a:pt x="7035847" y="11903631"/>
                    </a:cubicBezTo>
                    <a:cubicBezTo>
                      <a:pt x="6673708" y="11917075"/>
                      <a:pt x="490924" y="11917075"/>
                      <a:pt x="490924" y="11917075"/>
                    </a:cubicBezTo>
                    <a:cubicBezTo>
                      <a:pt x="245502" y="11917075"/>
                      <a:pt x="32509" y="11819807"/>
                      <a:pt x="31032" y="11659693"/>
                    </a:cubicBezTo>
                    <a:cubicBezTo>
                      <a:pt x="31032" y="11659693"/>
                      <a:pt x="0" y="8462262"/>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7588433" y="0"/>
                      <a:pt x="7588433" y="0"/>
                    </a:cubicBezTo>
                    <a:cubicBezTo>
                      <a:pt x="7900334" y="0"/>
                      <a:pt x="8133763" y="101069"/>
                      <a:pt x="8125905" y="303616"/>
                    </a:cubicBezTo>
                    <a:cubicBezTo>
                      <a:pt x="8125905" y="303616"/>
                      <a:pt x="8123910" y="7763290"/>
                      <a:pt x="8132665" y="10960106"/>
                    </a:cubicBezTo>
                    <a:cubicBezTo>
                      <a:pt x="8141420" y="11253408"/>
                      <a:pt x="8094873" y="11586479"/>
                      <a:pt x="8094873" y="11586479"/>
                    </a:cubicBezTo>
                    <a:cubicBezTo>
                      <a:pt x="8091907" y="11766504"/>
                      <a:pt x="7880404" y="11900157"/>
                      <a:pt x="7634981" y="11900157"/>
                    </a:cubicBezTo>
                    <a:close/>
                  </a:path>
                </a:pathLst>
              </a:custGeom>
              <a:solidFill>
                <a:srgbClr val="8FB7C6"/>
              </a:solidFill>
            </p:spPr>
          </p:sp>
        </p:grpSp>
        <p:grpSp>
          <p:nvGrpSpPr>
            <p:cNvPr name="Group 8" id="8"/>
            <p:cNvGrpSpPr/>
            <p:nvPr/>
          </p:nvGrpSpPr>
          <p:grpSpPr>
            <a:xfrm rot="0">
              <a:off x="140706" y="790392"/>
              <a:ext cx="9481186" cy="12808079"/>
              <a:chOff x="0" y="0"/>
              <a:chExt cx="8133762" cy="10987851"/>
            </a:xfrm>
          </p:grpSpPr>
          <p:sp>
            <p:nvSpPr>
              <p:cNvPr name="Freeform 9" id="9"/>
              <p:cNvSpPr/>
              <p:nvPr/>
            </p:nvSpPr>
            <p:spPr>
              <a:xfrm flipH="false" flipV="false" rot="0">
                <a:off x="-1" y="0"/>
                <a:ext cx="8133762" cy="10987851"/>
              </a:xfrm>
              <a:custGeom>
                <a:avLst/>
                <a:gdLst/>
                <a:ahLst/>
                <a:cxnLst/>
                <a:rect r="r" b="b" t="t" l="l"/>
                <a:pathLst>
                  <a:path h="10987851" w="8133762">
                    <a:moveTo>
                      <a:pt x="7634981" y="10970932"/>
                    </a:moveTo>
                    <a:cubicBezTo>
                      <a:pt x="7634981" y="10970932"/>
                      <a:pt x="7397986" y="10960963"/>
                      <a:pt x="7035847" y="10974407"/>
                    </a:cubicBezTo>
                    <a:cubicBezTo>
                      <a:pt x="6673708" y="10987851"/>
                      <a:pt x="490924" y="10987851"/>
                      <a:pt x="490924" y="10987851"/>
                    </a:cubicBezTo>
                    <a:cubicBezTo>
                      <a:pt x="245502" y="10987851"/>
                      <a:pt x="32509" y="10890583"/>
                      <a:pt x="31032" y="10730469"/>
                    </a:cubicBezTo>
                    <a:cubicBezTo>
                      <a:pt x="31032" y="10730469"/>
                      <a:pt x="0" y="7742488"/>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7588433" y="0"/>
                      <a:pt x="7588433" y="0"/>
                    </a:cubicBezTo>
                    <a:cubicBezTo>
                      <a:pt x="7900334" y="0"/>
                      <a:pt x="8133763" y="101069"/>
                      <a:pt x="8125905" y="303616"/>
                    </a:cubicBezTo>
                    <a:cubicBezTo>
                      <a:pt x="8125905" y="303616"/>
                      <a:pt x="8123910" y="7107570"/>
                      <a:pt x="8132665" y="10030882"/>
                    </a:cubicBezTo>
                    <a:cubicBezTo>
                      <a:pt x="8141420" y="10324183"/>
                      <a:pt x="8094873" y="10657255"/>
                      <a:pt x="8094873" y="10657255"/>
                    </a:cubicBezTo>
                    <a:cubicBezTo>
                      <a:pt x="8091907" y="10837280"/>
                      <a:pt x="7880404" y="10970932"/>
                      <a:pt x="7634981" y="10970932"/>
                    </a:cubicBezTo>
                    <a:close/>
                  </a:path>
                </a:pathLst>
              </a:custGeom>
              <a:solidFill>
                <a:srgbClr val="8FB7C6"/>
              </a:solidFill>
            </p:spPr>
          </p:sp>
        </p:grpSp>
        <p:grpSp>
          <p:nvGrpSpPr>
            <p:cNvPr name="Group 10" id="10"/>
            <p:cNvGrpSpPr/>
            <p:nvPr/>
          </p:nvGrpSpPr>
          <p:grpSpPr>
            <a:xfrm rot="0">
              <a:off x="9435328" y="790392"/>
              <a:ext cx="9481186" cy="12808079"/>
              <a:chOff x="0" y="0"/>
              <a:chExt cx="8133762" cy="10987851"/>
            </a:xfrm>
          </p:grpSpPr>
          <p:sp>
            <p:nvSpPr>
              <p:cNvPr name="Freeform 11" id="11"/>
              <p:cNvSpPr/>
              <p:nvPr/>
            </p:nvSpPr>
            <p:spPr>
              <a:xfrm flipH="false" flipV="false" rot="0">
                <a:off x="-1" y="0"/>
                <a:ext cx="8133762" cy="10987851"/>
              </a:xfrm>
              <a:custGeom>
                <a:avLst/>
                <a:gdLst/>
                <a:ahLst/>
                <a:cxnLst/>
                <a:rect r="r" b="b" t="t" l="l"/>
                <a:pathLst>
                  <a:path h="10987851" w="8133762">
                    <a:moveTo>
                      <a:pt x="7634981" y="10970932"/>
                    </a:moveTo>
                    <a:cubicBezTo>
                      <a:pt x="7634981" y="10970932"/>
                      <a:pt x="7397986" y="10960963"/>
                      <a:pt x="7035847" y="10974407"/>
                    </a:cubicBezTo>
                    <a:cubicBezTo>
                      <a:pt x="6673708" y="10987851"/>
                      <a:pt x="490924" y="10987851"/>
                      <a:pt x="490924" y="10987851"/>
                    </a:cubicBezTo>
                    <a:cubicBezTo>
                      <a:pt x="245502" y="10987851"/>
                      <a:pt x="32509" y="10890583"/>
                      <a:pt x="31032" y="10730469"/>
                    </a:cubicBezTo>
                    <a:cubicBezTo>
                      <a:pt x="31032" y="10730469"/>
                      <a:pt x="0" y="7742488"/>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7588433" y="0"/>
                      <a:pt x="7588433" y="0"/>
                    </a:cubicBezTo>
                    <a:cubicBezTo>
                      <a:pt x="7900334" y="0"/>
                      <a:pt x="8133763" y="101069"/>
                      <a:pt x="8125905" y="303616"/>
                    </a:cubicBezTo>
                    <a:cubicBezTo>
                      <a:pt x="8125905" y="303616"/>
                      <a:pt x="8123910" y="7107570"/>
                      <a:pt x="8132665" y="10030882"/>
                    </a:cubicBezTo>
                    <a:cubicBezTo>
                      <a:pt x="8141420" y="10324183"/>
                      <a:pt x="8094873" y="10657255"/>
                      <a:pt x="8094873" y="10657255"/>
                    </a:cubicBezTo>
                    <a:cubicBezTo>
                      <a:pt x="8091907" y="10837280"/>
                      <a:pt x="7880404" y="10970932"/>
                      <a:pt x="7634981" y="10970932"/>
                    </a:cubicBezTo>
                    <a:close/>
                  </a:path>
                </a:pathLst>
              </a:custGeom>
              <a:solidFill>
                <a:srgbClr val="8FB7C6"/>
              </a:solidFill>
            </p:spPr>
          </p:sp>
        </p:grpSp>
        <p:grpSp>
          <p:nvGrpSpPr>
            <p:cNvPr name="Group 12" id="12"/>
            <p:cNvGrpSpPr/>
            <p:nvPr/>
          </p:nvGrpSpPr>
          <p:grpSpPr>
            <a:xfrm rot="0">
              <a:off x="385258" y="0"/>
              <a:ext cx="9218598" cy="14762596"/>
              <a:chOff x="0" y="0"/>
              <a:chExt cx="8133762" cy="13025347"/>
            </a:xfrm>
          </p:grpSpPr>
          <p:sp>
            <p:nvSpPr>
              <p:cNvPr name="Freeform 13" id="13"/>
              <p:cNvSpPr/>
              <p:nvPr/>
            </p:nvSpPr>
            <p:spPr>
              <a:xfrm flipH="false" flipV="false" rot="0">
                <a:off x="-1" y="0"/>
                <a:ext cx="8133762" cy="13025348"/>
              </a:xfrm>
              <a:custGeom>
                <a:avLst/>
                <a:gdLst/>
                <a:ahLst/>
                <a:cxnLst/>
                <a:rect r="r" b="b" t="t" l="l"/>
                <a:pathLst>
                  <a:path h="13025348" w="8133762">
                    <a:moveTo>
                      <a:pt x="7634981" y="13008428"/>
                    </a:moveTo>
                    <a:cubicBezTo>
                      <a:pt x="7634981" y="13008428"/>
                      <a:pt x="7397986" y="12998459"/>
                      <a:pt x="7035847" y="13011903"/>
                    </a:cubicBezTo>
                    <a:cubicBezTo>
                      <a:pt x="6673708" y="13025348"/>
                      <a:pt x="490924" y="13025348"/>
                      <a:pt x="490924" y="13025348"/>
                    </a:cubicBezTo>
                    <a:cubicBezTo>
                      <a:pt x="245502" y="13025348"/>
                      <a:pt x="32509" y="12928079"/>
                      <a:pt x="31032" y="12767966"/>
                    </a:cubicBezTo>
                    <a:cubicBezTo>
                      <a:pt x="31032" y="12767966"/>
                      <a:pt x="0" y="9320726"/>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7588433" y="0"/>
                      <a:pt x="7588433" y="0"/>
                    </a:cubicBezTo>
                    <a:cubicBezTo>
                      <a:pt x="7900334" y="0"/>
                      <a:pt x="8133763" y="101069"/>
                      <a:pt x="8125905" y="303616"/>
                    </a:cubicBezTo>
                    <a:cubicBezTo>
                      <a:pt x="8125905" y="303616"/>
                      <a:pt x="8123910" y="8545359"/>
                      <a:pt x="8132665" y="12068378"/>
                    </a:cubicBezTo>
                    <a:cubicBezTo>
                      <a:pt x="8141420" y="12361680"/>
                      <a:pt x="8094873" y="12694751"/>
                      <a:pt x="8094873" y="12694751"/>
                    </a:cubicBezTo>
                    <a:cubicBezTo>
                      <a:pt x="8091907" y="12874776"/>
                      <a:pt x="7880404" y="13008428"/>
                      <a:pt x="7634981" y="13008428"/>
                    </a:cubicBezTo>
                    <a:close/>
                  </a:path>
                </a:pathLst>
              </a:custGeom>
              <a:solidFill>
                <a:srgbClr val="F3FCFF"/>
              </a:solidFill>
            </p:spPr>
          </p:sp>
        </p:grpSp>
        <p:grpSp>
          <p:nvGrpSpPr>
            <p:cNvPr name="Group 14" id="14"/>
            <p:cNvGrpSpPr/>
            <p:nvPr/>
          </p:nvGrpSpPr>
          <p:grpSpPr>
            <a:xfrm rot="0">
              <a:off x="9426238" y="0"/>
              <a:ext cx="9218598" cy="14762596"/>
              <a:chOff x="0" y="0"/>
              <a:chExt cx="8133762" cy="13025347"/>
            </a:xfrm>
          </p:grpSpPr>
          <p:sp>
            <p:nvSpPr>
              <p:cNvPr name="Freeform 15" id="15"/>
              <p:cNvSpPr/>
              <p:nvPr/>
            </p:nvSpPr>
            <p:spPr>
              <a:xfrm flipH="false" flipV="false" rot="0">
                <a:off x="-1" y="0"/>
                <a:ext cx="8133762" cy="13025348"/>
              </a:xfrm>
              <a:custGeom>
                <a:avLst/>
                <a:gdLst/>
                <a:ahLst/>
                <a:cxnLst/>
                <a:rect r="r" b="b" t="t" l="l"/>
                <a:pathLst>
                  <a:path h="13025348" w="8133762">
                    <a:moveTo>
                      <a:pt x="7634981" y="13008428"/>
                    </a:moveTo>
                    <a:cubicBezTo>
                      <a:pt x="7634981" y="13008428"/>
                      <a:pt x="7397986" y="12998459"/>
                      <a:pt x="7035847" y="13011903"/>
                    </a:cubicBezTo>
                    <a:cubicBezTo>
                      <a:pt x="6673708" y="13025348"/>
                      <a:pt x="490924" y="13025348"/>
                      <a:pt x="490924" y="13025348"/>
                    </a:cubicBezTo>
                    <a:cubicBezTo>
                      <a:pt x="245502" y="13025348"/>
                      <a:pt x="32509" y="12928079"/>
                      <a:pt x="31032" y="12767966"/>
                    </a:cubicBezTo>
                    <a:cubicBezTo>
                      <a:pt x="31032" y="12767966"/>
                      <a:pt x="0" y="9320726"/>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7588433" y="0"/>
                      <a:pt x="7588433" y="0"/>
                    </a:cubicBezTo>
                    <a:cubicBezTo>
                      <a:pt x="7900334" y="0"/>
                      <a:pt x="8133763" y="101069"/>
                      <a:pt x="8125905" y="303616"/>
                    </a:cubicBezTo>
                    <a:cubicBezTo>
                      <a:pt x="8125905" y="303616"/>
                      <a:pt x="8123910" y="8545359"/>
                      <a:pt x="8132665" y="12068378"/>
                    </a:cubicBezTo>
                    <a:cubicBezTo>
                      <a:pt x="8141420" y="12361680"/>
                      <a:pt x="8094873" y="12694751"/>
                      <a:pt x="8094873" y="12694751"/>
                    </a:cubicBezTo>
                    <a:cubicBezTo>
                      <a:pt x="8091907" y="12874776"/>
                      <a:pt x="7880404" y="13008428"/>
                      <a:pt x="7634981" y="13008428"/>
                    </a:cubicBezTo>
                    <a:close/>
                  </a:path>
                </a:pathLst>
              </a:custGeom>
              <a:solidFill>
                <a:srgbClr val="F3FCFF"/>
              </a:solidFill>
            </p:spPr>
          </p:sp>
        </p:grpSp>
        <p:sp>
          <p:nvSpPr>
            <p:cNvPr name="AutoShape 16" id="16"/>
            <p:cNvSpPr/>
            <p:nvPr/>
          </p:nvSpPr>
          <p:spPr>
            <a:xfrm>
              <a:off x="1738975" y="1326770"/>
              <a:ext cx="15552144" cy="45805"/>
            </a:xfrm>
            <a:prstGeom prst="line">
              <a:avLst/>
            </a:prstGeom>
            <a:ln cap="rnd" w="55108">
              <a:solidFill>
                <a:srgbClr val="8FB7C6"/>
              </a:solidFill>
              <a:prstDash val="solid"/>
              <a:headEnd type="none" len="sm" w="sm"/>
              <a:tailEnd type="none" len="sm" w="sm"/>
            </a:ln>
          </p:spPr>
        </p:sp>
      </p:grpSp>
      <p:sp>
        <p:nvSpPr>
          <p:cNvPr name="TextBox 17" id="17"/>
          <p:cNvSpPr txBox="true"/>
          <p:nvPr/>
        </p:nvSpPr>
        <p:spPr>
          <a:xfrm rot="0">
            <a:off x="3606570" y="85725"/>
            <a:ext cx="11074860" cy="942975"/>
          </a:xfrm>
          <a:prstGeom prst="rect">
            <a:avLst/>
          </a:prstGeom>
        </p:spPr>
        <p:txBody>
          <a:bodyPr anchor="t" rtlCol="false" tIns="0" lIns="0" bIns="0" rIns="0">
            <a:spAutoFit/>
          </a:bodyPr>
          <a:lstStyle/>
          <a:p>
            <a:pPr algn="ctr" marL="0" indent="0" lvl="1">
              <a:lnSpc>
                <a:spcPts val="7440"/>
              </a:lnSpc>
              <a:spcBef>
                <a:spcPct val="0"/>
              </a:spcBef>
            </a:pPr>
            <a:r>
              <a:rPr lang="en-US" b="true" sz="6200">
                <a:solidFill>
                  <a:srgbClr val="1D2B74"/>
                </a:solidFill>
                <a:latin typeface="Faustina Bold"/>
                <a:ea typeface="Faustina Bold"/>
                <a:cs typeface="Faustina Bold"/>
                <a:sym typeface="Faustina Bold"/>
              </a:rPr>
              <a:t>Thực hành </a:t>
            </a:r>
          </a:p>
        </p:txBody>
      </p:sp>
      <p:grpSp>
        <p:nvGrpSpPr>
          <p:cNvPr name="Group 18" id="18"/>
          <p:cNvGrpSpPr/>
          <p:nvPr/>
        </p:nvGrpSpPr>
        <p:grpSpPr>
          <a:xfrm rot="0">
            <a:off x="2955716" y="5823420"/>
            <a:ext cx="12376569" cy="2839041"/>
            <a:chOff x="0" y="0"/>
            <a:chExt cx="16502092" cy="3785387"/>
          </a:xfrm>
        </p:grpSpPr>
        <p:sp>
          <p:nvSpPr>
            <p:cNvPr name="TextBox 19" id="19"/>
            <p:cNvSpPr txBox="true"/>
            <p:nvPr/>
          </p:nvSpPr>
          <p:spPr>
            <a:xfrm rot="0">
              <a:off x="0" y="-9525"/>
              <a:ext cx="16502092" cy="1101725"/>
            </a:xfrm>
            <a:prstGeom prst="rect">
              <a:avLst/>
            </a:prstGeom>
          </p:spPr>
          <p:txBody>
            <a:bodyPr anchor="t" rtlCol="false" tIns="0" lIns="0" bIns="0" rIns="0">
              <a:spAutoFit/>
            </a:bodyPr>
            <a:lstStyle/>
            <a:p>
              <a:pPr algn="l">
                <a:lnSpc>
                  <a:spcPts val="6509"/>
                </a:lnSpc>
              </a:pPr>
            </a:p>
          </p:txBody>
        </p:sp>
        <p:sp>
          <p:nvSpPr>
            <p:cNvPr name="TextBox 20" id="20"/>
            <p:cNvSpPr txBox="true"/>
            <p:nvPr/>
          </p:nvSpPr>
          <p:spPr>
            <a:xfrm rot="0">
              <a:off x="0" y="3023387"/>
              <a:ext cx="11493333" cy="762000"/>
            </a:xfrm>
            <a:prstGeom prst="rect">
              <a:avLst/>
            </a:prstGeom>
          </p:spPr>
          <p:txBody>
            <a:bodyPr anchor="t" rtlCol="false" tIns="0" lIns="0" bIns="0" rIns="0">
              <a:spAutoFit/>
            </a:bodyPr>
            <a:lstStyle/>
            <a:p>
              <a:pPr algn="ctr">
                <a:lnSpc>
                  <a:spcPts val="4559"/>
                </a:lnSpc>
              </a:pPr>
            </a:p>
          </p:txBody>
        </p:sp>
      </p:grpSp>
      <p:sp>
        <p:nvSpPr>
          <p:cNvPr name="Freeform 21" id="21"/>
          <p:cNvSpPr/>
          <p:nvPr/>
        </p:nvSpPr>
        <p:spPr>
          <a:xfrm flipH="false" flipV="false" rot="1186719">
            <a:off x="17607307" y="3461775"/>
            <a:ext cx="1863737" cy="2381773"/>
          </a:xfrm>
          <a:custGeom>
            <a:avLst/>
            <a:gdLst/>
            <a:ahLst/>
            <a:cxnLst/>
            <a:rect r="r" b="b" t="t" l="l"/>
            <a:pathLst>
              <a:path h="2381773" w="1863737">
                <a:moveTo>
                  <a:pt x="0" y="0"/>
                </a:moveTo>
                <a:lnTo>
                  <a:pt x="1863737" y="0"/>
                </a:lnTo>
                <a:lnTo>
                  <a:pt x="1863737" y="2381772"/>
                </a:lnTo>
                <a:lnTo>
                  <a:pt x="0" y="23817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2" id="22"/>
          <p:cNvSpPr/>
          <p:nvPr/>
        </p:nvSpPr>
        <p:spPr>
          <a:xfrm flipH="false" flipV="false" rot="-458302">
            <a:off x="16900877" y="6386450"/>
            <a:ext cx="1913611" cy="1913611"/>
          </a:xfrm>
          <a:custGeom>
            <a:avLst/>
            <a:gdLst/>
            <a:ahLst/>
            <a:cxnLst/>
            <a:rect r="r" b="b" t="t" l="l"/>
            <a:pathLst>
              <a:path h="1913611" w="1913611">
                <a:moveTo>
                  <a:pt x="0" y="0"/>
                </a:moveTo>
                <a:lnTo>
                  <a:pt x="1913611" y="0"/>
                </a:lnTo>
                <a:lnTo>
                  <a:pt x="1913611" y="1913611"/>
                </a:lnTo>
                <a:lnTo>
                  <a:pt x="0" y="191361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3" id="23"/>
          <p:cNvSpPr/>
          <p:nvPr/>
        </p:nvSpPr>
        <p:spPr>
          <a:xfrm flipH="false" flipV="false" rot="-1055302">
            <a:off x="-552465" y="274878"/>
            <a:ext cx="2767204" cy="2199927"/>
          </a:xfrm>
          <a:custGeom>
            <a:avLst/>
            <a:gdLst/>
            <a:ahLst/>
            <a:cxnLst/>
            <a:rect r="r" b="b" t="t" l="l"/>
            <a:pathLst>
              <a:path h="2199927" w="2767204">
                <a:moveTo>
                  <a:pt x="0" y="0"/>
                </a:moveTo>
                <a:lnTo>
                  <a:pt x="2767204" y="0"/>
                </a:lnTo>
                <a:lnTo>
                  <a:pt x="2767204" y="2199927"/>
                </a:lnTo>
                <a:lnTo>
                  <a:pt x="0" y="21999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4" id="24"/>
          <p:cNvSpPr/>
          <p:nvPr/>
        </p:nvSpPr>
        <p:spPr>
          <a:xfrm flipH="false" flipV="false" rot="-1656121">
            <a:off x="16327664" y="237013"/>
            <a:ext cx="2885843" cy="2903993"/>
          </a:xfrm>
          <a:custGeom>
            <a:avLst/>
            <a:gdLst/>
            <a:ahLst/>
            <a:cxnLst/>
            <a:rect r="r" b="b" t="t" l="l"/>
            <a:pathLst>
              <a:path h="2903993" w="2885843">
                <a:moveTo>
                  <a:pt x="0" y="0"/>
                </a:moveTo>
                <a:lnTo>
                  <a:pt x="2885843" y="0"/>
                </a:lnTo>
                <a:lnTo>
                  <a:pt x="2885843" y="2903994"/>
                </a:lnTo>
                <a:lnTo>
                  <a:pt x="0" y="290399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5" id="25"/>
          <p:cNvSpPr/>
          <p:nvPr/>
        </p:nvSpPr>
        <p:spPr>
          <a:xfrm flipH="false" flipV="false" rot="-2237841">
            <a:off x="17105360" y="8414200"/>
            <a:ext cx="1768567" cy="1835089"/>
          </a:xfrm>
          <a:custGeom>
            <a:avLst/>
            <a:gdLst/>
            <a:ahLst/>
            <a:cxnLst/>
            <a:rect r="r" b="b" t="t" l="l"/>
            <a:pathLst>
              <a:path h="1835089" w="1768567">
                <a:moveTo>
                  <a:pt x="0" y="0"/>
                </a:moveTo>
                <a:lnTo>
                  <a:pt x="1768567" y="0"/>
                </a:lnTo>
                <a:lnTo>
                  <a:pt x="1768567" y="1835089"/>
                </a:lnTo>
                <a:lnTo>
                  <a:pt x="0" y="183508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6" id="26"/>
          <p:cNvSpPr/>
          <p:nvPr/>
        </p:nvSpPr>
        <p:spPr>
          <a:xfrm flipH="false" flipV="false" rot="-1479392">
            <a:off x="-577273" y="5940385"/>
            <a:ext cx="1488231" cy="1901893"/>
          </a:xfrm>
          <a:custGeom>
            <a:avLst/>
            <a:gdLst/>
            <a:ahLst/>
            <a:cxnLst/>
            <a:rect r="r" b="b" t="t" l="l"/>
            <a:pathLst>
              <a:path h="1901893" w="1488231">
                <a:moveTo>
                  <a:pt x="0" y="0"/>
                </a:moveTo>
                <a:lnTo>
                  <a:pt x="1488232" y="0"/>
                </a:lnTo>
                <a:lnTo>
                  <a:pt x="1488232" y="1901893"/>
                </a:lnTo>
                <a:lnTo>
                  <a:pt x="0" y="190189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7" id="27"/>
          <p:cNvSpPr/>
          <p:nvPr/>
        </p:nvSpPr>
        <p:spPr>
          <a:xfrm flipH="false" flipV="false" rot="-458292">
            <a:off x="-903414" y="3078267"/>
            <a:ext cx="2287819" cy="2367730"/>
          </a:xfrm>
          <a:custGeom>
            <a:avLst/>
            <a:gdLst/>
            <a:ahLst/>
            <a:cxnLst/>
            <a:rect r="r" b="b" t="t" l="l"/>
            <a:pathLst>
              <a:path h="2367730" w="2287819">
                <a:moveTo>
                  <a:pt x="0" y="0"/>
                </a:moveTo>
                <a:lnTo>
                  <a:pt x="2287819" y="0"/>
                </a:lnTo>
                <a:lnTo>
                  <a:pt x="2287819" y="2367731"/>
                </a:lnTo>
                <a:lnTo>
                  <a:pt x="0" y="236773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28" id="28"/>
          <p:cNvSpPr txBox="true"/>
          <p:nvPr/>
        </p:nvSpPr>
        <p:spPr>
          <a:xfrm rot="0">
            <a:off x="3939340" y="1405751"/>
            <a:ext cx="10409319" cy="8392151"/>
          </a:xfrm>
          <a:prstGeom prst="rect">
            <a:avLst/>
          </a:prstGeom>
        </p:spPr>
        <p:txBody>
          <a:bodyPr anchor="t" rtlCol="false" tIns="0" lIns="0" bIns="0" rIns="0">
            <a:spAutoFit/>
          </a:bodyPr>
          <a:lstStyle/>
          <a:p>
            <a:pPr algn="l" marL="658337" indent="-329168" lvl="1">
              <a:lnSpc>
                <a:spcPts val="3354"/>
              </a:lnSpc>
              <a:buFont typeface="Arial"/>
              <a:buChar char="•"/>
            </a:pPr>
            <a:r>
              <a:rPr lang="en-US" sz="3049">
                <a:solidFill>
                  <a:srgbClr val="000000"/>
                </a:solidFill>
                <a:latin typeface="Open Sans"/>
                <a:ea typeface="Open Sans"/>
                <a:cs typeface="Open Sans"/>
                <a:sym typeface="Open Sans"/>
              </a:rPr>
              <a:t>Lab 1: Docstring cơ bản</a:t>
            </a:r>
          </a:p>
          <a:p>
            <a:pPr algn="just">
              <a:lnSpc>
                <a:spcPts val="3354"/>
              </a:lnSpc>
              <a:spcBef>
                <a:spcPct val="0"/>
              </a:spcBef>
            </a:pPr>
            <a:r>
              <a:rPr lang="en-US" sz="3049">
                <a:solidFill>
                  <a:srgbClr val="000000"/>
                </a:solidFill>
                <a:latin typeface="Open Sans"/>
                <a:ea typeface="Open Sans"/>
                <a:cs typeface="Open Sans"/>
                <a:sym typeface="Open Sans"/>
              </a:rPr>
              <a:t>Mục tiêu: Tạo docstring mô tả chức năng hàm</a:t>
            </a:r>
          </a:p>
          <a:p>
            <a:pPr algn="just">
              <a:lnSpc>
                <a:spcPts val="3354"/>
              </a:lnSpc>
              <a:spcBef>
                <a:spcPct val="0"/>
              </a:spcBef>
            </a:pPr>
            <a:r>
              <a:rPr lang="en-US" sz="3049">
                <a:solidFill>
                  <a:srgbClr val="000000"/>
                </a:solidFill>
                <a:latin typeface="Open Sans"/>
                <a:ea typeface="Open Sans"/>
                <a:cs typeface="Open Sans"/>
                <a:sym typeface="Open Sans"/>
              </a:rPr>
              <a:t>Ý nghĩa: Là bước nền tảng của tài liệu hóa code</a:t>
            </a:r>
          </a:p>
          <a:p>
            <a:pPr algn="just">
              <a:lnSpc>
                <a:spcPts val="3354"/>
              </a:lnSpc>
              <a:spcBef>
                <a:spcPct val="0"/>
              </a:spcBef>
            </a:pPr>
            <a:r>
              <a:rPr lang="en-US" sz="3049">
                <a:solidFill>
                  <a:srgbClr val="000000"/>
                </a:solidFill>
                <a:latin typeface="Open Sans"/>
                <a:ea typeface="Open Sans"/>
                <a:cs typeface="Open Sans"/>
                <a:sym typeface="Open Sans"/>
              </a:rPr>
              <a:t>Kết quả: Code dễ hiểu, hỗ trợ đọc và sử dụng lại</a:t>
            </a:r>
          </a:p>
          <a:p>
            <a:pPr algn="l" marL="658337" indent="-329168" lvl="1">
              <a:lnSpc>
                <a:spcPts val="3354"/>
              </a:lnSpc>
              <a:buFont typeface="Arial"/>
              <a:buChar char="•"/>
            </a:pPr>
            <a:r>
              <a:rPr lang="en-US" sz="3049">
                <a:solidFill>
                  <a:srgbClr val="000000"/>
                </a:solidFill>
                <a:latin typeface="Open Sans"/>
                <a:ea typeface="Open Sans"/>
                <a:cs typeface="Open Sans"/>
                <a:sym typeface="Open Sans"/>
              </a:rPr>
              <a:t>Lab 2: Docstring chuẩn Google</a:t>
            </a:r>
          </a:p>
          <a:p>
            <a:pPr algn="just">
              <a:lnSpc>
                <a:spcPts val="3354"/>
              </a:lnSpc>
              <a:spcBef>
                <a:spcPct val="0"/>
              </a:spcBef>
            </a:pPr>
            <a:r>
              <a:rPr lang="en-US" sz="3049">
                <a:solidFill>
                  <a:srgbClr val="000000"/>
                </a:solidFill>
                <a:latin typeface="Open Sans"/>
                <a:ea typeface="Open Sans"/>
                <a:cs typeface="Open Sans"/>
                <a:sym typeface="Open Sans"/>
              </a:rPr>
              <a:t>Mục tiêu: Viết docstring đầy đủ (Args, Returns)</a:t>
            </a:r>
          </a:p>
          <a:p>
            <a:pPr algn="just">
              <a:lnSpc>
                <a:spcPts val="3354"/>
              </a:lnSpc>
              <a:spcBef>
                <a:spcPct val="0"/>
              </a:spcBef>
            </a:pPr>
            <a:r>
              <a:rPr lang="en-US" sz="3049">
                <a:solidFill>
                  <a:srgbClr val="000000"/>
                </a:solidFill>
                <a:latin typeface="Open Sans"/>
                <a:ea typeface="Open Sans"/>
                <a:cs typeface="Open Sans"/>
                <a:sym typeface="Open Sans"/>
              </a:rPr>
              <a:t>Ý nghĩa: Chuẩn hóa tài liệu theo tiêu chuẩn công nghiệp</a:t>
            </a:r>
          </a:p>
          <a:p>
            <a:pPr algn="just">
              <a:lnSpc>
                <a:spcPts val="3354"/>
              </a:lnSpc>
              <a:spcBef>
                <a:spcPct val="0"/>
              </a:spcBef>
            </a:pPr>
            <a:r>
              <a:rPr lang="en-US" sz="3049">
                <a:solidFill>
                  <a:srgbClr val="000000"/>
                </a:solidFill>
                <a:latin typeface="Open Sans"/>
                <a:ea typeface="Open Sans"/>
                <a:cs typeface="Open Sans"/>
                <a:sym typeface="Open Sans"/>
              </a:rPr>
              <a:t>Kết quả: Tài liệu rõ ràng, phù hợp dự án lớn</a:t>
            </a:r>
          </a:p>
          <a:p>
            <a:pPr algn="l" marL="658337" indent="-329168" lvl="1">
              <a:lnSpc>
                <a:spcPts val="3354"/>
              </a:lnSpc>
              <a:buFont typeface="Arial"/>
              <a:buChar char="•"/>
            </a:pPr>
            <a:r>
              <a:rPr lang="en-US" sz="3049">
                <a:solidFill>
                  <a:srgbClr val="000000"/>
                </a:solidFill>
                <a:latin typeface="Open Sans"/>
                <a:ea typeface="Open Sans"/>
                <a:cs typeface="Open Sans"/>
                <a:sym typeface="Open Sans"/>
              </a:rPr>
              <a:t>Lab 3: GenAI tạo docstring</a:t>
            </a:r>
          </a:p>
          <a:p>
            <a:pPr algn="just">
              <a:lnSpc>
                <a:spcPts val="3354"/>
              </a:lnSpc>
              <a:spcBef>
                <a:spcPct val="0"/>
              </a:spcBef>
            </a:pPr>
            <a:r>
              <a:rPr lang="en-US" sz="3049">
                <a:solidFill>
                  <a:srgbClr val="000000"/>
                </a:solidFill>
                <a:latin typeface="Open Sans"/>
                <a:ea typeface="Open Sans"/>
                <a:cs typeface="Open Sans"/>
                <a:sym typeface="Open Sans"/>
              </a:rPr>
              <a:t>Mục tiêu: Sử dụng AI để tự động sinh docstring</a:t>
            </a:r>
          </a:p>
          <a:p>
            <a:pPr algn="just">
              <a:lnSpc>
                <a:spcPts val="3354"/>
              </a:lnSpc>
              <a:spcBef>
                <a:spcPct val="0"/>
              </a:spcBef>
            </a:pPr>
            <a:r>
              <a:rPr lang="en-US" sz="3049">
                <a:solidFill>
                  <a:srgbClr val="000000"/>
                </a:solidFill>
                <a:latin typeface="Open Sans"/>
                <a:ea typeface="Open Sans"/>
                <a:cs typeface="Open Sans"/>
                <a:sym typeface="Open Sans"/>
              </a:rPr>
              <a:t>Ý nghĩa: Giảm thời gian viết tài liệu</a:t>
            </a:r>
          </a:p>
          <a:p>
            <a:pPr algn="just">
              <a:lnSpc>
                <a:spcPts val="3354"/>
              </a:lnSpc>
              <a:spcBef>
                <a:spcPct val="0"/>
              </a:spcBef>
            </a:pPr>
            <a:r>
              <a:rPr lang="en-US" sz="3049">
                <a:solidFill>
                  <a:srgbClr val="000000"/>
                </a:solidFill>
                <a:latin typeface="Open Sans"/>
                <a:ea typeface="Open Sans"/>
                <a:cs typeface="Open Sans"/>
                <a:sym typeface="Open Sans"/>
              </a:rPr>
              <a:t>Kết quả: Tăng tốc phát triển, cần kiểm tra lại nội dung</a:t>
            </a:r>
          </a:p>
          <a:p>
            <a:pPr algn="l" marL="658337" indent="-329168" lvl="1">
              <a:lnSpc>
                <a:spcPts val="3354"/>
              </a:lnSpc>
              <a:buFont typeface="Arial"/>
              <a:buChar char="•"/>
            </a:pPr>
            <a:r>
              <a:rPr lang="en-US" sz="3049">
                <a:solidFill>
                  <a:srgbClr val="000000"/>
                </a:solidFill>
                <a:latin typeface="Open Sans"/>
                <a:ea typeface="Open Sans"/>
                <a:cs typeface="Open Sans"/>
                <a:sym typeface="Open Sans"/>
              </a:rPr>
              <a:t>Lab 4: Phát hiện lỗi docstring</a:t>
            </a:r>
          </a:p>
          <a:p>
            <a:pPr algn="just">
              <a:lnSpc>
                <a:spcPts val="3354"/>
              </a:lnSpc>
              <a:spcBef>
                <a:spcPct val="0"/>
              </a:spcBef>
            </a:pPr>
            <a:r>
              <a:rPr lang="en-US" sz="3049">
                <a:solidFill>
                  <a:srgbClr val="000000"/>
                </a:solidFill>
                <a:latin typeface="Open Sans"/>
                <a:ea typeface="Open Sans"/>
                <a:cs typeface="Open Sans"/>
                <a:sym typeface="Open Sans"/>
              </a:rPr>
              <a:t>Mục tiêu: Kiểm tra sự không khớp giữa code và docstring</a:t>
            </a:r>
          </a:p>
          <a:p>
            <a:pPr algn="just">
              <a:lnSpc>
                <a:spcPts val="3354"/>
              </a:lnSpc>
              <a:spcBef>
                <a:spcPct val="0"/>
              </a:spcBef>
            </a:pPr>
            <a:r>
              <a:rPr lang="en-US" sz="3049">
                <a:solidFill>
                  <a:srgbClr val="000000"/>
                </a:solidFill>
                <a:latin typeface="Open Sans"/>
                <a:ea typeface="Open Sans"/>
                <a:cs typeface="Open Sans"/>
                <a:sym typeface="Open Sans"/>
              </a:rPr>
              <a:t>Ý nghĩa: Đảm bảo tính chính xác của tài liệu</a:t>
            </a:r>
          </a:p>
          <a:p>
            <a:pPr algn="just">
              <a:lnSpc>
                <a:spcPts val="3354"/>
              </a:lnSpc>
              <a:spcBef>
                <a:spcPct val="0"/>
              </a:spcBef>
            </a:pPr>
            <a:r>
              <a:rPr lang="en-US" sz="3049">
                <a:solidFill>
                  <a:srgbClr val="000000"/>
                </a:solidFill>
                <a:latin typeface="Open Sans"/>
                <a:ea typeface="Open Sans"/>
                <a:cs typeface="Open Sans"/>
                <a:sym typeface="Open Sans"/>
              </a:rPr>
              <a:t>Kết quả: Phát hiện lỗi mô tả, tránh hiểu sai chức năng</a:t>
            </a:r>
          </a:p>
          <a:p>
            <a:pPr algn="l" marL="658337" indent="-329168" lvl="1">
              <a:lnSpc>
                <a:spcPts val="3354"/>
              </a:lnSpc>
              <a:buFont typeface="Arial"/>
              <a:buChar char="•"/>
            </a:pPr>
            <a:r>
              <a:rPr lang="en-US" sz="3049">
                <a:solidFill>
                  <a:srgbClr val="000000"/>
                </a:solidFill>
                <a:latin typeface="Open Sans"/>
                <a:ea typeface="Open Sans"/>
                <a:cs typeface="Open Sans"/>
                <a:sym typeface="Open Sans"/>
              </a:rPr>
              <a:t>Lab 5: Refactor code + docstring</a:t>
            </a:r>
          </a:p>
          <a:p>
            <a:pPr algn="just">
              <a:lnSpc>
                <a:spcPts val="3354"/>
              </a:lnSpc>
              <a:spcBef>
                <a:spcPct val="0"/>
              </a:spcBef>
            </a:pPr>
            <a:r>
              <a:rPr lang="en-US" sz="3049">
                <a:solidFill>
                  <a:srgbClr val="000000"/>
                </a:solidFill>
                <a:latin typeface="Open Sans"/>
                <a:ea typeface="Open Sans"/>
                <a:cs typeface="Open Sans"/>
                <a:sym typeface="Open Sans"/>
              </a:rPr>
              <a:t>Mục tiêu: Cải thiện đồng thời code và tài liệu</a:t>
            </a:r>
          </a:p>
          <a:p>
            <a:pPr algn="just">
              <a:lnSpc>
                <a:spcPts val="3354"/>
              </a:lnSpc>
              <a:spcBef>
                <a:spcPct val="0"/>
              </a:spcBef>
            </a:pPr>
            <a:r>
              <a:rPr lang="en-US" sz="3049">
                <a:solidFill>
                  <a:srgbClr val="000000"/>
                </a:solidFill>
                <a:latin typeface="Open Sans"/>
                <a:ea typeface="Open Sans"/>
                <a:cs typeface="Open Sans"/>
                <a:sym typeface="Open Sans"/>
              </a:rPr>
              <a:t>Ý nghĩa: Nâng cao chất lượng hệ thống</a:t>
            </a:r>
          </a:p>
          <a:p>
            <a:pPr algn="just">
              <a:lnSpc>
                <a:spcPts val="3354"/>
              </a:lnSpc>
              <a:spcBef>
                <a:spcPct val="0"/>
              </a:spcBef>
            </a:pPr>
            <a:r>
              <a:rPr lang="en-US" sz="3049">
                <a:solidFill>
                  <a:srgbClr val="000000"/>
                </a:solidFill>
                <a:latin typeface="Open Sans"/>
                <a:ea typeface="Open Sans"/>
                <a:cs typeface="Open Sans"/>
                <a:sym typeface="Open Sans"/>
              </a:rPr>
              <a:t>Kết quả: Code rõ ràng, docstring chính xác, dễ bảo trì</a:t>
            </a:r>
          </a:p>
        </p:txBody>
      </p:sp>
    </p:spTree>
  </p:cSld>
  <p:clrMapOvr>
    <a:masterClrMapping/>
  </p:clrMapOvr>
  <p:transition spd="slow">
    <p:push dir="d"/>
  </p:transition>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C8E3ED"/>
        </a:solidFill>
      </p:bgPr>
    </p:bg>
    <p:spTree>
      <p:nvGrpSpPr>
        <p:cNvPr id="1" name=""/>
        <p:cNvGrpSpPr/>
        <p:nvPr/>
      </p:nvGrpSpPr>
      <p:grpSpPr>
        <a:xfrm>
          <a:off x="0" y="0"/>
          <a:ext cx="0" cy="0"/>
          <a:chOff x="0" y="0"/>
          <a:chExt cx="0" cy="0"/>
        </a:xfrm>
      </p:grpSpPr>
      <p:grpSp>
        <p:nvGrpSpPr>
          <p:cNvPr name="Group 2" id="2"/>
          <p:cNvGrpSpPr/>
          <p:nvPr/>
        </p:nvGrpSpPr>
        <p:grpSpPr>
          <a:xfrm rot="0">
            <a:off x="-1164692" y="1028700"/>
            <a:ext cx="12989382" cy="8229600"/>
            <a:chOff x="0" y="0"/>
            <a:chExt cx="17319176" cy="10972800"/>
          </a:xfrm>
        </p:grpSpPr>
        <p:grpSp>
          <p:nvGrpSpPr>
            <p:cNvPr name="Group 3" id="3"/>
            <p:cNvGrpSpPr/>
            <p:nvPr/>
          </p:nvGrpSpPr>
          <p:grpSpPr>
            <a:xfrm rot="0">
              <a:off x="1318048" y="977717"/>
              <a:ext cx="16001128" cy="9995083"/>
              <a:chOff x="0" y="0"/>
              <a:chExt cx="15556160" cy="9717134"/>
            </a:xfrm>
          </p:grpSpPr>
          <p:sp>
            <p:nvSpPr>
              <p:cNvPr name="Freeform 4" id="4"/>
              <p:cNvSpPr/>
              <p:nvPr/>
            </p:nvSpPr>
            <p:spPr>
              <a:xfrm flipH="false" flipV="false" rot="0">
                <a:off x="-1" y="0"/>
                <a:ext cx="15556160" cy="9717134"/>
              </a:xfrm>
              <a:custGeom>
                <a:avLst/>
                <a:gdLst/>
                <a:ahLst/>
                <a:cxnLst/>
                <a:rect r="r" b="b" t="t" l="l"/>
                <a:pathLst>
                  <a:path h="9717134" w="15556160">
                    <a:moveTo>
                      <a:pt x="15057380" y="9700216"/>
                    </a:moveTo>
                    <a:cubicBezTo>
                      <a:pt x="15057380" y="9700216"/>
                      <a:pt x="14820385" y="9690246"/>
                      <a:pt x="14458246" y="9703690"/>
                    </a:cubicBezTo>
                    <a:cubicBezTo>
                      <a:pt x="14096106" y="9717134"/>
                      <a:pt x="490924" y="9717134"/>
                      <a:pt x="490924" y="9717134"/>
                    </a:cubicBezTo>
                    <a:cubicBezTo>
                      <a:pt x="245502" y="9717134"/>
                      <a:pt x="32509" y="9619866"/>
                      <a:pt x="31032" y="9459752"/>
                    </a:cubicBezTo>
                    <a:cubicBezTo>
                      <a:pt x="31032" y="9459752"/>
                      <a:pt x="0" y="6758194"/>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15010832" y="0"/>
                      <a:pt x="15010832" y="0"/>
                    </a:cubicBezTo>
                    <a:cubicBezTo>
                      <a:pt x="15322732" y="0"/>
                      <a:pt x="15556162" y="101069"/>
                      <a:pt x="15548303" y="303616"/>
                    </a:cubicBezTo>
                    <a:cubicBezTo>
                      <a:pt x="15548303" y="303616"/>
                      <a:pt x="15546308" y="6210870"/>
                      <a:pt x="15555064" y="8760165"/>
                    </a:cubicBezTo>
                    <a:cubicBezTo>
                      <a:pt x="15563818" y="9053467"/>
                      <a:pt x="15517271" y="9386538"/>
                      <a:pt x="15517271" y="9386538"/>
                    </a:cubicBezTo>
                    <a:cubicBezTo>
                      <a:pt x="15514305" y="9566563"/>
                      <a:pt x="15302802" y="9700216"/>
                      <a:pt x="15057380" y="9700216"/>
                    </a:cubicBezTo>
                    <a:close/>
                  </a:path>
                </a:pathLst>
              </a:custGeom>
              <a:solidFill>
                <a:srgbClr val="8FB7C6"/>
              </a:solidFill>
            </p:spPr>
          </p:sp>
        </p:grpSp>
        <p:grpSp>
          <p:nvGrpSpPr>
            <p:cNvPr name="Group 5" id="5"/>
            <p:cNvGrpSpPr/>
            <p:nvPr/>
          </p:nvGrpSpPr>
          <p:grpSpPr>
            <a:xfrm rot="0">
              <a:off x="1318048" y="1067537"/>
              <a:ext cx="15863089" cy="9778026"/>
              <a:chOff x="0" y="0"/>
              <a:chExt cx="15653105" cy="9648591"/>
            </a:xfrm>
          </p:grpSpPr>
          <p:sp>
            <p:nvSpPr>
              <p:cNvPr name="Freeform 6" id="6"/>
              <p:cNvSpPr/>
              <p:nvPr/>
            </p:nvSpPr>
            <p:spPr>
              <a:xfrm flipH="false" flipV="false" rot="0">
                <a:off x="-1" y="0"/>
                <a:ext cx="15653105" cy="9648591"/>
              </a:xfrm>
              <a:custGeom>
                <a:avLst/>
                <a:gdLst/>
                <a:ahLst/>
                <a:cxnLst/>
                <a:rect r="r" b="b" t="t" l="l"/>
                <a:pathLst>
                  <a:path h="9648591" w="15653105">
                    <a:moveTo>
                      <a:pt x="15154326" y="9631673"/>
                    </a:moveTo>
                    <a:cubicBezTo>
                      <a:pt x="15154326" y="9631673"/>
                      <a:pt x="14917329" y="9621703"/>
                      <a:pt x="14555190" y="9635147"/>
                    </a:cubicBezTo>
                    <a:cubicBezTo>
                      <a:pt x="14193053" y="9648591"/>
                      <a:pt x="490924" y="9648591"/>
                      <a:pt x="490924" y="9648591"/>
                    </a:cubicBezTo>
                    <a:cubicBezTo>
                      <a:pt x="245502" y="9648591"/>
                      <a:pt x="32509" y="9551323"/>
                      <a:pt x="31032" y="9391209"/>
                    </a:cubicBezTo>
                    <a:cubicBezTo>
                      <a:pt x="31032" y="9391209"/>
                      <a:pt x="0" y="6705102"/>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15107777" y="0"/>
                      <a:pt x="15107777" y="0"/>
                    </a:cubicBezTo>
                    <a:cubicBezTo>
                      <a:pt x="15419677" y="0"/>
                      <a:pt x="15653106" y="101069"/>
                      <a:pt x="15645248" y="303616"/>
                    </a:cubicBezTo>
                    <a:cubicBezTo>
                      <a:pt x="15645248" y="303616"/>
                      <a:pt x="15643254" y="6162502"/>
                      <a:pt x="15652008" y="8691622"/>
                    </a:cubicBezTo>
                    <a:cubicBezTo>
                      <a:pt x="15660764" y="8984924"/>
                      <a:pt x="15614215" y="9317995"/>
                      <a:pt x="15614215" y="9317995"/>
                    </a:cubicBezTo>
                    <a:cubicBezTo>
                      <a:pt x="15611251" y="9498020"/>
                      <a:pt x="15399748" y="9631673"/>
                      <a:pt x="15154326" y="9631673"/>
                    </a:cubicBezTo>
                    <a:close/>
                  </a:path>
                </a:pathLst>
              </a:custGeom>
              <a:solidFill>
                <a:srgbClr val="8FB7C6"/>
              </a:solidFill>
            </p:spPr>
          </p:sp>
        </p:grpSp>
        <p:grpSp>
          <p:nvGrpSpPr>
            <p:cNvPr name="Group 7" id="7"/>
            <p:cNvGrpSpPr/>
            <p:nvPr/>
          </p:nvGrpSpPr>
          <p:grpSpPr>
            <a:xfrm rot="0">
              <a:off x="1318048" y="0"/>
              <a:ext cx="15408107" cy="10328670"/>
              <a:chOff x="0" y="0"/>
              <a:chExt cx="15970011" cy="10705337"/>
            </a:xfrm>
          </p:grpSpPr>
          <p:sp>
            <p:nvSpPr>
              <p:cNvPr name="Freeform 8" id="8"/>
              <p:cNvSpPr/>
              <p:nvPr/>
            </p:nvSpPr>
            <p:spPr>
              <a:xfrm flipH="false" flipV="false" rot="0">
                <a:off x="-1" y="0"/>
                <a:ext cx="15970011" cy="10705337"/>
              </a:xfrm>
              <a:custGeom>
                <a:avLst/>
                <a:gdLst/>
                <a:ahLst/>
                <a:cxnLst/>
                <a:rect r="r" b="b" t="t" l="l"/>
                <a:pathLst>
                  <a:path h="10705337" w="15970011">
                    <a:moveTo>
                      <a:pt x="15471232" y="10688418"/>
                    </a:moveTo>
                    <a:cubicBezTo>
                      <a:pt x="15471232" y="10688418"/>
                      <a:pt x="15234235" y="10678449"/>
                      <a:pt x="14872096" y="10691893"/>
                    </a:cubicBezTo>
                    <a:cubicBezTo>
                      <a:pt x="14509959" y="10705337"/>
                      <a:pt x="490924" y="10705337"/>
                      <a:pt x="490924" y="10705337"/>
                    </a:cubicBezTo>
                    <a:cubicBezTo>
                      <a:pt x="245502" y="10705337"/>
                      <a:pt x="32509" y="10608069"/>
                      <a:pt x="31032" y="10447955"/>
                    </a:cubicBezTo>
                    <a:cubicBezTo>
                      <a:pt x="31032" y="10447955"/>
                      <a:pt x="0" y="7523653"/>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15424683" y="0"/>
                      <a:pt x="15424683" y="0"/>
                    </a:cubicBezTo>
                    <a:cubicBezTo>
                      <a:pt x="15736583" y="0"/>
                      <a:pt x="15970012" y="101069"/>
                      <a:pt x="15962154" y="303616"/>
                    </a:cubicBezTo>
                    <a:cubicBezTo>
                      <a:pt x="15962154" y="303616"/>
                      <a:pt x="15960160" y="6908210"/>
                      <a:pt x="15968915" y="9748368"/>
                    </a:cubicBezTo>
                    <a:cubicBezTo>
                      <a:pt x="15977671" y="10041669"/>
                      <a:pt x="15931122" y="10374741"/>
                      <a:pt x="15931122" y="10374741"/>
                    </a:cubicBezTo>
                    <a:cubicBezTo>
                      <a:pt x="15928157" y="10554766"/>
                      <a:pt x="15716654" y="10688418"/>
                      <a:pt x="15471232" y="10688418"/>
                    </a:cubicBezTo>
                    <a:close/>
                  </a:path>
                </a:pathLst>
              </a:custGeom>
              <a:solidFill>
                <a:srgbClr val="F3FCFF"/>
              </a:solidFill>
            </p:spPr>
          </p:sp>
        </p:grpSp>
        <p:sp>
          <p:nvSpPr>
            <p:cNvPr name="AutoShape 9" id="9"/>
            <p:cNvSpPr/>
            <p:nvPr/>
          </p:nvSpPr>
          <p:spPr>
            <a:xfrm>
              <a:off x="56" y="9826016"/>
              <a:ext cx="15474734" cy="34286"/>
            </a:xfrm>
            <a:prstGeom prst="line">
              <a:avLst/>
            </a:prstGeom>
            <a:ln cap="rnd" w="50800">
              <a:solidFill>
                <a:srgbClr val="8FB7C6"/>
              </a:solidFill>
              <a:prstDash val="solid"/>
              <a:headEnd type="none" len="sm" w="sm"/>
              <a:tailEnd type="none" len="sm" w="sm"/>
            </a:ln>
          </p:spPr>
        </p:sp>
        <p:sp>
          <p:nvSpPr>
            <p:cNvPr name="AutoShape 10" id="10"/>
            <p:cNvSpPr/>
            <p:nvPr/>
          </p:nvSpPr>
          <p:spPr>
            <a:xfrm>
              <a:off x="56" y="717206"/>
              <a:ext cx="15474734" cy="34286"/>
            </a:xfrm>
            <a:prstGeom prst="line">
              <a:avLst/>
            </a:prstGeom>
            <a:ln cap="rnd" w="50800">
              <a:solidFill>
                <a:srgbClr val="8FB7C6"/>
              </a:solidFill>
              <a:prstDash val="solid"/>
              <a:headEnd type="none" len="sm" w="sm"/>
              <a:tailEnd type="none" len="sm" w="sm"/>
            </a:ln>
          </p:spPr>
        </p:sp>
      </p:grpSp>
      <p:sp>
        <p:nvSpPr>
          <p:cNvPr name="TextBox 11" id="11"/>
          <p:cNvSpPr txBox="true"/>
          <p:nvPr/>
        </p:nvSpPr>
        <p:spPr>
          <a:xfrm rot="0">
            <a:off x="731395" y="3281362"/>
            <a:ext cx="9197207" cy="3286125"/>
          </a:xfrm>
          <a:prstGeom prst="rect">
            <a:avLst/>
          </a:prstGeom>
        </p:spPr>
        <p:txBody>
          <a:bodyPr anchor="t" rtlCol="false" tIns="0" lIns="0" bIns="0" rIns="0">
            <a:spAutoFit/>
          </a:bodyPr>
          <a:lstStyle/>
          <a:p>
            <a:pPr algn="ctr">
              <a:lnSpc>
                <a:spcPts val="8639"/>
              </a:lnSpc>
            </a:pPr>
            <a:r>
              <a:rPr lang="en-US" sz="7199" b="true">
                <a:solidFill>
                  <a:srgbClr val="1D2B74"/>
                </a:solidFill>
                <a:latin typeface="Faustina Bold"/>
                <a:ea typeface="Faustina Bold"/>
                <a:cs typeface="Faustina Bold"/>
                <a:sym typeface="Faustina Bold"/>
              </a:rPr>
              <a:t>Chương 13</a:t>
            </a:r>
          </a:p>
          <a:p>
            <a:pPr algn="ctr">
              <a:lnSpc>
                <a:spcPts val="8639"/>
              </a:lnSpc>
            </a:pPr>
            <a:r>
              <a:rPr lang="en-US" b="true" sz="7199">
                <a:solidFill>
                  <a:srgbClr val="1D2B74"/>
                </a:solidFill>
                <a:latin typeface="Faustina Bold"/>
                <a:ea typeface="Faustina Bold"/>
                <a:cs typeface="Faustina Bold"/>
                <a:sym typeface="Faustina Bold"/>
              </a:rPr>
              <a:t> Viết và Bảo trì Kiểm thử Đơn vị</a:t>
            </a:r>
          </a:p>
        </p:txBody>
      </p:sp>
      <p:sp>
        <p:nvSpPr>
          <p:cNvPr name="Freeform 12" id="12"/>
          <p:cNvSpPr/>
          <p:nvPr/>
        </p:nvSpPr>
        <p:spPr>
          <a:xfrm flipH="false" flipV="false" rot="0">
            <a:off x="11970043" y="1611369"/>
            <a:ext cx="4487225" cy="9678328"/>
          </a:xfrm>
          <a:custGeom>
            <a:avLst/>
            <a:gdLst/>
            <a:ahLst/>
            <a:cxnLst/>
            <a:rect r="r" b="b" t="t" l="l"/>
            <a:pathLst>
              <a:path h="9678328" w="4487225">
                <a:moveTo>
                  <a:pt x="0" y="0"/>
                </a:moveTo>
                <a:lnTo>
                  <a:pt x="4487224" y="0"/>
                </a:lnTo>
                <a:lnTo>
                  <a:pt x="4487224" y="9678328"/>
                </a:lnTo>
                <a:lnTo>
                  <a:pt x="0" y="96783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4490472" y="1611369"/>
            <a:ext cx="3519392" cy="9678328"/>
          </a:xfrm>
          <a:custGeom>
            <a:avLst/>
            <a:gdLst/>
            <a:ahLst/>
            <a:cxnLst/>
            <a:rect r="r" b="b" t="t" l="l"/>
            <a:pathLst>
              <a:path h="9678328" w="3519392">
                <a:moveTo>
                  <a:pt x="0" y="0"/>
                </a:moveTo>
                <a:lnTo>
                  <a:pt x="3519392" y="0"/>
                </a:lnTo>
                <a:lnTo>
                  <a:pt x="3519392" y="9678328"/>
                </a:lnTo>
                <a:lnTo>
                  <a:pt x="0" y="96783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transition spd="slow">
    <p:push dir="r"/>
  </p:transition>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C8E3ED"/>
        </a:solidFill>
      </p:bgPr>
    </p:bg>
    <p:spTree>
      <p:nvGrpSpPr>
        <p:cNvPr id="1" name=""/>
        <p:cNvGrpSpPr/>
        <p:nvPr/>
      </p:nvGrpSpPr>
      <p:grpSpPr>
        <a:xfrm>
          <a:off x="0" y="0"/>
          <a:ext cx="0" cy="0"/>
          <a:chOff x="0" y="0"/>
          <a:chExt cx="0" cy="0"/>
        </a:xfrm>
      </p:grpSpPr>
      <p:sp>
        <p:nvSpPr>
          <p:cNvPr name="Freeform 2" id="2"/>
          <p:cNvSpPr/>
          <p:nvPr/>
        </p:nvSpPr>
        <p:spPr>
          <a:xfrm flipH="false" flipV="false" rot="-5113635">
            <a:off x="-531325" y="8224703"/>
            <a:ext cx="2025851" cy="2067195"/>
          </a:xfrm>
          <a:custGeom>
            <a:avLst/>
            <a:gdLst/>
            <a:ahLst/>
            <a:cxnLst/>
            <a:rect r="r" b="b" t="t" l="l"/>
            <a:pathLst>
              <a:path h="2067195" w="2025851">
                <a:moveTo>
                  <a:pt x="0" y="0"/>
                </a:moveTo>
                <a:lnTo>
                  <a:pt x="2025851" y="0"/>
                </a:lnTo>
                <a:lnTo>
                  <a:pt x="2025851" y="2067194"/>
                </a:lnTo>
                <a:lnTo>
                  <a:pt x="0" y="20671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997542" y="2841476"/>
            <a:ext cx="14292915" cy="8802928"/>
            <a:chOff x="0" y="0"/>
            <a:chExt cx="19057220" cy="11737237"/>
          </a:xfrm>
        </p:grpSpPr>
        <p:grpSp>
          <p:nvGrpSpPr>
            <p:cNvPr name="Group 4" id="4"/>
            <p:cNvGrpSpPr/>
            <p:nvPr/>
          </p:nvGrpSpPr>
          <p:grpSpPr>
            <a:xfrm rot="0">
              <a:off x="0" y="288690"/>
              <a:ext cx="9623291" cy="11448547"/>
              <a:chOff x="0" y="0"/>
              <a:chExt cx="8133762" cy="9676498"/>
            </a:xfrm>
          </p:grpSpPr>
          <p:sp>
            <p:nvSpPr>
              <p:cNvPr name="Freeform 5" id="5"/>
              <p:cNvSpPr/>
              <p:nvPr/>
            </p:nvSpPr>
            <p:spPr>
              <a:xfrm flipH="false" flipV="false" rot="0">
                <a:off x="-1" y="0"/>
                <a:ext cx="8133762" cy="9676498"/>
              </a:xfrm>
              <a:custGeom>
                <a:avLst/>
                <a:gdLst/>
                <a:ahLst/>
                <a:cxnLst/>
                <a:rect r="r" b="b" t="t" l="l"/>
                <a:pathLst>
                  <a:path h="9676498" w="8133762">
                    <a:moveTo>
                      <a:pt x="7634981" y="9659579"/>
                    </a:moveTo>
                    <a:cubicBezTo>
                      <a:pt x="7634981" y="9659579"/>
                      <a:pt x="7397986" y="9649609"/>
                      <a:pt x="7035847" y="9663054"/>
                    </a:cubicBezTo>
                    <a:cubicBezTo>
                      <a:pt x="6673708" y="9676498"/>
                      <a:pt x="490924" y="9676498"/>
                      <a:pt x="490924" y="9676498"/>
                    </a:cubicBezTo>
                    <a:cubicBezTo>
                      <a:pt x="245502" y="9676498"/>
                      <a:pt x="32509" y="9579230"/>
                      <a:pt x="31032" y="9419116"/>
                    </a:cubicBezTo>
                    <a:cubicBezTo>
                      <a:pt x="31032" y="9419116"/>
                      <a:pt x="0" y="6726718"/>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7588433" y="0"/>
                      <a:pt x="7588433" y="0"/>
                    </a:cubicBezTo>
                    <a:cubicBezTo>
                      <a:pt x="7900334" y="0"/>
                      <a:pt x="8133763" y="101069"/>
                      <a:pt x="8125905" y="303616"/>
                    </a:cubicBezTo>
                    <a:cubicBezTo>
                      <a:pt x="8125905" y="303616"/>
                      <a:pt x="8123910" y="6182194"/>
                      <a:pt x="8132665" y="8719529"/>
                    </a:cubicBezTo>
                    <a:cubicBezTo>
                      <a:pt x="8141420" y="9012830"/>
                      <a:pt x="8094873" y="9345902"/>
                      <a:pt x="8094873" y="9345902"/>
                    </a:cubicBezTo>
                    <a:cubicBezTo>
                      <a:pt x="8091907" y="9525927"/>
                      <a:pt x="7880404" y="9659579"/>
                      <a:pt x="7634981" y="9659579"/>
                    </a:cubicBezTo>
                    <a:close/>
                  </a:path>
                </a:pathLst>
              </a:custGeom>
              <a:solidFill>
                <a:srgbClr val="8FB7C6"/>
              </a:solidFill>
            </p:spPr>
          </p:sp>
        </p:grpSp>
        <p:grpSp>
          <p:nvGrpSpPr>
            <p:cNvPr name="Group 6" id="6"/>
            <p:cNvGrpSpPr/>
            <p:nvPr/>
          </p:nvGrpSpPr>
          <p:grpSpPr>
            <a:xfrm rot="0">
              <a:off x="9433929" y="288690"/>
              <a:ext cx="9623291" cy="11448547"/>
              <a:chOff x="0" y="0"/>
              <a:chExt cx="8133762" cy="9676498"/>
            </a:xfrm>
          </p:grpSpPr>
          <p:sp>
            <p:nvSpPr>
              <p:cNvPr name="Freeform 7" id="7"/>
              <p:cNvSpPr/>
              <p:nvPr/>
            </p:nvSpPr>
            <p:spPr>
              <a:xfrm flipH="false" flipV="false" rot="0">
                <a:off x="-1" y="0"/>
                <a:ext cx="8133762" cy="9676498"/>
              </a:xfrm>
              <a:custGeom>
                <a:avLst/>
                <a:gdLst/>
                <a:ahLst/>
                <a:cxnLst/>
                <a:rect r="r" b="b" t="t" l="l"/>
                <a:pathLst>
                  <a:path h="9676498" w="8133762">
                    <a:moveTo>
                      <a:pt x="7634981" y="9659579"/>
                    </a:moveTo>
                    <a:cubicBezTo>
                      <a:pt x="7634981" y="9659579"/>
                      <a:pt x="7397986" y="9649609"/>
                      <a:pt x="7035847" y="9663054"/>
                    </a:cubicBezTo>
                    <a:cubicBezTo>
                      <a:pt x="6673708" y="9676498"/>
                      <a:pt x="490924" y="9676498"/>
                      <a:pt x="490924" y="9676498"/>
                    </a:cubicBezTo>
                    <a:cubicBezTo>
                      <a:pt x="245502" y="9676498"/>
                      <a:pt x="32509" y="9579230"/>
                      <a:pt x="31032" y="9419116"/>
                    </a:cubicBezTo>
                    <a:cubicBezTo>
                      <a:pt x="31032" y="9419116"/>
                      <a:pt x="0" y="6726718"/>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7588433" y="0"/>
                      <a:pt x="7588433" y="0"/>
                    </a:cubicBezTo>
                    <a:cubicBezTo>
                      <a:pt x="7900334" y="0"/>
                      <a:pt x="8133763" y="101069"/>
                      <a:pt x="8125905" y="303616"/>
                    </a:cubicBezTo>
                    <a:cubicBezTo>
                      <a:pt x="8125905" y="303616"/>
                      <a:pt x="8123910" y="6182194"/>
                      <a:pt x="8132665" y="8719529"/>
                    </a:cubicBezTo>
                    <a:cubicBezTo>
                      <a:pt x="8141420" y="9012830"/>
                      <a:pt x="8094873" y="9345902"/>
                      <a:pt x="8094873" y="9345902"/>
                    </a:cubicBezTo>
                    <a:cubicBezTo>
                      <a:pt x="8091907" y="9525927"/>
                      <a:pt x="7880404" y="9659579"/>
                      <a:pt x="7634981" y="9659579"/>
                    </a:cubicBezTo>
                    <a:close/>
                  </a:path>
                </a:pathLst>
              </a:custGeom>
              <a:solidFill>
                <a:srgbClr val="8FB7C6"/>
              </a:solidFill>
            </p:spPr>
          </p:sp>
        </p:grpSp>
        <p:grpSp>
          <p:nvGrpSpPr>
            <p:cNvPr name="Group 8" id="8"/>
            <p:cNvGrpSpPr/>
            <p:nvPr/>
          </p:nvGrpSpPr>
          <p:grpSpPr>
            <a:xfrm rot="0">
              <a:off x="140706" y="392003"/>
              <a:ext cx="9481186" cy="10399981"/>
              <a:chOff x="0" y="0"/>
              <a:chExt cx="8133762" cy="8921981"/>
            </a:xfrm>
          </p:grpSpPr>
          <p:sp>
            <p:nvSpPr>
              <p:cNvPr name="Freeform 9" id="9"/>
              <p:cNvSpPr/>
              <p:nvPr/>
            </p:nvSpPr>
            <p:spPr>
              <a:xfrm flipH="false" flipV="false" rot="0">
                <a:off x="-1" y="0"/>
                <a:ext cx="8133762" cy="8921981"/>
              </a:xfrm>
              <a:custGeom>
                <a:avLst/>
                <a:gdLst/>
                <a:ahLst/>
                <a:cxnLst/>
                <a:rect r="r" b="b" t="t" l="l"/>
                <a:pathLst>
                  <a:path h="8921981" w="8133762">
                    <a:moveTo>
                      <a:pt x="7634981" y="8905062"/>
                    </a:moveTo>
                    <a:cubicBezTo>
                      <a:pt x="7634981" y="8905062"/>
                      <a:pt x="7397986" y="8895093"/>
                      <a:pt x="7035847" y="8908537"/>
                    </a:cubicBezTo>
                    <a:cubicBezTo>
                      <a:pt x="6673708" y="8921981"/>
                      <a:pt x="490924" y="8921981"/>
                      <a:pt x="490924" y="8921981"/>
                    </a:cubicBezTo>
                    <a:cubicBezTo>
                      <a:pt x="245502" y="8921981"/>
                      <a:pt x="32509" y="8824713"/>
                      <a:pt x="31032" y="8664599"/>
                    </a:cubicBezTo>
                    <a:cubicBezTo>
                      <a:pt x="31032" y="8664599"/>
                      <a:pt x="0" y="6142272"/>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7588433" y="0"/>
                      <a:pt x="7588433" y="0"/>
                    </a:cubicBezTo>
                    <a:cubicBezTo>
                      <a:pt x="7900334" y="0"/>
                      <a:pt x="8133763" y="101069"/>
                      <a:pt x="8125905" y="303616"/>
                    </a:cubicBezTo>
                    <a:cubicBezTo>
                      <a:pt x="8125905" y="303616"/>
                      <a:pt x="8123910" y="5649759"/>
                      <a:pt x="8132665" y="7965011"/>
                    </a:cubicBezTo>
                    <a:cubicBezTo>
                      <a:pt x="8141420" y="8258313"/>
                      <a:pt x="8094873" y="8591385"/>
                      <a:pt x="8094873" y="8591385"/>
                    </a:cubicBezTo>
                    <a:cubicBezTo>
                      <a:pt x="8091907" y="8771410"/>
                      <a:pt x="7880404" y="8905062"/>
                      <a:pt x="7634981" y="8905062"/>
                    </a:cubicBezTo>
                    <a:close/>
                  </a:path>
                </a:pathLst>
              </a:custGeom>
              <a:solidFill>
                <a:srgbClr val="8FB7C6"/>
              </a:solidFill>
            </p:spPr>
          </p:sp>
        </p:grpSp>
        <p:grpSp>
          <p:nvGrpSpPr>
            <p:cNvPr name="Group 10" id="10"/>
            <p:cNvGrpSpPr/>
            <p:nvPr/>
          </p:nvGrpSpPr>
          <p:grpSpPr>
            <a:xfrm rot="0">
              <a:off x="9435328" y="392003"/>
              <a:ext cx="9481186" cy="10399981"/>
              <a:chOff x="0" y="0"/>
              <a:chExt cx="8133762" cy="8921981"/>
            </a:xfrm>
          </p:grpSpPr>
          <p:sp>
            <p:nvSpPr>
              <p:cNvPr name="Freeform 11" id="11"/>
              <p:cNvSpPr/>
              <p:nvPr/>
            </p:nvSpPr>
            <p:spPr>
              <a:xfrm flipH="false" flipV="false" rot="0">
                <a:off x="-1" y="0"/>
                <a:ext cx="8133762" cy="8921981"/>
              </a:xfrm>
              <a:custGeom>
                <a:avLst/>
                <a:gdLst/>
                <a:ahLst/>
                <a:cxnLst/>
                <a:rect r="r" b="b" t="t" l="l"/>
                <a:pathLst>
                  <a:path h="8921981" w="8133762">
                    <a:moveTo>
                      <a:pt x="7634981" y="8905062"/>
                    </a:moveTo>
                    <a:cubicBezTo>
                      <a:pt x="7634981" y="8905062"/>
                      <a:pt x="7397986" y="8895093"/>
                      <a:pt x="7035847" y="8908537"/>
                    </a:cubicBezTo>
                    <a:cubicBezTo>
                      <a:pt x="6673708" y="8921981"/>
                      <a:pt x="490924" y="8921981"/>
                      <a:pt x="490924" y="8921981"/>
                    </a:cubicBezTo>
                    <a:cubicBezTo>
                      <a:pt x="245502" y="8921981"/>
                      <a:pt x="32509" y="8824713"/>
                      <a:pt x="31032" y="8664599"/>
                    </a:cubicBezTo>
                    <a:cubicBezTo>
                      <a:pt x="31032" y="8664599"/>
                      <a:pt x="0" y="6142272"/>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7588433" y="0"/>
                      <a:pt x="7588433" y="0"/>
                    </a:cubicBezTo>
                    <a:cubicBezTo>
                      <a:pt x="7900334" y="0"/>
                      <a:pt x="8133763" y="101069"/>
                      <a:pt x="8125905" y="303616"/>
                    </a:cubicBezTo>
                    <a:cubicBezTo>
                      <a:pt x="8125905" y="303616"/>
                      <a:pt x="8123910" y="5649759"/>
                      <a:pt x="8132665" y="7965011"/>
                    </a:cubicBezTo>
                    <a:cubicBezTo>
                      <a:pt x="8141420" y="8258313"/>
                      <a:pt x="8094873" y="8591385"/>
                      <a:pt x="8094873" y="8591385"/>
                    </a:cubicBezTo>
                    <a:cubicBezTo>
                      <a:pt x="8091907" y="8771410"/>
                      <a:pt x="7880404" y="8905062"/>
                      <a:pt x="7634981" y="8905062"/>
                    </a:cubicBezTo>
                    <a:close/>
                  </a:path>
                </a:pathLst>
              </a:custGeom>
              <a:solidFill>
                <a:srgbClr val="8FB7C6"/>
              </a:solidFill>
            </p:spPr>
          </p:sp>
        </p:grpSp>
        <p:grpSp>
          <p:nvGrpSpPr>
            <p:cNvPr name="Group 12" id="12"/>
            <p:cNvGrpSpPr/>
            <p:nvPr/>
          </p:nvGrpSpPr>
          <p:grpSpPr>
            <a:xfrm rot="0">
              <a:off x="577354" y="0"/>
              <a:ext cx="9026502" cy="11737237"/>
              <a:chOff x="0" y="0"/>
              <a:chExt cx="8133762" cy="10576399"/>
            </a:xfrm>
          </p:grpSpPr>
          <p:sp>
            <p:nvSpPr>
              <p:cNvPr name="Freeform 13" id="13"/>
              <p:cNvSpPr/>
              <p:nvPr/>
            </p:nvSpPr>
            <p:spPr>
              <a:xfrm flipH="false" flipV="false" rot="0">
                <a:off x="-1" y="0"/>
                <a:ext cx="8133762" cy="10576399"/>
              </a:xfrm>
              <a:custGeom>
                <a:avLst/>
                <a:gdLst/>
                <a:ahLst/>
                <a:cxnLst/>
                <a:rect r="r" b="b" t="t" l="l"/>
                <a:pathLst>
                  <a:path h="10576399" w="8133762">
                    <a:moveTo>
                      <a:pt x="7634981" y="10559480"/>
                    </a:moveTo>
                    <a:cubicBezTo>
                      <a:pt x="7634981" y="10559480"/>
                      <a:pt x="7397986" y="10549511"/>
                      <a:pt x="7035847" y="10562955"/>
                    </a:cubicBezTo>
                    <a:cubicBezTo>
                      <a:pt x="6673708" y="10576399"/>
                      <a:pt x="490924" y="10576399"/>
                      <a:pt x="490924" y="10576399"/>
                    </a:cubicBezTo>
                    <a:cubicBezTo>
                      <a:pt x="245502" y="10576399"/>
                      <a:pt x="32509" y="10479132"/>
                      <a:pt x="31032" y="10319017"/>
                    </a:cubicBezTo>
                    <a:cubicBezTo>
                      <a:pt x="31032" y="10319017"/>
                      <a:pt x="0" y="7423779"/>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7588433" y="0"/>
                      <a:pt x="7588433" y="0"/>
                    </a:cubicBezTo>
                    <a:cubicBezTo>
                      <a:pt x="7900334" y="0"/>
                      <a:pt x="8133763" y="101069"/>
                      <a:pt x="8125905" y="303616"/>
                    </a:cubicBezTo>
                    <a:cubicBezTo>
                      <a:pt x="8125905" y="303616"/>
                      <a:pt x="8123910" y="6817223"/>
                      <a:pt x="8132665" y="9619430"/>
                    </a:cubicBezTo>
                    <a:cubicBezTo>
                      <a:pt x="8141420" y="9912731"/>
                      <a:pt x="8094873" y="10245803"/>
                      <a:pt x="8094873" y="10245803"/>
                    </a:cubicBezTo>
                    <a:cubicBezTo>
                      <a:pt x="8091907" y="10425828"/>
                      <a:pt x="7880404" y="10559480"/>
                      <a:pt x="7634981" y="10559480"/>
                    </a:cubicBezTo>
                    <a:close/>
                  </a:path>
                </a:pathLst>
              </a:custGeom>
              <a:solidFill>
                <a:srgbClr val="F3FCFF"/>
              </a:solidFill>
            </p:spPr>
          </p:sp>
        </p:grpSp>
        <p:grpSp>
          <p:nvGrpSpPr>
            <p:cNvPr name="Group 14" id="14"/>
            <p:cNvGrpSpPr/>
            <p:nvPr/>
          </p:nvGrpSpPr>
          <p:grpSpPr>
            <a:xfrm rot="0">
              <a:off x="9426238" y="0"/>
              <a:ext cx="9026502" cy="11737237"/>
              <a:chOff x="0" y="0"/>
              <a:chExt cx="8133762" cy="10576399"/>
            </a:xfrm>
          </p:grpSpPr>
          <p:sp>
            <p:nvSpPr>
              <p:cNvPr name="Freeform 15" id="15"/>
              <p:cNvSpPr/>
              <p:nvPr/>
            </p:nvSpPr>
            <p:spPr>
              <a:xfrm flipH="false" flipV="false" rot="0">
                <a:off x="-1" y="0"/>
                <a:ext cx="8133762" cy="10576399"/>
              </a:xfrm>
              <a:custGeom>
                <a:avLst/>
                <a:gdLst/>
                <a:ahLst/>
                <a:cxnLst/>
                <a:rect r="r" b="b" t="t" l="l"/>
                <a:pathLst>
                  <a:path h="10576399" w="8133762">
                    <a:moveTo>
                      <a:pt x="7634981" y="10559480"/>
                    </a:moveTo>
                    <a:cubicBezTo>
                      <a:pt x="7634981" y="10559480"/>
                      <a:pt x="7397986" y="10549511"/>
                      <a:pt x="7035847" y="10562955"/>
                    </a:cubicBezTo>
                    <a:cubicBezTo>
                      <a:pt x="6673708" y="10576399"/>
                      <a:pt x="490924" y="10576399"/>
                      <a:pt x="490924" y="10576399"/>
                    </a:cubicBezTo>
                    <a:cubicBezTo>
                      <a:pt x="245502" y="10576399"/>
                      <a:pt x="32509" y="10479132"/>
                      <a:pt x="31032" y="10319017"/>
                    </a:cubicBezTo>
                    <a:cubicBezTo>
                      <a:pt x="31032" y="10319017"/>
                      <a:pt x="0" y="7423779"/>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7588433" y="0"/>
                      <a:pt x="7588433" y="0"/>
                    </a:cubicBezTo>
                    <a:cubicBezTo>
                      <a:pt x="7900334" y="0"/>
                      <a:pt x="8133763" y="101069"/>
                      <a:pt x="8125905" y="303616"/>
                    </a:cubicBezTo>
                    <a:cubicBezTo>
                      <a:pt x="8125905" y="303616"/>
                      <a:pt x="8123910" y="6817223"/>
                      <a:pt x="8132665" y="9619430"/>
                    </a:cubicBezTo>
                    <a:cubicBezTo>
                      <a:pt x="8141420" y="9912731"/>
                      <a:pt x="8094873" y="10245803"/>
                      <a:pt x="8094873" y="10245803"/>
                    </a:cubicBezTo>
                    <a:cubicBezTo>
                      <a:pt x="8091907" y="10425828"/>
                      <a:pt x="7880404" y="10559480"/>
                      <a:pt x="7634981" y="10559480"/>
                    </a:cubicBezTo>
                    <a:close/>
                  </a:path>
                </a:pathLst>
              </a:custGeom>
              <a:solidFill>
                <a:srgbClr val="F3FCFF"/>
              </a:solidFill>
            </p:spPr>
          </p:sp>
        </p:grpSp>
        <p:sp>
          <p:nvSpPr>
            <p:cNvPr name="AutoShape 16" id="16"/>
            <p:cNvSpPr/>
            <p:nvPr/>
          </p:nvSpPr>
          <p:spPr>
            <a:xfrm>
              <a:off x="1738975" y="827535"/>
              <a:ext cx="15552144" cy="37193"/>
            </a:xfrm>
            <a:prstGeom prst="line">
              <a:avLst/>
            </a:prstGeom>
            <a:ln cap="rnd" w="55108">
              <a:solidFill>
                <a:srgbClr val="8FB7C6"/>
              </a:solidFill>
              <a:prstDash val="solid"/>
              <a:headEnd type="none" len="sm" w="sm"/>
              <a:tailEnd type="none" len="sm" w="sm"/>
            </a:ln>
          </p:spPr>
        </p:sp>
      </p:grpSp>
      <p:sp>
        <p:nvSpPr>
          <p:cNvPr name="TextBox 17" id="17"/>
          <p:cNvSpPr txBox="true"/>
          <p:nvPr/>
        </p:nvSpPr>
        <p:spPr>
          <a:xfrm rot="0">
            <a:off x="3606570" y="1112748"/>
            <a:ext cx="11074860" cy="1152525"/>
          </a:xfrm>
          <a:prstGeom prst="rect">
            <a:avLst/>
          </a:prstGeom>
        </p:spPr>
        <p:txBody>
          <a:bodyPr anchor="t" rtlCol="false" tIns="0" lIns="0" bIns="0" rIns="0">
            <a:spAutoFit/>
          </a:bodyPr>
          <a:lstStyle/>
          <a:p>
            <a:pPr algn="ctr" marL="0" indent="0" lvl="1">
              <a:lnSpc>
                <a:spcPts val="9119"/>
              </a:lnSpc>
              <a:spcBef>
                <a:spcPct val="0"/>
              </a:spcBef>
            </a:pPr>
            <a:r>
              <a:rPr lang="en-US" b="true" sz="7599">
                <a:solidFill>
                  <a:srgbClr val="1D2B74"/>
                </a:solidFill>
                <a:latin typeface="Faustina Bold"/>
                <a:ea typeface="Faustina Bold"/>
                <a:cs typeface="Faustina Bold"/>
                <a:sym typeface="Faustina Bold"/>
              </a:rPr>
              <a:t>UNIT</a:t>
            </a:r>
            <a:r>
              <a:rPr lang="en-US" b="true" sz="7599" strike="noStrike" u="none">
                <a:solidFill>
                  <a:srgbClr val="1D2B74"/>
                </a:solidFill>
                <a:latin typeface="Faustina Bold"/>
                <a:ea typeface="Faustina Bold"/>
                <a:cs typeface="Faustina Bold"/>
                <a:sym typeface="Faustina Bold"/>
              </a:rPr>
              <a:t> TEST LÀ GÌ?</a:t>
            </a:r>
          </a:p>
        </p:txBody>
      </p:sp>
      <p:grpSp>
        <p:nvGrpSpPr>
          <p:cNvPr name="Group 18" id="18"/>
          <p:cNvGrpSpPr/>
          <p:nvPr/>
        </p:nvGrpSpPr>
        <p:grpSpPr>
          <a:xfrm rot="0">
            <a:off x="3908130" y="5587539"/>
            <a:ext cx="11442118" cy="5296491"/>
            <a:chOff x="0" y="0"/>
            <a:chExt cx="15256157" cy="7061987"/>
          </a:xfrm>
        </p:grpSpPr>
        <p:sp>
          <p:nvSpPr>
            <p:cNvPr name="TextBox 19" id="19"/>
            <p:cNvSpPr txBox="true"/>
            <p:nvPr/>
          </p:nvSpPr>
          <p:spPr>
            <a:xfrm rot="0">
              <a:off x="0" y="-9525"/>
              <a:ext cx="15256157" cy="4378325"/>
            </a:xfrm>
            <a:prstGeom prst="rect">
              <a:avLst/>
            </a:prstGeom>
          </p:spPr>
          <p:txBody>
            <a:bodyPr anchor="t" rtlCol="false" tIns="0" lIns="0" bIns="0" rIns="0">
              <a:spAutoFit/>
            </a:bodyPr>
            <a:lstStyle/>
            <a:p>
              <a:pPr algn="l">
                <a:lnSpc>
                  <a:spcPts val="6509"/>
                </a:lnSpc>
              </a:pPr>
              <a:r>
                <a:rPr lang="en-US" sz="5424" b="true">
                  <a:solidFill>
                    <a:srgbClr val="1D2B74"/>
                  </a:solidFill>
                  <a:latin typeface="Faustina Bold"/>
                  <a:ea typeface="Faustina Bold"/>
                  <a:cs typeface="Faustina Bold"/>
                  <a:sym typeface="Faustina Bold"/>
                </a:rPr>
                <a:t>- Kiểm tra từng hàm / module độc lập</a:t>
              </a:r>
            </a:p>
            <a:p>
              <a:pPr algn="l">
                <a:lnSpc>
                  <a:spcPts val="6509"/>
                </a:lnSpc>
              </a:pPr>
              <a:r>
                <a:rPr lang="en-US" sz="5424" b="true">
                  <a:solidFill>
                    <a:srgbClr val="1D2B74"/>
                  </a:solidFill>
                  <a:latin typeface="Faustina Bold"/>
                  <a:ea typeface="Faustina Bold"/>
                  <a:cs typeface="Faustina Bold"/>
                  <a:sym typeface="Faustina Bold"/>
                </a:rPr>
                <a:t>- Đảm bảo đúng logic</a:t>
              </a:r>
            </a:p>
            <a:p>
              <a:pPr algn="l">
                <a:lnSpc>
                  <a:spcPts val="6509"/>
                </a:lnSpc>
              </a:pPr>
              <a:r>
                <a:rPr lang="en-US" sz="5424" b="true">
                  <a:solidFill>
                    <a:srgbClr val="1D2B74"/>
                  </a:solidFill>
                  <a:latin typeface="Faustina Bold"/>
                  <a:ea typeface="Faustina Bold"/>
                  <a:cs typeface="Faustina Bold"/>
                  <a:sym typeface="Faustina Bold"/>
                </a:rPr>
                <a:t>- Phát hiện lỗi sớm</a:t>
              </a:r>
            </a:p>
            <a:p>
              <a:pPr algn="l">
                <a:lnSpc>
                  <a:spcPts val="6509"/>
                </a:lnSpc>
              </a:pPr>
            </a:p>
          </p:txBody>
        </p:sp>
        <p:sp>
          <p:nvSpPr>
            <p:cNvPr name="TextBox 20" id="20"/>
            <p:cNvSpPr txBox="true"/>
            <p:nvPr/>
          </p:nvSpPr>
          <p:spPr>
            <a:xfrm rot="0">
              <a:off x="0" y="6299987"/>
              <a:ext cx="10625568" cy="762000"/>
            </a:xfrm>
            <a:prstGeom prst="rect">
              <a:avLst/>
            </a:prstGeom>
          </p:spPr>
          <p:txBody>
            <a:bodyPr anchor="t" rtlCol="false" tIns="0" lIns="0" bIns="0" rIns="0">
              <a:spAutoFit/>
            </a:bodyPr>
            <a:lstStyle/>
            <a:p>
              <a:pPr algn="ctr">
                <a:lnSpc>
                  <a:spcPts val="4559"/>
                </a:lnSpc>
              </a:pPr>
            </a:p>
          </p:txBody>
        </p:sp>
      </p:grpSp>
      <p:sp>
        <p:nvSpPr>
          <p:cNvPr name="Freeform 21" id="21"/>
          <p:cNvSpPr/>
          <p:nvPr/>
        </p:nvSpPr>
        <p:spPr>
          <a:xfrm flipH="false" flipV="false" rot="1186719">
            <a:off x="17607307" y="3461775"/>
            <a:ext cx="1863737" cy="2381773"/>
          </a:xfrm>
          <a:custGeom>
            <a:avLst/>
            <a:gdLst/>
            <a:ahLst/>
            <a:cxnLst/>
            <a:rect r="r" b="b" t="t" l="l"/>
            <a:pathLst>
              <a:path h="2381773" w="1863737">
                <a:moveTo>
                  <a:pt x="0" y="0"/>
                </a:moveTo>
                <a:lnTo>
                  <a:pt x="1863737" y="0"/>
                </a:lnTo>
                <a:lnTo>
                  <a:pt x="1863737" y="2381772"/>
                </a:lnTo>
                <a:lnTo>
                  <a:pt x="0" y="23817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2" id="22"/>
          <p:cNvSpPr/>
          <p:nvPr/>
        </p:nvSpPr>
        <p:spPr>
          <a:xfrm flipH="false" flipV="false" rot="-458302">
            <a:off x="16900877" y="6386450"/>
            <a:ext cx="1913611" cy="1913611"/>
          </a:xfrm>
          <a:custGeom>
            <a:avLst/>
            <a:gdLst/>
            <a:ahLst/>
            <a:cxnLst/>
            <a:rect r="r" b="b" t="t" l="l"/>
            <a:pathLst>
              <a:path h="1913611" w="1913611">
                <a:moveTo>
                  <a:pt x="0" y="0"/>
                </a:moveTo>
                <a:lnTo>
                  <a:pt x="1913611" y="0"/>
                </a:lnTo>
                <a:lnTo>
                  <a:pt x="1913611" y="1913611"/>
                </a:lnTo>
                <a:lnTo>
                  <a:pt x="0" y="191361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3" id="23"/>
          <p:cNvSpPr/>
          <p:nvPr/>
        </p:nvSpPr>
        <p:spPr>
          <a:xfrm flipH="false" flipV="false" rot="-1055302">
            <a:off x="-552465" y="274878"/>
            <a:ext cx="2767204" cy="2199927"/>
          </a:xfrm>
          <a:custGeom>
            <a:avLst/>
            <a:gdLst/>
            <a:ahLst/>
            <a:cxnLst/>
            <a:rect r="r" b="b" t="t" l="l"/>
            <a:pathLst>
              <a:path h="2199927" w="2767204">
                <a:moveTo>
                  <a:pt x="0" y="0"/>
                </a:moveTo>
                <a:lnTo>
                  <a:pt x="2767204" y="0"/>
                </a:lnTo>
                <a:lnTo>
                  <a:pt x="2767204" y="2199927"/>
                </a:lnTo>
                <a:lnTo>
                  <a:pt x="0" y="21999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4" id="24"/>
          <p:cNvSpPr/>
          <p:nvPr/>
        </p:nvSpPr>
        <p:spPr>
          <a:xfrm flipH="false" flipV="false" rot="-1656121">
            <a:off x="16327664" y="237013"/>
            <a:ext cx="2885843" cy="2903993"/>
          </a:xfrm>
          <a:custGeom>
            <a:avLst/>
            <a:gdLst/>
            <a:ahLst/>
            <a:cxnLst/>
            <a:rect r="r" b="b" t="t" l="l"/>
            <a:pathLst>
              <a:path h="2903993" w="2885843">
                <a:moveTo>
                  <a:pt x="0" y="0"/>
                </a:moveTo>
                <a:lnTo>
                  <a:pt x="2885843" y="0"/>
                </a:lnTo>
                <a:lnTo>
                  <a:pt x="2885843" y="2903994"/>
                </a:lnTo>
                <a:lnTo>
                  <a:pt x="0" y="290399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5" id="25"/>
          <p:cNvSpPr/>
          <p:nvPr/>
        </p:nvSpPr>
        <p:spPr>
          <a:xfrm flipH="false" flipV="false" rot="-2237841">
            <a:off x="17105360" y="8414200"/>
            <a:ext cx="1768567" cy="1835089"/>
          </a:xfrm>
          <a:custGeom>
            <a:avLst/>
            <a:gdLst/>
            <a:ahLst/>
            <a:cxnLst/>
            <a:rect r="r" b="b" t="t" l="l"/>
            <a:pathLst>
              <a:path h="1835089" w="1768567">
                <a:moveTo>
                  <a:pt x="0" y="0"/>
                </a:moveTo>
                <a:lnTo>
                  <a:pt x="1768567" y="0"/>
                </a:lnTo>
                <a:lnTo>
                  <a:pt x="1768567" y="1835089"/>
                </a:lnTo>
                <a:lnTo>
                  <a:pt x="0" y="183508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6" id="26"/>
          <p:cNvSpPr/>
          <p:nvPr/>
        </p:nvSpPr>
        <p:spPr>
          <a:xfrm flipH="false" flipV="false" rot="-1479392">
            <a:off x="-577273" y="5940385"/>
            <a:ext cx="1488231" cy="1901893"/>
          </a:xfrm>
          <a:custGeom>
            <a:avLst/>
            <a:gdLst/>
            <a:ahLst/>
            <a:cxnLst/>
            <a:rect r="r" b="b" t="t" l="l"/>
            <a:pathLst>
              <a:path h="1901893" w="1488231">
                <a:moveTo>
                  <a:pt x="0" y="0"/>
                </a:moveTo>
                <a:lnTo>
                  <a:pt x="1488232" y="0"/>
                </a:lnTo>
                <a:lnTo>
                  <a:pt x="1488232" y="1901893"/>
                </a:lnTo>
                <a:lnTo>
                  <a:pt x="0" y="190189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7" id="27"/>
          <p:cNvSpPr/>
          <p:nvPr/>
        </p:nvSpPr>
        <p:spPr>
          <a:xfrm flipH="false" flipV="false" rot="-458292">
            <a:off x="-903414" y="3078267"/>
            <a:ext cx="2287819" cy="2367730"/>
          </a:xfrm>
          <a:custGeom>
            <a:avLst/>
            <a:gdLst/>
            <a:ahLst/>
            <a:cxnLst/>
            <a:rect r="r" b="b" t="t" l="l"/>
            <a:pathLst>
              <a:path h="2367730" w="2287819">
                <a:moveTo>
                  <a:pt x="0" y="0"/>
                </a:moveTo>
                <a:lnTo>
                  <a:pt x="2287819" y="0"/>
                </a:lnTo>
                <a:lnTo>
                  <a:pt x="2287819" y="2367731"/>
                </a:lnTo>
                <a:lnTo>
                  <a:pt x="0" y="236773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Tree>
  </p:cSld>
  <p:clrMapOvr>
    <a:masterClrMapping/>
  </p:clrMapOvr>
  <p:transition spd="slow">
    <p:push dir="d"/>
  </p:transition>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C8E3ED"/>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9600223" cy="8229600"/>
            <a:chOff x="0" y="0"/>
            <a:chExt cx="12800297" cy="10972800"/>
          </a:xfrm>
        </p:grpSpPr>
        <p:grpSp>
          <p:nvGrpSpPr>
            <p:cNvPr name="Group 3" id="3"/>
            <p:cNvGrpSpPr/>
            <p:nvPr/>
          </p:nvGrpSpPr>
          <p:grpSpPr>
            <a:xfrm rot="0">
              <a:off x="0" y="977717"/>
              <a:ext cx="12800297" cy="9995083"/>
              <a:chOff x="0" y="0"/>
              <a:chExt cx="12444340" cy="9717134"/>
            </a:xfrm>
          </p:grpSpPr>
          <p:sp>
            <p:nvSpPr>
              <p:cNvPr name="Freeform 4" id="4"/>
              <p:cNvSpPr/>
              <p:nvPr/>
            </p:nvSpPr>
            <p:spPr>
              <a:xfrm flipH="false" flipV="false" rot="0">
                <a:off x="-1" y="0"/>
                <a:ext cx="12444340" cy="9717134"/>
              </a:xfrm>
              <a:custGeom>
                <a:avLst/>
                <a:gdLst/>
                <a:ahLst/>
                <a:cxnLst/>
                <a:rect r="r" b="b" t="t" l="l"/>
                <a:pathLst>
                  <a:path h="9717134" w="12444340">
                    <a:moveTo>
                      <a:pt x="11945559" y="9700216"/>
                    </a:moveTo>
                    <a:cubicBezTo>
                      <a:pt x="11945559" y="9700216"/>
                      <a:pt x="11708564" y="9690246"/>
                      <a:pt x="11346425" y="9703690"/>
                    </a:cubicBezTo>
                    <a:cubicBezTo>
                      <a:pt x="10984286" y="9717134"/>
                      <a:pt x="490924" y="9717134"/>
                      <a:pt x="490924" y="9717134"/>
                    </a:cubicBezTo>
                    <a:cubicBezTo>
                      <a:pt x="245502" y="9717134"/>
                      <a:pt x="32509" y="9619866"/>
                      <a:pt x="31032" y="9459752"/>
                    </a:cubicBezTo>
                    <a:cubicBezTo>
                      <a:pt x="31032" y="9459752"/>
                      <a:pt x="0" y="6758194"/>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11899011" y="0"/>
                      <a:pt x="11899011" y="0"/>
                    </a:cubicBezTo>
                    <a:cubicBezTo>
                      <a:pt x="12210912" y="0"/>
                      <a:pt x="12444341" y="101069"/>
                      <a:pt x="12436483" y="303616"/>
                    </a:cubicBezTo>
                    <a:cubicBezTo>
                      <a:pt x="12436483" y="303616"/>
                      <a:pt x="12434488" y="6210870"/>
                      <a:pt x="12443243" y="8760165"/>
                    </a:cubicBezTo>
                    <a:cubicBezTo>
                      <a:pt x="12451998" y="9053467"/>
                      <a:pt x="12405451" y="9386538"/>
                      <a:pt x="12405451" y="9386538"/>
                    </a:cubicBezTo>
                    <a:cubicBezTo>
                      <a:pt x="12402485" y="9566563"/>
                      <a:pt x="12190982" y="9700216"/>
                      <a:pt x="11945559" y="9700216"/>
                    </a:cubicBezTo>
                    <a:close/>
                  </a:path>
                </a:pathLst>
              </a:custGeom>
              <a:solidFill>
                <a:srgbClr val="8FB7C6"/>
              </a:solidFill>
            </p:spPr>
          </p:sp>
        </p:grpSp>
        <p:grpSp>
          <p:nvGrpSpPr>
            <p:cNvPr name="Group 5" id="5"/>
            <p:cNvGrpSpPr/>
            <p:nvPr/>
          </p:nvGrpSpPr>
          <p:grpSpPr>
            <a:xfrm rot="0">
              <a:off x="175613" y="1067537"/>
              <a:ext cx="12502748" cy="9778026"/>
              <a:chOff x="0" y="0"/>
              <a:chExt cx="12337245" cy="9648591"/>
            </a:xfrm>
          </p:grpSpPr>
          <p:sp>
            <p:nvSpPr>
              <p:cNvPr name="Freeform 6" id="6"/>
              <p:cNvSpPr/>
              <p:nvPr/>
            </p:nvSpPr>
            <p:spPr>
              <a:xfrm flipH="false" flipV="false" rot="0">
                <a:off x="-1" y="0"/>
                <a:ext cx="12337245" cy="9648591"/>
              </a:xfrm>
              <a:custGeom>
                <a:avLst/>
                <a:gdLst/>
                <a:ahLst/>
                <a:cxnLst/>
                <a:rect r="r" b="b" t="t" l="l"/>
                <a:pathLst>
                  <a:path h="9648591" w="12337245">
                    <a:moveTo>
                      <a:pt x="11838465" y="9631673"/>
                    </a:moveTo>
                    <a:cubicBezTo>
                      <a:pt x="11838465" y="9631673"/>
                      <a:pt x="11601469" y="9621703"/>
                      <a:pt x="11239330" y="9635147"/>
                    </a:cubicBezTo>
                    <a:cubicBezTo>
                      <a:pt x="10877192" y="9648591"/>
                      <a:pt x="490924" y="9648591"/>
                      <a:pt x="490924" y="9648591"/>
                    </a:cubicBezTo>
                    <a:cubicBezTo>
                      <a:pt x="245502" y="9648591"/>
                      <a:pt x="32509" y="9551323"/>
                      <a:pt x="31032" y="9391209"/>
                    </a:cubicBezTo>
                    <a:cubicBezTo>
                      <a:pt x="31032" y="9391209"/>
                      <a:pt x="0" y="6705102"/>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11791917" y="0"/>
                      <a:pt x="11791917" y="0"/>
                    </a:cubicBezTo>
                    <a:cubicBezTo>
                      <a:pt x="12103817" y="0"/>
                      <a:pt x="12337246" y="101069"/>
                      <a:pt x="12329388" y="303616"/>
                    </a:cubicBezTo>
                    <a:cubicBezTo>
                      <a:pt x="12329388" y="303616"/>
                      <a:pt x="12327394" y="6162502"/>
                      <a:pt x="12336149" y="8691622"/>
                    </a:cubicBezTo>
                    <a:cubicBezTo>
                      <a:pt x="12344904" y="8984924"/>
                      <a:pt x="12298356" y="9317995"/>
                      <a:pt x="12298356" y="9317995"/>
                    </a:cubicBezTo>
                    <a:cubicBezTo>
                      <a:pt x="12295391" y="9498020"/>
                      <a:pt x="12083887" y="9631673"/>
                      <a:pt x="11838465" y="9631673"/>
                    </a:cubicBezTo>
                    <a:close/>
                  </a:path>
                </a:pathLst>
              </a:custGeom>
              <a:solidFill>
                <a:srgbClr val="8FB7C6"/>
              </a:solidFill>
            </p:spPr>
          </p:sp>
        </p:grpSp>
        <p:grpSp>
          <p:nvGrpSpPr>
            <p:cNvPr name="Group 7" id="7"/>
            <p:cNvGrpSpPr/>
            <p:nvPr/>
          </p:nvGrpSpPr>
          <p:grpSpPr>
            <a:xfrm rot="0">
              <a:off x="633489" y="0"/>
              <a:ext cx="11610109" cy="10328670"/>
              <a:chOff x="0" y="0"/>
              <a:chExt cx="12033508" cy="10705337"/>
            </a:xfrm>
          </p:grpSpPr>
          <p:sp>
            <p:nvSpPr>
              <p:cNvPr name="Freeform 8" id="8"/>
              <p:cNvSpPr/>
              <p:nvPr/>
            </p:nvSpPr>
            <p:spPr>
              <a:xfrm flipH="false" flipV="false" rot="0">
                <a:off x="-1" y="0"/>
                <a:ext cx="12033508" cy="10705337"/>
              </a:xfrm>
              <a:custGeom>
                <a:avLst/>
                <a:gdLst/>
                <a:ahLst/>
                <a:cxnLst/>
                <a:rect r="r" b="b" t="t" l="l"/>
                <a:pathLst>
                  <a:path h="10705337" w="12033508">
                    <a:moveTo>
                      <a:pt x="11534728" y="10688418"/>
                    </a:moveTo>
                    <a:cubicBezTo>
                      <a:pt x="11534728" y="10688418"/>
                      <a:pt x="11297732" y="10678449"/>
                      <a:pt x="10935592" y="10691893"/>
                    </a:cubicBezTo>
                    <a:cubicBezTo>
                      <a:pt x="10573455" y="10705337"/>
                      <a:pt x="490924" y="10705337"/>
                      <a:pt x="490924" y="10705337"/>
                    </a:cubicBezTo>
                    <a:cubicBezTo>
                      <a:pt x="245502" y="10705337"/>
                      <a:pt x="32509" y="10608069"/>
                      <a:pt x="31032" y="10447955"/>
                    </a:cubicBezTo>
                    <a:cubicBezTo>
                      <a:pt x="31032" y="10447955"/>
                      <a:pt x="0" y="7523653"/>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11488180" y="0"/>
                      <a:pt x="11488180" y="0"/>
                    </a:cubicBezTo>
                    <a:cubicBezTo>
                      <a:pt x="11800080" y="0"/>
                      <a:pt x="12033508" y="101069"/>
                      <a:pt x="12025651" y="303616"/>
                    </a:cubicBezTo>
                    <a:cubicBezTo>
                      <a:pt x="12025651" y="303616"/>
                      <a:pt x="12023656" y="6908210"/>
                      <a:pt x="12032412" y="9748368"/>
                    </a:cubicBezTo>
                    <a:cubicBezTo>
                      <a:pt x="12041167" y="10041669"/>
                      <a:pt x="11994618" y="10374741"/>
                      <a:pt x="11994618" y="10374741"/>
                    </a:cubicBezTo>
                    <a:cubicBezTo>
                      <a:pt x="11991654" y="10554766"/>
                      <a:pt x="11780150" y="10688418"/>
                      <a:pt x="11534728" y="10688418"/>
                    </a:cubicBezTo>
                    <a:close/>
                  </a:path>
                </a:pathLst>
              </a:custGeom>
              <a:solidFill>
                <a:srgbClr val="F3FCFF"/>
              </a:solidFill>
            </p:spPr>
          </p:sp>
        </p:grpSp>
        <p:sp>
          <p:nvSpPr>
            <p:cNvPr name="AutoShape 9" id="9"/>
            <p:cNvSpPr/>
            <p:nvPr/>
          </p:nvSpPr>
          <p:spPr>
            <a:xfrm flipV="true">
              <a:off x="1549934" y="9795892"/>
              <a:ext cx="9815202" cy="30123"/>
            </a:xfrm>
            <a:prstGeom prst="line">
              <a:avLst/>
            </a:prstGeom>
            <a:ln cap="rnd" w="50800">
              <a:solidFill>
                <a:srgbClr val="8FB7C6"/>
              </a:solidFill>
              <a:prstDash val="solid"/>
              <a:headEnd type="none" len="sm" w="sm"/>
              <a:tailEnd type="none" len="sm" w="sm"/>
            </a:ln>
          </p:spPr>
        </p:sp>
        <p:sp>
          <p:nvSpPr>
            <p:cNvPr name="AutoShape 10" id="10"/>
            <p:cNvSpPr/>
            <p:nvPr/>
          </p:nvSpPr>
          <p:spPr>
            <a:xfrm flipV="true">
              <a:off x="1549934" y="442951"/>
              <a:ext cx="9815202" cy="30123"/>
            </a:xfrm>
            <a:prstGeom prst="line">
              <a:avLst/>
            </a:prstGeom>
            <a:ln cap="rnd" w="50800">
              <a:solidFill>
                <a:srgbClr val="8FB7C6"/>
              </a:solidFill>
              <a:prstDash val="solid"/>
              <a:headEnd type="none" len="sm" w="sm"/>
              <a:tailEnd type="none" len="sm" w="sm"/>
            </a:ln>
          </p:spPr>
        </p:sp>
      </p:grpSp>
      <p:sp>
        <p:nvSpPr>
          <p:cNvPr name="TextBox 11" id="11"/>
          <p:cNvSpPr txBox="true"/>
          <p:nvPr/>
        </p:nvSpPr>
        <p:spPr>
          <a:xfrm rot="0">
            <a:off x="2571216" y="3085540"/>
            <a:ext cx="6572784" cy="4425952"/>
          </a:xfrm>
          <a:prstGeom prst="rect">
            <a:avLst/>
          </a:prstGeom>
        </p:spPr>
        <p:txBody>
          <a:bodyPr anchor="t" rtlCol="false" tIns="0" lIns="0" bIns="0" rIns="0">
            <a:spAutoFit/>
          </a:bodyPr>
          <a:lstStyle/>
          <a:p>
            <a:pPr algn="just">
              <a:lnSpc>
                <a:spcPts val="4374"/>
              </a:lnSpc>
            </a:pPr>
            <a:r>
              <a:rPr lang="en-US" sz="3499" spc="-34">
                <a:solidFill>
                  <a:srgbClr val="000000"/>
                </a:solidFill>
                <a:latin typeface="Asap"/>
                <a:ea typeface="Asap"/>
                <a:cs typeface="Asap"/>
                <a:sym typeface="Asap"/>
              </a:rPr>
              <a:t>GenAI có thể:</a:t>
            </a:r>
          </a:p>
          <a:p>
            <a:pPr algn="just">
              <a:lnSpc>
                <a:spcPts val="4374"/>
              </a:lnSpc>
            </a:pPr>
            <a:r>
              <a:rPr lang="en-US" sz="3499" spc="-34">
                <a:solidFill>
                  <a:srgbClr val="000000"/>
                </a:solidFill>
                <a:latin typeface="Asap"/>
                <a:ea typeface="Asap"/>
                <a:cs typeface="Asap"/>
                <a:sym typeface="Asap"/>
              </a:rPr>
              <a:t>· Sinh test từ code </a:t>
            </a:r>
          </a:p>
          <a:p>
            <a:pPr algn="just">
              <a:lnSpc>
                <a:spcPts val="4374"/>
              </a:lnSpc>
            </a:pPr>
            <a:r>
              <a:rPr lang="en-US" sz="3499" spc="-34">
                <a:solidFill>
                  <a:srgbClr val="000000"/>
                </a:solidFill>
                <a:latin typeface="Asap"/>
                <a:ea typeface="Asap"/>
                <a:cs typeface="Asap"/>
                <a:sym typeface="Asap"/>
              </a:rPr>
              <a:t>· Sinh code từ test (TDD) </a:t>
            </a:r>
          </a:p>
          <a:p>
            <a:pPr algn="just">
              <a:lnSpc>
                <a:spcPts val="4374"/>
              </a:lnSpc>
            </a:pPr>
            <a:r>
              <a:rPr lang="en-US" sz="3499" spc="-34">
                <a:solidFill>
                  <a:srgbClr val="000000"/>
                </a:solidFill>
                <a:latin typeface="Asap"/>
                <a:ea typeface="Asap"/>
                <a:cs typeface="Asap"/>
                <a:sym typeface="Asap"/>
              </a:rPr>
              <a:t>· Sinh dữ liệu test </a:t>
            </a:r>
          </a:p>
          <a:p>
            <a:pPr algn="just">
              <a:lnSpc>
                <a:spcPts val="4374"/>
              </a:lnSpc>
            </a:pPr>
            <a:r>
              <a:rPr lang="en-US" sz="3499" spc="-34">
                <a:solidFill>
                  <a:srgbClr val="000000"/>
                </a:solidFill>
                <a:latin typeface="Asap"/>
                <a:ea typeface="Asap"/>
                <a:cs typeface="Asap"/>
                <a:sym typeface="Asap"/>
              </a:rPr>
              <a:t>Tuy nhiên:</a:t>
            </a:r>
          </a:p>
          <a:p>
            <a:pPr algn="just">
              <a:lnSpc>
                <a:spcPts val="4374"/>
              </a:lnSpc>
            </a:pPr>
            <a:r>
              <a:rPr lang="en-US" sz="3499" spc="-34">
                <a:solidFill>
                  <a:srgbClr val="000000"/>
                </a:solidFill>
                <a:latin typeface="Asap"/>
                <a:ea typeface="Asap"/>
                <a:cs typeface="Asap"/>
                <a:sym typeface="Asap"/>
              </a:rPr>
              <a:t>· Có thể sinh test sai </a:t>
            </a:r>
          </a:p>
          <a:p>
            <a:pPr algn="just">
              <a:lnSpc>
                <a:spcPts val="4374"/>
              </a:lnSpc>
            </a:pPr>
            <a:r>
              <a:rPr lang="en-US" sz="3499" spc="-34">
                <a:solidFill>
                  <a:srgbClr val="000000"/>
                </a:solidFill>
                <a:latin typeface="Asap"/>
                <a:ea typeface="Asap"/>
                <a:cs typeface="Asap"/>
                <a:sym typeface="Asap"/>
              </a:rPr>
              <a:t>· Có thể thiếu edge cases </a:t>
            </a:r>
          </a:p>
          <a:p>
            <a:pPr algn="just" marL="0" indent="0" lvl="0">
              <a:lnSpc>
                <a:spcPts val="4374"/>
              </a:lnSpc>
            </a:pPr>
          </a:p>
        </p:txBody>
      </p:sp>
      <p:sp>
        <p:nvSpPr>
          <p:cNvPr name="TextBox 12" id="12"/>
          <p:cNvSpPr txBox="true"/>
          <p:nvPr/>
        </p:nvSpPr>
        <p:spPr>
          <a:xfrm rot="0">
            <a:off x="1602804" y="1781727"/>
            <a:ext cx="8452016" cy="1433957"/>
          </a:xfrm>
          <a:prstGeom prst="rect">
            <a:avLst/>
          </a:prstGeom>
        </p:spPr>
        <p:txBody>
          <a:bodyPr anchor="t" rtlCol="false" tIns="0" lIns="0" bIns="0" rIns="0">
            <a:spAutoFit/>
          </a:bodyPr>
          <a:lstStyle/>
          <a:p>
            <a:pPr algn="ctr">
              <a:lnSpc>
                <a:spcPts val="5763"/>
              </a:lnSpc>
            </a:pPr>
            <a:r>
              <a:rPr lang="en-US" b="true" sz="4399">
                <a:solidFill>
                  <a:srgbClr val="1D2B74"/>
                </a:solidFill>
                <a:latin typeface="Faustina Bold"/>
                <a:ea typeface="Faustina Bold"/>
                <a:cs typeface="Faustina Bold"/>
                <a:sym typeface="Faustina Bold"/>
              </a:rPr>
              <a:t>Vai trò</a:t>
            </a:r>
            <a:r>
              <a:rPr lang="en-US" b="true" sz="4399" strike="noStrike" u="none">
                <a:solidFill>
                  <a:srgbClr val="1D2B74"/>
                </a:solidFill>
                <a:latin typeface="Faustina Bold"/>
                <a:ea typeface="Faustina Bold"/>
                <a:cs typeface="Faustina Bold"/>
                <a:sym typeface="Faustina Bold"/>
              </a:rPr>
              <a:t> của GenAI trong kiểm thử</a:t>
            </a:r>
          </a:p>
          <a:p>
            <a:pPr algn="ctr" marL="0" indent="0" lvl="1">
              <a:lnSpc>
                <a:spcPts val="5763"/>
              </a:lnSpc>
            </a:pPr>
          </a:p>
        </p:txBody>
      </p:sp>
      <p:sp>
        <p:nvSpPr>
          <p:cNvPr name="Freeform 13" id="13"/>
          <p:cNvSpPr/>
          <p:nvPr/>
        </p:nvSpPr>
        <p:spPr>
          <a:xfrm flipH="false" flipV="false" rot="0">
            <a:off x="12618848" y="2910823"/>
            <a:ext cx="6793150" cy="7966380"/>
          </a:xfrm>
          <a:custGeom>
            <a:avLst/>
            <a:gdLst/>
            <a:ahLst/>
            <a:cxnLst/>
            <a:rect r="r" b="b" t="t" l="l"/>
            <a:pathLst>
              <a:path h="7966380" w="6793150">
                <a:moveTo>
                  <a:pt x="0" y="0"/>
                </a:moveTo>
                <a:lnTo>
                  <a:pt x="6793149" y="0"/>
                </a:lnTo>
                <a:lnTo>
                  <a:pt x="6793149" y="7966380"/>
                </a:lnTo>
                <a:lnTo>
                  <a:pt x="0" y="79663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4" id="14"/>
          <p:cNvSpPr/>
          <p:nvPr/>
        </p:nvSpPr>
        <p:spPr>
          <a:xfrm flipH="false" flipV="false" rot="0">
            <a:off x="11138562" y="772151"/>
            <a:ext cx="5572147" cy="5766776"/>
          </a:xfrm>
          <a:custGeom>
            <a:avLst/>
            <a:gdLst/>
            <a:ahLst/>
            <a:cxnLst/>
            <a:rect r="r" b="b" t="t" l="l"/>
            <a:pathLst>
              <a:path h="5766776" w="5572147">
                <a:moveTo>
                  <a:pt x="0" y="0"/>
                </a:moveTo>
                <a:lnTo>
                  <a:pt x="5572147" y="0"/>
                </a:lnTo>
                <a:lnTo>
                  <a:pt x="5572147" y="5766776"/>
                </a:lnTo>
                <a:lnTo>
                  <a:pt x="0" y="57667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transition spd="slow">
    <p:push dir="r"/>
  </p:transition>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C8E3ED"/>
        </a:solidFill>
      </p:bgPr>
    </p:bg>
    <p:spTree>
      <p:nvGrpSpPr>
        <p:cNvPr id="1" name=""/>
        <p:cNvGrpSpPr/>
        <p:nvPr/>
      </p:nvGrpSpPr>
      <p:grpSpPr>
        <a:xfrm>
          <a:off x="0" y="0"/>
          <a:ext cx="0" cy="0"/>
          <a:chOff x="0" y="0"/>
          <a:chExt cx="0" cy="0"/>
        </a:xfrm>
      </p:grpSpPr>
      <p:sp>
        <p:nvSpPr>
          <p:cNvPr name="Freeform 2" id="2"/>
          <p:cNvSpPr/>
          <p:nvPr/>
        </p:nvSpPr>
        <p:spPr>
          <a:xfrm flipH="false" flipV="false" rot="-6791332">
            <a:off x="7696945" y="9115100"/>
            <a:ext cx="2025851" cy="2067195"/>
          </a:xfrm>
          <a:custGeom>
            <a:avLst/>
            <a:gdLst/>
            <a:ahLst/>
            <a:cxnLst/>
            <a:rect r="r" b="b" t="t" l="l"/>
            <a:pathLst>
              <a:path h="2067195" w="2025851">
                <a:moveTo>
                  <a:pt x="0" y="0"/>
                </a:moveTo>
                <a:lnTo>
                  <a:pt x="2025851" y="0"/>
                </a:lnTo>
                <a:lnTo>
                  <a:pt x="2025851" y="2067195"/>
                </a:lnTo>
                <a:lnTo>
                  <a:pt x="0" y="206719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97503" y="1854770"/>
            <a:ext cx="2677056" cy="2911618"/>
          </a:xfrm>
          <a:custGeom>
            <a:avLst/>
            <a:gdLst/>
            <a:ahLst/>
            <a:cxnLst/>
            <a:rect r="r" b="b" t="t" l="l"/>
            <a:pathLst>
              <a:path h="2911618" w="2677056">
                <a:moveTo>
                  <a:pt x="0" y="0"/>
                </a:moveTo>
                <a:lnTo>
                  <a:pt x="2677056" y="0"/>
                </a:lnTo>
                <a:lnTo>
                  <a:pt x="2677056" y="2911618"/>
                </a:lnTo>
                <a:lnTo>
                  <a:pt x="0" y="2911618"/>
                </a:lnTo>
                <a:lnTo>
                  <a:pt x="0" y="0"/>
                </a:lnTo>
                <a:close/>
              </a:path>
            </a:pathLst>
          </a:custGeom>
          <a:blipFill>
            <a:blip r:embed="rId4">
              <a:extLst>
                <a:ext uri="{96DAC541-7B7A-43D3-8B79-37D633B846F1}">
                  <asvg:svgBlip xmlns:asvg="http://schemas.microsoft.com/office/drawing/2016/SVG/main" r:embed="rId5"/>
                </a:ext>
              </a:extLst>
            </a:blip>
            <a:stretch>
              <a:fillRect l="0" t="0" r="0" b="-170423"/>
            </a:stretch>
          </a:blipFill>
        </p:spPr>
      </p:sp>
      <p:sp>
        <p:nvSpPr>
          <p:cNvPr name="Freeform 4" id="4"/>
          <p:cNvSpPr/>
          <p:nvPr/>
        </p:nvSpPr>
        <p:spPr>
          <a:xfrm flipH="false" flipV="false" rot="-1479392">
            <a:off x="17431979" y="6392309"/>
            <a:ext cx="1488231" cy="1901893"/>
          </a:xfrm>
          <a:custGeom>
            <a:avLst/>
            <a:gdLst/>
            <a:ahLst/>
            <a:cxnLst/>
            <a:rect r="r" b="b" t="t" l="l"/>
            <a:pathLst>
              <a:path h="1901893" w="1488231">
                <a:moveTo>
                  <a:pt x="0" y="0"/>
                </a:moveTo>
                <a:lnTo>
                  <a:pt x="1488232" y="0"/>
                </a:lnTo>
                <a:lnTo>
                  <a:pt x="1488232" y="1901893"/>
                </a:lnTo>
                <a:lnTo>
                  <a:pt x="0" y="190189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1530157">
            <a:off x="16713773" y="3335105"/>
            <a:ext cx="2287819" cy="2367730"/>
          </a:xfrm>
          <a:custGeom>
            <a:avLst/>
            <a:gdLst/>
            <a:ahLst/>
            <a:cxnLst/>
            <a:rect r="r" b="b" t="t" l="l"/>
            <a:pathLst>
              <a:path h="2367730" w="2287819">
                <a:moveTo>
                  <a:pt x="0" y="0"/>
                </a:moveTo>
                <a:lnTo>
                  <a:pt x="2287819" y="0"/>
                </a:lnTo>
                <a:lnTo>
                  <a:pt x="2287819" y="2367730"/>
                </a:lnTo>
                <a:lnTo>
                  <a:pt x="0" y="236773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1186719">
            <a:off x="-615851" y="3203019"/>
            <a:ext cx="1863737" cy="2381773"/>
          </a:xfrm>
          <a:custGeom>
            <a:avLst/>
            <a:gdLst/>
            <a:ahLst/>
            <a:cxnLst/>
            <a:rect r="r" b="b" t="t" l="l"/>
            <a:pathLst>
              <a:path h="2381773" w="1863737">
                <a:moveTo>
                  <a:pt x="0" y="0"/>
                </a:moveTo>
                <a:lnTo>
                  <a:pt x="1863737" y="0"/>
                </a:lnTo>
                <a:lnTo>
                  <a:pt x="1863737" y="2381773"/>
                </a:lnTo>
                <a:lnTo>
                  <a:pt x="0" y="23817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5682632">
            <a:off x="-39800" y="6376774"/>
            <a:ext cx="1913611" cy="1913611"/>
          </a:xfrm>
          <a:custGeom>
            <a:avLst/>
            <a:gdLst/>
            <a:ahLst/>
            <a:cxnLst/>
            <a:rect r="r" b="b" t="t" l="l"/>
            <a:pathLst>
              <a:path h="1913611" w="1913611">
                <a:moveTo>
                  <a:pt x="0" y="0"/>
                </a:moveTo>
                <a:lnTo>
                  <a:pt x="1913610" y="0"/>
                </a:lnTo>
                <a:lnTo>
                  <a:pt x="1913610" y="1913610"/>
                </a:lnTo>
                <a:lnTo>
                  <a:pt x="0" y="191361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884690">
            <a:off x="89265" y="8560575"/>
            <a:ext cx="1768567" cy="1835089"/>
          </a:xfrm>
          <a:custGeom>
            <a:avLst/>
            <a:gdLst/>
            <a:ahLst/>
            <a:cxnLst/>
            <a:rect r="r" b="b" t="t" l="l"/>
            <a:pathLst>
              <a:path h="1835089" w="1768567">
                <a:moveTo>
                  <a:pt x="0" y="0"/>
                </a:moveTo>
                <a:lnTo>
                  <a:pt x="1768567" y="0"/>
                </a:lnTo>
                <a:lnTo>
                  <a:pt x="1768567" y="1835089"/>
                </a:lnTo>
                <a:lnTo>
                  <a:pt x="0" y="183508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9" id="9"/>
          <p:cNvSpPr/>
          <p:nvPr/>
        </p:nvSpPr>
        <p:spPr>
          <a:xfrm flipH="false" flipV="false" rot="-1257764">
            <a:off x="10385702" y="9369456"/>
            <a:ext cx="1768567" cy="1835089"/>
          </a:xfrm>
          <a:custGeom>
            <a:avLst/>
            <a:gdLst/>
            <a:ahLst/>
            <a:cxnLst/>
            <a:rect r="r" b="b" t="t" l="l"/>
            <a:pathLst>
              <a:path h="1835089" w="1768567">
                <a:moveTo>
                  <a:pt x="0" y="0"/>
                </a:moveTo>
                <a:lnTo>
                  <a:pt x="1768567" y="0"/>
                </a:lnTo>
                <a:lnTo>
                  <a:pt x="1768567" y="1835088"/>
                </a:lnTo>
                <a:lnTo>
                  <a:pt x="0" y="183508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1628952">
            <a:off x="12951937" y="9023122"/>
            <a:ext cx="2307981" cy="3134779"/>
          </a:xfrm>
          <a:custGeom>
            <a:avLst/>
            <a:gdLst/>
            <a:ahLst/>
            <a:cxnLst/>
            <a:rect r="r" b="b" t="t" l="l"/>
            <a:pathLst>
              <a:path h="3134779" w="2307981">
                <a:moveTo>
                  <a:pt x="0" y="0"/>
                </a:moveTo>
                <a:lnTo>
                  <a:pt x="2307981" y="0"/>
                </a:lnTo>
                <a:lnTo>
                  <a:pt x="2307981" y="3134779"/>
                </a:lnTo>
                <a:lnTo>
                  <a:pt x="0" y="313477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1" id="11"/>
          <p:cNvSpPr/>
          <p:nvPr/>
        </p:nvSpPr>
        <p:spPr>
          <a:xfrm flipH="false" flipV="false" rot="-1474466">
            <a:off x="5503090" y="9456280"/>
            <a:ext cx="1319340" cy="1686057"/>
          </a:xfrm>
          <a:custGeom>
            <a:avLst/>
            <a:gdLst/>
            <a:ahLst/>
            <a:cxnLst/>
            <a:rect r="r" b="b" t="t" l="l"/>
            <a:pathLst>
              <a:path h="1686057" w="1319340">
                <a:moveTo>
                  <a:pt x="0" y="0"/>
                </a:moveTo>
                <a:lnTo>
                  <a:pt x="1319339" y="0"/>
                </a:lnTo>
                <a:lnTo>
                  <a:pt x="1319339" y="1686057"/>
                </a:lnTo>
                <a:lnTo>
                  <a:pt x="0" y="168605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2" id="12"/>
          <p:cNvSpPr/>
          <p:nvPr/>
        </p:nvSpPr>
        <p:spPr>
          <a:xfrm flipH="false" flipV="false" rot="1449204">
            <a:off x="16575449" y="8623051"/>
            <a:ext cx="1753980" cy="2319313"/>
          </a:xfrm>
          <a:custGeom>
            <a:avLst/>
            <a:gdLst/>
            <a:ahLst/>
            <a:cxnLst/>
            <a:rect r="r" b="b" t="t" l="l"/>
            <a:pathLst>
              <a:path h="2319313" w="1753980">
                <a:moveTo>
                  <a:pt x="0" y="0"/>
                </a:moveTo>
                <a:lnTo>
                  <a:pt x="1753980" y="0"/>
                </a:lnTo>
                <a:lnTo>
                  <a:pt x="1753980" y="2319312"/>
                </a:lnTo>
                <a:lnTo>
                  <a:pt x="0" y="2319312"/>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3" id="13"/>
          <p:cNvSpPr/>
          <p:nvPr/>
        </p:nvSpPr>
        <p:spPr>
          <a:xfrm flipH="false" flipV="false" rot="-8804880">
            <a:off x="2680438" y="9178589"/>
            <a:ext cx="1913611" cy="1913611"/>
          </a:xfrm>
          <a:custGeom>
            <a:avLst/>
            <a:gdLst/>
            <a:ahLst/>
            <a:cxnLst/>
            <a:rect r="r" b="b" t="t" l="l"/>
            <a:pathLst>
              <a:path h="1913611" w="1913611">
                <a:moveTo>
                  <a:pt x="0" y="0"/>
                </a:moveTo>
                <a:lnTo>
                  <a:pt x="1913611" y="0"/>
                </a:lnTo>
                <a:lnTo>
                  <a:pt x="1913611" y="1913611"/>
                </a:lnTo>
                <a:lnTo>
                  <a:pt x="0" y="191361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true" flipV="false" rot="0">
            <a:off x="13852934" y="1502132"/>
            <a:ext cx="3406366" cy="3306552"/>
          </a:xfrm>
          <a:custGeom>
            <a:avLst/>
            <a:gdLst/>
            <a:ahLst/>
            <a:cxnLst/>
            <a:rect r="r" b="b" t="t" l="l"/>
            <a:pathLst>
              <a:path h="3306552" w="3406366">
                <a:moveTo>
                  <a:pt x="3406366" y="0"/>
                </a:moveTo>
                <a:lnTo>
                  <a:pt x="0" y="0"/>
                </a:lnTo>
                <a:lnTo>
                  <a:pt x="0" y="3306552"/>
                </a:lnTo>
                <a:lnTo>
                  <a:pt x="3406366" y="3306552"/>
                </a:lnTo>
                <a:lnTo>
                  <a:pt x="3406366" y="0"/>
                </a:lnTo>
                <a:close/>
              </a:path>
            </a:pathLst>
          </a:custGeom>
          <a:blipFill>
            <a:blip r:embed="rId18">
              <a:extLst>
                <a:ext uri="{96DAC541-7B7A-43D3-8B79-37D633B846F1}">
                  <asvg:svgBlip xmlns:asvg="http://schemas.microsoft.com/office/drawing/2016/SVG/main" r:embed="rId19"/>
                </a:ext>
              </a:extLst>
            </a:blip>
            <a:stretch>
              <a:fillRect l="0" t="0" r="0" b="-155226"/>
            </a:stretch>
          </a:blipFill>
        </p:spPr>
      </p:sp>
      <p:graphicFrame>
        <p:nvGraphicFramePr>
          <p:cNvPr name="Table 15" id="15"/>
          <p:cNvGraphicFramePr>
            <a:graphicFrameLocks noGrp="true"/>
          </p:cNvGraphicFramePr>
          <p:nvPr/>
        </p:nvGraphicFramePr>
        <p:xfrm>
          <a:off x="973549" y="4518970"/>
          <a:ext cx="16649105" cy="5055148"/>
        </p:xfrm>
        <a:graphic>
          <a:graphicData uri="http://schemas.openxmlformats.org/drawingml/2006/table">
            <a:tbl>
              <a:tblPr/>
              <a:tblGrid>
                <a:gridCol w="5833577"/>
                <a:gridCol w="5407764"/>
                <a:gridCol w="5407764"/>
              </a:tblGrid>
              <a:tr h="5055148">
                <a:tc>
                  <a:txBody>
                    <a:bodyPr anchor="t" rtlCol="false"/>
                    <a:lstStyle/>
                    <a:p>
                      <a:pPr algn="just">
                        <a:lnSpc>
                          <a:spcPts val="4200"/>
                        </a:lnSpc>
                        <a:defRPr/>
                      </a:pPr>
                      <a:r>
                        <a:rPr lang="en-US" b="true" sz="3000" spc="-30">
                          <a:solidFill>
                            <a:srgbClr val="000000"/>
                          </a:solidFill>
                          <a:latin typeface="Asap Bold"/>
                          <a:ea typeface="Asap Bold"/>
                          <a:cs typeface="Asap Bold"/>
                          <a:sym typeface="Asap Bold"/>
                        </a:rPr>
                        <a:t>Mức ý tưởng</a:t>
                      </a:r>
                      <a:endParaRPr lang="en-US" sz="1100"/>
                    </a:p>
                    <a:p>
                      <a:pPr algn="just">
                        <a:lnSpc>
                          <a:spcPts val="4200"/>
                        </a:lnSpc>
                      </a:pPr>
                      <a:r>
                        <a:rPr lang="en-US" sz="3000" spc="-30">
                          <a:solidFill>
                            <a:srgbClr val="000000"/>
                          </a:solidFill>
                          <a:latin typeface="Asap"/>
                          <a:ea typeface="Asap"/>
                          <a:cs typeface="Asap"/>
                          <a:sym typeface="Asap"/>
                        </a:rPr>
                        <a:t>· Xác định yêu cầu cần kiểm thử </a:t>
                      </a:r>
                    </a:p>
                    <a:p>
                      <a:pPr algn="just">
                        <a:lnSpc>
                          <a:spcPts val="4200"/>
                        </a:lnSpc>
                      </a:pPr>
                      <a:r>
                        <a:rPr lang="en-US" sz="3000" spc="-30">
                          <a:solidFill>
                            <a:srgbClr val="000000"/>
                          </a:solidFill>
                          <a:latin typeface="Asap"/>
                          <a:ea typeface="Asap"/>
                          <a:cs typeface="Asap"/>
                          <a:sym typeface="Asap"/>
                        </a:rPr>
                        <a:t>· Xác định các trường hợp: </a:t>
                      </a:r>
                    </a:p>
                    <a:p>
                      <a:pPr algn="just">
                        <a:lnSpc>
                          <a:spcPts val="4200"/>
                        </a:lnSpc>
                      </a:pPr>
                      <a:r>
                        <a:rPr lang="en-US" sz="3000" spc="-30">
                          <a:solidFill>
                            <a:srgbClr val="000000"/>
                          </a:solidFill>
                          <a:latin typeface="Asap"/>
                          <a:ea typeface="Asap"/>
                          <a:cs typeface="Asap"/>
                          <a:sym typeface="Asap"/>
                        </a:rPr>
                        <a:t>- Bình thường </a:t>
                      </a:r>
                    </a:p>
                    <a:p>
                      <a:pPr algn="just">
                        <a:lnSpc>
                          <a:spcPts val="4200"/>
                        </a:lnSpc>
                      </a:pPr>
                      <a:r>
                        <a:rPr lang="en-US" sz="3000" spc="-30">
                          <a:solidFill>
                            <a:srgbClr val="000000"/>
                          </a:solidFill>
                          <a:latin typeface="Asap"/>
                          <a:ea typeface="Asap"/>
                          <a:cs typeface="Asap"/>
                          <a:sym typeface="Asap"/>
                        </a:rPr>
                        <a:t>- Biên (edge cases) </a:t>
                      </a:r>
                    </a:p>
                    <a:p>
                      <a:pPr algn="just">
                        <a:lnSpc>
                          <a:spcPts val="4200"/>
                        </a:lnSpc>
                      </a:pPr>
                      <a:r>
                        <a:rPr lang="en-US" sz="3000" spc="-30">
                          <a:solidFill>
                            <a:srgbClr val="000000"/>
                          </a:solidFill>
                          <a:latin typeface="Asap"/>
                          <a:ea typeface="Asap"/>
                          <a:cs typeface="Asap"/>
                          <a:sym typeface="Asap"/>
                        </a:rPr>
                        <a:t>- Lỗi (invalid input) </a:t>
                      </a:r>
                    </a:p>
                    <a:p>
                      <a:pPr algn="just">
                        <a:lnSpc>
                          <a:spcPts val="4200"/>
                        </a:lnSpc>
                      </a:pPr>
                    </a:p>
                  </a:txBody>
                  <a:tcPr marL="190500" marR="190500" marT="190500" marB="190500" anchor="ctr">
                    <a:lnL cmpd="sng" algn="ctr" cap="flat" w="38100">
                      <a:solidFill>
                        <a:srgbClr val="8FB7C6"/>
                      </a:solidFill>
                      <a:prstDash val="solid"/>
                      <a:round/>
                      <a:headEnd type="none" w="med" len="med"/>
                      <a:tailEnd type="none" w="med" len="med"/>
                    </a:lnL>
                    <a:lnR cmpd="sng" algn="ctr" cap="flat" w="38100">
                      <a:solidFill>
                        <a:srgbClr val="8FB7C6"/>
                      </a:solidFill>
                      <a:prstDash val="solid"/>
                      <a:round/>
                      <a:headEnd type="none" w="med" len="med"/>
                      <a:tailEnd type="none" w="med" len="med"/>
                    </a:lnR>
                    <a:lnT cmpd="sng" algn="ctr" cap="flat" w="38100">
                      <a:solidFill>
                        <a:srgbClr val="8FB7C6"/>
                      </a:solidFill>
                      <a:prstDash val="solid"/>
                      <a:round/>
                      <a:headEnd type="none" w="med" len="med"/>
                      <a:tailEnd type="none" w="med" len="med"/>
                    </a:lnT>
                    <a:lnB cmpd="sng" algn="ctr" cap="flat" w="38100">
                      <a:solidFill>
                        <a:srgbClr val="8FB7C6"/>
                      </a:solidFill>
                      <a:prstDash val="solid"/>
                      <a:round/>
                      <a:headEnd type="none" w="med" len="med"/>
                      <a:tailEnd type="none" w="med" len="med"/>
                    </a:lnB>
                    <a:solidFill>
                      <a:srgbClr val="FFFFFF"/>
                    </a:solidFill>
                  </a:tcPr>
                </a:tc>
                <a:tc>
                  <a:txBody>
                    <a:bodyPr anchor="t" rtlCol="false"/>
                    <a:lstStyle/>
                    <a:p>
                      <a:pPr algn="just">
                        <a:lnSpc>
                          <a:spcPts val="4199"/>
                        </a:lnSpc>
                        <a:defRPr/>
                      </a:pPr>
                      <a:endParaRPr lang="en-US" sz="1100"/>
                    </a:p>
                  </a:txBody>
                  <a:tcPr marL="190500" marR="190500" marT="190500" marB="190500" anchor="ctr">
                    <a:lnL cmpd="sng" algn="ctr" cap="flat" w="38100">
                      <a:solidFill>
                        <a:srgbClr val="8FB7C6"/>
                      </a:solidFill>
                      <a:prstDash val="solid"/>
                      <a:round/>
                      <a:headEnd type="none" w="med" len="med"/>
                      <a:tailEnd type="none" w="med" len="med"/>
                    </a:lnL>
                    <a:lnR cmpd="sng" algn="ctr" cap="flat" w="38100">
                      <a:solidFill>
                        <a:srgbClr val="8FB7C6"/>
                      </a:solidFill>
                      <a:prstDash val="solid"/>
                      <a:round/>
                      <a:headEnd type="none" w="med" len="med"/>
                      <a:tailEnd type="none" w="med" len="med"/>
                    </a:lnR>
                    <a:lnT cmpd="sng" algn="ctr" cap="flat" w="38100">
                      <a:solidFill>
                        <a:srgbClr val="8FB7C6"/>
                      </a:solidFill>
                      <a:prstDash val="solid"/>
                      <a:round/>
                      <a:headEnd type="none" w="med" len="med"/>
                      <a:tailEnd type="none" w="med" len="med"/>
                    </a:lnT>
                    <a:lnB cmpd="sng" algn="ctr" cap="flat" w="38100">
                      <a:solidFill>
                        <a:srgbClr val="8FB7C6"/>
                      </a:solidFill>
                      <a:prstDash val="solid"/>
                      <a:round/>
                      <a:headEnd type="none" w="med" len="med"/>
                      <a:tailEnd type="none" w="med" len="med"/>
                    </a:lnB>
                    <a:solidFill>
                      <a:srgbClr val="FFFFFF"/>
                    </a:solidFill>
                  </a:tcPr>
                </a:tc>
                <a:tc>
                  <a:txBody>
                    <a:bodyPr anchor="t" rtlCol="false"/>
                    <a:lstStyle/>
                    <a:p>
                      <a:pPr algn="ctr">
                        <a:lnSpc>
                          <a:spcPts val="4200"/>
                        </a:lnSpc>
                        <a:defRPr/>
                      </a:pPr>
                      <a:endParaRPr lang="en-US" sz="1100"/>
                    </a:p>
                  </a:txBody>
                  <a:tcPr marL="190500" marR="190500" marT="190500" marB="190500" anchor="ctr">
                    <a:lnL cmpd="sng" algn="ctr" cap="flat" w="38100">
                      <a:solidFill>
                        <a:srgbClr val="8FB7C6"/>
                      </a:solidFill>
                      <a:prstDash val="solid"/>
                      <a:round/>
                      <a:headEnd type="none" w="med" len="med"/>
                      <a:tailEnd type="none" w="med" len="med"/>
                    </a:lnL>
                    <a:lnR cmpd="sng" algn="ctr" cap="flat" w="38100">
                      <a:solidFill>
                        <a:srgbClr val="8FB7C6"/>
                      </a:solidFill>
                      <a:prstDash val="solid"/>
                      <a:round/>
                      <a:headEnd type="none" w="med" len="med"/>
                      <a:tailEnd type="none" w="med" len="med"/>
                    </a:lnR>
                    <a:lnT cmpd="sng" algn="ctr" cap="flat" w="38100">
                      <a:solidFill>
                        <a:srgbClr val="8FB7C6"/>
                      </a:solidFill>
                      <a:prstDash val="solid"/>
                      <a:round/>
                      <a:headEnd type="none" w="med" len="med"/>
                      <a:tailEnd type="none" w="med" len="med"/>
                    </a:lnT>
                    <a:lnB cmpd="sng" algn="ctr" cap="flat" w="38100">
                      <a:solidFill>
                        <a:srgbClr val="8FB7C6"/>
                      </a:solidFill>
                      <a:prstDash val="solid"/>
                      <a:round/>
                      <a:headEnd type="none" w="med" len="med"/>
                      <a:tailEnd type="none" w="med" len="med"/>
                    </a:lnB>
                    <a:solidFill>
                      <a:srgbClr val="FFFFFF"/>
                    </a:solidFill>
                  </a:tcPr>
                </a:tc>
              </a:tr>
            </a:tbl>
          </a:graphicData>
        </a:graphic>
      </p:graphicFrame>
      <p:graphicFrame>
        <p:nvGraphicFramePr>
          <p:cNvPr name="Table 16" id="16"/>
          <p:cNvGraphicFramePr>
            <a:graphicFrameLocks noGrp="true"/>
          </p:cNvGraphicFramePr>
          <p:nvPr/>
        </p:nvGraphicFramePr>
        <p:xfrm>
          <a:off x="4631842" y="1502132"/>
          <a:ext cx="9024315" cy="1879609"/>
        </p:xfrm>
        <a:graphic>
          <a:graphicData uri="http://schemas.openxmlformats.org/drawingml/2006/table">
            <a:tbl>
              <a:tblPr/>
              <a:tblGrid>
                <a:gridCol w="6807570"/>
              </a:tblGrid>
              <a:tr h="1879609">
                <a:tc>
                  <a:txBody>
                    <a:bodyPr anchor="t" rtlCol="false"/>
                    <a:lstStyle/>
                    <a:p>
                      <a:pPr algn="ctr">
                        <a:lnSpc>
                          <a:spcPts val="9100"/>
                        </a:lnSpc>
                        <a:defRPr/>
                      </a:pPr>
                      <a:r>
                        <a:rPr lang="en-US" sz="6500" b="true">
                          <a:solidFill>
                            <a:srgbClr val="1D2B74"/>
                          </a:solidFill>
                          <a:latin typeface="Faustina Bold"/>
                          <a:ea typeface="Faustina Bold"/>
                          <a:cs typeface="Faustina Bold"/>
                          <a:sym typeface="Faustina Bold"/>
                        </a:rPr>
                        <a:t>Phương pháp luận</a:t>
                      </a:r>
                      <a:endParaRPr lang="en-US" sz="1100"/>
                    </a:p>
                  </a:txBody>
                  <a:tcPr marL="190500" marR="190500" marT="190500" marB="190500" anchor="ctr">
                    <a:lnL cmpd="sng" algn="ctr" cap="flat" w="38100">
                      <a:solidFill>
                        <a:srgbClr val="476A76"/>
                      </a:solidFill>
                      <a:prstDash val="solid"/>
                      <a:round/>
                      <a:headEnd type="none" w="med" len="med"/>
                      <a:tailEnd type="none" w="med" len="med"/>
                    </a:lnL>
                    <a:lnR cmpd="sng" algn="ctr" cap="flat" w="38100">
                      <a:solidFill>
                        <a:srgbClr val="476A76"/>
                      </a:solidFill>
                      <a:prstDash val="solid"/>
                      <a:round/>
                      <a:headEnd type="none" w="med" len="med"/>
                      <a:tailEnd type="none" w="med" len="med"/>
                    </a:lnR>
                    <a:lnT cmpd="sng" algn="ctr" cap="flat" w="38100">
                      <a:solidFill>
                        <a:srgbClr val="476A76"/>
                      </a:solidFill>
                      <a:prstDash val="solid"/>
                      <a:round/>
                      <a:headEnd type="none" w="med" len="med"/>
                      <a:tailEnd type="none" w="med" len="med"/>
                    </a:lnT>
                    <a:lnB cmpd="sng" algn="ctr" cap="flat" w="38100">
                      <a:solidFill>
                        <a:srgbClr val="476A76"/>
                      </a:solidFill>
                      <a:prstDash val="solid"/>
                      <a:round/>
                      <a:headEnd type="none" w="med" len="med"/>
                      <a:tailEnd type="none" w="med" len="med"/>
                    </a:lnB>
                    <a:solidFill>
                      <a:srgbClr val="C8E3ED"/>
                    </a:solidFill>
                  </a:tcPr>
                </a:tc>
              </a:tr>
            </a:tbl>
          </a:graphicData>
        </a:graphic>
      </p:graphicFrame>
      <p:sp>
        <p:nvSpPr>
          <p:cNvPr name="TextBox 17" id="17"/>
          <p:cNvSpPr txBox="true"/>
          <p:nvPr/>
        </p:nvSpPr>
        <p:spPr>
          <a:xfrm rot="0">
            <a:off x="6999012" y="5124450"/>
            <a:ext cx="4598177" cy="2800352"/>
          </a:xfrm>
          <a:prstGeom prst="rect">
            <a:avLst/>
          </a:prstGeom>
        </p:spPr>
        <p:txBody>
          <a:bodyPr anchor="t" rtlCol="false" tIns="0" lIns="0" bIns="0" rIns="0">
            <a:spAutoFit/>
          </a:bodyPr>
          <a:lstStyle/>
          <a:p>
            <a:pPr algn="just">
              <a:lnSpc>
                <a:spcPts val="3749"/>
              </a:lnSpc>
            </a:pPr>
            <a:r>
              <a:rPr lang="en-US" b="true" sz="2999" spc="-29">
                <a:solidFill>
                  <a:srgbClr val="000000"/>
                </a:solidFill>
                <a:latin typeface="Asap Bold"/>
                <a:ea typeface="Asap Bold"/>
                <a:cs typeface="Asap Bold"/>
                <a:sym typeface="Asap Bold"/>
              </a:rPr>
              <a:t>Mức Luận lý </a:t>
            </a:r>
          </a:p>
          <a:p>
            <a:pPr algn="just">
              <a:lnSpc>
                <a:spcPts val="3749"/>
              </a:lnSpc>
            </a:pPr>
            <a:r>
              <a:rPr lang="en-US" sz="2999" spc="-29">
                <a:solidFill>
                  <a:srgbClr val="000000"/>
                </a:solidFill>
                <a:latin typeface="Asap"/>
                <a:ea typeface="Asap"/>
                <a:cs typeface="Asap"/>
                <a:sym typeface="Asap"/>
              </a:rPr>
              <a:t>Workflow kiểm thử:</a:t>
            </a:r>
          </a:p>
          <a:p>
            <a:pPr algn="just">
              <a:lnSpc>
                <a:spcPts val="3749"/>
              </a:lnSpc>
            </a:pPr>
            <a:r>
              <a:rPr lang="en-US" sz="2999" spc="-29">
                <a:solidFill>
                  <a:srgbClr val="000000"/>
                </a:solidFill>
                <a:latin typeface="Asap"/>
                <a:ea typeface="Asap"/>
                <a:cs typeface="Asap"/>
                <a:sym typeface="Asap"/>
              </a:rPr>
              <a:t>Code → Generate Test (AI) → Run Test → Fail/Pass → Fix Code → Repeat</a:t>
            </a:r>
          </a:p>
          <a:p>
            <a:pPr algn="just" marL="0" indent="0" lvl="0">
              <a:lnSpc>
                <a:spcPts val="3749"/>
              </a:lnSpc>
            </a:pPr>
          </a:p>
        </p:txBody>
      </p:sp>
      <p:sp>
        <p:nvSpPr>
          <p:cNvPr name="TextBox 18" id="18"/>
          <p:cNvSpPr txBox="true"/>
          <p:nvPr/>
        </p:nvSpPr>
        <p:spPr>
          <a:xfrm rot="0">
            <a:off x="12661123" y="5177505"/>
            <a:ext cx="4598177" cy="2800352"/>
          </a:xfrm>
          <a:prstGeom prst="rect">
            <a:avLst/>
          </a:prstGeom>
        </p:spPr>
        <p:txBody>
          <a:bodyPr anchor="t" rtlCol="false" tIns="0" lIns="0" bIns="0" rIns="0">
            <a:spAutoFit/>
          </a:bodyPr>
          <a:lstStyle/>
          <a:p>
            <a:pPr algn="just">
              <a:lnSpc>
                <a:spcPts val="3749"/>
              </a:lnSpc>
            </a:pPr>
            <a:r>
              <a:rPr lang="en-US" b="true" sz="2999" spc="-29">
                <a:solidFill>
                  <a:srgbClr val="000000"/>
                </a:solidFill>
                <a:latin typeface="Asap Bold"/>
                <a:ea typeface="Asap Bold"/>
                <a:cs typeface="Asap Bold"/>
                <a:sym typeface="Asap Bold"/>
              </a:rPr>
              <a:t>Mức Vật lý </a:t>
            </a:r>
          </a:p>
          <a:p>
            <a:pPr algn="just">
              <a:lnSpc>
                <a:spcPts val="3749"/>
              </a:lnSpc>
            </a:pPr>
            <a:r>
              <a:rPr lang="en-US" sz="2999" spc="-29">
                <a:solidFill>
                  <a:srgbClr val="000000"/>
                </a:solidFill>
                <a:latin typeface="Asap"/>
                <a:ea typeface="Asap"/>
                <a:cs typeface="Asap"/>
                <a:sym typeface="Asap"/>
              </a:rPr>
              <a:t>Công</a:t>
            </a:r>
            <a:r>
              <a:rPr lang="en-US" sz="2999" spc="-29">
                <a:solidFill>
                  <a:srgbClr val="000000"/>
                </a:solidFill>
                <a:latin typeface="Asap"/>
                <a:ea typeface="Asap"/>
                <a:cs typeface="Asap"/>
                <a:sym typeface="Asap"/>
              </a:rPr>
              <a:t> cụ:</a:t>
            </a:r>
          </a:p>
          <a:p>
            <a:pPr algn="just">
              <a:lnSpc>
                <a:spcPts val="3749"/>
              </a:lnSpc>
            </a:pPr>
            <a:r>
              <a:rPr lang="en-US" sz="2999" spc="-29">
                <a:solidFill>
                  <a:srgbClr val="000000"/>
                </a:solidFill>
                <a:latin typeface="Asap"/>
                <a:ea typeface="Asap"/>
                <a:cs typeface="Asap"/>
                <a:sym typeface="Asap"/>
              </a:rPr>
              <a:t>· Python unittest </a:t>
            </a:r>
          </a:p>
          <a:p>
            <a:pPr algn="just">
              <a:lnSpc>
                <a:spcPts val="3749"/>
              </a:lnSpc>
            </a:pPr>
            <a:r>
              <a:rPr lang="en-US" sz="2999" spc="-29">
                <a:solidFill>
                  <a:srgbClr val="000000"/>
                </a:solidFill>
                <a:latin typeface="Asap"/>
                <a:ea typeface="Asap"/>
                <a:cs typeface="Asap"/>
                <a:sym typeface="Asap"/>
              </a:rPr>
              <a:t>· VS Code / PyCharm </a:t>
            </a:r>
          </a:p>
          <a:p>
            <a:pPr algn="just">
              <a:lnSpc>
                <a:spcPts val="3749"/>
              </a:lnSpc>
            </a:pPr>
            <a:r>
              <a:rPr lang="en-US" sz="2999" spc="-29">
                <a:solidFill>
                  <a:srgbClr val="000000"/>
                </a:solidFill>
                <a:latin typeface="Asap"/>
                <a:ea typeface="Asap"/>
                <a:cs typeface="Asap"/>
                <a:sym typeface="Asap"/>
              </a:rPr>
              <a:t>· GitHub Copilot / ChatGPT</a:t>
            </a:r>
          </a:p>
          <a:p>
            <a:pPr algn="just" marL="0" indent="0" lvl="0">
              <a:lnSpc>
                <a:spcPts val="3749"/>
              </a:lnSpc>
            </a:pPr>
          </a:p>
        </p:txBody>
      </p:sp>
    </p:spTree>
  </p:cSld>
  <p:clrMapOvr>
    <a:masterClrMapping/>
  </p:clrMapOvr>
  <p:transition spd="slow">
    <p:push dir="l"/>
  </p:transition>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C8E3ED"/>
        </a:solidFill>
      </p:bgPr>
    </p:bg>
    <p:spTree>
      <p:nvGrpSpPr>
        <p:cNvPr id="1" name=""/>
        <p:cNvGrpSpPr/>
        <p:nvPr/>
      </p:nvGrpSpPr>
      <p:grpSpPr>
        <a:xfrm>
          <a:off x="0" y="0"/>
          <a:ext cx="0" cy="0"/>
          <a:chOff x="0" y="0"/>
          <a:chExt cx="0" cy="0"/>
        </a:xfrm>
      </p:grpSpPr>
      <p:sp>
        <p:nvSpPr>
          <p:cNvPr name="Freeform 2" id="2"/>
          <p:cNvSpPr/>
          <p:nvPr/>
        </p:nvSpPr>
        <p:spPr>
          <a:xfrm flipH="false" flipV="false" rot="-5113635">
            <a:off x="-531325" y="8224703"/>
            <a:ext cx="2025851" cy="2067195"/>
          </a:xfrm>
          <a:custGeom>
            <a:avLst/>
            <a:gdLst/>
            <a:ahLst/>
            <a:cxnLst/>
            <a:rect r="r" b="b" t="t" l="l"/>
            <a:pathLst>
              <a:path h="2067195" w="2025851">
                <a:moveTo>
                  <a:pt x="0" y="0"/>
                </a:moveTo>
                <a:lnTo>
                  <a:pt x="2025851" y="0"/>
                </a:lnTo>
                <a:lnTo>
                  <a:pt x="2025851" y="2067194"/>
                </a:lnTo>
                <a:lnTo>
                  <a:pt x="0" y="20671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997542" y="-38143"/>
            <a:ext cx="14313820" cy="11169172"/>
            <a:chOff x="0" y="0"/>
            <a:chExt cx="19085093" cy="14892229"/>
          </a:xfrm>
        </p:grpSpPr>
        <p:grpSp>
          <p:nvGrpSpPr>
            <p:cNvPr name="Group 4" id="4"/>
            <p:cNvGrpSpPr/>
            <p:nvPr/>
          </p:nvGrpSpPr>
          <p:grpSpPr>
            <a:xfrm rot="0">
              <a:off x="0" y="772168"/>
              <a:ext cx="9637366" cy="14120061"/>
              <a:chOff x="0" y="0"/>
              <a:chExt cx="8133762" cy="11917075"/>
            </a:xfrm>
          </p:grpSpPr>
          <p:sp>
            <p:nvSpPr>
              <p:cNvPr name="Freeform 5" id="5"/>
              <p:cNvSpPr/>
              <p:nvPr/>
            </p:nvSpPr>
            <p:spPr>
              <a:xfrm flipH="false" flipV="false" rot="0">
                <a:off x="-1" y="0"/>
                <a:ext cx="8133762" cy="11917075"/>
              </a:xfrm>
              <a:custGeom>
                <a:avLst/>
                <a:gdLst/>
                <a:ahLst/>
                <a:cxnLst/>
                <a:rect r="r" b="b" t="t" l="l"/>
                <a:pathLst>
                  <a:path h="11917075" w="8133762">
                    <a:moveTo>
                      <a:pt x="7634981" y="11900157"/>
                    </a:moveTo>
                    <a:cubicBezTo>
                      <a:pt x="7634981" y="11900157"/>
                      <a:pt x="7397986" y="11890187"/>
                      <a:pt x="7035847" y="11903631"/>
                    </a:cubicBezTo>
                    <a:cubicBezTo>
                      <a:pt x="6673708" y="11917075"/>
                      <a:pt x="490924" y="11917075"/>
                      <a:pt x="490924" y="11917075"/>
                    </a:cubicBezTo>
                    <a:cubicBezTo>
                      <a:pt x="245502" y="11917075"/>
                      <a:pt x="32509" y="11819807"/>
                      <a:pt x="31032" y="11659693"/>
                    </a:cubicBezTo>
                    <a:cubicBezTo>
                      <a:pt x="31032" y="11659693"/>
                      <a:pt x="0" y="8462262"/>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7588433" y="0"/>
                      <a:pt x="7588433" y="0"/>
                    </a:cubicBezTo>
                    <a:cubicBezTo>
                      <a:pt x="7900334" y="0"/>
                      <a:pt x="8133763" y="101069"/>
                      <a:pt x="8125905" y="303616"/>
                    </a:cubicBezTo>
                    <a:cubicBezTo>
                      <a:pt x="8125905" y="303616"/>
                      <a:pt x="8123910" y="7763290"/>
                      <a:pt x="8132665" y="10960106"/>
                    </a:cubicBezTo>
                    <a:cubicBezTo>
                      <a:pt x="8141420" y="11253408"/>
                      <a:pt x="8094873" y="11586479"/>
                      <a:pt x="8094873" y="11586479"/>
                    </a:cubicBezTo>
                    <a:cubicBezTo>
                      <a:pt x="8091907" y="11766504"/>
                      <a:pt x="7880404" y="11900157"/>
                      <a:pt x="7634981" y="11900157"/>
                    </a:cubicBezTo>
                    <a:close/>
                  </a:path>
                </a:pathLst>
              </a:custGeom>
              <a:solidFill>
                <a:srgbClr val="8FB7C6"/>
              </a:solidFill>
            </p:spPr>
          </p:sp>
        </p:grpSp>
        <p:grpSp>
          <p:nvGrpSpPr>
            <p:cNvPr name="Group 6" id="6"/>
            <p:cNvGrpSpPr/>
            <p:nvPr/>
          </p:nvGrpSpPr>
          <p:grpSpPr>
            <a:xfrm rot="0">
              <a:off x="9447727" y="772168"/>
              <a:ext cx="9637366" cy="14120061"/>
              <a:chOff x="0" y="0"/>
              <a:chExt cx="8133762" cy="11917075"/>
            </a:xfrm>
          </p:grpSpPr>
          <p:sp>
            <p:nvSpPr>
              <p:cNvPr name="Freeform 7" id="7"/>
              <p:cNvSpPr/>
              <p:nvPr/>
            </p:nvSpPr>
            <p:spPr>
              <a:xfrm flipH="false" flipV="false" rot="0">
                <a:off x="-1" y="0"/>
                <a:ext cx="8133762" cy="11917075"/>
              </a:xfrm>
              <a:custGeom>
                <a:avLst/>
                <a:gdLst/>
                <a:ahLst/>
                <a:cxnLst/>
                <a:rect r="r" b="b" t="t" l="l"/>
                <a:pathLst>
                  <a:path h="11917075" w="8133762">
                    <a:moveTo>
                      <a:pt x="7634981" y="11900157"/>
                    </a:moveTo>
                    <a:cubicBezTo>
                      <a:pt x="7634981" y="11900157"/>
                      <a:pt x="7397986" y="11890187"/>
                      <a:pt x="7035847" y="11903631"/>
                    </a:cubicBezTo>
                    <a:cubicBezTo>
                      <a:pt x="6673708" y="11917075"/>
                      <a:pt x="490924" y="11917075"/>
                      <a:pt x="490924" y="11917075"/>
                    </a:cubicBezTo>
                    <a:cubicBezTo>
                      <a:pt x="245502" y="11917075"/>
                      <a:pt x="32509" y="11819807"/>
                      <a:pt x="31032" y="11659693"/>
                    </a:cubicBezTo>
                    <a:cubicBezTo>
                      <a:pt x="31032" y="11659693"/>
                      <a:pt x="0" y="8462262"/>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7588433" y="0"/>
                      <a:pt x="7588433" y="0"/>
                    </a:cubicBezTo>
                    <a:cubicBezTo>
                      <a:pt x="7900334" y="0"/>
                      <a:pt x="8133763" y="101069"/>
                      <a:pt x="8125905" y="303616"/>
                    </a:cubicBezTo>
                    <a:cubicBezTo>
                      <a:pt x="8125905" y="303616"/>
                      <a:pt x="8123910" y="7763290"/>
                      <a:pt x="8132665" y="10960106"/>
                    </a:cubicBezTo>
                    <a:cubicBezTo>
                      <a:pt x="8141420" y="11253408"/>
                      <a:pt x="8094873" y="11586479"/>
                      <a:pt x="8094873" y="11586479"/>
                    </a:cubicBezTo>
                    <a:cubicBezTo>
                      <a:pt x="8091907" y="11766504"/>
                      <a:pt x="7880404" y="11900157"/>
                      <a:pt x="7634981" y="11900157"/>
                    </a:cubicBezTo>
                    <a:close/>
                  </a:path>
                </a:pathLst>
              </a:custGeom>
              <a:solidFill>
                <a:srgbClr val="8FB7C6"/>
              </a:solidFill>
            </p:spPr>
          </p:sp>
        </p:grpSp>
        <p:grpSp>
          <p:nvGrpSpPr>
            <p:cNvPr name="Group 8" id="8"/>
            <p:cNvGrpSpPr/>
            <p:nvPr/>
          </p:nvGrpSpPr>
          <p:grpSpPr>
            <a:xfrm rot="0">
              <a:off x="140912" y="899589"/>
              <a:ext cx="9495053" cy="12826812"/>
              <a:chOff x="0" y="0"/>
              <a:chExt cx="8133762" cy="10987851"/>
            </a:xfrm>
          </p:grpSpPr>
          <p:sp>
            <p:nvSpPr>
              <p:cNvPr name="Freeform 9" id="9"/>
              <p:cNvSpPr/>
              <p:nvPr/>
            </p:nvSpPr>
            <p:spPr>
              <a:xfrm flipH="false" flipV="false" rot="0">
                <a:off x="-1" y="0"/>
                <a:ext cx="8133762" cy="10987851"/>
              </a:xfrm>
              <a:custGeom>
                <a:avLst/>
                <a:gdLst/>
                <a:ahLst/>
                <a:cxnLst/>
                <a:rect r="r" b="b" t="t" l="l"/>
                <a:pathLst>
                  <a:path h="10987851" w="8133762">
                    <a:moveTo>
                      <a:pt x="7634981" y="10970932"/>
                    </a:moveTo>
                    <a:cubicBezTo>
                      <a:pt x="7634981" y="10970932"/>
                      <a:pt x="7397986" y="10960963"/>
                      <a:pt x="7035847" y="10974407"/>
                    </a:cubicBezTo>
                    <a:cubicBezTo>
                      <a:pt x="6673708" y="10987851"/>
                      <a:pt x="490924" y="10987851"/>
                      <a:pt x="490924" y="10987851"/>
                    </a:cubicBezTo>
                    <a:cubicBezTo>
                      <a:pt x="245502" y="10987851"/>
                      <a:pt x="32509" y="10890583"/>
                      <a:pt x="31032" y="10730469"/>
                    </a:cubicBezTo>
                    <a:cubicBezTo>
                      <a:pt x="31032" y="10730469"/>
                      <a:pt x="0" y="7742488"/>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7588433" y="0"/>
                      <a:pt x="7588433" y="0"/>
                    </a:cubicBezTo>
                    <a:cubicBezTo>
                      <a:pt x="7900334" y="0"/>
                      <a:pt x="8133763" y="101069"/>
                      <a:pt x="8125905" y="303616"/>
                    </a:cubicBezTo>
                    <a:cubicBezTo>
                      <a:pt x="8125905" y="303616"/>
                      <a:pt x="8123910" y="7107570"/>
                      <a:pt x="8132665" y="10030882"/>
                    </a:cubicBezTo>
                    <a:cubicBezTo>
                      <a:pt x="8141420" y="10324183"/>
                      <a:pt x="8094873" y="10657255"/>
                      <a:pt x="8094873" y="10657255"/>
                    </a:cubicBezTo>
                    <a:cubicBezTo>
                      <a:pt x="8091907" y="10837280"/>
                      <a:pt x="7880404" y="10970932"/>
                      <a:pt x="7634981" y="10970932"/>
                    </a:cubicBezTo>
                    <a:close/>
                  </a:path>
                </a:pathLst>
              </a:custGeom>
              <a:solidFill>
                <a:srgbClr val="8FB7C6"/>
              </a:solidFill>
            </p:spPr>
          </p:sp>
        </p:grpSp>
        <p:grpSp>
          <p:nvGrpSpPr>
            <p:cNvPr name="Group 10" id="10"/>
            <p:cNvGrpSpPr/>
            <p:nvPr/>
          </p:nvGrpSpPr>
          <p:grpSpPr>
            <a:xfrm rot="0">
              <a:off x="9449128" y="899589"/>
              <a:ext cx="9495053" cy="12826812"/>
              <a:chOff x="0" y="0"/>
              <a:chExt cx="8133762" cy="10987851"/>
            </a:xfrm>
          </p:grpSpPr>
          <p:sp>
            <p:nvSpPr>
              <p:cNvPr name="Freeform 11" id="11"/>
              <p:cNvSpPr/>
              <p:nvPr/>
            </p:nvSpPr>
            <p:spPr>
              <a:xfrm flipH="false" flipV="false" rot="0">
                <a:off x="-1" y="0"/>
                <a:ext cx="8133762" cy="10987851"/>
              </a:xfrm>
              <a:custGeom>
                <a:avLst/>
                <a:gdLst/>
                <a:ahLst/>
                <a:cxnLst/>
                <a:rect r="r" b="b" t="t" l="l"/>
                <a:pathLst>
                  <a:path h="10987851" w="8133762">
                    <a:moveTo>
                      <a:pt x="7634981" y="10970932"/>
                    </a:moveTo>
                    <a:cubicBezTo>
                      <a:pt x="7634981" y="10970932"/>
                      <a:pt x="7397986" y="10960963"/>
                      <a:pt x="7035847" y="10974407"/>
                    </a:cubicBezTo>
                    <a:cubicBezTo>
                      <a:pt x="6673708" y="10987851"/>
                      <a:pt x="490924" y="10987851"/>
                      <a:pt x="490924" y="10987851"/>
                    </a:cubicBezTo>
                    <a:cubicBezTo>
                      <a:pt x="245502" y="10987851"/>
                      <a:pt x="32509" y="10890583"/>
                      <a:pt x="31032" y="10730469"/>
                    </a:cubicBezTo>
                    <a:cubicBezTo>
                      <a:pt x="31032" y="10730469"/>
                      <a:pt x="0" y="7742488"/>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7588433" y="0"/>
                      <a:pt x="7588433" y="0"/>
                    </a:cubicBezTo>
                    <a:cubicBezTo>
                      <a:pt x="7900334" y="0"/>
                      <a:pt x="8133763" y="101069"/>
                      <a:pt x="8125905" y="303616"/>
                    </a:cubicBezTo>
                    <a:cubicBezTo>
                      <a:pt x="8125905" y="303616"/>
                      <a:pt x="8123910" y="7107570"/>
                      <a:pt x="8132665" y="10030882"/>
                    </a:cubicBezTo>
                    <a:cubicBezTo>
                      <a:pt x="8141420" y="10324183"/>
                      <a:pt x="8094873" y="10657255"/>
                      <a:pt x="8094873" y="10657255"/>
                    </a:cubicBezTo>
                    <a:cubicBezTo>
                      <a:pt x="8091907" y="10837280"/>
                      <a:pt x="7880404" y="10970932"/>
                      <a:pt x="7634981" y="10970932"/>
                    </a:cubicBezTo>
                    <a:close/>
                  </a:path>
                </a:pathLst>
              </a:custGeom>
              <a:solidFill>
                <a:srgbClr val="8FB7C6"/>
              </a:solidFill>
            </p:spPr>
          </p:sp>
        </p:grpSp>
        <p:grpSp>
          <p:nvGrpSpPr>
            <p:cNvPr name="Group 12" id="12"/>
            <p:cNvGrpSpPr/>
            <p:nvPr/>
          </p:nvGrpSpPr>
          <p:grpSpPr>
            <a:xfrm rot="0">
              <a:off x="578198" y="0"/>
              <a:ext cx="9299548" cy="14892229"/>
              <a:chOff x="0" y="0"/>
              <a:chExt cx="8133762" cy="13025347"/>
            </a:xfrm>
          </p:grpSpPr>
          <p:sp>
            <p:nvSpPr>
              <p:cNvPr name="Freeform 13" id="13"/>
              <p:cNvSpPr/>
              <p:nvPr/>
            </p:nvSpPr>
            <p:spPr>
              <a:xfrm flipH="false" flipV="false" rot="0">
                <a:off x="-1" y="0"/>
                <a:ext cx="8133762" cy="13025348"/>
              </a:xfrm>
              <a:custGeom>
                <a:avLst/>
                <a:gdLst/>
                <a:ahLst/>
                <a:cxnLst/>
                <a:rect r="r" b="b" t="t" l="l"/>
                <a:pathLst>
                  <a:path h="13025348" w="8133762">
                    <a:moveTo>
                      <a:pt x="7634981" y="13008428"/>
                    </a:moveTo>
                    <a:cubicBezTo>
                      <a:pt x="7634981" y="13008428"/>
                      <a:pt x="7397986" y="12998459"/>
                      <a:pt x="7035847" y="13011903"/>
                    </a:cubicBezTo>
                    <a:cubicBezTo>
                      <a:pt x="6673708" y="13025348"/>
                      <a:pt x="490924" y="13025348"/>
                      <a:pt x="490924" y="13025348"/>
                    </a:cubicBezTo>
                    <a:cubicBezTo>
                      <a:pt x="245502" y="13025348"/>
                      <a:pt x="32509" y="12928079"/>
                      <a:pt x="31032" y="12767966"/>
                    </a:cubicBezTo>
                    <a:cubicBezTo>
                      <a:pt x="31032" y="12767966"/>
                      <a:pt x="0" y="9320726"/>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7588433" y="0"/>
                      <a:pt x="7588433" y="0"/>
                    </a:cubicBezTo>
                    <a:cubicBezTo>
                      <a:pt x="7900334" y="0"/>
                      <a:pt x="8133763" y="101069"/>
                      <a:pt x="8125905" y="303616"/>
                    </a:cubicBezTo>
                    <a:cubicBezTo>
                      <a:pt x="8125905" y="303616"/>
                      <a:pt x="8123910" y="8545359"/>
                      <a:pt x="8132665" y="12068378"/>
                    </a:cubicBezTo>
                    <a:cubicBezTo>
                      <a:pt x="8141420" y="12361680"/>
                      <a:pt x="8094873" y="12694751"/>
                      <a:pt x="8094873" y="12694751"/>
                    </a:cubicBezTo>
                    <a:cubicBezTo>
                      <a:pt x="8091907" y="12874776"/>
                      <a:pt x="7880404" y="13008428"/>
                      <a:pt x="7634981" y="13008428"/>
                    </a:cubicBezTo>
                    <a:close/>
                  </a:path>
                </a:pathLst>
              </a:custGeom>
              <a:solidFill>
                <a:srgbClr val="F3FCFF"/>
              </a:solidFill>
            </p:spPr>
          </p:sp>
        </p:grpSp>
        <p:grpSp>
          <p:nvGrpSpPr>
            <p:cNvPr name="Group 14" id="14"/>
            <p:cNvGrpSpPr/>
            <p:nvPr/>
          </p:nvGrpSpPr>
          <p:grpSpPr>
            <a:xfrm rot="0">
              <a:off x="9440024" y="0"/>
              <a:ext cx="9299548" cy="14892229"/>
              <a:chOff x="0" y="0"/>
              <a:chExt cx="8133762" cy="13025347"/>
            </a:xfrm>
          </p:grpSpPr>
          <p:sp>
            <p:nvSpPr>
              <p:cNvPr name="Freeform 15" id="15"/>
              <p:cNvSpPr/>
              <p:nvPr/>
            </p:nvSpPr>
            <p:spPr>
              <a:xfrm flipH="false" flipV="false" rot="0">
                <a:off x="-1" y="0"/>
                <a:ext cx="8133762" cy="13025348"/>
              </a:xfrm>
              <a:custGeom>
                <a:avLst/>
                <a:gdLst/>
                <a:ahLst/>
                <a:cxnLst/>
                <a:rect r="r" b="b" t="t" l="l"/>
                <a:pathLst>
                  <a:path h="13025348" w="8133762">
                    <a:moveTo>
                      <a:pt x="7634981" y="13008428"/>
                    </a:moveTo>
                    <a:cubicBezTo>
                      <a:pt x="7634981" y="13008428"/>
                      <a:pt x="7397986" y="12998459"/>
                      <a:pt x="7035847" y="13011903"/>
                    </a:cubicBezTo>
                    <a:cubicBezTo>
                      <a:pt x="6673708" y="13025348"/>
                      <a:pt x="490924" y="13025348"/>
                      <a:pt x="490924" y="13025348"/>
                    </a:cubicBezTo>
                    <a:cubicBezTo>
                      <a:pt x="245502" y="13025348"/>
                      <a:pt x="32509" y="12928079"/>
                      <a:pt x="31032" y="12767966"/>
                    </a:cubicBezTo>
                    <a:cubicBezTo>
                      <a:pt x="31032" y="12767966"/>
                      <a:pt x="0" y="9320726"/>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7588433" y="0"/>
                      <a:pt x="7588433" y="0"/>
                    </a:cubicBezTo>
                    <a:cubicBezTo>
                      <a:pt x="7900334" y="0"/>
                      <a:pt x="8133763" y="101069"/>
                      <a:pt x="8125905" y="303616"/>
                    </a:cubicBezTo>
                    <a:cubicBezTo>
                      <a:pt x="8125905" y="303616"/>
                      <a:pt x="8123910" y="8545359"/>
                      <a:pt x="8132665" y="12068378"/>
                    </a:cubicBezTo>
                    <a:cubicBezTo>
                      <a:pt x="8141420" y="12361680"/>
                      <a:pt x="8094873" y="12694751"/>
                      <a:pt x="8094873" y="12694751"/>
                    </a:cubicBezTo>
                    <a:cubicBezTo>
                      <a:pt x="8091907" y="12874776"/>
                      <a:pt x="7880404" y="13008428"/>
                      <a:pt x="7634981" y="13008428"/>
                    </a:cubicBezTo>
                    <a:close/>
                  </a:path>
                </a:pathLst>
              </a:custGeom>
              <a:solidFill>
                <a:srgbClr val="F3FCFF"/>
              </a:solidFill>
            </p:spPr>
          </p:sp>
        </p:grpSp>
        <p:sp>
          <p:nvSpPr>
            <p:cNvPr name="AutoShape 16" id="16"/>
            <p:cNvSpPr/>
            <p:nvPr/>
          </p:nvSpPr>
          <p:spPr>
            <a:xfrm>
              <a:off x="1741518" y="1436752"/>
              <a:ext cx="15574890" cy="45872"/>
            </a:xfrm>
            <a:prstGeom prst="line">
              <a:avLst/>
            </a:prstGeom>
            <a:ln cap="rnd" w="55189">
              <a:solidFill>
                <a:srgbClr val="8FB7C6"/>
              </a:solidFill>
              <a:prstDash val="solid"/>
              <a:headEnd type="none" len="sm" w="sm"/>
              <a:tailEnd type="none" len="sm" w="sm"/>
            </a:ln>
          </p:spPr>
        </p:sp>
      </p:grpSp>
      <p:sp>
        <p:nvSpPr>
          <p:cNvPr name="TextBox 17" id="17"/>
          <p:cNvSpPr txBox="true"/>
          <p:nvPr/>
        </p:nvSpPr>
        <p:spPr>
          <a:xfrm rot="0">
            <a:off x="3606570" y="85725"/>
            <a:ext cx="11074860" cy="942975"/>
          </a:xfrm>
          <a:prstGeom prst="rect">
            <a:avLst/>
          </a:prstGeom>
        </p:spPr>
        <p:txBody>
          <a:bodyPr anchor="t" rtlCol="false" tIns="0" lIns="0" bIns="0" rIns="0">
            <a:spAutoFit/>
          </a:bodyPr>
          <a:lstStyle/>
          <a:p>
            <a:pPr algn="ctr" marL="0" indent="0" lvl="1">
              <a:lnSpc>
                <a:spcPts val="7440"/>
              </a:lnSpc>
              <a:spcBef>
                <a:spcPct val="0"/>
              </a:spcBef>
            </a:pPr>
            <a:r>
              <a:rPr lang="en-US" b="true" sz="6200">
                <a:solidFill>
                  <a:srgbClr val="1D2B74"/>
                </a:solidFill>
                <a:latin typeface="Faustina Bold"/>
                <a:ea typeface="Faustina Bold"/>
                <a:cs typeface="Faustina Bold"/>
                <a:sym typeface="Faustina Bold"/>
              </a:rPr>
              <a:t>Thực hành </a:t>
            </a:r>
          </a:p>
        </p:txBody>
      </p:sp>
      <p:grpSp>
        <p:nvGrpSpPr>
          <p:cNvPr name="Group 18" id="18"/>
          <p:cNvGrpSpPr/>
          <p:nvPr/>
        </p:nvGrpSpPr>
        <p:grpSpPr>
          <a:xfrm rot="0">
            <a:off x="2955716" y="5823420"/>
            <a:ext cx="12376569" cy="2839041"/>
            <a:chOff x="0" y="0"/>
            <a:chExt cx="16502092" cy="3785387"/>
          </a:xfrm>
        </p:grpSpPr>
        <p:sp>
          <p:nvSpPr>
            <p:cNvPr name="TextBox 19" id="19"/>
            <p:cNvSpPr txBox="true"/>
            <p:nvPr/>
          </p:nvSpPr>
          <p:spPr>
            <a:xfrm rot="0">
              <a:off x="0" y="-9525"/>
              <a:ext cx="16502092" cy="1101725"/>
            </a:xfrm>
            <a:prstGeom prst="rect">
              <a:avLst/>
            </a:prstGeom>
          </p:spPr>
          <p:txBody>
            <a:bodyPr anchor="t" rtlCol="false" tIns="0" lIns="0" bIns="0" rIns="0">
              <a:spAutoFit/>
            </a:bodyPr>
            <a:lstStyle/>
            <a:p>
              <a:pPr algn="l">
                <a:lnSpc>
                  <a:spcPts val="6509"/>
                </a:lnSpc>
              </a:pPr>
            </a:p>
          </p:txBody>
        </p:sp>
        <p:sp>
          <p:nvSpPr>
            <p:cNvPr name="TextBox 20" id="20"/>
            <p:cNvSpPr txBox="true"/>
            <p:nvPr/>
          </p:nvSpPr>
          <p:spPr>
            <a:xfrm rot="0">
              <a:off x="0" y="3023387"/>
              <a:ext cx="11493333" cy="762000"/>
            </a:xfrm>
            <a:prstGeom prst="rect">
              <a:avLst/>
            </a:prstGeom>
          </p:spPr>
          <p:txBody>
            <a:bodyPr anchor="t" rtlCol="false" tIns="0" lIns="0" bIns="0" rIns="0">
              <a:spAutoFit/>
            </a:bodyPr>
            <a:lstStyle/>
            <a:p>
              <a:pPr algn="ctr">
                <a:lnSpc>
                  <a:spcPts val="4559"/>
                </a:lnSpc>
              </a:pPr>
            </a:p>
          </p:txBody>
        </p:sp>
      </p:grpSp>
      <p:sp>
        <p:nvSpPr>
          <p:cNvPr name="Freeform 21" id="21"/>
          <p:cNvSpPr/>
          <p:nvPr/>
        </p:nvSpPr>
        <p:spPr>
          <a:xfrm flipH="false" flipV="false" rot="1186719">
            <a:off x="17607307" y="3461775"/>
            <a:ext cx="1863737" cy="2381773"/>
          </a:xfrm>
          <a:custGeom>
            <a:avLst/>
            <a:gdLst/>
            <a:ahLst/>
            <a:cxnLst/>
            <a:rect r="r" b="b" t="t" l="l"/>
            <a:pathLst>
              <a:path h="2381773" w="1863737">
                <a:moveTo>
                  <a:pt x="0" y="0"/>
                </a:moveTo>
                <a:lnTo>
                  <a:pt x="1863737" y="0"/>
                </a:lnTo>
                <a:lnTo>
                  <a:pt x="1863737" y="2381772"/>
                </a:lnTo>
                <a:lnTo>
                  <a:pt x="0" y="238177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2" id="22"/>
          <p:cNvSpPr/>
          <p:nvPr/>
        </p:nvSpPr>
        <p:spPr>
          <a:xfrm flipH="false" flipV="false" rot="-458302">
            <a:off x="16900877" y="6386450"/>
            <a:ext cx="1913611" cy="1913611"/>
          </a:xfrm>
          <a:custGeom>
            <a:avLst/>
            <a:gdLst/>
            <a:ahLst/>
            <a:cxnLst/>
            <a:rect r="r" b="b" t="t" l="l"/>
            <a:pathLst>
              <a:path h="1913611" w="1913611">
                <a:moveTo>
                  <a:pt x="0" y="0"/>
                </a:moveTo>
                <a:lnTo>
                  <a:pt x="1913611" y="0"/>
                </a:lnTo>
                <a:lnTo>
                  <a:pt x="1913611" y="1913611"/>
                </a:lnTo>
                <a:lnTo>
                  <a:pt x="0" y="191361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3" id="23"/>
          <p:cNvSpPr/>
          <p:nvPr/>
        </p:nvSpPr>
        <p:spPr>
          <a:xfrm flipH="false" flipV="false" rot="-1055302">
            <a:off x="-552465" y="274878"/>
            <a:ext cx="2767204" cy="2199927"/>
          </a:xfrm>
          <a:custGeom>
            <a:avLst/>
            <a:gdLst/>
            <a:ahLst/>
            <a:cxnLst/>
            <a:rect r="r" b="b" t="t" l="l"/>
            <a:pathLst>
              <a:path h="2199927" w="2767204">
                <a:moveTo>
                  <a:pt x="0" y="0"/>
                </a:moveTo>
                <a:lnTo>
                  <a:pt x="2767204" y="0"/>
                </a:lnTo>
                <a:lnTo>
                  <a:pt x="2767204" y="2199927"/>
                </a:lnTo>
                <a:lnTo>
                  <a:pt x="0" y="21999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4" id="24"/>
          <p:cNvSpPr/>
          <p:nvPr/>
        </p:nvSpPr>
        <p:spPr>
          <a:xfrm flipH="false" flipV="false" rot="-1656121">
            <a:off x="16327664" y="237013"/>
            <a:ext cx="2885843" cy="2903993"/>
          </a:xfrm>
          <a:custGeom>
            <a:avLst/>
            <a:gdLst/>
            <a:ahLst/>
            <a:cxnLst/>
            <a:rect r="r" b="b" t="t" l="l"/>
            <a:pathLst>
              <a:path h="2903993" w="2885843">
                <a:moveTo>
                  <a:pt x="0" y="0"/>
                </a:moveTo>
                <a:lnTo>
                  <a:pt x="2885843" y="0"/>
                </a:lnTo>
                <a:lnTo>
                  <a:pt x="2885843" y="2903994"/>
                </a:lnTo>
                <a:lnTo>
                  <a:pt x="0" y="290399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5" id="25"/>
          <p:cNvSpPr/>
          <p:nvPr/>
        </p:nvSpPr>
        <p:spPr>
          <a:xfrm flipH="false" flipV="false" rot="-2237841">
            <a:off x="17105360" y="8414200"/>
            <a:ext cx="1768567" cy="1835089"/>
          </a:xfrm>
          <a:custGeom>
            <a:avLst/>
            <a:gdLst/>
            <a:ahLst/>
            <a:cxnLst/>
            <a:rect r="r" b="b" t="t" l="l"/>
            <a:pathLst>
              <a:path h="1835089" w="1768567">
                <a:moveTo>
                  <a:pt x="0" y="0"/>
                </a:moveTo>
                <a:lnTo>
                  <a:pt x="1768567" y="0"/>
                </a:lnTo>
                <a:lnTo>
                  <a:pt x="1768567" y="1835089"/>
                </a:lnTo>
                <a:lnTo>
                  <a:pt x="0" y="183508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6" id="26"/>
          <p:cNvSpPr/>
          <p:nvPr/>
        </p:nvSpPr>
        <p:spPr>
          <a:xfrm flipH="false" flipV="false" rot="-1479392">
            <a:off x="-577273" y="5940385"/>
            <a:ext cx="1488231" cy="1901893"/>
          </a:xfrm>
          <a:custGeom>
            <a:avLst/>
            <a:gdLst/>
            <a:ahLst/>
            <a:cxnLst/>
            <a:rect r="r" b="b" t="t" l="l"/>
            <a:pathLst>
              <a:path h="1901893" w="1488231">
                <a:moveTo>
                  <a:pt x="0" y="0"/>
                </a:moveTo>
                <a:lnTo>
                  <a:pt x="1488232" y="0"/>
                </a:lnTo>
                <a:lnTo>
                  <a:pt x="1488232" y="1901893"/>
                </a:lnTo>
                <a:lnTo>
                  <a:pt x="0" y="190189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7" id="27"/>
          <p:cNvSpPr/>
          <p:nvPr/>
        </p:nvSpPr>
        <p:spPr>
          <a:xfrm flipH="false" flipV="false" rot="-458292">
            <a:off x="-903414" y="3078267"/>
            <a:ext cx="2287819" cy="2367730"/>
          </a:xfrm>
          <a:custGeom>
            <a:avLst/>
            <a:gdLst/>
            <a:ahLst/>
            <a:cxnLst/>
            <a:rect r="r" b="b" t="t" l="l"/>
            <a:pathLst>
              <a:path h="2367730" w="2287819">
                <a:moveTo>
                  <a:pt x="0" y="0"/>
                </a:moveTo>
                <a:lnTo>
                  <a:pt x="2287819" y="0"/>
                </a:lnTo>
                <a:lnTo>
                  <a:pt x="2287819" y="2367731"/>
                </a:lnTo>
                <a:lnTo>
                  <a:pt x="0" y="236773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28" id="28"/>
          <p:cNvSpPr txBox="true"/>
          <p:nvPr/>
        </p:nvSpPr>
        <p:spPr>
          <a:xfrm rot="0">
            <a:off x="4401665" y="1405751"/>
            <a:ext cx="10409319" cy="8392151"/>
          </a:xfrm>
          <a:prstGeom prst="rect">
            <a:avLst/>
          </a:prstGeom>
        </p:spPr>
        <p:txBody>
          <a:bodyPr anchor="t" rtlCol="false" tIns="0" lIns="0" bIns="0" rIns="0">
            <a:spAutoFit/>
          </a:bodyPr>
          <a:lstStyle/>
          <a:p>
            <a:pPr algn="l" marL="658337" indent="-329168" lvl="1">
              <a:lnSpc>
                <a:spcPts val="3354"/>
              </a:lnSpc>
              <a:buFont typeface="Arial"/>
              <a:buChar char="•"/>
            </a:pPr>
            <a:r>
              <a:rPr lang="en-US" sz="3049">
                <a:solidFill>
                  <a:srgbClr val="000000"/>
                </a:solidFill>
                <a:latin typeface="Open Sans"/>
                <a:ea typeface="Open Sans"/>
                <a:cs typeface="Open Sans"/>
                <a:sym typeface="Open Sans"/>
              </a:rPr>
              <a:t>Lab 1: Xử lý text &amp; n-gram</a:t>
            </a:r>
          </a:p>
          <a:p>
            <a:pPr algn="l">
              <a:lnSpc>
                <a:spcPts val="3354"/>
              </a:lnSpc>
            </a:pPr>
            <a:r>
              <a:rPr lang="en-US" sz="3049">
                <a:solidFill>
                  <a:srgbClr val="000000"/>
                </a:solidFill>
                <a:latin typeface="Open Sans"/>
                <a:ea typeface="Open Sans"/>
                <a:cs typeface="Open Sans"/>
                <a:sym typeface="Open Sans"/>
              </a:rPr>
              <a:t>Mục tiêu: Xây dựng hàm xử lý dữ liệu đầu vào</a:t>
            </a:r>
          </a:p>
          <a:p>
            <a:pPr algn="l">
              <a:lnSpc>
                <a:spcPts val="3354"/>
              </a:lnSpc>
            </a:pPr>
            <a:r>
              <a:rPr lang="en-US" sz="3049">
                <a:solidFill>
                  <a:srgbClr val="000000"/>
                </a:solidFill>
                <a:latin typeface="Open Sans"/>
                <a:ea typeface="Open Sans"/>
                <a:cs typeface="Open Sans"/>
                <a:sym typeface="Open Sans"/>
              </a:rPr>
              <a:t>Ý nghĩa: Tạo nền tảng cho kiểm thử</a:t>
            </a:r>
          </a:p>
          <a:p>
            <a:pPr algn="l">
              <a:lnSpc>
                <a:spcPts val="3354"/>
              </a:lnSpc>
            </a:pPr>
            <a:r>
              <a:rPr lang="en-US" sz="3049">
                <a:solidFill>
                  <a:srgbClr val="000000"/>
                </a:solidFill>
                <a:latin typeface="Open Sans"/>
                <a:ea typeface="Open Sans"/>
                <a:cs typeface="Open Sans"/>
                <a:sym typeface="Open Sans"/>
              </a:rPr>
              <a:t>Kết quả: Tạo được dữ liệu phục vụ test</a:t>
            </a:r>
          </a:p>
          <a:p>
            <a:pPr algn="l" marL="658337" indent="-329168" lvl="1">
              <a:lnSpc>
                <a:spcPts val="3354"/>
              </a:lnSpc>
              <a:buFont typeface="Arial"/>
              <a:buChar char="•"/>
            </a:pPr>
            <a:r>
              <a:rPr lang="en-US" sz="3049">
                <a:solidFill>
                  <a:srgbClr val="000000"/>
                </a:solidFill>
                <a:latin typeface="Open Sans"/>
                <a:ea typeface="Open Sans"/>
                <a:cs typeface="Open Sans"/>
                <a:sym typeface="Open Sans"/>
              </a:rPr>
              <a:t>Lab 2: Unit test cơ bản</a:t>
            </a:r>
          </a:p>
          <a:p>
            <a:pPr algn="l">
              <a:lnSpc>
                <a:spcPts val="3354"/>
              </a:lnSpc>
            </a:pPr>
            <a:r>
              <a:rPr lang="en-US" sz="3049">
                <a:solidFill>
                  <a:srgbClr val="000000"/>
                </a:solidFill>
                <a:latin typeface="Open Sans"/>
                <a:ea typeface="Open Sans"/>
                <a:cs typeface="Open Sans"/>
                <a:sym typeface="Open Sans"/>
              </a:rPr>
              <a:t>Mục tiêu: Kiểm tra từng hàm riêng lẻ</a:t>
            </a:r>
          </a:p>
          <a:p>
            <a:pPr algn="l">
              <a:lnSpc>
                <a:spcPts val="3354"/>
              </a:lnSpc>
            </a:pPr>
            <a:r>
              <a:rPr lang="en-US" sz="3049">
                <a:solidFill>
                  <a:srgbClr val="000000"/>
                </a:solidFill>
                <a:latin typeface="Open Sans"/>
                <a:ea typeface="Open Sans"/>
                <a:cs typeface="Open Sans"/>
                <a:sym typeface="Open Sans"/>
              </a:rPr>
              <a:t>Ý nghĩa: Đảm bảo logic hoạt động đúng</a:t>
            </a:r>
          </a:p>
          <a:p>
            <a:pPr algn="l">
              <a:lnSpc>
                <a:spcPts val="3354"/>
              </a:lnSpc>
            </a:pPr>
            <a:r>
              <a:rPr lang="en-US" sz="3049">
                <a:solidFill>
                  <a:srgbClr val="000000"/>
                </a:solidFill>
                <a:latin typeface="Open Sans"/>
                <a:ea typeface="Open Sans"/>
                <a:cs typeface="Open Sans"/>
                <a:sym typeface="Open Sans"/>
              </a:rPr>
              <a:t>Kết quả: Phát hiện lỗi sớm, tăng độ tin cậy</a:t>
            </a:r>
          </a:p>
          <a:p>
            <a:pPr algn="l" marL="658337" indent="-329168" lvl="1">
              <a:lnSpc>
                <a:spcPts val="3354"/>
              </a:lnSpc>
              <a:buFont typeface="Arial"/>
              <a:buChar char="•"/>
            </a:pPr>
            <a:r>
              <a:rPr lang="en-US" sz="3049">
                <a:solidFill>
                  <a:srgbClr val="000000"/>
                </a:solidFill>
                <a:latin typeface="Open Sans"/>
                <a:ea typeface="Open Sans"/>
                <a:cs typeface="Open Sans"/>
                <a:sym typeface="Open Sans"/>
              </a:rPr>
              <a:t>Lab 3: Data-driven test</a:t>
            </a:r>
          </a:p>
          <a:p>
            <a:pPr algn="l">
              <a:lnSpc>
                <a:spcPts val="3354"/>
              </a:lnSpc>
            </a:pPr>
            <a:r>
              <a:rPr lang="en-US" sz="3049">
                <a:solidFill>
                  <a:srgbClr val="000000"/>
                </a:solidFill>
                <a:latin typeface="Open Sans"/>
                <a:ea typeface="Open Sans"/>
                <a:cs typeface="Open Sans"/>
                <a:sym typeface="Open Sans"/>
              </a:rPr>
              <a:t>Mục tiêu: Kiểm thử nhiều trường hợp với một test</a:t>
            </a:r>
          </a:p>
          <a:p>
            <a:pPr algn="l">
              <a:lnSpc>
                <a:spcPts val="3354"/>
              </a:lnSpc>
            </a:pPr>
            <a:r>
              <a:rPr lang="en-US" sz="3049">
                <a:solidFill>
                  <a:srgbClr val="000000"/>
                </a:solidFill>
                <a:latin typeface="Open Sans"/>
                <a:ea typeface="Open Sans"/>
                <a:cs typeface="Open Sans"/>
                <a:sym typeface="Open Sans"/>
              </a:rPr>
              <a:t>Ý nghĩa: Tối ưu hóa việc viết test</a:t>
            </a:r>
          </a:p>
          <a:p>
            <a:pPr algn="l">
              <a:lnSpc>
                <a:spcPts val="3354"/>
              </a:lnSpc>
            </a:pPr>
            <a:r>
              <a:rPr lang="en-US" sz="3049">
                <a:solidFill>
                  <a:srgbClr val="000000"/>
                </a:solidFill>
                <a:latin typeface="Open Sans"/>
                <a:ea typeface="Open Sans"/>
                <a:cs typeface="Open Sans"/>
                <a:sym typeface="Open Sans"/>
              </a:rPr>
              <a:t>Kết quả: Tăng độ bao phủ, giảm số lượng code test</a:t>
            </a:r>
          </a:p>
          <a:p>
            <a:pPr algn="l" marL="658337" indent="-329168" lvl="1">
              <a:lnSpc>
                <a:spcPts val="3354"/>
              </a:lnSpc>
              <a:buFont typeface="Arial"/>
              <a:buChar char="•"/>
            </a:pPr>
            <a:r>
              <a:rPr lang="en-US" sz="3049">
                <a:solidFill>
                  <a:srgbClr val="000000"/>
                </a:solidFill>
                <a:latin typeface="Open Sans"/>
                <a:ea typeface="Open Sans"/>
                <a:cs typeface="Open Sans"/>
                <a:sym typeface="Open Sans"/>
              </a:rPr>
              <a:t>Lab 4: TDD (Test-Driven Development)</a:t>
            </a:r>
          </a:p>
          <a:p>
            <a:pPr algn="l">
              <a:lnSpc>
                <a:spcPts val="3354"/>
              </a:lnSpc>
            </a:pPr>
            <a:r>
              <a:rPr lang="en-US" sz="3049">
                <a:solidFill>
                  <a:srgbClr val="000000"/>
                </a:solidFill>
                <a:latin typeface="Open Sans"/>
                <a:ea typeface="Open Sans"/>
                <a:cs typeface="Open Sans"/>
                <a:sym typeface="Open Sans"/>
              </a:rPr>
              <a:t>Mục tiêu: Viết test trước, sau đó viết code</a:t>
            </a:r>
          </a:p>
          <a:p>
            <a:pPr algn="l">
              <a:lnSpc>
                <a:spcPts val="3354"/>
              </a:lnSpc>
            </a:pPr>
            <a:r>
              <a:rPr lang="en-US" sz="3049">
                <a:solidFill>
                  <a:srgbClr val="000000"/>
                </a:solidFill>
                <a:latin typeface="Open Sans"/>
                <a:ea typeface="Open Sans"/>
                <a:cs typeface="Open Sans"/>
                <a:sym typeface="Open Sans"/>
              </a:rPr>
              <a:t>Ý nghĩa: Định hướng phát triển theo kiểm thử</a:t>
            </a:r>
          </a:p>
          <a:p>
            <a:pPr algn="l">
              <a:lnSpc>
                <a:spcPts val="3354"/>
              </a:lnSpc>
            </a:pPr>
            <a:r>
              <a:rPr lang="en-US" sz="3049">
                <a:solidFill>
                  <a:srgbClr val="000000"/>
                </a:solidFill>
                <a:latin typeface="Open Sans"/>
                <a:ea typeface="Open Sans"/>
                <a:cs typeface="Open Sans"/>
                <a:sym typeface="Open Sans"/>
              </a:rPr>
              <a:t>Kết quả: Code đúng yêu cầu, giảm lỗi logic</a:t>
            </a:r>
          </a:p>
          <a:p>
            <a:pPr algn="l" marL="658337" indent="-329168" lvl="1">
              <a:lnSpc>
                <a:spcPts val="3354"/>
              </a:lnSpc>
              <a:buFont typeface="Arial"/>
              <a:buChar char="•"/>
            </a:pPr>
            <a:r>
              <a:rPr lang="en-US" sz="3049">
                <a:solidFill>
                  <a:srgbClr val="000000"/>
                </a:solidFill>
                <a:latin typeface="Open Sans"/>
                <a:ea typeface="Open Sans"/>
                <a:cs typeface="Open Sans"/>
                <a:sym typeface="Open Sans"/>
              </a:rPr>
              <a:t>Lab 5: Tạo dữ liệu test (CSV)</a:t>
            </a:r>
          </a:p>
          <a:p>
            <a:pPr algn="l">
              <a:lnSpc>
                <a:spcPts val="3354"/>
              </a:lnSpc>
            </a:pPr>
            <a:r>
              <a:rPr lang="en-US" sz="3049">
                <a:solidFill>
                  <a:srgbClr val="000000"/>
                </a:solidFill>
                <a:latin typeface="Open Sans"/>
                <a:ea typeface="Open Sans"/>
                <a:cs typeface="Open Sans"/>
                <a:sym typeface="Open Sans"/>
              </a:rPr>
              <a:t>Mục tiêu: Sinh dữ liệu phục vụ kiểm thử</a:t>
            </a:r>
          </a:p>
          <a:p>
            <a:pPr algn="l">
              <a:lnSpc>
                <a:spcPts val="3354"/>
              </a:lnSpc>
            </a:pPr>
            <a:r>
              <a:rPr lang="en-US" sz="3049">
                <a:solidFill>
                  <a:srgbClr val="000000"/>
                </a:solidFill>
                <a:latin typeface="Open Sans"/>
                <a:ea typeface="Open Sans"/>
                <a:cs typeface="Open Sans"/>
                <a:sym typeface="Open Sans"/>
              </a:rPr>
              <a:t>Ý nghĩa: Mô phỏng dữ liệu thực tế</a:t>
            </a:r>
          </a:p>
          <a:p>
            <a:pPr algn="l">
              <a:lnSpc>
                <a:spcPts val="3354"/>
              </a:lnSpc>
            </a:pPr>
            <a:r>
              <a:rPr lang="en-US" sz="3049">
                <a:solidFill>
                  <a:srgbClr val="000000"/>
                </a:solidFill>
                <a:latin typeface="Open Sans"/>
                <a:ea typeface="Open Sans"/>
                <a:cs typeface="Open Sans"/>
                <a:sym typeface="Open Sans"/>
              </a:rPr>
              <a:t>Kết quả: Hỗ trợ test hiệu quả và toàn diện hơn</a:t>
            </a:r>
          </a:p>
        </p:txBody>
      </p:sp>
    </p:spTree>
  </p:cSld>
  <p:clrMapOvr>
    <a:masterClrMapping/>
  </p:clrMapOvr>
  <p:transition spd="slow">
    <p:push dir="r"/>
  </p:transition>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C8E3ED"/>
        </a:solidFill>
      </p:bgPr>
    </p:bg>
    <p:spTree>
      <p:nvGrpSpPr>
        <p:cNvPr id="1" name=""/>
        <p:cNvGrpSpPr/>
        <p:nvPr/>
      </p:nvGrpSpPr>
      <p:grpSpPr>
        <a:xfrm>
          <a:off x="0" y="0"/>
          <a:ext cx="0" cy="0"/>
          <a:chOff x="0" y="0"/>
          <a:chExt cx="0" cy="0"/>
        </a:xfrm>
      </p:grpSpPr>
      <p:sp>
        <p:nvSpPr>
          <p:cNvPr name="Freeform 2" id="2"/>
          <p:cNvSpPr/>
          <p:nvPr/>
        </p:nvSpPr>
        <p:spPr>
          <a:xfrm flipH="false" flipV="false" rot="-5113635">
            <a:off x="-531325" y="8224703"/>
            <a:ext cx="2025851" cy="2067195"/>
          </a:xfrm>
          <a:custGeom>
            <a:avLst/>
            <a:gdLst/>
            <a:ahLst/>
            <a:cxnLst/>
            <a:rect r="r" b="b" t="t" l="l"/>
            <a:pathLst>
              <a:path h="2067195" w="2025851">
                <a:moveTo>
                  <a:pt x="0" y="0"/>
                </a:moveTo>
                <a:lnTo>
                  <a:pt x="2025851" y="0"/>
                </a:lnTo>
                <a:lnTo>
                  <a:pt x="2025851" y="2067194"/>
                </a:lnTo>
                <a:lnTo>
                  <a:pt x="0" y="20671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729243" y="2482718"/>
            <a:ext cx="14867614" cy="8114767"/>
            <a:chOff x="0" y="0"/>
            <a:chExt cx="19823485" cy="10819690"/>
          </a:xfrm>
        </p:grpSpPr>
        <p:grpSp>
          <p:nvGrpSpPr>
            <p:cNvPr name="Group 4" id="4"/>
            <p:cNvGrpSpPr/>
            <p:nvPr/>
          </p:nvGrpSpPr>
          <p:grpSpPr>
            <a:xfrm rot="0">
              <a:off x="0" y="266122"/>
              <a:ext cx="10010230" cy="10553568"/>
              <a:chOff x="0" y="0"/>
              <a:chExt cx="9178315" cy="9676498"/>
            </a:xfrm>
          </p:grpSpPr>
          <p:sp>
            <p:nvSpPr>
              <p:cNvPr name="Freeform 5" id="5"/>
              <p:cNvSpPr/>
              <p:nvPr/>
            </p:nvSpPr>
            <p:spPr>
              <a:xfrm flipH="false" flipV="false" rot="0">
                <a:off x="-1" y="0"/>
                <a:ext cx="9178316" cy="9676498"/>
              </a:xfrm>
              <a:custGeom>
                <a:avLst/>
                <a:gdLst/>
                <a:ahLst/>
                <a:cxnLst/>
                <a:rect r="r" b="b" t="t" l="l"/>
                <a:pathLst>
                  <a:path h="9676498" w="9178316">
                    <a:moveTo>
                      <a:pt x="8679536" y="9659579"/>
                    </a:moveTo>
                    <a:cubicBezTo>
                      <a:pt x="8679536" y="9659579"/>
                      <a:pt x="8442539" y="9649609"/>
                      <a:pt x="8080400" y="9663054"/>
                    </a:cubicBezTo>
                    <a:cubicBezTo>
                      <a:pt x="7718262" y="9676498"/>
                      <a:pt x="490924" y="9676498"/>
                      <a:pt x="490924" y="9676498"/>
                    </a:cubicBezTo>
                    <a:cubicBezTo>
                      <a:pt x="245502" y="9676498"/>
                      <a:pt x="32509" y="9579230"/>
                      <a:pt x="31032" y="9419116"/>
                    </a:cubicBezTo>
                    <a:cubicBezTo>
                      <a:pt x="31032" y="9419116"/>
                      <a:pt x="0" y="6726718"/>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8632987" y="0"/>
                      <a:pt x="8632987" y="0"/>
                    </a:cubicBezTo>
                    <a:cubicBezTo>
                      <a:pt x="8944888" y="0"/>
                      <a:pt x="9178316" y="101069"/>
                      <a:pt x="9170458" y="303616"/>
                    </a:cubicBezTo>
                    <a:cubicBezTo>
                      <a:pt x="9170458" y="303616"/>
                      <a:pt x="9168464" y="6182194"/>
                      <a:pt x="9177219" y="8719529"/>
                    </a:cubicBezTo>
                    <a:cubicBezTo>
                      <a:pt x="9185974" y="9012830"/>
                      <a:pt x="9139426" y="9345902"/>
                      <a:pt x="9139426" y="9345902"/>
                    </a:cubicBezTo>
                    <a:cubicBezTo>
                      <a:pt x="9136461" y="9525927"/>
                      <a:pt x="8924958" y="9659579"/>
                      <a:pt x="8679536" y="9659579"/>
                    </a:cubicBezTo>
                    <a:close/>
                  </a:path>
                </a:pathLst>
              </a:custGeom>
              <a:solidFill>
                <a:srgbClr val="8FB7C6"/>
              </a:solidFill>
            </p:spPr>
          </p:sp>
        </p:grpSp>
        <p:grpSp>
          <p:nvGrpSpPr>
            <p:cNvPr name="Group 6" id="6"/>
            <p:cNvGrpSpPr/>
            <p:nvPr/>
          </p:nvGrpSpPr>
          <p:grpSpPr>
            <a:xfrm rot="0">
              <a:off x="9813255" y="266122"/>
              <a:ext cx="10010230" cy="10553568"/>
              <a:chOff x="0" y="0"/>
              <a:chExt cx="9178315" cy="9676498"/>
            </a:xfrm>
          </p:grpSpPr>
          <p:sp>
            <p:nvSpPr>
              <p:cNvPr name="Freeform 7" id="7"/>
              <p:cNvSpPr/>
              <p:nvPr/>
            </p:nvSpPr>
            <p:spPr>
              <a:xfrm flipH="false" flipV="false" rot="0">
                <a:off x="-1" y="0"/>
                <a:ext cx="9178316" cy="9676498"/>
              </a:xfrm>
              <a:custGeom>
                <a:avLst/>
                <a:gdLst/>
                <a:ahLst/>
                <a:cxnLst/>
                <a:rect r="r" b="b" t="t" l="l"/>
                <a:pathLst>
                  <a:path h="9676498" w="9178316">
                    <a:moveTo>
                      <a:pt x="8679536" y="9659579"/>
                    </a:moveTo>
                    <a:cubicBezTo>
                      <a:pt x="8679536" y="9659579"/>
                      <a:pt x="8442539" y="9649609"/>
                      <a:pt x="8080400" y="9663054"/>
                    </a:cubicBezTo>
                    <a:cubicBezTo>
                      <a:pt x="7718262" y="9676498"/>
                      <a:pt x="490924" y="9676498"/>
                      <a:pt x="490924" y="9676498"/>
                    </a:cubicBezTo>
                    <a:cubicBezTo>
                      <a:pt x="245502" y="9676498"/>
                      <a:pt x="32509" y="9579230"/>
                      <a:pt x="31032" y="9419116"/>
                    </a:cubicBezTo>
                    <a:cubicBezTo>
                      <a:pt x="31032" y="9419116"/>
                      <a:pt x="0" y="6726718"/>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8632987" y="0"/>
                      <a:pt x="8632987" y="0"/>
                    </a:cubicBezTo>
                    <a:cubicBezTo>
                      <a:pt x="8944888" y="0"/>
                      <a:pt x="9178316" y="101069"/>
                      <a:pt x="9170458" y="303616"/>
                    </a:cubicBezTo>
                    <a:cubicBezTo>
                      <a:pt x="9170458" y="303616"/>
                      <a:pt x="9168464" y="6182194"/>
                      <a:pt x="9177219" y="8719529"/>
                    </a:cubicBezTo>
                    <a:cubicBezTo>
                      <a:pt x="9185974" y="9012830"/>
                      <a:pt x="9139426" y="9345902"/>
                      <a:pt x="9139426" y="9345902"/>
                    </a:cubicBezTo>
                    <a:cubicBezTo>
                      <a:pt x="9136461" y="9525927"/>
                      <a:pt x="8924958" y="9659579"/>
                      <a:pt x="8679536" y="9659579"/>
                    </a:cubicBezTo>
                    <a:close/>
                  </a:path>
                </a:pathLst>
              </a:custGeom>
              <a:solidFill>
                <a:srgbClr val="8FB7C6"/>
              </a:solidFill>
            </p:spPr>
          </p:sp>
        </p:grpSp>
        <p:grpSp>
          <p:nvGrpSpPr>
            <p:cNvPr name="Group 8" id="8"/>
            <p:cNvGrpSpPr/>
            <p:nvPr/>
          </p:nvGrpSpPr>
          <p:grpSpPr>
            <a:xfrm rot="0">
              <a:off x="146364" y="361359"/>
              <a:ext cx="9862412" cy="9586972"/>
              <a:chOff x="0" y="0"/>
              <a:chExt cx="9178315" cy="8921981"/>
            </a:xfrm>
          </p:grpSpPr>
          <p:sp>
            <p:nvSpPr>
              <p:cNvPr name="Freeform 9" id="9"/>
              <p:cNvSpPr/>
              <p:nvPr/>
            </p:nvSpPr>
            <p:spPr>
              <a:xfrm flipH="false" flipV="false" rot="0">
                <a:off x="-1" y="0"/>
                <a:ext cx="9178316" cy="8921981"/>
              </a:xfrm>
              <a:custGeom>
                <a:avLst/>
                <a:gdLst/>
                <a:ahLst/>
                <a:cxnLst/>
                <a:rect r="r" b="b" t="t" l="l"/>
                <a:pathLst>
                  <a:path h="8921981" w="9178316">
                    <a:moveTo>
                      <a:pt x="8679536" y="8905062"/>
                    </a:moveTo>
                    <a:cubicBezTo>
                      <a:pt x="8679536" y="8905062"/>
                      <a:pt x="8442539" y="8895093"/>
                      <a:pt x="8080400" y="8908537"/>
                    </a:cubicBezTo>
                    <a:cubicBezTo>
                      <a:pt x="7718262" y="8921981"/>
                      <a:pt x="490924" y="8921981"/>
                      <a:pt x="490924" y="8921981"/>
                    </a:cubicBezTo>
                    <a:cubicBezTo>
                      <a:pt x="245502" y="8921981"/>
                      <a:pt x="32509" y="8824713"/>
                      <a:pt x="31032" y="8664599"/>
                    </a:cubicBezTo>
                    <a:cubicBezTo>
                      <a:pt x="31032" y="8664599"/>
                      <a:pt x="0" y="6142272"/>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8632987" y="0"/>
                      <a:pt x="8632987" y="0"/>
                    </a:cubicBezTo>
                    <a:cubicBezTo>
                      <a:pt x="8944888" y="0"/>
                      <a:pt x="9178316" y="101069"/>
                      <a:pt x="9170458" y="303616"/>
                    </a:cubicBezTo>
                    <a:cubicBezTo>
                      <a:pt x="9170458" y="303616"/>
                      <a:pt x="9168464" y="5649759"/>
                      <a:pt x="9177219" y="7965011"/>
                    </a:cubicBezTo>
                    <a:cubicBezTo>
                      <a:pt x="9185974" y="8258313"/>
                      <a:pt x="9139426" y="8591385"/>
                      <a:pt x="9139426" y="8591385"/>
                    </a:cubicBezTo>
                    <a:cubicBezTo>
                      <a:pt x="9136461" y="8771410"/>
                      <a:pt x="8924958" y="8905062"/>
                      <a:pt x="8679536" y="8905062"/>
                    </a:cubicBezTo>
                    <a:close/>
                  </a:path>
                </a:pathLst>
              </a:custGeom>
              <a:solidFill>
                <a:srgbClr val="8FB7C6"/>
              </a:solidFill>
            </p:spPr>
          </p:sp>
        </p:grpSp>
        <p:grpSp>
          <p:nvGrpSpPr>
            <p:cNvPr name="Group 10" id="10"/>
            <p:cNvGrpSpPr/>
            <p:nvPr/>
          </p:nvGrpSpPr>
          <p:grpSpPr>
            <a:xfrm rot="0">
              <a:off x="9814709" y="361359"/>
              <a:ext cx="9862412" cy="9586972"/>
              <a:chOff x="0" y="0"/>
              <a:chExt cx="9178315" cy="8921981"/>
            </a:xfrm>
          </p:grpSpPr>
          <p:sp>
            <p:nvSpPr>
              <p:cNvPr name="Freeform 11" id="11"/>
              <p:cNvSpPr/>
              <p:nvPr/>
            </p:nvSpPr>
            <p:spPr>
              <a:xfrm flipH="false" flipV="false" rot="0">
                <a:off x="-1" y="0"/>
                <a:ext cx="9178316" cy="8921981"/>
              </a:xfrm>
              <a:custGeom>
                <a:avLst/>
                <a:gdLst/>
                <a:ahLst/>
                <a:cxnLst/>
                <a:rect r="r" b="b" t="t" l="l"/>
                <a:pathLst>
                  <a:path h="8921981" w="9178316">
                    <a:moveTo>
                      <a:pt x="8679536" y="8905062"/>
                    </a:moveTo>
                    <a:cubicBezTo>
                      <a:pt x="8679536" y="8905062"/>
                      <a:pt x="8442539" y="8895093"/>
                      <a:pt x="8080400" y="8908537"/>
                    </a:cubicBezTo>
                    <a:cubicBezTo>
                      <a:pt x="7718262" y="8921981"/>
                      <a:pt x="490924" y="8921981"/>
                      <a:pt x="490924" y="8921981"/>
                    </a:cubicBezTo>
                    <a:cubicBezTo>
                      <a:pt x="245502" y="8921981"/>
                      <a:pt x="32509" y="8824713"/>
                      <a:pt x="31032" y="8664599"/>
                    </a:cubicBezTo>
                    <a:cubicBezTo>
                      <a:pt x="31032" y="8664599"/>
                      <a:pt x="0" y="6142272"/>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8632987" y="0"/>
                      <a:pt x="8632987" y="0"/>
                    </a:cubicBezTo>
                    <a:cubicBezTo>
                      <a:pt x="8944888" y="0"/>
                      <a:pt x="9178316" y="101069"/>
                      <a:pt x="9170458" y="303616"/>
                    </a:cubicBezTo>
                    <a:cubicBezTo>
                      <a:pt x="9170458" y="303616"/>
                      <a:pt x="9168464" y="5649759"/>
                      <a:pt x="9177219" y="7965011"/>
                    </a:cubicBezTo>
                    <a:cubicBezTo>
                      <a:pt x="9185974" y="8258313"/>
                      <a:pt x="9139426" y="8591385"/>
                      <a:pt x="9139426" y="8591385"/>
                    </a:cubicBezTo>
                    <a:cubicBezTo>
                      <a:pt x="9136461" y="8771410"/>
                      <a:pt x="8924958" y="8905062"/>
                      <a:pt x="8679536" y="8905062"/>
                    </a:cubicBezTo>
                    <a:close/>
                  </a:path>
                </a:pathLst>
              </a:custGeom>
              <a:solidFill>
                <a:srgbClr val="8FB7C6"/>
              </a:solidFill>
            </p:spPr>
          </p:sp>
        </p:grpSp>
        <p:grpSp>
          <p:nvGrpSpPr>
            <p:cNvPr name="Group 12" id="12"/>
            <p:cNvGrpSpPr/>
            <p:nvPr/>
          </p:nvGrpSpPr>
          <p:grpSpPr>
            <a:xfrm rot="0">
              <a:off x="600568" y="0"/>
              <a:ext cx="9389445" cy="10819690"/>
              <a:chOff x="0" y="0"/>
              <a:chExt cx="9178315" cy="10576399"/>
            </a:xfrm>
          </p:grpSpPr>
          <p:sp>
            <p:nvSpPr>
              <p:cNvPr name="Freeform 13" id="13"/>
              <p:cNvSpPr/>
              <p:nvPr/>
            </p:nvSpPr>
            <p:spPr>
              <a:xfrm flipH="false" flipV="false" rot="0">
                <a:off x="-1" y="0"/>
                <a:ext cx="9178316" cy="10576399"/>
              </a:xfrm>
              <a:custGeom>
                <a:avLst/>
                <a:gdLst/>
                <a:ahLst/>
                <a:cxnLst/>
                <a:rect r="r" b="b" t="t" l="l"/>
                <a:pathLst>
                  <a:path h="10576399" w="9178316">
                    <a:moveTo>
                      <a:pt x="8679536" y="10559480"/>
                    </a:moveTo>
                    <a:cubicBezTo>
                      <a:pt x="8679536" y="10559480"/>
                      <a:pt x="8442539" y="10549511"/>
                      <a:pt x="8080400" y="10562955"/>
                    </a:cubicBezTo>
                    <a:cubicBezTo>
                      <a:pt x="7718262" y="10576399"/>
                      <a:pt x="490924" y="10576399"/>
                      <a:pt x="490924" y="10576399"/>
                    </a:cubicBezTo>
                    <a:cubicBezTo>
                      <a:pt x="245502" y="10576399"/>
                      <a:pt x="32509" y="10479132"/>
                      <a:pt x="31032" y="10319017"/>
                    </a:cubicBezTo>
                    <a:cubicBezTo>
                      <a:pt x="31032" y="10319017"/>
                      <a:pt x="0" y="7423779"/>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8632987" y="0"/>
                      <a:pt x="8632987" y="0"/>
                    </a:cubicBezTo>
                    <a:cubicBezTo>
                      <a:pt x="8944888" y="0"/>
                      <a:pt x="9178316" y="101069"/>
                      <a:pt x="9170458" y="303616"/>
                    </a:cubicBezTo>
                    <a:cubicBezTo>
                      <a:pt x="9170458" y="303616"/>
                      <a:pt x="9168464" y="6817223"/>
                      <a:pt x="9177219" y="9619430"/>
                    </a:cubicBezTo>
                    <a:cubicBezTo>
                      <a:pt x="9185974" y="9912731"/>
                      <a:pt x="9139426" y="10245803"/>
                      <a:pt x="9139426" y="10245803"/>
                    </a:cubicBezTo>
                    <a:cubicBezTo>
                      <a:pt x="9136461" y="10425828"/>
                      <a:pt x="8924958" y="10559480"/>
                      <a:pt x="8679536" y="10559480"/>
                    </a:cubicBezTo>
                    <a:close/>
                  </a:path>
                </a:pathLst>
              </a:custGeom>
              <a:solidFill>
                <a:srgbClr val="F3FCFF"/>
              </a:solidFill>
            </p:spPr>
          </p:sp>
        </p:grpSp>
        <p:grpSp>
          <p:nvGrpSpPr>
            <p:cNvPr name="Group 14" id="14"/>
            <p:cNvGrpSpPr/>
            <p:nvPr/>
          </p:nvGrpSpPr>
          <p:grpSpPr>
            <a:xfrm rot="0">
              <a:off x="9805254" y="0"/>
              <a:ext cx="9389445" cy="10819690"/>
              <a:chOff x="0" y="0"/>
              <a:chExt cx="9178315" cy="10576399"/>
            </a:xfrm>
          </p:grpSpPr>
          <p:sp>
            <p:nvSpPr>
              <p:cNvPr name="Freeform 15" id="15"/>
              <p:cNvSpPr/>
              <p:nvPr/>
            </p:nvSpPr>
            <p:spPr>
              <a:xfrm flipH="false" flipV="false" rot="0">
                <a:off x="-1" y="0"/>
                <a:ext cx="9178316" cy="10576399"/>
              </a:xfrm>
              <a:custGeom>
                <a:avLst/>
                <a:gdLst/>
                <a:ahLst/>
                <a:cxnLst/>
                <a:rect r="r" b="b" t="t" l="l"/>
                <a:pathLst>
                  <a:path h="10576399" w="9178316">
                    <a:moveTo>
                      <a:pt x="8679536" y="10559480"/>
                    </a:moveTo>
                    <a:cubicBezTo>
                      <a:pt x="8679536" y="10559480"/>
                      <a:pt x="8442539" y="10549511"/>
                      <a:pt x="8080400" y="10562955"/>
                    </a:cubicBezTo>
                    <a:cubicBezTo>
                      <a:pt x="7718262" y="10576399"/>
                      <a:pt x="490924" y="10576399"/>
                      <a:pt x="490924" y="10576399"/>
                    </a:cubicBezTo>
                    <a:cubicBezTo>
                      <a:pt x="245502" y="10576399"/>
                      <a:pt x="32509" y="10479132"/>
                      <a:pt x="31032" y="10319017"/>
                    </a:cubicBezTo>
                    <a:cubicBezTo>
                      <a:pt x="31032" y="10319017"/>
                      <a:pt x="0" y="7423779"/>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8632987" y="0"/>
                      <a:pt x="8632987" y="0"/>
                    </a:cubicBezTo>
                    <a:cubicBezTo>
                      <a:pt x="8944888" y="0"/>
                      <a:pt x="9178316" y="101069"/>
                      <a:pt x="9170458" y="303616"/>
                    </a:cubicBezTo>
                    <a:cubicBezTo>
                      <a:pt x="9170458" y="303616"/>
                      <a:pt x="9168464" y="6817223"/>
                      <a:pt x="9177219" y="9619430"/>
                    </a:cubicBezTo>
                    <a:cubicBezTo>
                      <a:pt x="9185974" y="9912731"/>
                      <a:pt x="9139426" y="10245803"/>
                      <a:pt x="9139426" y="10245803"/>
                    </a:cubicBezTo>
                    <a:cubicBezTo>
                      <a:pt x="9136461" y="10425828"/>
                      <a:pt x="8924958" y="10559480"/>
                      <a:pt x="8679536" y="10559480"/>
                    </a:cubicBezTo>
                    <a:close/>
                  </a:path>
                </a:pathLst>
              </a:custGeom>
              <a:solidFill>
                <a:srgbClr val="F3FCFF"/>
              </a:solidFill>
            </p:spPr>
          </p:sp>
        </p:grpSp>
        <p:sp>
          <p:nvSpPr>
            <p:cNvPr name="AutoShape 16" id="16"/>
            <p:cNvSpPr/>
            <p:nvPr/>
          </p:nvSpPr>
          <p:spPr>
            <a:xfrm>
              <a:off x="1808896" y="762843"/>
              <a:ext cx="16177474" cy="34286"/>
            </a:xfrm>
            <a:prstGeom prst="line">
              <a:avLst/>
            </a:prstGeom>
            <a:ln cap="rnd" w="50800">
              <a:solidFill>
                <a:srgbClr val="8FB7C6"/>
              </a:solidFill>
              <a:prstDash val="solid"/>
              <a:headEnd type="none" len="sm" w="sm"/>
              <a:tailEnd type="none" len="sm" w="sm"/>
            </a:ln>
          </p:spPr>
        </p:sp>
      </p:grpSp>
      <p:grpSp>
        <p:nvGrpSpPr>
          <p:cNvPr name="Group 17" id="17"/>
          <p:cNvGrpSpPr/>
          <p:nvPr/>
        </p:nvGrpSpPr>
        <p:grpSpPr>
          <a:xfrm rot="0">
            <a:off x="3736004" y="4250598"/>
            <a:ext cx="10815993" cy="4315416"/>
            <a:chOff x="0" y="0"/>
            <a:chExt cx="14421324" cy="5753887"/>
          </a:xfrm>
        </p:grpSpPr>
        <p:sp>
          <p:nvSpPr>
            <p:cNvPr name="TextBox 18" id="18"/>
            <p:cNvSpPr txBox="true"/>
            <p:nvPr/>
          </p:nvSpPr>
          <p:spPr>
            <a:xfrm rot="0">
              <a:off x="0" y="0"/>
              <a:ext cx="14421324" cy="4152900"/>
            </a:xfrm>
            <a:prstGeom prst="rect">
              <a:avLst/>
            </a:prstGeom>
          </p:spPr>
          <p:txBody>
            <a:bodyPr anchor="t" rtlCol="false" tIns="0" lIns="0" bIns="0" rIns="0">
              <a:spAutoFit/>
            </a:bodyPr>
            <a:lstStyle/>
            <a:p>
              <a:pPr algn="ctr" marL="0" indent="0" lvl="1">
                <a:lnSpc>
                  <a:spcPts val="8189"/>
                </a:lnSpc>
                <a:spcBef>
                  <a:spcPct val="0"/>
                </a:spcBef>
              </a:pPr>
              <a:r>
                <a:rPr lang="en-US" b="true" sz="6824">
                  <a:solidFill>
                    <a:srgbClr val="1D2B74"/>
                  </a:solidFill>
                  <a:latin typeface="Faustina Bold"/>
                  <a:ea typeface="Faustina Bold"/>
                  <a:cs typeface="Faustina Bold"/>
                  <a:sym typeface="Faustina Bold"/>
                </a:rPr>
                <a:t>CHƯƠNG 14:Ứng dụng GenAI trong quản lý và tối ưu thời gian chạy và bộ nhớ</a:t>
              </a:r>
            </a:p>
          </p:txBody>
        </p:sp>
        <p:sp>
          <p:nvSpPr>
            <p:cNvPr name="TextBox 19" id="19"/>
            <p:cNvSpPr txBox="true"/>
            <p:nvPr/>
          </p:nvSpPr>
          <p:spPr>
            <a:xfrm rot="0">
              <a:off x="0" y="4991887"/>
              <a:ext cx="14421324" cy="762000"/>
            </a:xfrm>
            <a:prstGeom prst="rect">
              <a:avLst/>
            </a:prstGeom>
          </p:spPr>
          <p:txBody>
            <a:bodyPr anchor="t" rtlCol="false" tIns="0" lIns="0" bIns="0" rIns="0">
              <a:spAutoFit/>
            </a:bodyPr>
            <a:lstStyle/>
            <a:p>
              <a:pPr algn="ctr">
                <a:lnSpc>
                  <a:spcPts val="4559"/>
                </a:lnSpc>
              </a:pPr>
            </a:p>
          </p:txBody>
        </p:sp>
      </p:grpSp>
      <p:sp>
        <p:nvSpPr>
          <p:cNvPr name="Freeform 20" id="20"/>
          <p:cNvSpPr/>
          <p:nvPr/>
        </p:nvSpPr>
        <p:spPr>
          <a:xfrm flipH="false" flipV="false" rot="1186719">
            <a:off x="16925814" y="3640910"/>
            <a:ext cx="1863737" cy="2381773"/>
          </a:xfrm>
          <a:custGeom>
            <a:avLst/>
            <a:gdLst/>
            <a:ahLst/>
            <a:cxnLst/>
            <a:rect r="r" b="b" t="t" l="l"/>
            <a:pathLst>
              <a:path h="2381773" w="1863737">
                <a:moveTo>
                  <a:pt x="0" y="0"/>
                </a:moveTo>
                <a:lnTo>
                  <a:pt x="1863737" y="0"/>
                </a:lnTo>
                <a:lnTo>
                  <a:pt x="1863737" y="2381773"/>
                </a:lnTo>
                <a:lnTo>
                  <a:pt x="0" y="23817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1" id="21"/>
          <p:cNvSpPr/>
          <p:nvPr/>
        </p:nvSpPr>
        <p:spPr>
          <a:xfrm flipH="false" flipV="false" rot="-458302">
            <a:off x="16900877" y="6386450"/>
            <a:ext cx="1913611" cy="1913611"/>
          </a:xfrm>
          <a:custGeom>
            <a:avLst/>
            <a:gdLst/>
            <a:ahLst/>
            <a:cxnLst/>
            <a:rect r="r" b="b" t="t" l="l"/>
            <a:pathLst>
              <a:path h="1913611" w="1913611">
                <a:moveTo>
                  <a:pt x="0" y="0"/>
                </a:moveTo>
                <a:lnTo>
                  <a:pt x="1913611" y="0"/>
                </a:lnTo>
                <a:lnTo>
                  <a:pt x="1913611" y="1913611"/>
                </a:lnTo>
                <a:lnTo>
                  <a:pt x="0" y="191361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2" id="22"/>
          <p:cNvSpPr/>
          <p:nvPr/>
        </p:nvSpPr>
        <p:spPr>
          <a:xfrm flipH="false" flipV="false" rot="-1055302">
            <a:off x="-552465" y="274878"/>
            <a:ext cx="2767204" cy="2199927"/>
          </a:xfrm>
          <a:custGeom>
            <a:avLst/>
            <a:gdLst/>
            <a:ahLst/>
            <a:cxnLst/>
            <a:rect r="r" b="b" t="t" l="l"/>
            <a:pathLst>
              <a:path h="2199927" w="2767204">
                <a:moveTo>
                  <a:pt x="0" y="0"/>
                </a:moveTo>
                <a:lnTo>
                  <a:pt x="2767204" y="0"/>
                </a:lnTo>
                <a:lnTo>
                  <a:pt x="2767204" y="2199927"/>
                </a:lnTo>
                <a:lnTo>
                  <a:pt x="0" y="21999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3" id="23"/>
          <p:cNvSpPr/>
          <p:nvPr/>
        </p:nvSpPr>
        <p:spPr>
          <a:xfrm flipH="false" flipV="false" rot="-1656121">
            <a:off x="16327664" y="237013"/>
            <a:ext cx="2885843" cy="2903993"/>
          </a:xfrm>
          <a:custGeom>
            <a:avLst/>
            <a:gdLst/>
            <a:ahLst/>
            <a:cxnLst/>
            <a:rect r="r" b="b" t="t" l="l"/>
            <a:pathLst>
              <a:path h="2903993" w="2885843">
                <a:moveTo>
                  <a:pt x="0" y="0"/>
                </a:moveTo>
                <a:lnTo>
                  <a:pt x="2885843" y="0"/>
                </a:lnTo>
                <a:lnTo>
                  <a:pt x="2885843" y="2903994"/>
                </a:lnTo>
                <a:lnTo>
                  <a:pt x="0" y="290399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4" id="24"/>
          <p:cNvSpPr/>
          <p:nvPr/>
        </p:nvSpPr>
        <p:spPr>
          <a:xfrm flipH="false" flipV="false" rot="-2237841">
            <a:off x="17105360" y="8414200"/>
            <a:ext cx="1768567" cy="1835089"/>
          </a:xfrm>
          <a:custGeom>
            <a:avLst/>
            <a:gdLst/>
            <a:ahLst/>
            <a:cxnLst/>
            <a:rect r="r" b="b" t="t" l="l"/>
            <a:pathLst>
              <a:path h="1835089" w="1768567">
                <a:moveTo>
                  <a:pt x="0" y="0"/>
                </a:moveTo>
                <a:lnTo>
                  <a:pt x="1768567" y="0"/>
                </a:lnTo>
                <a:lnTo>
                  <a:pt x="1768567" y="1835089"/>
                </a:lnTo>
                <a:lnTo>
                  <a:pt x="0" y="183508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5" id="25"/>
          <p:cNvSpPr/>
          <p:nvPr/>
        </p:nvSpPr>
        <p:spPr>
          <a:xfrm flipH="false" flipV="false" rot="-1479392">
            <a:off x="-577273" y="5940385"/>
            <a:ext cx="1488231" cy="1901893"/>
          </a:xfrm>
          <a:custGeom>
            <a:avLst/>
            <a:gdLst/>
            <a:ahLst/>
            <a:cxnLst/>
            <a:rect r="r" b="b" t="t" l="l"/>
            <a:pathLst>
              <a:path h="1901893" w="1488231">
                <a:moveTo>
                  <a:pt x="0" y="0"/>
                </a:moveTo>
                <a:lnTo>
                  <a:pt x="1488232" y="0"/>
                </a:lnTo>
                <a:lnTo>
                  <a:pt x="1488232" y="1901893"/>
                </a:lnTo>
                <a:lnTo>
                  <a:pt x="0" y="190189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6" id="26"/>
          <p:cNvSpPr/>
          <p:nvPr/>
        </p:nvSpPr>
        <p:spPr>
          <a:xfrm flipH="false" flipV="false" rot="-458292">
            <a:off x="-903414" y="3078267"/>
            <a:ext cx="2287819" cy="2367730"/>
          </a:xfrm>
          <a:custGeom>
            <a:avLst/>
            <a:gdLst/>
            <a:ahLst/>
            <a:cxnLst/>
            <a:rect r="r" b="b" t="t" l="l"/>
            <a:pathLst>
              <a:path h="2367730" w="2287819">
                <a:moveTo>
                  <a:pt x="0" y="0"/>
                </a:moveTo>
                <a:lnTo>
                  <a:pt x="2287819" y="0"/>
                </a:lnTo>
                <a:lnTo>
                  <a:pt x="2287819" y="2367731"/>
                </a:lnTo>
                <a:lnTo>
                  <a:pt x="0" y="236773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Tree>
  </p:cSld>
  <p:clrMapOvr>
    <a:masterClrMapping/>
  </p:clrMapOvr>
  <p:transition spd="slow">
    <p:push dir="r"/>
  </p:transition>
</p:sld>
</file>

<file path=ppt/slides/slide14.xml><?xml version="1.0" encoding="utf-8"?>
<p:sld xmlns:p="http://schemas.openxmlformats.org/presentationml/2006/main" xmlns:a="http://schemas.openxmlformats.org/drawingml/2006/main">
  <p:cSld>
    <p:bg>
      <p:bgPr>
        <a:solidFill>
          <a:srgbClr val="C8E3ED"/>
        </a:solidFill>
      </p:bgPr>
    </p:bg>
    <p:spTree>
      <p:nvGrpSpPr>
        <p:cNvPr id="1" name=""/>
        <p:cNvGrpSpPr/>
        <p:nvPr/>
      </p:nvGrpSpPr>
      <p:grpSpPr>
        <a:xfrm>
          <a:off x="0" y="0"/>
          <a:ext cx="0" cy="0"/>
          <a:chOff x="0" y="0"/>
          <a:chExt cx="0" cy="0"/>
        </a:xfrm>
      </p:grpSpPr>
      <p:grpSp>
        <p:nvGrpSpPr>
          <p:cNvPr name="Group 2" id="2"/>
          <p:cNvGrpSpPr/>
          <p:nvPr/>
        </p:nvGrpSpPr>
        <p:grpSpPr>
          <a:xfrm rot="0">
            <a:off x="774820" y="1028700"/>
            <a:ext cx="18537765" cy="8229600"/>
            <a:chOff x="0" y="0"/>
            <a:chExt cx="24717020" cy="10972800"/>
          </a:xfrm>
        </p:grpSpPr>
        <p:grpSp>
          <p:nvGrpSpPr>
            <p:cNvPr name="Group 3" id="3"/>
            <p:cNvGrpSpPr/>
            <p:nvPr/>
          </p:nvGrpSpPr>
          <p:grpSpPr>
            <a:xfrm rot="0">
              <a:off x="0" y="977717"/>
              <a:ext cx="23352980" cy="9995083"/>
              <a:chOff x="0" y="0"/>
              <a:chExt cx="22703567" cy="9717134"/>
            </a:xfrm>
          </p:grpSpPr>
          <p:sp>
            <p:nvSpPr>
              <p:cNvPr name="Freeform 4" id="4"/>
              <p:cNvSpPr/>
              <p:nvPr/>
            </p:nvSpPr>
            <p:spPr>
              <a:xfrm flipH="false" flipV="false" rot="0">
                <a:off x="-1" y="0"/>
                <a:ext cx="22703568" cy="9717134"/>
              </a:xfrm>
              <a:custGeom>
                <a:avLst/>
                <a:gdLst/>
                <a:ahLst/>
                <a:cxnLst/>
                <a:rect r="r" b="b" t="t" l="l"/>
                <a:pathLst>
                  <a:path h="9717134" w="22703568">
                    <a:moveTo>
                      <a:pt x="22204787" y="9700216"/>
                    </a:moveTo>
                    <a:cubicBezTo>
                      <a:pt x="22204787" y="9700216"/>
                      <a:pt x="21967792" y="9690246"/>
                      <a:pt x="21605653" y="9703690"/>
                    </a:cubicBezTo>
                    <a:cubicBezTo>
                      <a:pt x="21243514" y="9717134"/>
                      <a:pt x="490924" y="9717134"/>
                      <a:pt x="490924" y="9717134"/>
                    </a:cubicBezTo>
                    <a:cubicBezTo>
                      <a:pt x="245502" y="9717134"/>
                      <a:pt x="32509" y="9619866"/>
                      <a:pt x="31032" y="9459752"/>
                    </a:cubicBezTo>
                    <a:cubicBezTo>
                      <a:pt x="31032" y="9459752"/>
                      <a:pt x="0" y="6758194"/>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158239" y="0"/>
                      <a:pt x="22158239" y="0"/>
                    </a:cubicBezTo>
                    <a:cubicBezTo>
                      <a:pt x="22470140" y="0"/>
                      <a:pt x="22703569" y="101069"/>
                      <a:pt x="22695710" y="303616"/>
                    </a:cubicBezTo>
                    <a:cubicBezTo>
                      <a:pt x="22695710" y="303616"/>
                      <a:pt x="22693715" y="6210870"/>
                      <a:pt x="22702471" y="8760165"/>
                    </a:cubicBezTo>
                    <a:cubicBezTo>
                      <a:pt x="22711226" y="9053467"/>
                      <a:pt x="22664678" y="9386538"/>
                      <a:pt x="22664678" y="9386538"/>
                    </a:cubicBezTo>
                    <a:cubicBezTo>
                      <a:pt x="22661712" y="9566563"/>
                      <a:pt x="22450209" y="9700216"/>
                      <a:pt x="22204787" y="9700216"/>
                    </a:cubicBezTo>
                    <a:close/>
                  </a:path>
                </a:pathLst>
              </a:custGeom>
              <a:solidFill>
                <a:srgbClr val="8FB7C6"/>
              </a:solidFill>
            </p:spPr>
          </p:sp>
        </p:grpSp>
        <p:grpSp>
          <p:nvGrpSpPr>
            <p:cNvPr name="Group 5" id="5"/>
            <p:cNvGrpSpPr/>
            <p:nvPr/>
          </p:nvGrpSpPr>
          <p:grpSpPr>
            <a:xfrm rot="0">
              <a:off x="254961" y="1067537"/>
              <a:ext cx="22897610" cy="9778026"/>
              <a:chOff x="0" y="0"/>
              <a:chExt cx="22594507" cy="9648591"/>
            </a:xfrm>
          </p:grpSpPr>
          <p:sp>
            <p:nvSpPr>
              <p:cNvPr name="Freeform 6" id="6"/>
              <p:cNvSpPr/>
              <p:nvPr/>
            </p:nvSpPr>
            <p:spPr>
              <a:xfrm flipH="false" flipV="false" rot="0">
                <a:off x="-1" y="0"/>
                <a:ext cx="22594508" cy="9648591"/>
              </a:xfrm>
              <a:custGeom>
                <a:avLst/>
                <a:gdLst/>
                <a:ahLst/>
                <a:cxnLst/>
                <a:rect r="r" b="b" t="t" l="l"/>
                <a:pathLst>
                  <a:path h="9648591" w="22594508">
                    <a:moveTo>
                      <a:pt x="22095727" y="9631673"/>
                    </a:moveTo>
                    <a:cubicBezTo>
                      <a:pt x="22095727" y="9631673"/>
                      <a:pt x="21858730" y="9621703"/>
                      <a:pt x="21496593" y="9635147"/>
                    </a:cubicBezTo>
                    <a:cubicBezTo>
                      <a:pt x="21134454" y="9648591"/>
                      <a:pt x="490924" y="9648591"/>
                      <a:pt x="490924" y="9648591"/>
                    </a:cubicBezTo>
                    <a:cubicBezTo>
                      <a:pt x="245502" y="9648591"/>
                      <a:pt x="32509" y="9551323"/>
                      <a:pt x="31032" y="9391209"/>
                    </a:cubicBezTo>
                    <a:cubicBezTo>
                      <a:pt x="31032" y="9391209"/>
                      <a:pt x="0" y="6705102"/>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049179" y="0"/>
                      <a:pt x="22049179" y="0"/>
                    </a:cubicBezTo>
                    <a:cubicBezTo>
                      <a:pt x="22361080" y="0"/>
                      <a:pt x="22594507" y="101069"/>
                      <a:pt x="22586650" y="303616"/>
                    </a:cubicBezTo>
                    <a:cubicBezTo>
                      <a:pt x="22586650" y="303616"/>
                      <a:pt x="22584655" y="6162502"/>
                      <a:pt x="22593411" y="8691622"/>
                    </a:cubicBezTo>
                    <a:cubicBezTo>
                      <a:pt x="22602166" y="8984924"/>
                      <a:pt x="22555618" y="9317995"/>
                      <a:pt x="22555618" y="9317995"/>
                    </a:cubicBezTo>
                    <a:cubicBezTo>
                      <a:pt x="22552652" y="9498020"/>
                      <a:pt x="22341149" y="9631673"/>
                      <a:pt x="22095727" y="9631673"/>
                    </a:cubicBezTo>
                    <a:close/>
                  </a:path>
                </a:pathLst>
              </a:custGeom>
              <a:solidFill>
                <a:srgbClr val="8FB7C6"/>
              </a:solidFill>
            </p:spPr>
          </p:sp>
        </p:grpSp>
        <p:grpSp>
          <p:nvGrpSpPr>
            <p:cNvPr name="Group 7" id="7"/>
            <p:cNvGrpSpPr/>
            <p:nvPr/>
          </p:nvGrpSpPr>
          <p:grpSpPr>
            <a:xfrm rot="0">
              <a:off x="919721" y="0"/>
              <a:ext cx="22232850" cy="10328670"/>
              <a:chOff x="0" y="0"/>
              <a:chExt cx="23043639" cy="10705337"/>
            </a:xfrm>
          </p:grpSpPr>
          <p:sp>
            <p:nvSpPr>
              <p:cNvPr name="Freeform 8" id="8"/>
              <p:cNvSpPr/>
              <p:nvPr/>
            </p:nvSpPr>
            <p:spPr>
              <a:xfrm flipH="false" flipV="false" rot="0">
                <a:off x="-1" y="0"/>
                <a:ext cx="23043639" cy="10705337"/>
              </a:xfrm>
              <a:custGeom>
                <a:avLst/>
                <a:gdLst/>
                <a:ahLst/>
                <a:cxnLst/>
                <a:rect r="r" b="b" t="t" l="l"/>
                <a:pathLst>
                  <a:path h="10705337" w="23043639">
                    <a:moveTo>
                      <a:pt x="22544859" y="10688418"/>
                    </a:moveTo>
                    <a:cubicBezTo>
                      <a:pt x="22544859" y="10688418"/>
                      <a:pt x="22307863" y="10678449"/>
                      <a:pt x="21945723" y="10691893"/>
                    </a:cubicBezTo>
                    <a:cubicBezTo>
                      <a:pt x="21583586" y="10705337"/>
                      <a:pt x="490924" y="10705337"/>
                      <a:pt x="490924" y="10705337"/>
                    </a:cubicBezTo>
                    <a:cubicBezTo>
                      <a:pt x="245502" y="10705337"/>
                      <a:pt x="32509" y="10608069"/>
                      <a:pt x="31032" y="10447955"/>
                    </a:cubicBezTo>
                    <a:cubicBezTo>
                      <a:pt x="31032" y="10447955"/>
                      <a:pt x="0" y="7523653"/>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498310" y="0"/>
                      <a:pt x="22498310" y="0"/>
                    </a:cubicBezTo>
                    <a:cubicBezTo>
                      <a:pt x="22810212" y="0"/>
                      <a:pt x="23043639" y="101069"/>
                      <a:pt x="23035783" y="303616"/>
                    </a:cubicBezTo>
                    <a:cubicBezTo>
                      <a:pt x="23035783" y="303616"/>
                      <a:pt x="23033787" y="6908210"/>
                      <a:pt x="23042542" y="9748368"/>
                    </a:cubicBezTo>
                    <a:cubicBezTo>
                      <a:pt x="23051298" y="10041669"/>
                      <a:pt x="23004750" y="10374741"/>
                      <a:pt x="23004750" y="10374741"/>
                    </a:cubicBezTo>
                    <a:cubicBezTo>
                      <a:pt x="23001785" y="10554766"/>
                      <a:pt x="22790281" y="10688418"/>
                      <a:pt x="22544859" y="10688418"/>
                    </a:cubicBezTo>
                    <a:close/>
                  </a:path>
                </a:pathLst>
              </a:custGeom>
              <a:solidFill>
                <a:srgbClr val="F3FCFF"/>
              </a:solidFill>
            </p:spPr>
          </p:sp>
        </p:grpSp>
        <p:sp>
          <p:nvSpPr>
            <p:cNvPr name="AutoShape 9" id="9"/>
            <p:cNvSpPr/>
            <p:nvPr/>
          </p:nvSpPr>
          <p:spPr>
            <a:xfrm>
              <a:off x="2250246" y="9826016"/>
              <a:ext cx="22466735" cy="34286"/>
            </a:xfrm>
            <a:prstGeom prst="line">
              <a:avLst/>
            </a:prstGeom>
            <a:ln cap="rnd" w="50800">
              <a:solidFill>
                <a:srgbClr val="8FB7C6"/>
              </a:solidFill>
              <a:prstDash val="solid"/>
              <a:headEnd type="none" len="sm" w="sm"/>
              <a:tailEnd type="none" len="sm" w="sm"/>
            </a:ln>
          </p:spPr>
        </p:sp>
        <p:sp>
          <p:nvSpPr>
            <p:cNvPr name="AutoShape 10" id="10"/>
            <p:cNvSpPr/>
            <p:nvPr/>
          </p:nvSpPr>
          <p:spPr>
            <a:xfrm>
              <a:off x="2250246" y="717206"/>
              <a:ext cx="22466735" cy="34286"/>
            </a:xfrm>
            <a:prstGeom prst="line">
              <a:avLst/>
            </a:prstGeom>
            <a:ln cap="rnd" w="50800">
              <a:solidFill>
                <a:srgbClr val="8FB7C6"/>
              </a:solidFill>
              <a:prstDash val="solid"/>
              <a:headEnd type="none" len="sm" w="sm"/>
              <a:tailEnd type="none" len="sm" w="sm"/>
            </a:ln>
          </p:spPr>
        </p:sp>
      </p:grpSp>
      <p:grpSp>
        <p:nvGrpSpPr>
          <p:cNvPr name="Group 11" id="11"/>
          <p:cNvGrpSpPr/>
          <p:nvPr/>
        </p:nvGrpSpPr>
        <p:grpSpPr>
          <a:xfrm rot="0">
            <a:off x="2239426" y="2065261"/>
            <a:ext cx="12028932" cy="5515711"/>
            <a:chOff x="0" y="0"/>
            <a:chExt cx="16038576" cy="7354282"/>
          </a:xfrm>
        </p:grpSpPr>
        <p:sp>
          <p:nvSpPr>
            <p:cNvPr name="TextBox 12" id="12"/>
            <p:cNvSpPr txBox="true"/>
            <p:nvPr/>
          </p:nvSpPr>
          <p:spPr>
            <a:xfrm rot="0">
              <a:off x="0" y="1786348"/>
              <a:ext cx="16038576" cy="5567934"/>
            </a:xfrm>
            <a:prstGeom prst="rect">
              <a:avLst/>
            </a:prstGeom>
          </p:spPr>
          <p:txBody>
            <a:bodyPr anchor="t" rtlCol="false" tIns="0" lIns="0" bIns="0" rIns="0">
              <a:spAutoFit/>
            </a:bodyPr>
            <a:lstStyle/>
            <a:p>
              <a:pPr algn="l">
                <a:lnSpc>
                  <a:spcPts val="4779"/>
                </a:lnSpc>
              </a:pPr>
              <a:r>
                <a:rPr lang="en-US" sz="3540" spc="-35">
                  <a:solidFill>
                    <a:srgbClr val="000000"/>
                  </a:solidFill>
                  <a:latin typeface="Asap"/>
                  <a:ea typeface="Asap"/>
                  <a:cs typeface="Asap"/>
                  <a:sym typeface="Asap"/>
                </a:rPr>
                <a:t>Hiệu năng hệ thống gồm:</a:t>
              </a:r>
            </a:p>
            <a:p>
              <a:pPr algn="l" marL="764289" indent="-382145" lvl="1">
                <a:lnSpc>
                  <a:spcPts val="4779"/>
                </a:lnSpc>
                <a:buFont typeface="Arial"/>
                <a:buChar char="•"/>
              </a:pPr>
              <a:r>
                <a:rPr lang="en-US" sz="3540" spc="-35">
                  <a:solidFill>
                    <a:srgbClr val="000000"/>
                  </a:solidFill>
                  <a:latin typeface="Asap"/>
                  <a:ea typeface="Asap"/>
                  <a:cs typeface="Asap"/>
                  <a:sym typeface="Asap"/>
                </a:rPr>
                <a:t>Runtime (tốc độ chạy)</a:t>
              </a:r>
            </a:p>
            <a:p>
              <a:pPr algn="l" marL="764289" indent="-382145" lvl="1">
                <a:lnSpc>
                  <a:spcPts val="4779"/>
                </a:lnSpc>
                <a:buFont typeface="Arial"/>
                <a:buChar char="•"/>
              </a:pPr>
              <a:r>
                <a:rPr lang="en-US" sz="3540" spc="-35">
                  <a:solidFill>
                    <a:srgbClr val="000000"/>
                  </a:solidFill>
                  <a:latin typeface="Asap"/>
                  <a:ea typeface="Asap"/>
                  <a:cs typeface="Asap"/>
                  <a:sym typeface="Asap"/>
                </a:rPr>
                <a:t>Memory (bộ nhớ sử dụng)</a:t>
              </a:r>
            </a:p>
            <a:p>
              <a:pPr algn="l">
                <a:lnSpc>
                  <a:spcPts val="4779"/>
                </a:lnSpc>
              </a:pPr>
              <a:r>
                <a:rPr lang="en-US" sz="3540" spc="-35">
                  <a:solidFill>
                    <a:srgbClr val="000000"/>
                  </a:solidFill>
                  <a:latin typeface="Asap"/>
                  <a:ea typeface="Asap"/>
                  <a:cs typeface="Asap"/>
                  <a:sym typeface="Asap"/>
                </a:rPr>
                <a:t>Vấn đề:</a:t>
              </a:r>
            </a:p>
            <a:p>
              <a:pPr algn="l" marL="764289" indent="-382145" lvl="1">
                <a:lnSpc>
                  <a:spcPts val="4779"/>
                </a:lnSpc>
                <a:buFont typeface="Arial"/>
                <a:buChar char="•"/>
              </a:pPr>
              <a:r>
                <a:rPr lang="en-US" sz="3540" spc="-35">
                  <a:solidFill>
                    <a:srgbClr val="000000"/>
                  </a:solidFill>
                  <a:latin typeface="Asap"/>
                  <a:ea typeface="Asap"/>
                  <a:cs typeface="Asap"/>
                  <a:sym typeface="Asap"/>
                </a:rPr>
                <a:t>Code chậm</a:t>
              </a:r>
            </a:p>
            <a:p>
              <a:pPr algn="l" marL="764289" indent="-382145" lvl="1">
                <a:lnSpc>
                  <a:spcPts val="4779"/>
                </a:lnSpc>
                <a:buFont typeface="Arial"/>
                <a:buChar char="•"/>
              </a:pPr>
              <a:r>
                <a:rPr lang="en-US" sz="3540" spc="-35">
                  <a:solidFill>
                    <a:srgbClr val="000000"/>
                  </a:solidFill>
                  <a:latin typeface="Asap"/>
                  <a:ea typeface="Asap"/>
                  <a:cs typeface="Asap"/>
                  <a:sym typeface="Asap"/>
                </a:rPr>
                <a:t>Tốn RAM</a:t>
              </a:r>
            </a:p>
            <a:p>
              <a:pPr algn="l">
                <a:lnSpc>
                  <a:spcPts val="4779"/>
                </a:lnSpc>
              </a:pPr>
              <a:r>
                <a:rPr lang="en-US" sz="3540" spc="-35">
                  <a:solidFill>
                    <a:srgbClr val="000000"/>
                  </a:solidFill>
                  <a:latin typeface="Asap"/>
                  <a:ea typeface="Asap"/>
                  <a:cs typeface="Asap"/>
                  <a:sym typeface="Asap"/>
                </a:rPr>
                <a:t>Giải pháp: Dùng GenAI để phân tích &amp; tối ưu</a:t>
              </a:r>
            </a:p>
          </p:txBody>
        </p:sp>
        <p:sp>
          <p:nvSpPr>
            <p:cNvPr name="TextBox 13" id="13"/>
            <p:cNvSpPr txBox="true"/>
            <p:nvPr/>
          </p:nvSpPr>
          <p:spPr>
            <a:xfrm rot="0">
              <a:off x="0" y="0"/>
              <a:ext cx="12467932" cy="1207078"/>
            </a:xfrm>
            <a:prstGeom prst="rect">
              <a:avLst/>
            </a:prstGeom>
          </p:spPr>
          <p:txBody>
            <a:bodyPr anchor="t" rtlCol="false" tIns="0" lIns="0" bIns="0" rIns="0">
              <a:spAutoFit/>
            </a:bodyPr>
            <a:lstStyle/>
            <a:p>
              <a:pPr algn="just">
                <a:lnSpc>
                  <a:spcPts val="7140"/>
                </a:lnSpc>
              </a:pPr>
              <a:r>
                <a:rPr lang="en-US" b="true" sz="5950">
                  <a:solidFill>
                    <a:srgbClr val="1D2B74"/>
                  </a:solidFill>
                  <a:latin typeface="Faustina Bold"/>
                  <a:ea typeface="Faustina Bold"/>
                  <a:cs typeface="Faustina Bold"/>
                  <a:sym typeface="Faustina Bold"/>
                </a:rPr>
                <a:t>GIỚI THIỆU </a:t>
              </a:r>
            </a:p>
          </p:txBody>
        </p:sp>
      </p:grpSp>
    </p:spTree>
  </p:cSld>
  <p:clrMapOvr>
    <a:masterClrMapping/>
  </p:clrMapOvr>
  <p:transition spd="slow">
    <p:push dir="r"/>
  </p:transition>
</p:sld>
</file>

<file path=ppt/slides/slide15.xml><?xml version="1.0" encoding="utf-8"?>
<p:sld xmlns:p="http://schemas.openxmlformats.org/presentationml/2006/main" xmlns:a="http://schemas.openxmlformats.org/drawingml/2006/main">
  <p:cSld>
    <p:bg>
      <p:bgPr>
        <a:solidFill>
          <a:srgbClr val="C8E3ED"/>
        </a:solidFill>
      </p:bgPr>
    </p:bg>
    <p:spTree>
      <p:nvGrpSpPr>
        <p:cNvPr id="1" name=""/>
        <p:cNvGrpSpPr/>
        <p:nvPr/>
      </p:nvGrpSpPr>
      <p:grpSpPr>
        <a:xfrm>
          <a:off x="0" y="0"/>
          <a:ext cx="0" cy="0"/>
          <a:chOff x="0" y="0"/>
          <a:chExt cx="0" cy="0"/>
        </a:xfrm>
      </p:grpSpPr>
      <p:grpSp>
        <p:nvGrpSpPr>
          <p:cNvPr name="Group 2" id="2"/>
          <p:cNvGrpSpPr/>
          <p:nvPr/>
        </p:nvGrpSpPr>
        <p:grpSpPr>
          <a:xfrm rot="0">
            <a:off x="774820" y="1028700"/>
            <a:ext cx="18537765" cy="8229600"/>
            <a:chOff x="0" y="0"/>
            <a:chExt cx="24717020" cy="10972800"/>
          </a:xfrm>
        </p:grpSpPr>
        <p:grpSp>
          <p:nvGrpSpPr>
            <p:cNvPr name="Group 3" id="3"/>
            <p:cNvGrpSpPr/>
            <p:nvPr/>
          </p:nvGrpSpPr>
          <p:grpSpPr>
            <a:xfrm rot="0">
              <a:off x="0" y="977717"/>
              <a:ext cx="23352980" cy="9995083"/>
              <a:chOff x="0" y="0"/>
              <a:chExt cx="22703567" cy="9717134"/>
            </a:xfrm>
          </p:grpSpPr>
          <p:sp>
            <p:nvSpPr>
              <p:cNvPr name="Freeform 4" id="4"/>
              <p:cNvSpPr/>
              <p:nvPr/>
            </p:nvSpPr>
            <p:spPr>
              <a:xfrm flipH="false" flipV="false" rot="0">
                <a:off x="-1" y="0"/>
                <a:ext cx="22703568" cy="9717134"/>
              </a:xfrm>
              <a:custGeom>
                <a:avLst/>
                <a:gdLst/>
                <a:ahLst/>
                <a:cxnLst/>
                <a:rect r="r" b="b" t="t" l="l"/>
                <a:pathLst>
                  <a:path h="9717134" w="22703568">
                    <a:moveTo>
                      <a:pt x="22204787" y="9700216"/>
                    </a:moveTo>
                    <a:cubicBezTo>
                      <a:pt x="22204787" y="9700216"/>
                      <a:pt x="21967792" y="9690246"/>
                      <a:pt x="21605653" y="9703690"/>
                    </a:cubicBezTo>
                    <a:cubicBezTo>
                      <a:pt x="21243514" y="9717134"/>
                      <a:pt x="490924" y="9717134"/>
                      <a:pt x="490924" y="9717134"/>
                    </a:cubicBezTo>
                    <a:cubicBezTo>
                      <a:pt x="245502" y="9717134"/>
                      <a:pt x="32509" y="9619866"/>
                      <a:pt x="31032" y="9459752"/>
                    </a:cubicBezTo>
                    <a:cubicBezTo>
                      <a:pt x="31032" y="9459752"/>
                      <a:pt x="0" y="6758194"/>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158239" y="0"/>
                      <a:pt x="22158239" y="0"/>
                    </a:cubicBezTo>
                    <a:cubicBezTo>
                      <a:pt x="22470140" y="0"/>
                      <a:pt x="22703569" y="101069"/>
                      <a:pt x="22695710" y="303616"/>
                    </a:cubicBezTo>
                    <a:cubicBezTo>
                      <a:pt x="22695710" y="303616"/>
                      <a:pt x="22693715" y="6210870"/>
                      <a:pt x="22702471" y="8760165"/>
                    </a:cubicBezTo>
                    <a:cubicBezTo>
                      <a:pt x="22711226" y="9053467"/>
                      <a:pt x="22664678" y="9386538"/>
                      <a:pt x="22664678" y="9386538"/>
                    </a:cubicBezTo>
                    <a:cubicBezTo>
                      <a:pt x="22661712" y="9566563"/>
                      <a:pt x="22450209" y="9700216"/>
                      <a:pt x="22204787" y="9700216"/>
                    </a:cubicBezTo>
                    <a:close/>
                  </a:path>
                </a:pathLst>
              </a:custGeom>
              <a:solidFill>
                <a:srgbClr val="8FB7C6"/>
              </a:solidFill>
            </p:spPr>
          </p:sp>
        </p:grpSp>
        <p:grpSp>
          <p:nvGrpSpPr>
            <p:cNvPr name="Group 5" id="5"/>
            <p:cNvGrpSpPr/>
            <p:nvPr/>
          </p:nvGrpSpPr>
          <p:grpSpPr>
            <a:xfrm rot="0">
              <a:off x="254961" y="1067537"/>
              <a:ext cx="22897610" cy="9778026"/>
              <a:chOff x="0" y="0"/>
              <a:chExt cx="22594507" cy="9648591"/>
            </a:xfrm>
          </p:grpSpPr>
          <p:sp>
            <p:nvSpPr>
              <p:cNvPr name="Freeform 6" id="6"/>
              <p:cNvSpPr/>
              <p:nvPr/>
            </p:nvSpPr>
            <p:spPr>
              <a:xfrm flipH="false" flipV="false" rot="0">
                <a:off x="-1" y="0"/>
                <a:ext cx="22594508" cy="9648591"/>
              </a:xfrm>
              <a:custGeom>
                <a:avLst/>
                <a:gdLst/>
                <a:ahLst/>
                <a:cxnLst/>
                <a:rect r="r" b="b" t="t" l="l"/>
                <a:pathLst>
                  <a:path h="9648591" w="22594508">
                    <a:moveTo>
                      <a:pt x="22095727" y="9631673"/>
                    </a:moveTo>
                    <a:cubicBezTo>
                      <a:pt x="22095727" y="9631673"/>
                      <a:pt x="21858730" y="9621703"/>
                      <a:pt x="21496593" y="9635147"/>
                    </a:cubicBezTo>
                    <a:cubicBezTo>
                      <a:pt x="21134454" y="9648591"/>
                      <a:pt x="490924" y="9648591"/>
                      <a:pt x="490924" y="9648591"/>
                    </a:cubicBezTo>
                    <a:cubicBezTo>
                      <a:pt x="245502" y="9648591"/>
                      <a:pt x="32509" y="9551323"/>
                      <a:pt x="31032" y="9391209"/>
                    </a:cubicBezTo>
                    <a:cubicBezTo>
                      <a:pt x="31032" y="9391209"/>
                      <a:pt x="0" y="6705102"/>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049179" y="0"/>
                      <a:pt x="22049179" y="0"/>
                    </a:cubicBezTo>
                    <a:cubicBezTo>
                      <a:pt x="22361080" y="0"/>
                      <a:pt x="22594507" y="101069"/>
                      <a:pt x="22586650" y="303616"/>
                    </a:cubicBezTo>
                    <a:cubicBezTo>
                      <a:pt x="22586650" y="303616"/>
                      <a:pt x="22584655" y="6162502"/>
                      <a:pt x="22593411" y="8691622"/>
                    </a:cubicBezTo>
                    <a:cubicBezTo>
                      <a:pt x="22602166" y="8984924"/>
                      <a:pt x="22555618" y="9317995"/>
                      <a:pt x="22555618" y="9317995"/>
                    </a:cubicBezTo>
                    <a:cubicBezTo>
                      <a:pt x="22552652" y="9498020"/>
                      <a:pt x="22341149" y="9631673"/>
                      <a:pt x="22095727" y="9631673"/>
                    </a:cubicBezTo>
                    <a:close/>
                  </a:path>
                </a:pathLst>
              </a:custGeom>
              <a:solidFill>
                <a:srgbClr val="8FB7C6"/>
              </a:solidFill>
            </p:spPr>
          </p:sp>
        </p:grpSp>
        <p:grpSp>
          <p:nvGrpSpPr>
            <p:cNvPr name="Group 7" id="7"/>
            <p:cNvGrpSpPr/>
            <p:nvPr/>
          </p:nvGrpSpPr>
          <p:grpSpPr>
            <a:xfrm rot="0">
              <a:off x="919721" y="0"/>
              <a:ext cx="22232850" cy="10328670"/>
              <a:chOff x="0" y="0"/>
              <a:chExt cx="23043639" cy="10705337"/>
            </a:xfrm>
          </p:grpSpPr>
          <p:sp>
            <p:nvSpPr>
              <p:cNvPr name="Freeform 8" id="8"/>
              <p:cNvSpPr/>
              <p:nvPr/>
            </p:nvSpPr>
            <p:spPr>
              <a:xfrm flipH="false" flipV="false" rot="0">
                <a:off x="-1" y="0"/>
                <a:ext cx="23043639" cy="10705337"/>
              </a:xfrm>
              <a:custGeom>
                <a:avLst/>
                <a:gdLst/>
                <a:ahLst/>
                <a:cxnLst/>
                <a:rect r="r" b="b" t="t" l="l"/>
                <a:pathLst>
                  <a:path h="10705337" w="23043639">
                    <a:moveTo>
                      <a:pt x="22544859" y="10688418"/>
                    </a:moveTo>
                    <a:cubicBezTo>
                      <a:pt x="22544859" y="10688418"/>
                      <a:pt x="22307863" y="10678449"/>
                      <a:pt x="21945723" y="10691893"/>
                    </a:cubicBezTo>
                    <a:cubicBezTo>
                      <a:pt x="21583586" y="10705337"/>
                      <a:pt x="490924" y="10705337"/>
                      <a:pt x="490924" y="10705337"/>
                    </a:cubicBezTo>
                    <a:cubicBezTo>
                      <a:pt x="245502" y="10705337"/>
                      <a:pt x="32509" y="10608069"/>
                      <a:pt x="31032" y="10447955"/>
                    </a:cubicBezTo>
                    <a:cubicBezTo>
                      <a:pt x="31032" y="10447955"/>
                      <a:pt x="0" y="7523653"/>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498310" y="0"/>
                      <a:pt x="22498310" y="0"/>
                    </a:cubicBezTo>
                    <a:cubicBezTo>
                      <a:pt x="22810212" y="0"/>
                      <a:pt x="23043639" y="101069"/>
                      <a:pt x="23035783" y="303616"/>
                    </a:cubicBezTo>
                    <a:cubicBezTo>
                      <a:pt x="23035783" y="303616"/>
                      <a:pt x="23033787" y="6908210"/>
                      <a:pt x="23042542" y="9748368"/>
                    </a:cubicBezTo>
                    <a:cubicBezTo>
                      <a:pt x="23051298" y="10041669"/>
                      <a:pt x="23004750" y="10374741"/>
                      <a:pt x="23004750" y="10374741"/>
                    </a:cubicBezTo>
                    <a:cubicBezTo>
                      <a:pt x="23001785" y="10554766"/>
                      <a:pt x="22790281" y="10688418"/>
                      <a:pt x="22544859" y="10688418"/>
                    </a:cubicBezTo>
                    <a:close/>
                  </a:path>
                </a:pathLst>
              </a:custGeom>
              <a:solidFill>
                <a:srgbClr val="F3FCFF"/>
              </a:solidFill>
            </p:spPr>
          </p:sp>
        </p:grpSp>
        <p:sp>
          <p:nvSpPr>
            <p:cNvPr name="AutoShape 9" id="9"/>
            <p:cNvSpPr/>
            <p:nvPr/>
          </p:nvSpPr>
          <p:spPr>
            <a:xfrm>
              <a:off x="2250246" y="9826016"/>
              <a:ext cx="22466735" cy="34286"/>
            </a:xfrm>
            <a:prstGeom prst="line">
              <a:avLst/>
            </a:prstGeom>
            <a:ln cap="rnd" w="50800">
              <a:solidFill>
                <a:srgbClr val="8FB7C6"/>
              </a:solidFill>
              <a:prstDash val="solid"/>
              <a:headEnd type="none" len="sm" w="sm"/>
              <a:tailEnd type="none" len="sm" w="sm"/>
            </a:ln>
          </p:spPr>
        </p:sp>
        <p:sp>
          <p:nvSpPr>
            <p:cNvPr name="AutoShape 10" id="10"/>
            <p:cNvSpPr/>
            <p:nvPr/>
          </p:nvSpPr>
          <p:spPr>
            <a:xfrm>
              <a:off x="2250246" y="717206"/>
              <a:ext cx="22466735" cy="34286"/>
            </a:xfrm>
            <a:prstGeom prst="line">
              <a:avLst/>
            </a:prstGeom>
            <a:ln cap="rnd" w="50800">
              <a:solidFill>
                <a:srgbClr val="8FB7C6"/>
              </a:solidFill>
              <a:prstDash val="solid"/>
              <a:headEnd type="none" len="sm" w="sm"/>
              <a:tailEnd type="none" len="sm" w="sm"/>
            </a:ln>
          </p:spPr>
        </p:sp>
      </p:grpSp>
      <p:grpSp>
        <p:nvGrpSpPr>
          <p:cNvPr name="Group 11" id="11"/>
          <p:cNvGrpSpPr/>
          <p:nvPr/>
        </p:nvGrpSpPr>
        <p:grpSpPr>
          <a:xfrm rot="0">
            <a:off x="3521482" y="2400911"/>
            <a:ext cx="12028932" cy="4915636"/>
            <a:chOff x="0" y="0"/>
            <a:chExt cx="16038576" cy="6554182"/>
          </a:xfrm>
        </p:grpSpPr>
        <p:sp>
          <p:nvSpPr>
            <p:cNvPr name="TextBox 12" id="12"/>
            <p:cNvSpPr txBox="true"/>
            <p:nvPr/>
          </p:nvSpPr>
          <p:spPr>
            <a:xfrm rot="0">
              <a:off x="0" y="1786348"/>
              <a:ext cx="16038576" cy="4767834"/>
            </a:xfrm>
            <a:prstGeom prst="rect">
              <a:avLst/>
            </a:prstGeom>
          </p:spPr>
          <p:txBody>
            <a:bodyPr anchor="t" rtlCol="false" tIns="0" lIns="0" bIns="0" rIns="0">
              <a:spAutoFit/>
            </a:bodyPr>
            <a:lstStyle/>
            <a:p>
              <a:pPr algn="l">
                <a:lnSpc>
                  <a:spcPts val="4779"/>
                </a:lnSpc>
              </a:pPr>
              <a:r>
                <a:rPr lang="en-US" sz="3540" spc="-35">
                  <a:solidFill>
                    <a:srgbClr val="000000"/>
                  </a:solidFill>
                  <a:latin typeface="Asap"/>
                  <a:ea typeface="Asap"/>
                  <a:cs typeface="Asap"/>
                  <a:sym typeface="Asap"/>
                </a:rPr>
                <a:t>Runtime là gì?</a:t>
              </a:r>
            </a:p>
            <a:p>
              <a:pPr algn="l" marL="764289" indent="-382145" lvl="1">
                <a:lnSpc>
                  <a:spcPts val="4779"/>
                </a:lnSpc>
                <a:buFont typeface="Arial"/>
                <a:buChar char="•"/>
              </a:pPr>
              <a:r>
                <a:rPr lang="en-US" sz="3540" spc="-35">
                  <a:solidFill>
                    <a:srgbClr val="000000"/>
                  </a:solidFill>
                  <a:latin typeface="Asap"/>
                  <a:ea typeface="Asap"/>
                  <a:cs typeface="Asap"/>
                  <a:sym typeface="Asap"/>
                </a:rPr>
                <a:t>Thời gia</a:t>
              </a:r>
              <a:r>
                <a:rPr lang="en-US" sz="3540" spc="-35">
                  <a:solidFill>
                    <a:srgbClr val="000000"/>
                  </a:solidFill>
                  <a:latin typeface="Asap"/>
                  <a:ea typeface="Asap"/>
                  <a:cs typeface="Asap"/>
                  <a:sym typeface="Asap"/>
                </a:rPr>
                <a:t>n chương trình chạy</a:t>
              </a:r>
            </a:p>
            <a:p>
              <a:pPr algn="l">
                <a:lnSpc>
                  <a:spcPts val="4779"/>
                </a:lnSpc>
              </a:pPr>
              <a:r>
                <a:rPr lang="en-US" sz="3540" spc="-35">
                  <a:solidFill>
                    <a:srgbClr val="000000"/>
                  </a:solidFill>
                  <a:latin typeface="Asap"/>
                  <a:ea typeface="Asap"/>
                  <a:cs typeface="Asap"/>
                  <a:sym typeface="Asap"/>
                </a:rPr>
                <a:t>Đ</a:t>
              </a:r>
              <a:r>
                <a:rPr lang="en-US" sz="3540" spc="-35">
                  <a:solidFill>
                    <a:srgbClr val="000000"/>
                  </a:solidFill>
                  <a:latin typeface="Asap"/>
                  <a:ea typeface="Asap"/>
                  <a:cs typeface="Asap"/>
                  <a:sym typeface="Asap"/>
                </a:rPr>
                <a:t>o bằng:</a:t>
              </a:r>
            </a:p>
            <a:p>
              <a:pPr algn="l" marL="764289" indent="-382145" lvl="1">
                <a:lnSpc>
                  <a:spcPts val="4779"/>
                </a:lnSpc>
                <a:buFont typeface="Arial"/>
                <a:buChar char="•"/>
              </a:pPr>
              <a:r>
                <a:rPr lang="en-US" sz="3540" spc="-35">
                  <a:solidFill>
                    <a:srgbClr val="000000"/>
                  </a:solidFill>
                  <a:latin typeface="Asap"/>
                  <a:ea typeface="Asap"/>
                  <a:cs typeface="Asap"/>
                  <a:sym typeface="Asap"/>
                </a:rPr>
                <a:t>Big-O (O(n), O(n²), …)</a:t>
              </a:r>
            </a:p>
            <a:p>
              <a:pPr algn="l">
                <a:lnSpc>
                  <a:spcPts val="4779"/>
                </a:lnSpc>
              </a:pPr>
              <a:r>
                <a:rPr lang="en-US" sz="3540" spc="-35">
                  <a:solidFill>
                    <a:srgbClr val="000000"/>
                  </a:solidFill>
                  <a:latin typeface="Asap"/>
                  <a:ea typeface="Asap"/>
                  <a:cs typeface="Asap"/>
                  <a:sym typeface="Asap"/>
                </a:rPr>
                <a:t>Runtime càng</a:t>
              </a:r>
              <a:r>
                <a:rPr lang="en-US" sz="3540" spc="-35">
                  <a:solidFill>
                    <a:srgbClr val="000000"/>
                  </a:solidFill>
                  <a:latin typeface="Asap"/>
                  <a:ea typeface="Asap"/>
                  <a:cs typeface="Asap"/>
                  <a:sym typeface="Asap"/>
                </a:rPr>
                <a:t> thấp → chạy càng nhanh</a:t>
              </a:r>
            </a:p>
            <a:p>
              <a:pPr algn="l">
                <a:lnSpc>
                  <a:spcPts val="4779"/>
                </a:lnSpc>
              </a:pPr>
            </a:p>
          </p:txBody>
        </p:sp>
        <p:sp>
          <p:nvSpPr>
            <p:cNvPr name="TextBox 13" id="13"/>
            <p:cNvSpPr txBox="true"/>
            <p:nvPr/>
          </p:nvSpPr>
          <p:spPr>
            <a:xfrm rot="0">
              <a:off x="0" y="0"/>
              <a:ext cx="12467932" cy="1207078"/>
            </a:xfrm>
            <a:prstGeom prst="rect">
              <a:avLst/>
            </a:prstGeom>
          </p:spPr>
          <p:txBody>
            <a:bodyPr anchor="t" rtlCol="false" tIns="0" lIns="0" bIns="0" rIns="0">
              <a:spAutoFit/>
            </a:bodyPr>
            <a:lstStyle/>
            <a:p>
              <a:pPr algn="just">
                <a:lnSpc>
                  <a:spcPts val="7140"/>
                </a:lnSpc>
              </a:pPr>
              <a:r>
                <a:rPr lang="en-US" b="true" sz="5950">
                  <a:solidFill>
                    <a:srgbClr val="1D2B74"/>
                  </a:solidFill>
                  <a:latin typeface="Faustina Bold"/>
                  <a:ea typeface="Faustina Bold"/>
                  <a:cs typeface="Faustina Bold"/>
                  <a:sym typeface="Faustina Bold"/>
                </a:rPr>
                <a:t>RUNTIME</a:t>
              </a:r>
            </a:p>
          </p:txBody>
        </p:sp>
      </p:grpSp>
    </p:spTree>
  </p:cSld>
  <p:clrMapOvr>
    <a:masterClrMapping/>
  </p:clrMapOvr>
  <p:transition spd="slow">
    <p:push dir="d"/>
  </p:transition>
</p:sld>
</file>

<file path=ppt/slides/slide16.xml><?xml version="1.0" encoding="utf-8"?>
<p:sld xmlns:p="http://schemas.openxmlformats.org/presentationml/2006/main" xmlns:a="http://schemas.openxmlformats.org/drawingml/2006/main">
  <p:cSld>
    <p:bg>
      <p:bgPr>
        <a:solidFill>
          <a:srgbClr val="C8E3ED"/>
        </a:solidFill>
      </p:bgPr>
    </p:bg>
    <p:spTree>
      <p:nvGrpSpPr>
        <p:cNvPr id="1" name=""/>
        <p:cNvGrpSpPr/>
        <p:nvPr/>
      </p:nvGrpSpPr>
      <p:grpSpPr>
        <a:xfrm>
          <a:off x="0" y="0"/>
          <a:ext cx="0" cy="0"/>
          <a:chOff x="0" y="0"/>
          <a:chExt cx="0" cy="0"/>
        </a:xfrm>
      </p:grpSpPr>
      <p:grpSp>
        <p:nvGrpSpPr>
          <p:cNvPr name="Group 2" id="2"/>
          <p:cNvGrpSpPr/>
          <p:nvPr/>
        </p:nvGrpSpPr>
        <p:grpSpPr>
          <a:xfrm rot="0">
            <a:off x="774820" y="1028700"/>
            <a:ext cx="18537765" cy="8229600"/>
            <a:chOff x="0" y="0"/>
            <a:chExt cx="24717020" cy="10972800"/>
          </a:xfrm>
        </p:grpSpPr>
        <p:grpSp>
          <p:nvGrpSpPr>
            <p:cNvPr name="Group 3" id="3"/>
            <p:cNvGrpSpPr/>
            <p:nvPr/>
          </p:nvGrpSpPr>
          <p:grpSpPr>
            <a:xfrm rot="0">
              <a:off x="0" y="977717"/>
              <a:ext cx="23352980" cy="9995083"/>
              <a:chOff x="0" y="0"/>
              <a:chExt cx="22703567" cy="9717134"/>
            </a:xfrm>
          </p:grpSpPr>
          <p:sp>
            <p:nvSpPr>
              <p:cNvPr name="Freeform 4" id="4"/>
              <p:cNvSpPr/>
              <p:nvPr/>
            </p:nvSpPr>
            <p:spPr>
              <a:xfrm flipH="false" flipV="false" rot="0">
                <a:off x="-1" y="0"/>
                <a:ext cx="22703568" cy="9717134"/>
              </a:xfrm>
              <a:custGeom>
                <a:avLst/>
                <a:gdLst/>
                <a:ahLst/>
                <a:cxnLst/>
                <a:rect r="r" b="b" t="t" l="l"/>
                <a:pathLst>
                  <a:path h="9717134" w="22703568">
                    <a:moveTo>
                      <a:pt x="22204787" y="9700216"/>
                    </a:moveTo>
                    <a:cubicBezTo>
                      <a:pt x="22204787" y="9700216"/>
                      <a:pt x="21967792" y="9690246"/>
                      <a:pt x="21605653" y="9703690"/>
                    </a:cubicBezTo>
                    <a:cubicBezTo>
                      <a:pt x="21243514" y="9717134"/>
                      <a:pt x="490924" y="9717134"/>
                      <a:pt x="490924" y="9717134"/>
                    </a:cubicBezTo>
                    <a:cubicBezTo>
                      <a:pt x="245502" y="9717134"/>
                      <a:pt x="32509" y="9619866"/>
                      <a:pt x="31032" y="9459752"/>
                    </a:cubicBezTo>
                    <a:cubicBezTo>
                      <a:pt x="31032" y="9459752"/>
                      <a:pt x="0" y="6758194"/>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158239" y="0"/>
                      <a:pt x="22158239" y="0"/>
                    </a:cubicBezTo>
                    <a:cubicBezTo>
                      <a:pt x="22470140" y="0"/>
                      <a:pt x="22703569" y="101069"/>
                      <a:pt x="22695710" y="303616"/>
                    </a:cubicBezTo>
                    <a:cubicBezTo>
                      <a:pt x="22695710" y="303616"/>
                      <a:pt x="22693715" y="6210870"/>
                      <a:pt x="22702471" y="8760165"/>
                    </a:cubicBezTo>
                    <a:cubicBezTo>
                      <a:pt x="22711226" y="9053467"/>
                      <a:pt x="22664678" y="9386538"/>
                      <a:pt x="22664678" y="9386538"/>
                    </a:cubicBezTo>
                    <a:cubicBezTo>
                      <a:pt x="22661712" y="9566563"/>
                      <a:pt x="22450209" y="9700216"/>
                      <a:pt x="22204787" y="9700216"/>
                    </a:cubicBezTo>
                    <a:close/>
                  </a:path>
                </a:pathLst>
              </a:custGeom>
              <a:solidFill>
                <a:srgbClr val="8FB7C6"/>
              </a:solidFill>
            </p:spPr>
          </p:sp>
        </p:grpSp>
        <p:grpSp>
          <p:nvGrpSpPr>
            <p:cNvPr name="Group 5" id="5"/>
            <p:cNvGrpSpPr/>
            <p:nvPr/>
          </p:nvGrpSpPr>
          <p:grpSpPr>
            <a:xfrm rot="0">
              <a:off x="254961" y="1067537"/>
              <a:ext cx="22897610" cy="9778026"/>
              <a:chOff x="0" y="0"/>
              <a:chExt cx="22594507" cy="9648591"/>
            </a:xfrm>
          </p:grpSpPr>
          <p:sp>
            <p:nvSpPr>
              <p:cNvPr name="Freeform 6" id="6"/>
              <p:cNvSpPr/>
              <p:nvPr/>
            </p:nvSpPr>
            <p:spPr>
              <a:xfrm flipH="false" flipV="false" rot="0">
                <a:off x="-1" y="0"/>
                <a:ext cx="22594508" cy="9648591"/>
              </a:xfrm>
              <a:custGeom>
                <a:avLst/>
                <a:gdLst/>
                <a:ahLst/>
                <a:cxnLst/>
                <a:rect r="r" b="b" t="t" l="l"/>
                <a:pathLst>
                  <a:path h="9648591" w="22594508">
                    <a:moveTo>
                      <a:pt x="22095727" y="9631673"/>
                    </a:moveTo>
                    <a:cubicBezTo>
                      <a:pt x="22095727" y="9631673"/>
                      <a:pt x="21858730" y="9621703"/>
                      <a:pt x="21496593" y="9635147"/>
                    </a:cubicBezTo>
                    <a:cubicBezTo>
                      <a:pt x="21134454" y="9648591"/>
                      <a:pt x="490924" y="9648591"/>
                      <a:pt x="490924" y="9648591"/>
                    </a:cubicBezTo>
                    <a:cubicBezTo>
                      <a:pt x="245502" y="9648591"/>
                      <a:pt x="32509" y="9551323"/>
                      <a:pt x="31032" y="9391209"/>
                    </a:cubicBezTo>
                    <a:cubicBezTo>
                      <a:pt x="31032" y="9391209"/>
                      <a:pt x="0" y="6705102"/>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049179" y="0"/>
                      <a:pt x="22049179" y="0"/>
                    </a:cubicBezTo>
                    <a:cubicBezTo>
                      <a:pt x="22361080" y="0"/>
                      <a:pt x="22594507" y="101069"/>
                      <a:pt x="22586650" y="303616"/>
                    </a:cubicBezTo>
                    <a:cubicBezTo>
                      <a:pt x="22586650" y="303616"/>
                      <a:pt x="22584655" y="6162502"/>
                      <a:pt x="22593411" y="8691622"/>
                    </a:cubicBezTo>
                    <a:cubicBezTo>
                      <a:pt x="22602166" y="8984924"/>
                      <a:pt x="22555618" y="9317995"/>
                      <a:pt x="22555618" y="9317995"/>
                    </a:cubicBezTo>
                    <a:cubicBezTo>
                      <a:pt x="22552652" y="9498020"/>
                      <a:pt x="22341149" y="9631673"/>
                      <a:pt x="22095727" y="9631673"/>
                    </a:cubicBezTo>
                    <a:close/>
                  </a:path>
                </a:pathLst>
              </a:custGeom>
              <a:solidFill>
                <a:srgbClr val="8FB7C6"/>
              </a:solidFill>
            </p:spPr>
          </p:sp>
        </p:grpSp>
        <p:grpSp>
          <p:nvGrpSpPr>
            <p:cNvPr name="Group 7" id="7"/>
            <p:cNvGrpSpPr/>
            <p:nvPr/>
          </p:nvGrpSpPr>
          <p:grpSpPr>
            <a:xfrm rot="0">
              <a:off x="919721" y="0"/>
              <a:ext cx="22232850" cy="10328670"/>
              <a:chOff x="0" y="0"/>
              <a:chExt cx="23043639" cy="10705337"/>
            </a:xfrm>
          </p:grpSpPr>
          <p:sp>
            <p:nvSpPr>
              <p:cNvPr name="Freeform 8" id="8"/>
              <p:cNvSpPr/>
              <p:nvPr/>
            </p:nvSpPr>
            <p:spPr>
              <a:xfrm flipH="false" flipV="false" rot="0">
                <a:off x="-1" y="0"/>
                <a:ext cx="23043639" cy="10705337"/>
              </a:xfrm>
              <a:custGeom>
                <a:avLst/>
                <a:gdLst/>
                <a:ahLst/>
                <a:cxnLst/>
                <a:rect r="r" b="b" t="t" l="l"/>
                <a:pathLst>
                  <a:path h="10705337" w="23043639">
                    <a:moveTo>
                      <a:pt x="22544859" y="10688418"/>
                    </a:moveTo>
                    <a:cubicBezTo>
                      <a:pt x="22544859" y="10688418"/>
                      <a:pt x="22307863" y="10678449"/>
                      <a:pt x="21945723" y="10691893"/>
                    </a:cubicBezTo>
                    <a:cubicBezTo>
                      <a:pt x="21583586" y="10705337"/>
                      <a:pt x="490924" y="10705337"/>
                      <a:pt x="490924" y="10705337"/>
                    </a:cubicBezTo>
                    <a:cubicBezTo>
                      <a:pt x="245502" y="10705337"/>
                      <a:pt x="32509" y="10608069"/>
                      <a:pt x="31032" y="10447955"/>
                    </a:cubicBezTo>
                    <a:cubicBezTo>
                      <a:pt x="31032" y="10447955"/>
                      <a:pt x="0" y="7523653"/>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498310" y="0"/>
                      <a:pt x="22498310" y="0"/>
                    </a:cubicBezTo>
                    <a:cubicBezTo>
                      <a:pt x="22810212" y="0"/>
                      <a:pt x="23043639" y="101069"/>
                      <a:pt x="23035783" y="303616"/>
                    </a:cubicBezTo>
                    <a:cubicBezTo>
                      <a:pt x="23035783" y="303616"/>
                      <a:pt x="23033787" y="6908210"/>
                      <a:pt x="23042542" y="9748368"/>
                    </a:cubicBezTo>
                    <a:cubicBezTo>
                      <a:pt x="23051298" y="10041669"/>
                      <a:pt x="23004750" y="10374741"/>
                      <a:pt x="23004750" y="10374741"/>
                    </a:cubicBezTo>
                    <a:cubicBezTo>
                      <a:pt x="23001785" y="10554766"/>
                      <a:pt x="22790281" y="10688418"/>
                      <a:pt x="22544859" y="10688418"/>
                    </a:cubicBezTo>
                    <a:close/>
                  </a:path>
                </a:pathLst>
              </a:custGeom>
              <a:solidFill>
                <a:srgbClr val="F3FCFF"/>
              </a:solidFill>
            </p:spPr>
          </p:sp>
        </p:grpSp>
        <p:sp>
          <p:nvSpPr>
            <p:cNvPr name="AutoShape 9" id="9"/>
            <p:cNvSpPr/>
            <p:nvPr/>
          </p:nvSpPr>
          <p:spPr>
            <a:xfrm>
              <a:off x="2250246" y="9826016"/>
              <a:ext cx="22466735" cy="34286"/>
            </a:xfrm>
            <a:prstGeom prst="line">
              <a:avLst/>
            </a:prstGeom>
            <a:ln cap="rnd" w="50800">
              <a:solidFill>
                <a:srgbClr val="8FB7C6"/>
              </a:solidFill>
              <a:prstDash val="solid"/>
              <a:headEnd type="none" len="sm" w="sm"/>
              <a:tailEnd type="none" len="sm" w="sm"/>
            </a:ln>
          </p:spPr>
        </p:sp>
        <p:sp>
          <p:nvSpPr>
            <p:cNvPr name="AutoShape 10" id="10"/>
            <p:cNvSpPr/>
            <p:nvPr/>
          </p:nvSpPr>
          <p:spPr>
            <a:xfrm>
              <a:off x="2250246" y="717206"/>
              <a:ext cx="22466735" cy="34286"/>
            </a:xfrm>
            <a:prstGeom prst="line">
              <a:avLst/>
            </a:prstGeom>
            <a:ln cap="rnd" w="50800">
              <a:solidFill>
                <a:srgbClr val="8FB7C6"/>
              </a:solidFill>
              <a:prstDash val="solid"/>
              <a:headEnd type="none" len="sm" w="sm"/>
              <a:tailEnd type="none" len="sm" w="sm"/>
            </a:ln>
          </p:spPr>
        </p:sp>
      </p:grpSp>
      <p:grpSp>
        <p:nvGrpSpPr>
          <p:cNvPr name="Group 11" id="11"/>
          <p:cNvGrpSpPr/>
          <p:nvPr/>
        </p:nvGrpSpPr>
        <p:grpSpPr>
          <a:xfrm rot="0">
            <a:off x="3521482" y="2400911"/>
            <a:ext cx="12028932" cy="4915636"/>
            <a:chOff x="0" y="0"/>
            <a:chExt cx="16038576" cy="6554182"/>
          </a:xfrm>
        </p:grpSpPr>
        <p:sp>
          <p:nvSpPr>
            <p:cNvPr name="TextBox 12" id="12"/>
            <p:cNvSpPr txBox="true"/>
            <p:nvPr/>
          </p:nvSpPr>
          <p:spPr>
            <a:xfrm rot="0">
              <a:off x="0" y="1786348"/>
              <a:ext cx="16038576" cy="4767834"/>
            </a:xfrm>
            <a:prstGeom prst="rect">
              <a:avLst/>
            </a:prstGeom>
          </p:spPr>
          <p:txBody>
            <a:bodyPr anchor="t" rtlCol="false" tIns="0" lIns="0" bIns="0" rIns="0">
              <a:spAutoFit/>
            </a:bodyPr>
            <a:lstStyle/>
            <a:p>
              <a:pPr algn="l">
                <a:lnSpc>
                  <a:spcPts val="4779"/>
                </a:lnSpc>
              </a:pPr>
              <a:r>
                <a:rPr lang="en-US" sz="3540" spc="-35">
                  <a:solidFill>
                    <a:srgbClr val="000000"/>
                  </a:solidFill>
                  <a:latin typeface="Asap"/>
                  <a:ea typeface="Asap"/>
                  <a:cs typeface="Asap"/>
                  <a:sym typeface="Asap"/>
                </a:rPr>
                <a:t>Memory là gì?</a:t>
              </a:r>
            </a:p>
            <a:p>
              <a:pPr algn="l" marL="764289" indent="-382145" lvl="1">
                <a:lnSpc>
                  <a:spcPts val="4779"/>
                </a:lnSpc>
                <a:buFont typeface="Arial"/>
                <a:buChar char="•"/>
              </a:pPr>
              <a:r>
                <a:rPr lang="en-US" sz="3540" spc="-35">
                  <a:solidFill>
                    <a:srgbClr val="000000"/>
                  </a:solidFill>
                  <a:latin typeface="Asap"/>
                  <a:ea typeface="Asap"/>
                  <a:cs typeface="Asap"/>
                  <a:sym typeface="Asap"/>
                </a:rPr>
                <a:t>L</a:t>
              </a:r>
              <a:r>
                <a:rPr lang="en-US" sz="3540" spc="-35">
                  <a:solidFill>
                    <a:srgbClr val="000000"/>
                  </a:solidFill>
                  <a:latin typeface="Asap"/>
                  <a:ea typeface="Asap"/>
                  <a:cs typeface="Asap"/>
                  <a:sym typeface="Asap"/>
                </a:rPr>
                <a:t>ượng RAM sử dụng</a:t>
              </a:r>
            </a:p>
            <a:p>
              <a:pPr algn="l">
                <a:lnSpc>
                  <a:spcPts val="4779"/>
                </a:lnSpc>
              </a:pPr>
              <a:r>
                <a:rPr lang="en-US" sz="3540" spc="-35">
                  <a:solidFill>
                    <a:srgbClr val="000000"/>
                  </a:solidFill>
                  <a:latin typeface="Asap"/>
                  <a:ea typeface="Asap"/>
                  <a:cs typeface="Asap"/>
                  <a:sym typeface="Asap"/>
                </a:rPr>
                <a:t>Ả</a:t>
              </a:r>
              <a:r>
                <a:rPr lang="en-US" sz="3540" spc="-35">
                  <a:solidFill>
                    <a:srgbClr val="000000"/>
                  </a:solidFill>
                  <a:latin typeface="Asap"/>
                  <a:ea typeface="Asap"/>
                  <a:cs typeface="Asap"/>
                  <a:sym typeface="Asap"/>
                </a:rPr>
                <a:t>nh hưởng:</a:t>
              </a:r>
            </a:p>
            <a:p>
              <a:pPr algn="l" marL="764289" indent="-382145" lvl="1">
                <a:lnSpc>
                  <a:spcPts val="4779"/>
                </a:lnSpc>
                <a:buFont typeface="Arial"/>
                <a:buChar char="•"/>
              </a:pPr>
              <a:r>
                <a:rPr lang="en-US" sz="3540" spc="-35">
                  <a:solidFill>
                    <a:srgbClr val="000000"/>
                  </a:solidFill>
                  <a:latin typeface="Asap"/>
                  <a:ea typeface="Asap"/>
                  <a:cs typeface="Asap"/>
                  <a:sym typeface="Asap"/>
                </a:rPr>
                <a:t>Tố</a:t>
              </a:r>
              <a:r>
                <a:rPr lang="en-US" sz="3540" spc="-35">
                  <a:solidFill>
                    <a:srgbClr val="000000"/>
                  </a:solidFill>
                  <a:latin typeface="Asap"/>
                  <a:ea typeface="Asap"/>
                  <a:cs typeface="Asap"/>
                  <a:sym typeface="Asap"/>
                </a:rPr>
                <a:t>n RAM</a:t>
              </a:r>
              <a:r>
                <a:rPr lang="en-US" sz="3540" spc="-35">
                  <a:solidFill>
                    <a:srgbClr val="000000"/>
                  </a:solidFill>
                  <a:latin typeface="Asap"/>
                  <a:ea typeface="Asap"/>
                  <a:cs typeface="Asap"/>
                  <a:sym typeface="Asap"/>
                </a:rPr>
                <a:t> → dễ crash</a:t>
              </a:r>
            </a:p>
            <a:p>
              <a:pPr algn="l" marL="764289" indent="-382145" lvl="1">
                <a:lnSpc>
                  <a:spcPts val="4779"/>
                </a:lnSpc>
                <a:buFont typeface="Arial"/>
                <a:buChar char="•"/>
              </a:pPr>
              <a:r>
                <a:rPr lang="en-US" sz="3540" spc="-35">
                  <a:solidFill>
                    <a:srgbClr val="000000"/>
                  </a:solidFill>
                  <a:latin typeface="Asap"/>
                  <a:ea typeface="Asap"/>
                  <a:cs typeface="Asap"/>
                  <a:sym typeface="Asap"/>
                </a:rPr>
                <a:t>Không scale được</a:t>
              </a:r>
            </a:p>
            <a:p>
              <a:pPr algn="l">
                <a:lnSpc>
                  <a:spcPts val="4779"/>
                </a:lnSpc>
              </a:pPr>
            </a:p>
          </p:txBody>
        </p:sp>
        <p:sp>
          <p:nvSpPr>
            <p:cNvPr name="TextBox 13" id="13"/>
            <p:cNvSpPr txBox="true"/>
            <p:nvPr/>
          </p:nvSpPr>
          <p:spPr>
            <a:xfrm rot="0">
              <a:off x="0" y="0"/>
              <a:ext cx="12467932" cy="1207078"/>
            </a:xfrm>
            <a:prstGeom prst="rect">
              <a:avLst/>
            </a:prstGeom>
          </p:spPr>
          <p:txBody>
            <a:bodyPr anchor="t" rtlCol="false" tIns="0" lIns="0" bIns="0" rIns="0">
              <a:spAutoFit/>
            </a:bodyPr>
            <a:lstStyle/>
            <a:p>
              <a:pPr algn="just">
                <a:lnSpc>
                  <a:spcPts val="7140"/>
                </a:lnSpc>
              </a:pPr>
              <a:r>
                <a:rPr lang="en-US" b="true" sz="5950">
                  <a:solidFill>
                    <a:srgbClr val="1D2B74"/>
                  </a:solidFill>
                  <a:latin typeface="Faustina Bold"/>
                  <a:ea typeface="Faustina Bold"/>
                  <a:cs typeface="Faustina Bold"/>
                  <a:sym typeface="Faustina Bold"/>
                </a:rPr>
                <a:t>MEMORY</a:t>
              </a:r>
            </a:p>
          </p:txBody>
        </p:sp>
      </p:grpSp>
    </p:spTree>
  </p:cSld>
  <p:clrMapOvr>
    <a:masterClrMapping/>
  </p:clrMapOvr>
  <p:transition spd="slow">
    <p:push dir="d"/>
  </p:transition>
</p:sld>
</file>

<file path=ppt/slides/slide17.xml><?xml version="1.0" encoding="utf-8"?>
<p:sld xmlns:p="http://schemas.openxmlformats.org/presentationml/2006/main" xmlns:a="http://schemas.openxmlformats.org/drawingml/2006/main">
  <p:cSld>
    <p:bg>
      <p:bgPr>
        <a:solidFill>
          <a:srgbClr val="C8E3ED"/>
        </a:solidFill>
      </p:bgPr>
    </p:bg>
    <p:spTree>
      <p:nvGrpSpPr>
        <p:cNvPr id="1" name=""/>
        <p:cNvGrpSpPr/>
        <p:nvPr/>
      </p:nvGrpSpPr>
      <p:grpSpPr>
        <a:xfrm>
          <a:off x="0" y="0"/>
          <a:ext cx="0" cy="0"/>
          <a:chOff x="0" y="0"/>
          <a:chExt cx="0" cy="0"/>
        </a:xfrm>
      </p:grpSpPr>
      <p:grpSp>
        <p:nvGrpSpPr>
          <p:cNvPr name="Group 2" id="2"/>
          <p:cNvGrpSpPr/>
          <p:nvPr/>
        </p:nvGrpSpPr>
        <p:grpSpPr>
          <a:xfrm rot="0">
            <a:off x="774820" y="1028700"/>
            <a:ext cx="18537765" cy="8229600"/>
            <a:chOff x="0" y="0"/>
            <a:chExt cx="24717020" cy="10972800"/>
          </a:xfrm>
        </p:grpSpPr>
        <p:grpSp>
          <p:nvGrpSpPr>
            <p:cNvPr name="Group 3" id="3"/>
            <p:cNvGrpSpPr/>
            <p:nvPr/>
          </p:nvGrpSpPr>
          <p:grpSpPr>
            <a:xfrm rot="0">
              <a:off x="0" y="977717"/>
              <a:ext cx="23352980" cy="9995083"/>
              <a:chOff x="0" y="0"/>
              <a:chExt cx="22703567" cy="9717134"/>
            </a:xfrm>
          </p:grpSpPr>
          <p:sp>
            <p:nvSpPr>
              <p:cNvPr name="Freeform 4" id="4"/>
              <p:cNvSpPr/>
              <p:nvPr/>
            </p:nvSpPr>
            <p:spPr>
              <a:xfrm flipH="false" flipV="false" rot="0">
                <a:off x="-1" y="0"/>
                <a:ext cx="22703568" cy="9717134"/>
              </a:xfrm>
              <a:custGeom>
                <a:avLst/>
                <a:gdLst/>
                <a:ahLst/>
                <a:cxnLst/>
                <a:rect r="r" b="b" t="t" l="l"/>
                <a:pathLst>
                  <a:path h="9717134" w="22703568">
                    <a:moveTo>
                      <a:pt x="22204787" y="9700216"/>
                    </a:moveTo>
                    <a:cubicBezTo>
                      <a:pt x="22204787" y="9700216"/>
                      <a:pt x="21967792" y="9690246"/>
                      <a:pt x="21605653" y="9703690"/>
                    </a:cubicBezTo>
                    <a:cubicBezTo>
                      <a:pt x="21243514" y="9717134"/>
                      <a:pt x="490924" y="9717134"/>
                      <a:pt x="490924" y="9717134"/>
                    </a:cubicBezTo>
                    <a:cubicBezTo>
                      <a:pt x="245502" y="9717134"/>
                      <a:pt x="32509" y="9619866"/>
                      <a:pt x="31032" y="9459752"/>
                    </a:cubicBezTo>
                    <a:cubicBezTo>
                      <a:pt x="31032" y="9459752"/>
                      <a:pt x="0" y="6758194"/>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158239" y="0"/>
                      <a:pt x="22158239" y="0"/>
                    </a:cubicBezTo>
                    <a:cubicBezTo>
                      <a:pt x="22470140" y="0"/>
                      <a:pt x="22703569" y="101069"/>
                      <a:pt x="22695710" y="303616"/>
                    </a:cubicBezTo>
                    <a:cubicBezTo>
                      <a:pt x="22695710" y="303616"/>
                      <a:pt x="22693715" y="6210870"/>
                      <a:pt x="22702471" y="8760165"/>
                    </a:cubicBezTo>
                    <a:cubicBezTo>
                      <a:pt x="22711226" y="9053467"/>
                      <a:pt x="22664678" y="9386538"/>
                      <a:pt x="22664678" y="9386538"/>
                    </a:cubicBezTo>
                    <a:cubicBezTo>
                      <a:pt x="22661712" y="9566563"/>
                      <a:pt x="22450209" y="9700216"/>
                      <a:pt x="22204787" y="9700216"/>
                    </a:cubicBezTo>
                    <a:close/>
                  </a:path>
                </a:pathLst>
              </a:custGeom>
              <a:solidFill>
                <a:srgbClr val="8FB7C6"/>
              </a:solidFill>
            </p:spPr>
          </p:sp>
        </p:grpSp>
        <p:grpSp>
          <p:nvGrpSpPr>
            <p:cNvPr name="Group 5" id="5"/>
            <p:cNvGrpSpPr/>
            <p:nvPr/>
          </p:nvGrpSpPr>
          <p:grpSpPr>
            <a:xfrm rot="0">
              <a:off x="254961" y="1067537"/>
              <a:ext cx="22897610" cy="9778026"/>
              <a:chOff x="0" y="0"/>
              <a:chExt cx="22594507" cy="9648591"/>
            </a:xfrm>
          </p:grpSpPr>
          <p:sp>
            <p:nvSpPr>
              <p:cNvPr name="Freeform 6" id="6"/>
              <p:cNvSpPr/>
              <p:nvPr/>
            </p:nvSpPr>
            <p:spPr>
              <a:xfrm flipH="false" flipV="false" rot="0">
                <a:off x="-1" y="0"/>
                <a:ext cx="22594508" cy="9648591"/>
              </a:xfrm>
              <a:custGeom>
                <a:avLst/>
                <a:gdLst/>
                <a:ahLst/>
                <a:cxnLst/>
                <a:rect r="r" b="b" t="t" l="l"/>
                <a:pathLst>
                  <a:path h="9648591" w="22594508">
                    <a:moveTo>
                      <a:pt x="22095727" y="9631673"/>
                    </a:moveTo>
                    <a:cubicBezTo>
                      <a:pt x="22095727" y="9631673"/>
                      <a:pt x="21858730" y="9621703"/>
                      <a:pt x="21496593" y="9635147"/>
                    </a:cubicBezTo>
                    <a:cubicBezTo>
                      <a:pt x="21134454" y="9648591"/>
                      <a:pt x="490924" y="9648591"/>
                      <a:pt x="490924" y="9648591"/>
                    </a:cubicBezTo>
                    <a:cubicBezTo>
                      <a:pt x="245502" y="9648591"/>
                      <a:pt x="32509" y="9551323"/>
                      <a:pt x="31032" y="9391209"/>
                    </a:cubicBezTo>
                    <a:cubicBezTo>
                      <a:pt x="31032" y="9391209"/>
                      <a:pt x="0" y="6705102"/>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049179" y="0"/>
                      <a:pt x="22049179" y="0"/>
                    </a:cubicBezTo>
                    <a:cubicBezTo>
                      <a:pt x="22361080" y="0"/>
                      <a:pt x="22594507" y="101069"/>
                      <a:pt x="22586650" y="303616"/>
                    </a:cubicBezTo>
                    <a:cubicBezTo>
                      <a:pt x="22586650" y="303616"/>
                      <a:pt x="22584655" y="6162502"/>
                      <a:pt x="22593411" y="8691622"/>
                    </a:cubicBezTo>
                    <a:cubicBezTo>
                      <a:pt x="22602166" y="8984924"/>
                      <a:pt x="22555618" y="9317995"/>
                      <a:pt x="22555618" y="9317995"/>
                    </a:cubicBezTo>
                    <a:cubicBezTo>
                      <a:pt x="22552652" y="9498020"/>
                      <a:pt x="22341149" y="9631673"/>
                      <a:pt x="22095727" y="9631673"/>
                    </a:cubicBezTo>
                    <a:close/>
                  </a:path>
                </a:pathLst>
              </a:custGeom>
              <a:solidFill>
                <a:srgbClr val="8FB7C6"/>
              </a:solidFill>
            </p:spPr>
          </p:sp>
        </p:grpSp>
        <p:grpSp>
          <p:nvGrpSpPr>
            <p:cNvPr name="Group 7" id="7"/>
            <p:cNvGrpSpPr/>
            <p:nvPr/>
          </p:nvGrpSpPr>
          <p:grpSpPr>
            <a:xfrm rot="0">
              <a:off x="919721" y="0"/>
              <a:ext cx="22232850" cy="10328670"/>
              <a:chOff x="0" y="0"/>
              <a:chExt cx="23043639" cy="10705337"/>
            </a:xfrm>
          </p:grpSpPr>
          <p:sp>
            <p:nvSpPr>
              <p:cNvPr name="Freeform 8" id="8"/>
              <p:cNvSpPr/>
              <p:nvPr/>
            </p:nvSpPr>
            <p:spPr>
              <a:xfrm flipH="false" flipV="false" rot="0">
                <a:off x="-1" y="0"/>
                <a:ext cx="23043639" cy="10705337"/>
              </a:xfrm>
              <a:custGeom>
                <a:avLst/>
                <a:gdLst/>
                <a:ahLst/>
                <a:cxnLst/>
                <a:rect r="r" b="b" t="t" l="l"/>
                <a:pathLst>
                  <a:path h="10705337" w="23043639">
                    <a:moveTo>
                      <a:pt x="22544859" y="10688418"/>
                    </a:moveTo>
                    <a:cubicBezTo>
                      <a:pt x="22544859" y="10688418"/>
                      <a:pt x="22307863" y="10678449"/>
                      <a:pt x="21945723" y="10691893"/>
                    </a:cubicBezTo>
                    <a:cubicBezTo>
                      <a:pt x="21583586" y="10705337"/>
                      <a:pt x="490924" y="10705337"/>
                      <a:pt x="490924" y="10705337"/>
                    </a:cubicBezTo>
                    <a:cubicBezTo>
                      <a:pt x="245502" y="10705337"/>
                      <a:pt x="32509" y="10608069"/>
                      <a:pt x="31032" y="10447955"/>
                    </a:cubicBezTo>
                    <a:cubicBezTo>
                      <a:pt x="31032" y="10447955"/>
                      <a:pt x="0" y="7523653"/>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498310" y="0"/>
                      <a:pt x="22498310" y="0"/>
                    </a:cubicBezTo>
                    <a:cubicBezTo>
                      <a:pt x="22810212" y="0"/>
                      <a:pt x="23043639" y="101069"/>
                      <a:pt x="23035783" y="303616"/>
                    </a:cubicBezTo>
                    <a:cubicBezTo>
                      <a:pt x="23035783" y="303616"/>
                      <a:pt x="23033787" y="6908210"/>
                      <a:pt x="23042542" y="9748368"/>
                    </a:cubicBezTo>
                    <a:cubicBezTo>
                      <a:pt x="23051298" y="10041669"/>
                      <a:pt x="23004750" y="10374741"/>
                      <a:pt x="23004750" y="10374741"/>
                    </a:cubicBezTo>
                    <a:cubicBezTo>
                      <a:pt x="23001785" y="10554766"/>
                      <a:pt x="22790281" y="10688418"/>
                      <a:pt x="22544859" y="10688418"/>
                    </a:cubicBezTo>
                    <a:close/>
                  </a:path>
                </a:pathLst>
              </a:custGeom>
              <a:solidFill>
                <a:srgbClr val="F3FCFF"/>
              </a:solidFill>
            </p:spPr>
          </p:sp>
        </p:grpSp>
        <p:sp>
          <p:nvSpPr>
            <p:cNvPr name="AutoShape 9" id="9"/>
            <p:cNvSpPr/>
            <p:nvPr/>
          </p:nvSpPr>
          <p:spPr>
            <a:xfrm>
              <a:off x="2250246" y="9826016"/>
              <a:ext cx="22466735" cy="34286"/>
            </a:xfrm>
            <a:prstGeom prst="line">
              <a:avLst/>
            </a:prstGeom>
            <a:ln cap="rnd" w="50800">
              <a:solidFill>
                <a:srgbClr val="8FB7C6"/>
              </a:solidFill>
              <a:prstDash val="solid"/>
              <a:headEnd type="none" len="sm" w="sm"/>
              <a:tailEnd type="none" len="sm" w="sm"/>
            </a:ln>
          </p:spPr>
        </p:sp>
        <p:sp>
          <p:nvSpPr>
            <p:cNvPr name="AutoShape 10" id="10"/>
            <p:cNvSpPr/>
            <p:nvPr/>
          </p:nvSpPr>
          <p:spPr>
            <a:xfrm>
              <a:off x="2250246" y="717206"/>
              <a:ext cx="22466735" cy="34286"/>
            </a:xfrm>
            <a:prstGeom prst="line">
              <a:avLst/>
            </a:prstGeom>
            <a:ln cap="rnd" w="50800">
              <a:solidFill>
                <a:srgbClr val="8FB7C6"/>
              </a:solidFill>
              <a:prstDash val="solid"/>
              <a:headEnd type="none" len="sm" w="sm"/>
              <a:tailEnd type="none" len="sm" w="sm"/>
            </a:ln>
          </p:spPr>
        </p:sp>
      </p:grpSp>
      <p:grpSp>
        <p:nvGrpSpPr>
          <p:cNvPr name="Group 11" id="11"/>
          <p:cNvGrpSpPr/>
          <p:nvPr/>
        </p:nvGrpSpPr>
        <p:grpSpPr>
          <a:xfrm rot="0">
            <a:off x="3521482" y="2700949"/>
            <a:ext cx="12028932" cy="4315561"/>
            <a:chOff x="0" y="0"/>
            <a:chExt cx="16038576" cy="5754082"/>
          </a:xfrm>
        </p:grpSpPr>
        <p:sp>
          <p:nvSpPr>
            <p:cNvPr name="TextBox 12" id="12"/>
            <p:cNvSpPr txBox="true"/>
            <p:nvPr/>
          </p:nvSpPr>
          <p:spPr>
            <a:xfrm rot="0">
              <a:off x="0" y="1786348"/>
              <a:ext cx="16038576" cy="3967734"/>
            </a:xfrm>
            <a:prstGeom prst="rect">
              <a:avLst/>
            </a:prstGeom>
          </p:spPr>
          <p:txBody>
            <a:bodyPr anchor="t" rtlCol="false" tIns="0" lIns="0" bIns="0" rIns="0">
              <a:spAutoFit/>
            </a:bodyPr>
            <a:lstStyle/>
            <a:p>
              <a:pPr algn="l">
                <a:lnSpc>
                  <a:spcPts val="4779"/>
                </a:lnSpc>
              </a:pPr>
              <a:r>
                <a:rPr lang="en-US" sz="3540" spc="-35">
                  <a:solidFill>
                    <a:srgbClr val="000000"/>
                  </a:solidFill>
                  <a:latin typeface="Asap"/>
                  <a:ea typeface="Asap"/>
                  <a:cs typeface="Asap"/>
                  <a:sym typeface="Asap"/>
                </a:rPr>
                <a:t>Trade-off:</a:t>
              </a:r>
            </a:p>
            <a:p>
              <a:pPr algn="l" marL="764289" indent="-382145" lvl="1">
                <a:lnSpc>
                  <a:spcPts val="4779"/>
                </a:lnSpc>
                <a:buFont typeface="Arial"/>
                <a:buChar char="•"/>
              </a:pPr>
              <a:r>
                <a:rPr lang="en-US" sz="3540" spc="-35">
                  <a:solidFill>
                    <a:srgbClr val="000000"/>
                  </a:solidFill>
                  <a:latin typeface="Asap"/>
                  <a:ea typeface="Asap"/>
                  <a:cs typeface="Asap"/>
                  <a:sym typeface="Asap"/>
                </a:rPr>
                <a:t>Nhanh hơn → tố</a:t>
              </a:r>
              <a:r>
                <a:rPr lang="en-US" sz="3540" spc="-35">
                  <a:solidFill>
                    <a:srgbClr val="000000"/>
                  </a:solidFill>
                  <a:latin typeface="Asap"/>
                  <a:ea typeface="Asap"/>
                  <a:cs typeface="Asap"/>
                  <a:sym typeface="Asap"/>
                </a:rPr>
                <a:t>n RAM</a:t>
              </a:r>
            </a:p>
            <a:p>
              <a:pPr algn="l" marL="764289" indent="-382145" lvl="1">
                <a:lnSpc>
                  <a:spcPts val="4779"/>
                </a:lnSpc>
                <a:buFont typeface="Arial"/>
                <a:buChar char="•"/>
              </a:pPr>
              <a:r>
                <a:rPr lang="en-US" sz="3540" spc="-35">
                  <a:solidFill>
                    <a:srgbClr val="000000"/>
                  </a:solidFill>
                  <a:latin typeface="Asap"/>
                  <a:ea typeface="Asap"/>
                  <a:cs typeface="Asap"/>
                  <a:sym typeface="Asap"/>
                </a:rPr>
                <a:t>Tiết</a:t>
              </a:r>
              <a:r>
                <a:rPr lang="en-US" sz="3540" spc="-35">
                  <a:solidFill>
                    <a:srgbClr val="000000"/>
                  </a:solidFill>
                  <a:latin typeface="Asap"/>
                  <a:ea typeface="Asap"/>
                  <a:cs typeface="Asap"/>
                  <a:sym typeface="Asap"/>
                </a:rPr>
                <a:t> kiệm RAM</a:t>
              </a:r>
              <a:r>
                <a:rPr lang="en-US" sz="3540" spc="-35">
                  <a:solidFill>
                    <a:srgbClr val="000000"/>
                  </a:solidFill>
                  <a:latin typeface="Asap"/>
                  <a:ea typeface="Asap"/>
                  <a:cs typeface="Asap"/>
                  <a:sym typeface="Asap"/>
                </a:rPr>
                <a:t> → chậm hơn</a:t>
              </a:r>
            </a:p>
            <a:p>
              <a:pPr algn="l">
                <a:lnSpc>
                  <a:spcPts val="4779"/>
                </a:lnSpc>
              </a:pPr>
              <a:r>
                <a:rPr lang="en-US" sz="3540" spc="-35">
                  <a:solidFill>
                    <a:srgbClr val="000000"/>
                  </a:solidFill>
                  <a:latin typeface="Asap"/>
                  <a:ea typeface="Asap"/>
                  <a:cs typeface="Asap"/>
                  <a:sym typeface="Asap"/>
                </a:rPr>
                <a:t>Cần cân bằng</a:t>
              </a:r>
            </a:p>
            <a:p>
              <a:pPr algn="l">
                <a:lnSpc>
                  <a:spcPts val="4779"/>
                </a:lnSpc>
              </a:pPr>
            </a:p>
          </p:txBody>
        </p:sp>
        <p:sp>
          <p:nvSpPr>
            <p:cNvPr name="TextBox 13" id="13"/>
            <p:cNvSpPr txBox="true"/>
            <p:nvPr/>
          </p:nvSpPr>
          <p:spPr>
            <a:xfrm rot="0">
              <a:off x="0" y="0"/>
              <a:ext cx="12467932" cy="1207078"/>
            </a:xfrm>
            <a:prstGeom prst="rect">
              <a:avLst/>
            </a:prstGeom>
          </p:spPr>
          <p:txBody>
            <a:bodyPr anchor="t" rtlCol="false" tIns="0" lIns="0" bIns="0" rIns="0">
              <a:spAutoFit/>
            </a:bodyPr>
            <a:lstStyle/>
            <a:p>
              <a:pPr algn="just">
                <a:lnSpc>
                  <a:spcPts val="7140"/>
                </a:lnSpc>
              </a:pPr>
              <a:r>
                <a:rPr lang="en-US" b="true" sz="5950">
                  <a:solidFill>
                    <a:srgbClr val="1D2B74"/>
                  </a:solidFill>
                  <a:latin typeface="Faustina Bold"/>
                  <a:ea typeface="Faustina Bold"/>
                  <a:cs typeface="Faustina Bold"/>
                  <a:sym typeface="Faustina Bold"/>
                </a:rPr>
                <a:t>TRADE-OFF</a:t>
              </a:r>
            </a:p>
          </p:txBody>
        </p:sp>
      </p:grpSp>
    </p:spTree>
  </p:cSld>
  <p:clrMapOvr>
    <a:masterClrMapping/>
  </p:clrMapOvr>
  <p:transition spd="slow">
    <p:push dir="d"/>
  </p:transition>
</p:sld>
</file>

<file path=ppt/slides/slide18.xml><?xml version="1.0" encoding="utf-8"?>
<p:sld xmlns:p="http://schemas.openxmlformats.org/presentationml/2006/main" xmlns:a="http://schemas.openxmlformats.org/drawingml/2006/main">
  <p:cSld>
    <p:bg>
      <p:bgPr>
        <a:solidFill>
          <a:srgbClr val="C8E3ED"/>
        </a:solidFill>
      </p:bgPr>
    </p:bg>
    <p:spTree>
      <p:nvGrpSpPr>
        <p:cNvPr id="1" name=""/>
        <p:cNvGrpSpPr/>
        <p:nvPr/>
      </p:nvGrpSpPr>
      <p:grpSpPr>
        <a:xfrm>
          <a:off x="0" y="0"/>
          <a:ext cx="0" cy="0"/>
          <a:chOff x="0" y="0"/>
          <a:chExt cx="0" cy="0"/>
        </a:xfrm>
      </p:grpSpPr>
      <p:grpSp>
        <p:nvGrpSpPr>
          <p:cNvPr name="Group 2" id="2"/>
          <p:cNvGrpSpPr/>
          <p:nvPr/>
        </p:nvGrpSpPr>
        <p:grpSpPr>
          <a:xfrm rot="0">
            <a:off x="774820" y="1028700"/>
            <a:ext cx="18537765" cy="8229600"/>
            <a:chOff x="0" y="0"/>
            <a:chExt cx="24717020" cy="10972800"/>
          </a:xfrm>
        </p:grpSpPr>
        <p:grpSp>
          <p:nvGrpSpPr>
            <p:cNvPr name="Group 3" id="3"/>
            <p:cNvGrpSpPr/>
            <p:nvPr/>
          </p:nvGrpSpPr>
          <p:grpSpPr>
            <a:xfrm rot="0">
              <a:off x="0" y="977717"/>
              <a:ext cx="23352980" cy="9995083"/>
              <a:chOff x="0" y="0"/>
              <a:chExt cx="22703567" cy="9717134"/>
            </a:xfrm>
          </p:grpSpPr>
          <p:sp>
            <p:nvSpPr>
              <p:cNvPr name="Freeform 4" id="4"/>
              <p:cNvSpPr/>
              <p:nvPr/>
            </p:nvSpPr>
            <p:spPr>
              <a:xfrm flipH="false" flipV="false" rot="0">
                <a:off x="-1" y="0"/>
                <a:ext cx="22703568" cy="9717134"/>
              </a:xfrm>
              <a:custGeom>
                <a:avLst/>
                <a:gdLst/>
                <a:ahLst/>
                <a:cxnLst/>
                <a:rect r="r" b="b" t="t" l="l"/>
                <a:pathLst>
                  <a:path h="9717134" w="22703568">
                    <a:moveTo>
                      <a:pt x="22204787" y="9700216"/>
                    </a:moveTo>
                    <a:cubicBezTo>
                      <a:pt x="22204787" y="9700216"/>
                      <a:pt x="21967792" y="9690246"/>
                      <a:pt x="21605653" y="9703690"/>
                    </a:cubicBezTo>
                    <a:cubicBezTo>
                      <a:pt x="21243514" y="9717134"/>
                      <a:pt x="490924" y="9717134"/>
                      <a:pt x="490924" y="9717134"/>
                    </a:cubicBezTo>
                    <a:cubicBezTo>
                      <a:pt x="245502" y="9717134"/>
                      <a:pt x="32509" y="9619866"/>
                      <a:pt x="31032" y="9459752"/>
                    </a:cubicBezTo>
                    <a:cubicBezTo>
                      <a:pt x="31032" y="9459752"/>
                      <a:pt x="0" y="6758194"/>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158239" y="0"/>
                      <a:pt x="22158239" y="0"/>
                    </a:cubicBezTo>
                    <a:cubicBezTo>
                      <a:pt x="22470140" y="0"/>
                      <a:pt x="22703569" y="101069"/>
                      <a:pt x="22695710" y="303616"/>
                    </a:cubicBezTo>
                    <a:cubicBezTo>
                      <a:pt x="22695710" y="303616"/>
                      <a:pt x="22693715" y="6210870"/>
                      <a:pt x="22702471" y="8760165"/>
                    </a:cubicBezTo>
                    <a:cubicBezTo>
                      <a:pt x="22711226" y="9053467"/>
                      <a:pt x="22664678" y="9386538"/>
                      <a:pt x="22664678" y="9386538"/>
                    </a:cubicBezTo>
                    <a:cubicBezTo>
                      <a:pt x="22661712" y="9566563"/>
                      <a:pt x="22450209" y="9700216"/>
                      <a:pt x="22204787" y="9700216"/>
                    </a:cubicBezTo>
                    <a:close/>
                  </a:path>
                </a:pathLst>
              </a:custGeom>
              <a:solidFill>
                <a:srgbClr val="8FB7C6"/>
              </a:solidFill>
            </p:spPr>
          </p:sp>
        </p:grpSp>
        <p:grpSp>
          <p:nvGrpSpPr>
            <p:cNvPr name="Group 5" id="5"/>
            <p:cNvGrpSpPr/>
            <p:nvPr/>
          </p:nvGrpSpPr>
          <p:grpSpPr>
            <a:xfrm rot="0">
              <a:off x="254961" y="1067537"/>
              <a:ext cx="22897610" cy="9778026"/>
              <a:chOff x="0" y="0"/>
              <a:chExt cx="22594507" cy="9648591"/>
            </a:xfrm>
          </p:grpSpPr>
          <p:sp>
            <p:nvSpPr>
              <p:cNvPr name="Freeform 6" id="6"/>
              <p:cNvSpPr/>
              <p:nvPr/>
            </p:nvSpPr>
            <p:spPr>
              <a:xfrm flipH="false" flipV="false" rot="0">
                <a:off x="-1" y="0"/>
                <a:ext cx="22594508" cy="9648591"/>
              </a:xfrm>
              <a:custGeom>
                <a:avLst/>
                <a:gdLst/>
                <a:ahLst/>
                <a:cxnLst/>
                <a:rect r="r" b="b" t="t" l="l"/>
                <a:pathLst>
                  <a:path h="9648591" w="22594508">
                    <a:moveTo>
                      <a:pt x="22095727" y="9631673"/>
                    </a:moveTo>
                    <a:cubicBezTo>
                      <a:pt x="22095727" y="9631673"/>
                      <a:pt x="21858730" y="9621703"/>
                      <a:pt x="21496593" y="9635147"/>
                    </a:cubicBezTo>
                    <a:cubicBezTo>
                      <a:pt x="21134454" y="9648591"/>
                      <a:pt x="490924" y="9648591"/>
                      <a:pt x="490924" y="9648591"/>
                    </a:cubicBezTo>
                    <a:cubicBezTo>
                      <a:pt x="245502" y="9648591"/>
                      <a:pt x="32509" y="9551323"/>
                      <a:pt x="31032" y="9391209"/>
                    </a:cubicBezTo>
                    <a:cubicBezTo>
                      <a:pt x="31032" y="9391209"/>
                      <a:pt x="0" y="6705102"/>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049179" y="0"/>
                      <a:pt x="22049179" y="0"/>
                    </a:cubicBezTo>
                    <a:cubicBezTo>
                      <a:pt x="22361080" y="0"/>
                      <a:pt x="22594507" y="101069"/>
                      <a:pt x="22586650" y="303616"/>
                    </a:cubicBezTo>
                    <a:cubicBezTo>
                      <a:pt x="22586650" y="303616"/>
                      <a:pt x="22584655" y="6162502"/>
                      <a:pt x="22593411" y="8691622"/>
                    </a:cubicBezTo>
                    <a:cubicBezTo>
                      <a:pt x="22602166" y="8984924"/>
                      <a:pt x="22555618" y="9317995"/>
                      <a:pt x="22555618" y="9317995"/>
                    </a:cubicBezTo>
                    <a:cubicBezTo>
                      <a:pt x="22552652" y="9498020"/>
                      <a:pt x="22341149" y="9631673"/>
                      <a:pt x="22095727" y="9631673"/>
                    </a:cubicBezTo>
                    <a:close/>
                  </a:path>
                </a:pathLst>
              </a:custGeom>
              <a:solidFill>
                <a:srgbClr val="8FB7C6"/>
              </a:solidFill>
            </p:spPr>
          </p:sp>
        </p:grpSp>
        <p:grpSp>
          <p:nvGrpSpPr>
            <p:cNvPr name="Group 7" id="7"/>
            <p:cNvGrpSpPr/>
            <p:nvPr/>
          </p:nvGrpSpPr>
          <p:grpSpPr>
            <a:xfrm rot="0">
              <a:off x="919721" y="0"/>
              <a:ext cx="22232850" cy="10328670"/>
              <a:chOff x="0" y="0"/>
              <a:chExt cx="23043639" cy="10705337"/>
            </a:xfrm>
          </p:grpSpPr>
          <p:sp>
            <p:nvSpPr>
              <p:cNvPr name="Freeform 8" id="8"/>
              <p:cNvSpPr/>
              <p:nvPr/>
            </p:nvSpPr>
            <p:spPr>
              <a:xfrm flipH="false" flipV="false" rot="0">
                <a:off x="-1" y="0"/>
                <a:ext cx="23043639" cy="10705337"/>
              </a:xfrm>
              <a:custGeom>
                <a:avLst/>
                <a:gdLst/>
                <a:ahLst/>
                <a:cxnLst/>
                <a:rect r="r" b="b" t="t" l="l"/>
                <a:pathLst>
                  <a:path h="10705337" w="23043639">
                    <a:moveTo>
                      <a:pt x="22544859" y="10688418"/>
                    </a:moveTo>
                    <a:cubicBezTo>
                      <a:pt x="22544859" y="10688418"/>
                      <a:pt x="22307863" y="10678449"/>
                      <a:pt x="21945723" y="10691893"/>
                    </a:cubicBezTo>
                    <a:cubicBezTo>
                      <a:pt x="21583586" y="10705337"/>
                      <a:pt x="490924" y="10705337"/>
                      <a:pt x="490924" y="10705337"/>
                    </a:cubicBezTo>
                    <a:cubicBezTo>
                      <a:pt x="245502" y="10705337"/>
                      <a:pt x="32509" y="10608069"/>
                      <a:pt x="31032" y="10447955"/>
                    </a:cubicBezTo>
                    <a:cubicBezTo>
                      <a:pt x="31032" y="10447955"/>
                      <a:pt x="0" y="7523653"/>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498310" y="0"/>
                      <a:pt x="22498310" y="0"/>
                    </a:cubicBezTo>
                    <a:cubicBezTo>
                      <a:pt x="22810212" y="0"/>
                      <a:pt x="23043639" y="101069"/>
                      <a:pt x="23035783" y="303616"/>
                    </a:cubicBezTo>
                    <a:cubicBezTo>
                      <a:pt x="23035783" y="303616"/>
                      <a:pt x="23033787" y="6908210"/>
                      <a:pt x="23042542" y="9748368"/>
                    </a:cubicBezTo>
                    <a:cubicBezTo>
                      <a:pt x="23051298" y="10041669"/>
                      <a:pt x="23004750" y="10374741"/>
                      <a:pt x="23004750" y="10374741"/>
                    </a:cubicBezTo>
                    <a:cubicBezTo>
                      <a:pt x="23001785" y="10554766"/>
                      <a:pt x="22790281" y="10688418"/>
                      <a:pt x="22544859" y="10688418"/>
                    </a:cubicBezTo>
                    <a:close/>
                  </a:path>
                </a:pathLst>
              </a:custGeom>
              <a:solidFill>
                <a:srgbClr val="F3FCFF"/>
              </a:solidFill>
            </p:spPr>
          </p:sp>
        </p:grpSp>
        <p:sp>
          <p:nvSpPr>
            <p:cNvPr name="AutoShape 9" id="9"/>
            <p:cNvSpPr/>
            <p:nvPr/>
          </p:nvSpPr>
          <p:spPr>
            <a:xfrm>
              <a:off x="2250246" y="9826016"/>
              <a:ext cx="22466735" cy="34286"/>
            </a:xfrm>
            <a:prstGeom prst="line">
              <a:avLst/>
            </a:prstGeom>
            <a:ln cap="rnd" w="50800">
              <a:solidFill>
                <a:srgbClr val="8FB7C6"/>
              </a:solidFill>
              <a:prstDash val="solid"/>
              <a:headEnd type="none" len="sm" w="sm"/>
              <a:tailEnd type="none" len="sm" w="sm"/>
            </a:ln>
          </p:spPr>
        </p:sp>
        <p:sp>
          <p:nvSpPr>
            <p:cNvPr name="AutoShape 10" id="10"/>
            <p:cNvSpPr/>
            <p:nvPr/>
          </p:nvSpPr>
          <p:spPr>
            <a:xfrm>
              <a:off x="2250246" y="717206"/>
              <a:ext cx="22466735" cy="34286"/>
            </a:xfrm>
            <a:prstGeom prst="line">
              <a:avLst/>
            </a:prstGeom>
            <a:ln cap="rnd" w="50800">
              <a:solidFill>
                <a:srgbClr val="8FB7C6"/>
              </a:solidFill>
              <a:prstDash val="solid"/>
              <a:headEnd type="none" len="sm" w="sm"/>
              <a:tailEnd type="none" len="sm" w="sm"/>
            </a:ln>
          </p:spPr>
        </p:sp>
      </p:grpSp>
      <p:grpSp>
        <p:nvGrpSpPr>
          <p:cNvPr name="Group 11" id="11"/>
          <p:cNvGrpSpPr/>
          <p:nvPr/>
        </p:nvGrpSpPr>
        <p:grpSpPr>
          <a:xfrm rot="0">
            <a:off x="3521482" y="2100874"/>
            <a:ext cx="12028932" cy="5515711"/>
            <a:chOff x="0" y="0"/>
            <a:chExt cx="16038576" cy="7354282"/>
          </a:xfrm>
        </p:grpSpPr>
        <p:sp>
          <p:nvSpPr>
            <p:cNvPr name="TextBox 12" id="12"/>
            <p:cNvSpPr txBox="true"/>
            <p:nvPr/>
          </p:nvSpPr>
          <p:spPr>
            <a:xfrm rot="0">
              <a:off x="0" y="1786348"/>
              <a:ext cx="16038576" cy="5567934"/>
            </a:xfrm>
            <a:prstGeom prst="rect">
              <a:avLst/>
            </a:prstGeom>
          </p:spPr>
          <p:txBody>
            <a:bodyPr anchor="t" rtlCol="false" tIns="0" lIns="0" bIns="0" rIns="0">
              <a:spAutoFit/>
            </a:bodyPr>
            <a:lstStyle/>
            <a:p>
              <a:pPr algn="just">
                <a:lnSpc>
                  <a:spcPts val="4779"/>
                </a:lnSpc>
              </a:pPr>
              <a:r>
                <a:rPr lang="en-US" sz="3540" spc="-35">
                  <a:solidFill>
                    <a:srgbClr val="000000"/>
                  </a:solidFill>
                  <a:latin typeface="Asap"/>
                  <a:ea typeface="Asap"/>
                  <a:cs typeface="Asap"/>
                  <a:sym typeface="Asap"/>
                </a:rPr>
                <a:t>Profiling là gì?</a:t>
              </a:r>
            </a:p>
            <a:p>
              <a:pPr algn="just" marL="764289" indent="-382145" lvl="1">
                <a:lnSpc>
                  <a:spcPts val="4779"/>
                </a:lnSpc>
                <a:buFont typeface="Arial"/>
                <a:buChar char="•"/>
              </a:pPr>
              <a:r>
                <a:rPr lang="en-US" sz="3540" spc="-35">
                  <a:solidFill>
                    <a:srgbClr val="000000"/>
                  </a:solidFill>
                  <a:latin typeface="Asap"/>
                  <a:ea typeface="Asap"/>
                  <a:cs typeface="Asap"/>
                  <a:sym typeface="Asap"/>
                </a:rPr>
                <a:t>Đo ru</a:t>
              </a:r>
              <a:r>
                <a:rPr lang="en-US" sz="3540" spc="-35">
                  <a:solidFill>
                    <a:srgbClr val="000000"/>
                  </a:solidFill>
                  <a:latin typeface="Asap"/>
                  <a:ea typeface="Asap"/>
                  <a:cs typeface="Asap"/>
                  <a:sym typeface="Asap"/>
                </a:rPr>
                <a:t>n</a:t>
              </a:r>
              <a:r>
                <a:rPr lang="en-US" sz="3540" spc="-35">
                  <a:solidFill>
                    <a:srgbClr val="000000"/>
                  </a:solidFill>
                  <a:latin typeface="Asap"/>
                  <a:ea typeface="Asap"/>
                  <a:cs typeface="Asap"/>
                  <a:sym typeface="Asap"/>
                </a:rPr>
                <a:t>t</a:t>
              </a:r>
              <a:r>
                <a:rPr lang="en-US" sz="3540" spc="-35">
                  <a:solidFill>
                    <a:srgbClr val="000000"/>
                  </a:solidFill>
                  <a:latin typeface="Asap"/>
                  <a:ea typeface="Asap"/>
                  <a:cs typeface="Asap"/>
                  <a:sym typeface="Asap"/>
                </a:rPr>
                <a:t>ime</a:t>
              </a:r>
            </a:p>
            <a:p>
              <a:pPr algn="just" marL="764289" indent="-382145" lvl="1">
                <a:lnSpc>
                  <a:spcPts val="4779"/>
                </a:lnSpc>
                <a:buFont typeface="Arial"/>
                <a:buChar char="•"/>
              </a:pPr>
              <a:r>
                <a:rPr lang="en-US" sz="3540" spc="-35">
                  <a:solidFill>
                    <a:srgbClr val="000000"/>
                  </a:solidFill>
                  <a:latin typeface="Asap"/>
                  <a:ea typeface="Asap"/>
                  <a:cs typeface="Asap"/>
                  <a:sym typeface="Asap"/>
                </a:rPr>
                <a:t>Đo memory</a:t>
              </a:r>
            </a:p>
            <a:p>
              <a:pPr algn="just">
                <a:lnSpc>
                  <a:spcPts val="4779"/>
                </a:lnSpc>
              </a:pPr>
              <a:r>
                <a:rPr lang="en-US" sz="3540" spc="-35">
                  <a:solidFill>
                    <a:srgbClr val="000000"/>
                  </a:solidFill>
                  <a:latin typeface="Asap"/>
                  <a:ea typeface="Asap"/>
                  <a:cs typeface="Asap"/>
                  <a:sym typeface="Asap"/>
                </a:rPr>
                <a:t>GenAI</a:t>
              </a:r>
              <a:r>
                <a:rPr lang="en-US" sz="3540" spc="-35">
                  <a:solidFill>
                    <a:srgbClr val="000000"/>
                  </a:solidFill>
                  <a:latin typeface="Asap"/>
                  <a:ea typeface="Asap"/>
                  <a:cs typeface="Asap"/>
                  <a:sym typeface="Asap"/>
                </a:rPr>
                <a:t> giúp:</a:t>
              </a:r>
            </a:p>
            <a:p>
              <a:pPr algn="just" marL="764289" indent="-382145" lvl="1">
                <a:lnSpc>
                  <a:spcPts val="4779"/>
                </a:lnSpc>
                <a:buFont typeface="Arial"/>
                <a:buChar char="•"/>
              </a:pPr>
              <a:r>
                <a:rPr lang="en-US" sz="3540" spc="-35">
                  <a:solidFill>
                    <a:srgbClr val="000000"/>
                  </a:solidFill>
                  <a:latin typeface="Asap"/>
                  <a:ea typeface="Asap"/>
                  <a:cs typeface="Asap"/>
                  <a:sym typeface="Asap"/>
                </a:rPr>
                <a:t>Tìm bottleneck</a:t>
              </a:r>
            </a:p>
            <a:p>
              <a:pPr algn="just" marL="764289" indent="-382145" lvl="1">
                <a:lnSpc>
                  <a:spcPts val="4779"/>
                </a:lnSpc>
                <a:buFont typeface="Arial"/>
                <a:buChar char="•"/>
              </a:pPr>
              <a:r>
                <a:rPr lang="en-US" sz="3540" spc="-35">
                  <a:solidFill>
                    <a:srgbClr val="000000"/>
                  </a:solidFill>
                  <a:latin typeface="Asap"/>
                  <a:ea typeface="Asap"/>
                  <a:cs typeface="Asap"/>
                  <a:sym typeface="Asap"/>
                </a:rPr>
                <a:t>Phân tích code</a:t>
              </a:r>
            </a:p>
            <a:p>
              <a:pPr algn="just">
                <a:lnSpc>
                  <a:spcPts val="4779"/>
                </a:lnSpc>
              </a:pPr>
            </a:p>
          </p:txBody>
        </p:sp>
        <p:sp>
          <p:nvSpPr>
            <p:cNvPr name="TextBox 13" id="13"/>
            <p:cNvSpPr txBox="true"/>
            <p:nvPr/>
          </p:nvSpPr>
          <p:spPr>
            <a:xfrm rot="0">
              <a:off x="0" y="0"/>
              <a:ext cx="12467932" cy="1207078"/>
            </a:xfrm>
            <a:prstGeom prst="rect">
              <a:avLst/>
            </a:prstGeom>
          </p:spPr>
          <p:txBody>
            <a:bodyPr anchor="t" rtlCol="false" tIns="0" lIns="0" bIns="0" rIns="0">
              <a:spAutoFit/>
            </a:bodyPr>
            <a:lstStyle/>
            <a:p>
              <a:pPr algn="just">
                <a:lnSpc>
                  <a:spcPts val="7140"/>
                </a:lnSpc>
              </a:pPr>
              <a:r>
                <a:rPr lang="en-US" b="true" sz="5950">
                  <a:solidFill>
                    <a:srgbClr val="1D2B74"/>
                  </a:solidFill>
                  <a:latin typeface="Faustina Bold"/>
                  <a:ea typeface="Faustina Bold"/>
                  <a:cs typeface="Faustina Bold"/>
                  <a:sym typeface="Faustina Bold"/>
                </a:rPr>
                <a:t>PROFILING</a:t>
              </a:r>
            </a:p>
          </p:txBody>
        </p:sp>
      </p:grpSp>
    </p:spTree>
  </p:cSld>
  <p:clrMapOvr>
    <a:masterClrMapping/>
  </p:clrMapOvr>
  <p:transition spd="slow">
    <p:push dir="d"/>
  </p:transition>
</p:sld>
</file>

<file path=ppt/slides/slide19.xml><?xml version="1.0" encoding="utf-8"?>
<p:sld xmlns:p="http://schemas.openxmlformats.org/presentationml/2006/main" xmlns:a="http://schemas.openxmlformats.org/drawingml/2006/main">
  <p:cSld>
    <p:bg>
      <p:bgPr>
        <a:solidFill>
          <a:srgbClr val="C8E3ED"/>
        </a:solidFill>
      </p:bgPr>
    </p:bg>
    <p:spTree>
      <p:nvGrpSpPr>
        <p:cNvPr id="1" name=""/>
        <p:cNvGrpSpPr/>
        <p:nvPr/>
      </p:nvGrpSpPr>
      <p:grpSpPr>
        <a:xfrm>
          <a:off x="0" y="0"/>
          <a:ext cx="0" cy="0"/>
          <a:chOff x="0" y="0"/>
          <a:chExt cx="0" cy="0"/>
        </a:xfrm>
      </p:grpSpPr>
      <p:grpSp>
        <p:nvGrpSpPr>
          <p:cNvPr name="Group 2" id="2"/>
          <p:cNvGrpSpPr/>
          <p:nvPr/>
        </p:nvGrpSpPr>
        <p:grpSpPr>
          <a:xfrm rot="0">
            <a:off x="774820" y="1028700"/>
            <a:ext cx="18537765" cy="8229600"/>
            <a:chOff x="0" y="0"/>
            <a:chExt cx="24717020" cy="10972800"/>
          </a:xfrm>
        </p:grpSpPr>
        <p:grpSp>
          <p:nvGrpSpPr>
            <p:cNvPr name="Group 3" id="3"/>
            <p:cNvGrpSpPr/>
            <p:nvPr/>
          </p:nvGrpSpPr>
          <p:grpSpPr>
            <a:xfrm rot="0">
              <a:off x="0" y="977717"/>
              <a:ext cx="23352980" cy="9995083"/>
              <a:chOff x="0" y="0"/>
              <a:chExt cx="22703567" cy="9717134"/>
            </a:xfrm>
          </p:grpSpPr>
          <p:sp>
            <p:nvSpPr>
              <p:cNvPr name="Freeform 4" id="4"/>
              <p:cNvSpPr/>
              <p:nvPr/>
            </p:nvSpPr>
            <p:spPr>
              <a:xfrm flipH="false" flipV="false" rot="0">
                <a:off x="-1" y="0"/>
                <a:ext cx="22703568" cy="9717134"/>
              </a:xfrm>
              <a:custGeom>
                <a:avLst/>
                <a:gdLst/>
                <a:ahLst/>
                <a:cxnLst/>
                <a:rect r="r" b="b" t="t" l="l"/>
                <a:pathLst>
                  <a:path h="9717134" w="22703568">
                    <a:moveTo>
                      <a:pt x="22204787" y="9700216"/>
                    </a:moveTo>
                    <a:cubicBezTo>
                      <a:pt x="22204787" y="9700216"/>
                      <a:pt x="21967792" y="9690246"/>
                      <a:pt x="21605653" y="9703690"/>
                    </a:cubicBezTo>
                    <a:cubicBezTo>
                      <a:pt x="21243514" y="9717134"/>
                      <a:pt x="490924" y="9717134"/>
                      <a:pt x="490924" y="9717134"/>
                    </a:cubicBezTo>
                    <a:cubicBezTo>
                      <a:pt x="245502" y="9717134"/>
                      <a:pt x="32509" y="9619866"/>
                      <a:pt x="31032" y="9459752"/>
                    </a:cubicBezTo>
                    <a:cubicBezTo>
                      <a:pt x="31032" y="9459752"/>
                      <a:pt x="0" y="6758194"/>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158239" y="0"/>
                      <a:pt x="22158239" y="0"/>
                    </a:cubicBezTo>
                    <a:cubicBezTo>
                      <a:pt x="22470140" y="0"/>
                      <a:pt x="22703569" y="101069"/>
                      <a:pt x="22695710" y="303616"/>
                    </a:cubicBezTo>
                    <a:cubicBezTo>
                      <a:pt x="22695710" y="303616"/>
                      <a:pt x="22693715" y="6210870"/>
                      <a:pt x="22702471" y="8760165"/>
                    </a:cubicBezTo>
                    <a:cubicBezTo>
                      <a:pt x="22711226" y="9053467"/>
                      <a:pt x="22664678" y="9386538"/>
                      <a:pt x="22664678" y="9386538"/>
                    </a:cubicBezTo>
                    <a:cubicBezTo>
                      <a:pt x="22661712" y="9566563"/>
                      <a:pt x="22450209" y="9700216"/>
                      <a:pt x="22204787" y="9700216"/>
                    </a:cubicBezTo>
                    <a:close/>
                  </a:path>
                </a:pathLst>
              </a:custGeom>
              <a:solidFill>
                <a:srgbClr val="8FB7C6"/>
              </a:solidFill>
            </p:spPr>
          </p:sp>
        </p:grpSp>
        <p:grpSp>
          <p:nvGrpSpPr>
            <p:cNvPr name="Group 5" id="5"/>
            <p:cNvGrpSpPr/>
            <p:nvPr/>
          </p:nvGrpSpPr>
          <p:grpSpPr>
            <a:xfrm rot="0">
              <a:off x="254961" y="1067537"/>
              <a:ext cx="22897610" cy="9778026"/>
              <a:chOff x="0" y="0"/>
              <a:chExt cx="22594507" cy="9648591"/>
            </a:xfrm>
          </p:grpSpPr>
          <p:sp>
            <p:nvSpPr>
              <p:cNvPr name="Freeform 6" id="6"/>
              <p:cNvSpPr/>
              <p:nvPr/>
            </p:nvSpPr>
            <p:spPr>
              <a:xfrm flipH="false" flipV="false" rot="0">
                <a:off x="-1" y="0"/>
                <a:ext cx="22594508" cy="9648591"/>
              </a:xfrm>
              <a:custGeom>
                <a:avLst/>
                <a:gdLst/>
                <a:ahLst/>
                <a:cxnLst/>
                <a:rect r="r" b="b" t="t" l="l"/>
                <a:pathLst>
                  <a:path h="9648591" w="22594508">
                    <a:moveTo>
                      <a:pt x="22095727" y="9631673"/>
                    </a:moveTo>
                    <a:cubicBezTo>
                      <a:pt x="22095727" y="9631673"/>
                      <a:pt x="21858730" y="9621703"/>
                      <a:pt x="21496593" y="9635147"/>
                    </a:cubicBezTo>
                    <a:cubicBezTo>
                      <a:pt x="21134454" y="9648591"/>
                      <a:pt x="490924" y="9648591"/>
                      <a:pt x="490924" y="9648591"/>
                    </a:cubicBezTo>
                    <a:cubicBezTo>
                      <a:pt x="245502" y="9648591"/>
                      <a:pt x="32509" y="9551323"/>
                      <a:pt x="31032" y="9391209"/>
                    </a:cubicBezTo>
                    <a:cubicBezTo>
                      <a:pt x="31032" y="9391209"/>
                      <a:pt x="0" y="6705102"/>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049179" y="0"/>
                      <a:pt x="22049179" y="0"/>
                    </a:cubicBezTo>
                    <a:cubicBezTo>
                      <a:pt x="22361080" y="0"/>
                      <a:pt x="22594507" y="101069"/>
                      <a:pt x="22586650" y="303616"/>
                    </a:cubicBezTo>
                    <a:cubicBezTo>
                      <a:pt x="22586650" y="303616"/>
                      <a:pt x="22584655" y="6162502"/>
                      <a:pt x="22593411" y="8691622"/>
                    </a:cubicBezTo>
                    <a:cubicBezTo>
                      <a:pt x="22602166" y="8984924"/>
                      <a:pt x="22555618" y="9317995"/>
                      <a:pt x="22555618" y="9317995"/>
                    </a:cubicBezTo>
                    <a:cubicBezTo>
                      <a:pt x="22552652" y="9498020"/>
                      <a:pt x="22341149" y="9631673"/>
                      <a:pt x="22095727" y="9631673"/>
                    </a:cubicBezTo>
                    <a:close/>
                  </a:path>
                </a:pathLst>
              </a:custGeom>
              <a:solidFill>
                <a:srgbClr val="8FB7C6"/>
              </a:solidFill>
            </p:spPr>
          </p:sp>
        </p:grpSp>
        <p:grpSp>
          <p:nvGrpSpPr>
            <p:cNvPr name="Group 7" id="7"/>
            <p:cNvGrpSpPr/>
            <p:nvPr/>
          </p:nvGrpSpPr>
          <p:grpSpPr>
            <a:xfrm rot="0">
              <a:off x="919721" y="0"/>
              <a:ext cx="22232850" cy="10328670"/>
              <a:chOff x="0" y="0"/>
              <a:chExt cx="23043639" cy="10705337"/>
            </a:xfrm>
          </p:grpSpPr>
          <p:sp>
            <p:nvSpPr>
              <p:cNvPr name="Freeform 8" id="8"/>
              <p:cNvSpPr/>
              <p:nvPr/>
            </p:nvSpPr>
            <p:spPr>
              <a:xfrm flipH="false" flipV="false" rot="0">
                <a:off x="-1" y="0"/>
                <a:ext cx="23043639" cy="10705337"/>
              </a:xfrm>
              <a:custGeom>
                <a:avLst/>
                <a:gdLst/>
                <a:ahLst/>
                <a:cxnLst/>
                <a:rect r="r" b="b" t="t" l="l"/>
                <a:pathLst>
                  <a:path h="10705337" w="23043639">
                    <a:moveTo>
                      <a:pt x="22544859" y="10688418"/>
                    </a:moveTo>
                    <a:cubicBezTo>
                      <a:pt x="22544859" y="10688418"/>
                      <a:pt x="22307863" y="10678449"/>
                      <a:pt x="21945723" y="10691893"/>
                    </a:cubicBezTo>
                    <a:cubicBezTo>
                      <a:pt x="21583586" y="10705337"/>
                      <a:pt x="490924" y="10705337"/>
                      <a:pt x="490924" y="10705337"/>
                    </a:cubicBezTo>
                    <a:cubicBezTo>
                      <a:pt x="245502" y="10705337"/>
                      <a:pt x="32509" y="10608069"/>
                      <a:pt x="31032" y="10447955"/>
                    </a:cubicBezTo>
                    <a:cubicBezTo>
                      <a:pt x="31032" y="10447955"/>
                      <a:pt x="0" y="7523653"/>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498310" y="0"/>
                      <a:pt x="22498310" y="0"/>
                    </a:cubicBezTo>
                    <a:cubicBezTo>
                      <a:pt x="22810212" y="0"/>
                      <a:pt x="23043639" y="101069"/>
                      <a:pt x="23035783" y="303616"/>
                    </a:cubicBezTo>
                    <a:cubicBezTo>
                      <a:pt x="23035783" y="303616"/>
                      <a:pt x="23033787" y="6908210"/>
                      <a:pt x="23042542" y="9748368"/>
                    </a:cubicBezTo>
                    <a:cubicBezTo>
                      <a:pt x="23051298" y="10041669"/>
                      <a:pt x="23004750" y="10374741"/>
                      <a:pt x="23004750" y="10374741"/>
                    </a:cubicBezTo>
                    <a:cubicBezTo>
                      <a:pt x="23001785" y="10554766"/>
                      <a:pt x="22790281" y="10688418"/>
                      <a:pt x="22544859" y="10688418"/>
                    </a:cubicBezTo>
                    <a:close/>
                  </a:path>
                </a:pathLst>
              </a:custGeom>
              <a:solidFill>
                <a:srgbClr val="F3FCFF"/>
              </a:solidFill>
            </p:spPr>
          </p:sp>
        </p:grpSp>
        <p:sp>
          <p:nvSpPr>
            <p:cNvPr name="AutoShape 9" id="9"/>
            <p:cNvSpPr/>
            <p:nvPr/>
          </p:nvSpPr>
          <p:spPr>
            <a:xfrm>
              <a:off x="2250246" y="9826016"/>
              <a:ext cx="22466735" cy="34286"/>
            </a:xfrm>
            <a:prstGeom prst="line">
              <a:avLst/>
            </a:prstGeom>
            <a:ln cap="rnd" w="50800">
              <a:solidFill>
                <a:srgbClr val="8FB7C6"/>
              </a:solidFill>
              <a:prstDash val="solid"/>
              <a:headEnd type="none" len="sm" w="sm"/>
              <a:tailEnd type="none" len="sm" w="sm"/>
            </a:ln>
          </p:spPr>
        </p:sp>
        <p:sp>
          <p:nvSpPr>
            <p:cNvPr name="AutoShape 10" id="10"/>
            <p:cNvSpPr/>
            <p:nvPr/>
          </p:nvSpPr>
          <p:spPr>
            <a:xfrm>
              <a:off x="2250246" y="717206"/>
              <a:ext cx="22466735" cy="34286"/>
            </a:xfrm>
            <a:prstGeom prst="line">
              <a:avLst/>
            </a:prstGeom>
            <a:ln cap="rnd" w="50800">
              <a:solidFill>
                <a:srgbClr val="8FB7C6"/>
              </a:solidFill>
              <a:prstDash val="solid"/>
              <a:headEnd type="none" len="sm" w="sm"/>
              <a:tailEnd type="none" len="sm" w="sm"/>
            </a:ln>
          </p:spPr>
        </p:sp>
      </p:grpSp>
      <p:grpSp>
        <p:nvGrpSpPr>
          <p:cNvPr name="Group 11" id="11"/>
          <p:cNvGrpSpPr/>
          <p:nvPr/>
        </p:nvGrpSpPr>
        <p:grpSpPr>
          <a:xfrm rot="0">
            <a:off x="3521482" y="1800836"/>
            <a:ext cx="12028932" cy="6115786"/>
            <a:chOff x="0" y="0"/>
            <a:chExt cx="16038576" cy="8154382"/>
          </a:xfrm>
        </p:grpSpPr>
        <p:sp>
          <p:nvSpPr>
            <p:cNvPr name="TextBox 12" id="12"/>
            <p:cNvSpPr txBox="true"/>
            <p:nvPr/>
          </p:nvSpPr>
          <p:spPr>
            <a:xfrm rot="0">
              <a:off x="0" y="1786348"/>
              <a:ext cx="16038576" cy="6368034"/>
            </a:xfrm>
            <a:prstGeom prst="rect">
              <a:avLst/>
            </a:prstGeom>
          </p:spPr>
          <p:txBody>
            <a:bodyPr anchor="t" rtlCol="false" tIns="0" lIns="0" bIns="0" rIns="0">
              <a:spAutoFit/>
            </a:bodyPr>
            <a:lstStyle/>
            <a:p>
              <a:pPr algn="just">
                <a:lnSpc>
                  <a:spcPts val="4779"/>
                </a:lnSpc>
              </a:pPr>
              <a:r>
                <a:rPr lang="en-US" sz="3540" spc="-35">
                  <a:solidFill>
                    <a:srgbClr val="000000"/>
                  </a:solidFill>
                  <a:latin typeface="Asap"/>
                  <a:ea typeface="Asap"/>
                  <a:cs typeface="Asap"/>
                  <a:sym typeface="Asap"/>
                </a:rPr>
                <a:t>Cách tối ưu:</a:t>
              </a:r>
            </a:p>
            <a:p>
              <a:pPr algn="just" marL="764289" indent="-382145" lvl="1">
                <a:lnSpc>
                  <a:spcPts val="4779"/>
                </a:lnSpc>
                <a:buFont typeface="Arial"/>
                <a:buChar char="•"/>
              </a:pPr>
              <a:r>
                <a:rPr lang="en-US" sz="3540" spc="-35">
                  <a:solidFill>
                    <a:srgbClr val="000000"/>
                  </a:solidFill>
                  <a:latin typeface="Asap"/>
                  <a:ea typeface="Asap"/>
                  <a:cs typeface="Asap"/>
                  <a:sym typeface="Asap"/>
                </a:rPr>
                <a:t>Giảm độ phức tạp</a:t>
              </a:r>
            </a:p>
            <a:p>
              <a:pPr algn="just" marL="764289" indent="-382145" lvl="1">
                <a:lnSpc>
                  <a:spcPts val="4779"/>
                </a:lnSpc>
                <a:buFont typeface="Arial"/>
                <a:buChar char="•"/>
              </a:pPr>
              <a:r>
                <a:rPr lang="en-US" sz="3540" spc="-35">
                  <a:solidFill>
                    <a:srgbClr val="000000"/>
                  </a:solidFill>
                  <a:latin typeface="Asap"/>
                  <a:ea typeface="Asap"/>
                  <a:cs typeface="Asap"/>
                  <a:sym typeface="Asap"/>
                </a:rPr>
                <a:t>Tránh </a:t>
              </a:r>
              <a:r>
                <a:rPr lang="en-US" sz="3540" spc="-35">
                  <a:solidFill>
                    <a:srgbClr val="000000"/>
                  </a:solidFill>
                  <a:latin typeface="Asap"/>
                  <a:ea typeface="Asap"/>
                  <a:cs typeface="Asap"/>
                  <a:sym typeface="Asap"/>
                </a:rPr>
                <a:t>nes</a:t>
              </a:r>
              <a:r>
                <a:rPr lang="en-US" sz="3540" spc="-35">
                  <a:solidFill>
                    <a:srgbClr val="000000"/>
                  </a:solidFill>
                  <a:latin typeface="Asap"/>
                  <a:ea typeface="Asap"/>
                  <a:cs typeface="Asap"/>
                  <a:sym typeface="Asap"/>
                </a:rPr>
                <a:t>t</a:t>
              </a:r>
              <a:r>
                <a:rPr lang="en-US" sz="3540" spc="-35">
                  <a:solidFill>
                    <a:srgbClr val="000000"/>
                  </a:solidFill>
                  <a:latin typeface="Asap"/>
                  <a:ea typeface="Asap"/>
                  <a:cs typeface="Asap"/>
                  <a:sym typeface="Asap"/>
                </a:rPr>
                <a:t>ed loop</a:t>
              </a:r>
            </a:p>
            <a:p>
              <a:pPr algn="just" marL="764289" indent="-382145" lvl="1">
                <a:lnSpc>
                  <a:spcPts val="4779"/>
                </a:lnSpc>
                <a:buFont typeface="Arial"/>
                <a:buChar char="•"/>
              </a:pPr>
              <a:r>
                <a:rPr lang="en-US" sz="3540" spc="-35">
                  <a:solidFill>
                    <a:srgbClr val="000000"/>
                  </a:solidFill>
                  <a:latin typeface="Asap"/>
                  <a:ea typeface="Asap"/>
                  <a:cs typeface="Asap"/>
                  <a:sym typeface="Asap"/>
                </a:rPr>
                <a:t>Dù</a:t>
              </a:r>
              <a:r>
                <a:rPr lang="en-US" sz="3540" spc="-35">
                  <a:solidFill>
                    <a:srgbClr val="000000"/>
                  </a:solidFill>
                  <a:latin typeface="Asap"/>
                  <a:ea typeface="Asap"/>
                  <a:cs typeface="Asap"/>
                  <a:sym typeface="Asap"/>
                </a:rPr>
                <a:t>ng</a:t>
              </a:r>
              <a:r>
                <a:rPr lang="en-US" sz="3540" spc="-35">
                  <a:solidFill>
                    <a:srgbClr val="000000"/>
                  </a:solidFill>
                  <a:latin typeface="Asap"/>
                  <a:ea typeface="Asap"/>
                  <a:cs typeface="Asap"/>
                  <a:sym typeface="Asap"/>
                </a:rPr>
                <a:t> thuật toán tốt hơn</a:t>
              </a:r>
            </a:p>
            <a:p>
              <a:pPr algn="just">
                <a:lnSpc>
                  <a:spcPts val="4779"/>
                </a:lnSpc>
              </a:pPr>
              <a:r>
                <a:rPr lang="en-US" sz="3540" spc="-35">
                  <a:solidFill>
                    <a:srgbClr val="000000"/>
                  </a:solidFill>
                  <a:latin typeface="Asap"/>
                  <a:ea typeface="Asap"/>
                  <a:cs typeface="Asap"/>
                  <a:sym typeface="Asap"/>
                </a:rPr>
                <a:t>Ví dụ:</a:t>
              </a:r>
            </a:p>
            <a:p>
              <a:pPr algn="just" marL="764289" indent="-382145" lvl="1">
                <a:lnSpc>
                  <a:spcPts val="4779"/>
                </a:lnSpc>
                <a:buFont typeface="Arial"/>
                <a:buChar char="•"/>
              </a:pPr>
              <a:r>
                <a:rPr lang="en-US" sz="3540" spc="-35">
                  <a:solidFill>
                    <a:srgbClr val="000000"/>
                  </a:solidFill>
                  <a:latin typeface="Asap"/>
                  <a:ea typeface="Asap"/>
                  <a:cs typeface="Asap"/>
                  <a:sym typeface="Asap"/>
                </a:rPr>
                <a:t>Binary search</a:t>
              </a:r>
            </a:p>
            <a:p>
              <a:pPr algn="just" marL="764289" indent="-382145" lvl="1">
                <a:lnSpc>
                  <a:spcPts val="4779"/>
                </a:lnSpc>
                <a:buFont typeface="Arial"/>
                <a:buChar char="•"/>
              </a:pPr>
              <a:r>
                <a:rPr lang="en-US" sz="3540" spc="-35">
                  <a:solidFill>
                    <a:srgbClr val="000000"/>
                  </a:solidFill>
                  <a:latin typeface="Asap"/>
                  <a:ea typeface="Asap"/>
                  <a:cs typeface="Asap"/>
                  <a:sym typeface="Asap"/>
                </a:rPr>
                <a:t>HashMap</a:t>
              </a:r>
            </a:p>
            <a:p>
              <a:pPr algn="just">
                <a:lnSpc>
                  <a:spcPts val="4779"/>
                </a:lnSpc>
              </a:pPr>
            </a:p>
          </p:txBody>
        </p:sp>
        <p:sp>
          <p:nvSpPr>
            <p:cNvPr name="TextBox 13" id="13"/>
            <p:cNvSpPr txBox="true"/>
            <p:nvPr/>
          </p:nvSpPr>
          <p:spPr>
            <a:xfrm rot="0">
              <a:off x="0" y="0"/>
              <a:ext cx="12467932" cy="1207078"/>
            </a:xfrm>
            <a:prstGeom prst="rect">
              <a:avLst/>
            </a:prstGeom>
          </p:spPr>
          <p:txBody>
            <a:bodyPr anchor="t" rtlCol="false" tIns="0" lIns="0" bIns="0" rIns="0">
              <a:spAutoFit/>
            </a:bodyPr>
            <a:lstStyle/>
            <a:p>
              <a:pPr algn="just">
                <a:lnSpc>
                  <a:spcPts val="7140"/>
                </a:lnSpc>
              </a:pPr>
              <a:r>
                <a:rPr lang="en-US" b="true" sz="5950">
                  <a:solidFill>
                    <a:srgbClr val="1D2B74"/>
                  </a:solidFill>
                  <a:latin typeface="Faustina Bold"/>
                  <a:ea typeface="Faustina Bold"/>
                  <a:cs typeface="Faustina Bold"/>
                  <a:sym typeface="Faustina Bold"/>
                </a:rPr>
                <a:t>TỐI ƯU RUNTIME</a:t>
              </a:r>
            </a:p>
          </p:txBody>
        </p:sp>
      </p:grpSp>
    </p:spTree>
  </p:cSld>
  <p:clrMapOvr>
    <a:masterClrMapping/>
  </p:clrMapOvr>
  <p:transition spd="slow">
    <p:push dir="d"/>
  </p:transition>
</p:sld>
</file>

<file path=ppt/slides/slide20.xml><?xml version="1.0" encoding="utf-8"?>
<p:sld xmlns:p="http://schemas.openxmlformats.org/presentationml/2006/main" xmlns:a="http://schemas.openxmlformats.org/drawingml/2006/main">
  <p:cSld>
    <p:bg>
      <p:bgPr>
        <a:solidFill>
          <a:srgbClr val="C8E3ED"/>
        </a:solidFill>
      </p:bgPr>
    </p:bg>
    <p:spTree>
      <p:nvGrpSpPr>
        <p:cNvPr id="1" name=""/>
        <p:cNvGrpSpPr/>
        <p:nvPr/>
      </p:nvGrpSpPr>
      <p:grpSpPr>
        <a:xfrm>
          <a:off x="0" y="0"/>
          <a:ext cx="0" cy="0"/>
          <a:chOff x="0" y="0"/>
          <a:chExt cx="0" cy="0"/>
        </a:xfrm>
      </p:grpSpPr>
      <p:grpSp>
        <p:nvGrpSpPr>
          <p:cNvPr name="Group 2" id="2"/>
          <p:cNvGrpSpPr/>
          <p:nvPr/>
        </p:nvGrpSpPr>
        <p:grpSpPr>
          <a:xfrm rot="0">
            <a:off x="774820" y="1028700"/>
            <a:ext cx="18537765" cy="8229600"/>
            <a:chOff x="0" y="0"/>
            <a:chExt cx="24717020" cy="10972800"/>
          </a:xfrm>
        </p:grpSpPr>
        <p:grpSp>
          <p:nvGrpSpPr>
            <p:cNvPr name="Group 3" id="3"/>
            <p:cNvGrpSpPr/>
            <p:nvPr/>
          </p:nvGrpSpPr>
          <p:grpSpPr>
            <a:xfrm rot="0">
              <a:off x="0" y="977717"/>
              <a:ext cx="23352980" cy="9995083"/>
              <a:chOff x="0" y="0"/>
              <a:chExt cx="22703567" cy="9717134"/>
            </a:xfrm>
          </p:grpSpPr>
          <p:sp>
            <p:nvSpPr>
              <p:cNvPr name="Freeform 4" id="4"/>
              <p:cNvSpPr/>
              <p:nvPr/>
            </p:nvSpPr>
            <p:spPr>
              <a:xfrm flipH="false" flipV="false" rot="0">
                <a:off x="-1" y="0"/>
                <a:ext cx="22703568" cy="9717134"/>
              </a:xfrm>
              <a:custGeom>
                <a:avLst/>
                <a:gdLst/>
                <a:ahLst/>
                <a:cxnLst/>
                <a:rect r="r" b="b" t="t" l="l"/>
                <a:pathLst>
                  <a:path h="9717134" w="22703568">
                    <a:moveTo>
                      <a:pt x="22204787" y="9700216"/>
                    </a:moveTo>
                    <a:cubicBezTo>
                      <a:pt x="22204787" y="9700216"/>
                      <a:pt x="21967792" y="9690246"/>
                      <a:pt x="21605653" y="9703690"/>
                    </a:cubicBezTo>
                    <a:cubicBezTo>
                      <a:pt x="21243514" y="9717134"/>
                      <a:pt x="490924" y="9717134"/>
                      <a:pt x="490924" y="9717134"/>
                    </a:cubicBezTo>
                    <a:cubicBezTo>
                      <a:pt x="245502" y="9717134"/>
                      <a:pt x="32509" y="9619866"/>
                      <a:pt x="31032" y="9459752"/>
                    </a:cubicBezTo>
                    <a:cubicBezTo>
                      <a:pt x="31032" y="9459752"/>
                      <a:pt x="0" y="6758194"/>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158239" y="0"/>
                      <a:pt x="22158239" y="0"/>
                    </a:cubicBezTo>
                    <a:cubicBezTo>
                      <a:pt x="22470140" y="0"/>
                      <a:pt x="22703569" y="101069"/>
                      <a:pt x="22695710" y="303616"/>
                    </a:cubicBezTo>
                    <a:cubicBezTo>
                      <a:pt x="22695710" y="303616"/>
                      <a:pt x="22693715" y="6210870"/>
                      <a:pt x="22702471" y="8760165"/>
                    </a:cubicBezTo>
                    <a:cubicBezTo>
                      <a:pt x="22711226" y="9053467"/>
                      <a:pt x="22664678" y="9386538"/>
                      <a:pt x="22664678" y="9386538"/>
                    </a:cubicBezTo>
                    <a:cubicBezTo>
                      <a:pt x="22661712" y="9566563"/>
                      <a:pt x="22450209" y="9700216"/>
                      <a:pt x="22204787" y="9700216"/>
                    </a:cubicBezTo>
                    <a:close/>
                  </a:path>
                </a:pathLst>
              </a:custGeom>
              <a:solidFill>
                <a:srgbClr val="8FB7C6"/>
              </a:solidFill>
            </p:spPr>
          </p:sp>
        </p:grpSp>
        <p:grpSp>
          <p:nvGrpSpPr>
            <p:cNvPr name="Group 5" id="5"/>
            <p:cNvGrpSpPr/>
            <p:nvPr/>
          </p:nvGrpSpPr>
          <p:grpSpPr>
            <a:xfrm rot="0">
              <a:off x="254961" y="1067537"/>
              <a:ext cx="22897610" cy="9778026"/>
              <a:chOff x="0" y="0"/>
              <a:chExt cx="22594507" cy="9648591"/>
            </a:xfrm>
          </p:grpSpPr>
          <p:sp>
            <p:nvSpPr>
              <p:cNvPr name="Freeform 6" id="6"/>
              <p:cNvSpPr/>
              <p:nvPr/>
            </p:nvSpPr>
            <p:spPr>
              <a:xfrm flipH="false" flipV="false" rot="0">
                <a:off x="-1" y="0"/>
                <a:ext cx="22594508" cy="9648591"/>
              </a:xfrm>
              <a:custGeom>
                <a:avLst/>
                <a:gdLst/>
                <a:ahLst/>
                <a:cxnLst/>
                <a:rect r="r" b="b" t="t" l="l"/>
                <a:pathLst>
                  <a:path h="9648591" w="22594508">
                    <a:moveTo>
                      <a:pt x="22095727" y="9631673"/>
                    </a:moveTo>
                    <a:cubicBezTo>
                      <a:pt x="22095727" y="9631673"/>
                      <a:pt x="21858730" y="9621703"/>
                      <a:pt x="21496593" y="9635147"/>
                    </a:cubicBezTo>
                    <a:cubicBezTo>
                      <a:pt x="21134454" y="9648591"/>
                      <a:pt x="490924" y="9648591"/>
                      <a:pt x="490924" y="9648591"/>
                    </a:cubicBezTo>
                    <a:cubicBezTo>
                      <a:pt x="245502" y="9648591"/>
                      <a:pt x="32509" y="9551323"/>
                      <a:pt x="31032" y="9391209"/>
                    </a:cubicBezTo>
                    <a:cubicBezTo>
                      <a:pt x="31032" y="9391209"/>
                      <a:pt x="0" y="6705102"/>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049179" y="0"/>
                      <a:pt x="22049179" y="0"/>
                    </a:cubicBezTo>
                    <a:cubicBezTo>
                      <a:pt x="22361080" y="0"/>
                      <a:pt x="22594507" y="101069"/>
                      <a:pt x="22586650" y="303616"/>
                    </a:cubicBezTo>
                    <a:cubicBezTo>
                      <a:pt x="22586650" y="303616"/>
                      <a:pt x="22584655" y="6162502"/>
                      <a:pt x="22593411" y="8691622"/>
                    </a:cubicBezTo>
                    <a:cubicBezTo>
                      <a:pt x="22602166" y="8984924"/>
                      <a:pt x="22555618" y="9317995"/>
                      <a:pt x="22555618" y="9317995"/>
                    </a:cubicBezTo>
                    <a:cubicBezTo>
                      <a:pt x="22552652" y="9498020"/>
                      <a:pt x="22341149" y="9631673"/>
                      <a:pt x="22095727" y="9631673"/>
                    </a:cubicBezTo>
                    <a:close/>
                  </a:path>
                </a:pathLst>
              </a:custGeom>
              <a:solidFill>
                <a:srgbClr val="8FB7C6"/>
              </a:solidFill>
            </p:spPr>
          </p:sp>
        </p:grpSp>
        <p:grpSp>
          <p:nvGrpSpPr>
            <p:cNvPr name="Group 7" id="7"/>
            <p:cNvGrpSpPr/>
            <p:nvPr/>
          </p:nvGrpSpPr>
          <p:grpSpPr>
            <a:xfrm rot="0">
              <a:off x="919721" y="0"/>
              <a:ext cx="22232850" cy="10328670"/>
              <a:chOff x="0" y="0"/>
              <a:chExt cx="23043639" cy="10705337"/>
            </a:xfrm>
          </p:grpSpPr>
          <p:sp>
            <p:nvSpPr>
              <p:cNvPr name="Freeform 8" id="8"/>
              <p:cNvSpPr/>
              <p:nvPr/>
            </p:nvSpPr>
            <p:spPr>
              <a:xfrm flipH="false" flipV="false" rot="0">
                <a:off x="-1" y="0"/>
                <a:ext cx="23043639" cy="10705337"/>
              </a:xfrm>
              <a:custGeom>
                <a:avLst/>
                <a:gdLst/>
                <a:ahLst/>
                <a:cxnLst/>
                <a:rect r="r" b="b" t="t" l="l"/>
                <a:pathLst>
                  <a:path h="10705337" w="23043639">
                    <a:moveTo>
                      <a:pt x="22544859" y="10688418"/>
                    </a:moveTo>
                    <a:cubicBezTo>
                      <a:pt x="22544859" y="10688418"/>
                      <a:pt x="22307863" y="10678449"/>
                      <a:pt x="21945723" y="10691893"/>
                    </a:cubicBezTo>
                    <a:cubicBezTo>
                      <a:pt x="21583586" y="10705337"/>
                      <a:pt x="490924" y="10705337"/>
                      <a:pt x="490924" y="10705337"/>
                    </a:cubicBezTo>
                    <a:cubicBezTo>
                      <a:pt x="245502" y="10705337"/>
                      <a:pt x="32509" y="10608069"/>
                      <a:pt x="31032" y="10447955"/>
                    </a:cubicBezTo>
                    <a:cubicBezTo>
                      <a:pt x="31032" y="10447955"/>
                      <a:pt x="0" y="7523653"/>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498310" y="0"/>
                      <a:pt x="22498310" y="0"/>
                    </a:cubicBezTo>
                    <a:cubicBezTo>
                      <a:pt x="22810212" y="0"/>
                      <a:pt x="23043639" y="101069"/>
                      <a:pt x="23035783" y="303616"/>
                    </a:cubicBezTo>
                    <a:cubicBezTo>
                      <a:pt x="23035783" y="303616"/>
                      <a:pt x="23033787" y="6908210"/>
                      <a:pt x="23042542" y="9748368"/>
                    </a:cubicBezTo>
                    <a:cubicBezTo>
                      <a:pt x="23051298" y="10041669"/>
                      <a:pt x="23004750" y="10374741"/>
                      <a:pt x="23004750" y="10374741"/>
                    </a:cubicBezTo>
                    <a:cubicBezTo>
                      <a:pt x="23001785" y="10554766"/>
                      <a:pt x="22790281" y="10688418"/>
                      <a:pt x="22544859" y="10688418"/>
                    </a:cubicBezTo>
                    <a:close/>
                  </a:path>
                </a:pathLst>
              </a:custGeom>
              <a:solidFill>
                <a:srgbClr val="F3FCFF"/>
              </a:solidFill>
            </p:spPr>
          </p:sp>
        </p:grpSp>
        <p:sp>
          <p:nvSpPr>
            <p:cNvPr name="AutoShape 9" id="9"/>
            <p:cNvSpPr/>
            <p:nvPr/>
          </p:nvSpPr>
          <p:spPr>
            <a:xfrm>
              <a:off x="2250246" y="9826016"/>
              <a:ext cx="22466735" cy="34286"/>
            </a:xfrm>
            <a:prstGeom prst="line">
              <a:avLst/>
            </a:prstGeom>
            <a:ln cap="rnd" w="50800">
              <a:solidFill>
                <a:srgbClr val="8FB7C6"/>
              </a:solidFill>
              <a:prstDash val="solid"/>
              <a:headEnd type="none" len="sm" w="sm"/>
              <a:tailEnd type="none" len="sm" w="sm"/>
            </a:ln>
          </p:spPr>
        </p:sp>
        <p:sp>
          <p:nvSpPr>
            <p:cNvPr name="AutoShape 10" id="10"/>
            <p:cNvSpPr/>
            <p:nvPr/>
          </p:nvSpPr>
          <p:spPr>
            <a:xfrm>
              <a:off x="2250246" y="717206"/>
              <a:ext cx="22466735" cy="34286"/>
            </a:xfrm>
            <a:prstGeom prst="line">
              <a:avLst/>
            </a:prstGeom>
            <a:ln cap="rnd" w="50800">
              <a:solidFill>
                <a:srgbClr val="8FB7C6"/>
              </a:solidFill>
              <a:prstDash val="solid"/>
              <a:headEnd type="none" len="sm" w="sm"/>
              <a:tailEnd type="none" len="sm" w="sm"/>
            </a:ln>
          </p:spPr>
        </p:sp>
      </p:grpSp>
      <p:grpSp>
        <p:nvGrpSpPr>
          <p:cNvPr name="Group 11" id="11"/>
          <p:cNvGrpSpPr/>
          <p:nvPr/>
        </p:nvGrpSpPr>
        <p:grpSpPr>
          <a:xfrm rot="0">
            <a:off x="3521482" y="2700949"/>
            <a:ext cx="12028932" cy="4315561"/>
            <a:chOff x="0" y="0"/>
            <a:chExt cx="16038576" cy="5754082"/>
          </a:xfrm>
        </p:grpSpPr>
        <p:sp>
          <p:nvSpPr>
            <p:cNvPr name="TextBox 12" id="12"/>
            <p:cNvSpPr txBox="true"/>
            <p:nvPr/>
          </p:nvSpPr>
          <p:spPr>
            <a:xfrm rot="0">
              <a:off x="0" y="1786348"/>
              <a:ext cx="16038576" cy="3967734"/>
            </a:xfrm>
            <a:prstGeom prst="rect">
              <a:avLst/>
            </a:prstGeom>
          </p:spPr>
          <p:txBody>
            <a:bodyPr anchor="t" rtlCol="false" tIns="0" lIns="0" bIns="0" rIns="0">
              <a:spAutoFit/>
            </a:bodyPr>
            <a:lstStyle/>
            <a:p>
              <a:pPr algn="just">
                <a:lnSpc>
                  <a:spcPts val="4779"/>
                </a:lnSpc>
              </a:pPr>
              <a:r>
                <a:rPr lang="en-US" sz="3540" spc="-35">
                  <a:solidFill>
                    <a:srgbClr val="000000"/>
                  </a:solidFill>
                  <a:latin typeface="Asap"/>
                  <a:ea typeface="Asap"/>
                  <a:cs typeface="Asap"/>
                  <a:sym typeface="Asap"/>
                </a:rPr>
                <a:t>Cách tối ưu:</a:t>
              </a:r>
            </a:p>
            <a:p>
              <a:pPr algn="just" marL="764289" indent="-382145" lvl="1">
                <a:lnSpc>
                  <a:spcPts val="4779"/>
                </a:lnSpc>
                <a:buFont typeface="Arial"/>
                <a:buChar char="•"/>
              </a:pPr>
              <a:r>
                <a:rPr lang="en-US" sz="3540" spc="-35">
                  <a:solidFill>
                    <a:srgbClr val="000000"/>
                  </a:solidFill>
                  <a:latin typeface="Asap"/>
                  <a:ea typeface="Asap"/>
                  <a:cs typeface="Asap"/>
                  <a:sym typeface="Asap"/>
                </a:rPr>
                <a:t>Giảm biến trung gia</a:t>
              </a:r>
              <a:r>
                <a:rPr lang="en-US" sz="3540" spc="-35">
                  <a:solidFill>
                    <a:srgbClr val="000000"/>
                  </a:solidFill>
                  <a:latin typeface="Asap"/>
                  <a:ea typeface="Asap"/>
                  <a:cs typeface="Asap"/>
                  <a:sym typeface="Asap"/>
                </a:rPr>
                <a:t>n</a:t>
              </a:r>
            </a:p>
            <a:p>
              <a:pPr algn="just" marL="764289" indent="-382145" lvl="1">
                <a:lnSpc>
                  <a:spcPts val="4779"/>
                </a:lnSpc>
                <a:buFont typeface="Arial"/>
                <a:buChar char="•"/>
              </a:pPr>
              <a:r>
                <a:rPr lang="en-US" sz="3540" spc="-35">
                  <a:solidFill>
                    <a:srgbClr val="000000"/>
                  </a:solidFill>
                  <a:latin typeface="Asap"/>
                  <a:ea typeface="Asap"/>
                  <a:cs typeface="Asap"/>
                  <a:sym typeface="Asap"/>
                </a:rPr>
                <a:t>Dù</a:t>
              </a:r>
              <a:r>
                <a:rPr lang="en-US" sz="3540" spc="-35">
                  <a:solidFill>
                    <a:srgbClr val="000000"/>
                  </a:solidFill>
                  <a:latin typeface="Asap"/>
                  <a:ea typeface="Asap"/>
                  <a:cs typeface="Asap"/>
                  <a:sym typeface="Asap"/>
                </a:rPr>
                <a:t>ng</a:t>
              </a:r>
              <a:r>
                <a:rPr lang="en-US" sz="3540" spc="-35">
                  <a:solidFill>
                    <a:srgbClr val="000000"/>
                  </a:solidFill>
                  <a:latin typeface="Asap"/>
                  <a:ea typeface="Asap"/>
                  <a:cs typeface="Asap"/>
                  <a:sym typeface="Asap"/>
                </a:rPr>
                <a:t> generator</a:t>
              </a:r>
            </a:p>
            <a:p>
              <a:pPr algn="just" marL="764289" indent="-382145" lvl="1">
                <a:lnSpc>
                  <a:spcPts val="4779"/>
                </a:lnSpc>
                <a:buFont typeface="Arial"/>
                <a:buChar char="•"/>
              </a:pPr>
              <a:r>
                <a:rPr lang="en-US" sz="3540" spc="-35">
                  <a:solidFill>
                    <a:srgbClr val="000000"/>
                  </a:solidFill>
                  <a:latin typeface="Asap"/>
                  <a:ea typeface="Asap"/>
                  <a:cs typeface="Asap"/>
                  <a:sym typeface="Asap"/>
                </a:rPr>
                <a:t>Chọn cấu trúc dữ liệu phù hợp</a:t>
              </a:r>
            </a:p>
            <a:p>
              <a:pPr algn="just">
                <a:lnSpc>
                  <a:spcPts val="4779"/>
                </a:lnSpc>
              </a:pPr>
            </a:p>
          </p:txBody>
        </p:sp>
        <p:sp>
          <p:nvSpPr>
            <p:cNvPr name="TextBox 13" id="13"/>
            <p:cNvSpPr txBox="true"/>
            <p:nvPr/>
          </p:nvSpPr>
          <p:spPr>
            <a:xfrm rot="0">
              <a:off x="0" y="0"/>
              <a:ext cx="12467932" cy="1207078"/>
            </a:xfrm>
            <a:prstGeom prst="rect">
              <a:avLst/>
            </a:prstGeom>
          </p:spPr>
          <p:txBody>
            <a:bodyPr anchor="t" rtlCol="false" tIns="0" lIns="0" bIns="0" rIns="0">
              <a:spAutoFit/>
            </a:bodyPr>
            <a:lstStyle/>
            <a:p>
              <a:pPr algn="just">
                <a:lnSpc>
                  <a:spcPts val="7140"/>
                </a:lnSpc>
              </a:pPr>
              <a:r>
                <a:rPr lang="en-US" b="true" sz="5950">
                  <a:solidFill>
                    <a:srgbClr val="1D2B74"/>
                  </a:solidFill>
                  <a:latin typeface="Faustina Bold"/>
                  <a:ea typeface="Faustina Bold"/>
                  <a:cs typeface="Faustina Bold"/>
                  <a:sym typeface="Faustina Bold"/>
                </a:rPr>
                <a:t>TỐI ƯU MEMORY</a:t>
              </a:r>
            </a:p>
          </p:txBody>
        </p:sp>
      </p:grpSp>
    </p:spTree>
  </p:cSld>
  <p:clrMapOvr>
    <a:masterClrMapping/>
  </p:clrMapOvr>
  <p:transition spd="slow">
    <p:push dir="d"/>
  </p:transition>
</p:sld>
</file>

<file path=ppt/slides/slide21.xml><?xml version="1.0" encoding="utf-8"?>
<p:sld xmlns:p="http://schemas.openxmlformats.org/presentationml/2006/main" xmlns:a="http://schemas.openxmlformats.org/drawingml/2006/main">
  <p:cSld>
    <p:bg>
      <p:bgPr>
        <a:solidFill>
          <a:srgbClr val="C8E3ED"/>
        </a:solidFill>
      </p:bgPr>
    </p:bg>
    <p:spTree>
      <p:nvGrpSpPr>
        <p:cNvPr id="1" name=""/>
        <p:cNvGrpSpPr/>
        <p:nvPr/>
      </p:nvGrpSpPr>
      <p:grpSpPr>
        <a:xfrm>
          <a:off x="0" y="0"/>
          <a:ext cx="0" cy="0"/>
          <a:chOff x="0" y="0"/>
          <a:chExt cx="0" cy="0"/>
        </a:xfrm>
      </p:grpSpPr>
      <p:grpSp>
        <p:nvGrpSpPr>
          <p:cNvPr name="Group 2" id="2"/>
          <p:cNvGrpSpPr/>
          <p:nvPr/>
        </p:nvGrpSpPr>
        <p:grpSpPr>
          <a:xfrm rot="0">
            <a:off x="774820" y="1028700"/>
            <a:ext cx="18537765" cy="8229600"/>
            <a:chOff x="0" y="0"/>
            <a:chExt cx="24717020" cy="10972800"/>
          </a:xfrm>
        </p:grpSpPr>
        <p:grpSp>
          <p:nvGrpSpPr>
            <p:cNvPr name="Group 3" id="3"/>
            <p:cNvGrpSpPr/>
            <p:nvPr/>
          </p:nvGrpSpPr>
          <p:grpSpPr>
            <a:xfrm rot="0">
              <a:off x="0" y="977717"/>
              <a:ext cx="23352980" cy="9995083"/>
              <a:chOff x="0" y="0"/>
              <a:chExt cx="22703567" cy="9717134"/>
            </a:xfrm>
          </p:grpSpPr>
          <p:sp>
            <p:nvSpPr>
              <p:cNvPr name="Freeform 4" id="4"/>
              <p:cNvSpPr/>
              <p:nvPr/>
            </p:nvSpPr>
            <p:spPr>
              <a:xfrm flipH="false" flipV="false" rot="0">
                <a:off x="-1" y="0"/>
                <a:ext cx="22703568" cy="9717134"/>
              </a:xfrm>
              <a:custGeom>
                <a:avLst/>
                <a:gdLst/>
                <a:ahLst/>
                <a:cxnLst/>
                <a:rect r="r" b="b" t="t" l="l"/>
                <a:pathLst>
                  <a:path h="9717134" w="22703568">
                    <a:moveTo>
                      <a:pt x="22204787" y="9700216"/>
                    </a:moveTo>
                    <a:cubicBezTo>
                      <a:pt x="22204787" y="9700216"/>
                      <a:pt x="21967792" y="9690246"/>
                      <a:pt x="21605653" y="9703690"/>
                    </a:cubicBezTo>
                    <a:cubicBezTo>
                      <a:pt x="21243514" y="9717134"/>
                      <a:pt x="490924" y="9717134"/>
                      <a:pt x="490924" y="9717134"/>
                    </a:cubicBezTo>
                    <a:cubicBezTo>
                      <a:pt x="245502" y="9717134"/>
                      <a:pt x="32509" y="9619866"/>
                      <a:pt x="31032" y="9459752"/>
                    </a:cubicBezTo>
                    <a:cubicBezTo>
                      <a:pt x="31032" y="9459752"/>
                      <a:pt x="0" y="6758194"/>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158239" y="0"/>
                      <a:pt x="22158239" y="0"/>
                    </a:cubicBezTo>
                    <a:cubicBezTo>
                      <a:pt x="22470140" y="0"/>
                      <a:pt x="22703569" y="101069"/>
                      <a:pt x="22695710" y="303616"/>
                    </a:cubicBezTo>
                    <a:cubicBezTo>
                      <a:pt x="22695710" y="303616"/>
                      <a:pt x="22693715" y="6210870"/>
                      <a:pt x="22702471" y="8760165"/>
                    </a:cubicBezTo>
                    <a:cubicBezTo>
                      <a:pt x="22711226" y="9053467"/>
                      <a:pt x="22664678" y="9386538"/>
                      <a:pt x="22664678" y="9386538"/>
                    </a:cubicBezTo>
                    <a:cubicBezTo>
                      <a:pt x="22661712" y="9566563"/>
                      <a:pt x="22450209" y="9700216"/>
                      <a:pt x="22204787" y="9700216"/>
                    </a:cubicBezTo>
                    <a:close/>
                  </a:path>
                </a:pathLst>
              </a:custGeom>
              <a:solidFill>
                <a:srgbClr val="8FB7C6"/>
              </a:solidFill>
            </p:spPr>
          </p:sp>
        </p:grpSp>
        <p:grpSp>
          <p:nvGrpSpPr>
            <p:cNvPr name="Group 5" id="5"/>
            <p:cNvGrpSpPr/>
            <p:nvPr/>
          </p:nvGrpSpPr>
          <p:grpSpPr>
            <a:xfrm rot="0">
              <a:off x="254961" y="1067537"/>
              <a:ext cx="22897610" cy="9778026"/>
              <a:chOff x="0" y="0"/>
              <a:chExt cx="22594507" cy="9648591"/>
            </a:xfrm>
          </p:grpSpPr>
          <p:sp>
            <p:nvSpPr>
              <p:cNvPr name="Freeform 6" id="6"/>
              <p:cNvSpPr/>
              <p:nvPr/>
            </p:nvSpPr>
            <p:spPr>
              <a:xfrm flipH="false" flipV="false" rot="0">
                <a:off x="-1" y="0"/>
                <a:ext cx="22594508" cy="9648591"/>
              </a:xfrm>
              <a:custGeom>
                <a:avLst/>
                <a:gdLst/>
                <a:ahLst/>
                <a:cxnLst/>
                <a:rect r="r" b="b" t="t" l="l"/>
                <a:pathLst>
                  <a:path h="9648591" w="22594508">
                    <a:moveTo>
                      <a:pt x="22095727" y="9631673"/>
                    </a:moveTo>
                    <a:cubicBezTo>
                      <a:pt x="22095727" y="9631673"/>
                      <a:pt x="21858730" y="9621703"/>
                      <a:pt x="21496593" y="9635147"/>
                    </a:cubicBezTo>
                    <a:cubicBezTo>
                      <a:pt x="21134454" y="9648591"/>
                      <a:pt x="490924" y="9648591"/>
                      <a:pt x="490924" y="9648591"/>
                    </a:cubicBezTo>
                    <a:cubicBezTo>
                      <a:pt x="245502" y="9648591"/>
                      <a:pt x="32509" y="9551323"/>
                      <a:pt x="31032" y="9391209"/>
                    </a:cubicBezTo>
                    <a:cubicBezTo>
                      <a:pt x="31032" y="9391209"/>
                      <a:pt x="0" y="6705102"/>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049179" y="0"/>
                      <a:pt x="22049179" y="0"/>
                    </a:cubicBezTo>
                    <a:cubicBezTo>
                      <a:pt x="22361080" y="0"/>
                      <a:pt x="22594507" y="101069"/>
                      <a:pt x="22586650" y="303616"/>
                    </a:cubicBezTo>
                    <a:cubicBezTo>
                      <a:pt x="22586650" y="303616"/>
                      <a:pt x="22584655" y="6162502"/>
                      <a:pt x="22593411" y="8691622"/>
                    </a:cubicBezTo>
                    <a:cubicBezTo>
                      <a:pt x="22602166" y="8984924"/>
                      <a:pt x="22555618" y="9317995"/>
                      <a:pt x="22555618" y="9317995"/>
                    </a:cubicBezTo>
                    <a:cubicBezTo>
                      <a:pt x="22552652" y="9498020"/>
                      <a:pt x="22341149" y="9631673"/>
                      <a:pt x="22095727" y="9631673"/>
                    </a:cubicBezTo>
                    <a:close/>
                  </a:path>
                </a:pathLst>
              </a:custGeom>
              <a:solidFill>
                <a:srgbClr val="8FB7C6"/>
              </a:solidFill>
            </p:spPr>
          </p:sp>
        </p:grpSp>
        <p:grpSp>
          <p:nvGrpSpPr>
            <p:cNvPr name="Group 7" id="7"/>
            <p:cNvGrpSpPr/>
            <p:nvPr/>
          </p:nvGrpSpPr>
          <p:grpSpPr>
            <a:xfrm rot="0">
              <a:off x="919721" y="0"/>
              <a:ext cx="22232850" cy="10328670"/>
              <a:chOff x="0" y="0"/>
              <a:chExt cx="23043639" cy="10705337"/>
            </a:xfrm>
          </p:grpSpPr>
          <p:sp>
            <p:nvSpPr>
              <p:cNvPr name="Freeform 8" id="8"/>
              <p:cNvSpPr/>
              <p:nvPr/>
            </p:nvSpPr>
            <p:spPr>
              <a:xfrm flipH="false" flipV="false" rot="0">
                <a:off x="-1" y="0"/>
                <a:ext cx="23043639" cy="10705337"/>
              </a:xfrm>
              <a:custGeom>
                <a:avLst/>
                <a:gdLst/>
                <a:ahLst/>
                <a:cxnLst/>
                <a:rect r="r" b="b" t="t" l="l"/>
                <a:pathLst>
                  <a:path h="10705337" w="23043639">
                    <a:moveTo>
                      <a:pt x="22544859" y="10688418"/>
                    </a:moveTo>
                    <a:cubicBezTo>
                      <a:pt x="22544859" y="10688418"/>
                      <a:pt x="22307863" y="10678449"/>
                      <a:pt x="21945723" y="10691893"/>
                    </a:cubicBezTo>
                    <a:cubicBezTo>
                      <a:pt x="21583586" y="10705337"/>
                      <a:pt x="490924" y="10705337"/>
                      <a:pt x="490924" y="10705337"/>
                    </a:cubicBezTo>
                    <a:cubicBezTo>
                      <a:pt x="245502" y="10705337"/>
                      <a:pt x="32509" y="10608069"/>
                      <a:pt x="31032" y="10447955"/>
                    </a:cubicBezTo>
                    <a:cubicBezTo>
                      <a:pt x="31032" y="10447955"/>
                      <a:pt x="0" y="7523653"/>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498310" y="0"/>
                      <a:pt x="22498310" y="0"/>
                    </a:cubicBezTo>
                    <a:cubicBezTo>
                      <a:pt x="22810212" y="0"/>
                      <a:pt x="23043639" y="101069"/>
                      <a:pt x="23035783" y="303616"/>
                    </a:cubicBezTo>
                    <a:cubicBezTo>
                      <a:pt x="23035783" y="303616"/>
                      <a:pt x="23033787" y="6908210"/>
                      <a:pt x="23042542" y="9748368"/>
                    </a:cubicBezTo>
                    <a:cubicBezTo>
                      <a:pt x="23051298" y="10041669"/>
                      <a:pt x="23004750" y="10374741"/>
                      <a:pt x="23004750" y="10374741"/>
                    </a:cubicBezTo>
                    <a:cubicBezTo>
                      <a:pt x="23001785" y="10554766"/>
                      <a:pt x="22790281" y="10688418"/>
                      <a:pt x="22544859" y="10688418"/>
                    </a:cubicBezTo>
                    <a:close/>
                  </a:path>
                </a:pathLst>
              </a:custGeom>
              <a:solidFill>
                <a:srgbClr val="F3FCFF"/>
              </a:solidFill>
            </p:spPr>
          </p:sp>
        </p:grpSp>
        <p:sp>
          <p:nvSpPr>
            <p:cNvPr name="AutoShape 9" id="9"/>
            <p:cNvSpPr/>
            <p:nvPr/>
          </p:nvSpPr>
          <p:spPr>
            <a:xfrm>
              <a:off x="2250246" y="9826016"/>
              <a:ext cx="22466735" cy="34286"/>
            </a:xfrm>
            <a:prstGeom prst="line">
              <a:avLst/>
            </a:prstGeom>
            <a:ln cap="rnd" w="50800">
              <a:solidFill>
                <a:srgbClr val="8FB7C6"/>
              </a:solidFill>
              <a:prstDash val="solid"/>
              <a:headEnd type="none" len="sm" w="sm"/>
              <a:tailEnd type="none" len="sm" w="sm"/>
            </a:ln>
          </p:spPr>
        </p:sp>
        <p:sp>
          <p:nvSpPr>
            <p:cNvPr name="AutoShape 10" id="10"/>
            <p:cNvSpPr/>
            <p:nvPr/>
          </p:nvSpPr>
          <p:spPr>
            <a:xfrm>
              <a:off x="2250246" y="717206"/>
              <a:ext cx="22466735" cy="34286"/>
            </a:xfrm>
            <a:prstGeom prst="line">
              <a:avLst/>
            </a:prstGeom>
            <a:ln cap="rnd" w="50800">
              <a:solidFill>
                <a:srgbClr val="8FB7C6"/>
              </a:solidFill>
              <a:prstDash val="solid"/>
              <a:headEnd type="none" len="sm" w="sm"/>
              <a:tailEnd type="none" len="sm" w="sm"/>
            </a:ln>
          </p:spPr>
        </p:sp>
      </p:grpSp>
      <p:grpSp>
        <p:nvGrpSpPr>
          <p:cNvPr name="Group 11" id="11"/>
          <p:cNvGrpSpPr/>
          <p:nvPr/>
        </p:nvGrpSpPr>
        <p:grpSpPr>
          <a:xfrm rot="0">
            <a:off x="3521482" y="2100874"/>
            <a:ext cx="12028932" cy="5515711"/>
            <a:chOff x="0" y="0"/>
            <a:chExt cx="16038576" cy="7354282"/>
          </a:xfrm>
        </p:grpSpPr>
        <p:sp>
          <p:nvSpPr>
            <p:cNvPr name="TextBox 12" id="12"/>
            <p:cNvSpPr txBox="true"/>
            <p:nvPr/>
          </p:nvSpPr>
          <p:spPr>
            <a:xfrm rot="0">
              <a:off x="0" y="1786348"/>
              <a:ext cx="16038576" cy="5567934"/>
            </a:xfrm>
            <a:prstGeom prst="rect">
              <a:avLst/>
            </a:prstGeom>
          </p:spPr>
          <p:txBody>
            <a:bodyPr anchor="t" rtlCol="false" tIns="0" lIns="0" bIns="0" rIns="0">
              <a:spAutoFit/>
            </a:bodyPr>
            <a:lstStyle/>
            <a:p>
              <a:pPr algn="just">
                <a:lnSpc>
                  <a:spcPts val="4779"/>
                </a:lnSpc>
              </a:pPr>
              <a:r>
                <a:rPr lang="en-US" sz="3540" spc="-35">
                  <a:solidFill>
                    <a:srgbClr val="000000"/>
                  </a:solidFill>
                  <a:latin typeface="Asap"/>
                  <a:ea typeface="Asap"/>
                  <a:cs typeface="Asap"/>
                  <a:sym typeface="Asap"/>
                </a:rPr>
                <a:t>n-place:</a:t>
              </a:r>
            </a:p>
            <a:p>
              <a:pPr algn="just" marL="764289" indent="-382145" lvl="1">
                <a:lnSpc>
                  <a:spcPts val="4779"/>
                </a:lnSpc>
                <a:buFont typeface="Arial"/>
                <a:buChar char="•"/>
              </a:pPr>
              <a:r>
                <a:rPr lang="en-US" sz="3540" spc="-35">
                  <a:solidFill>
                    <a:srgbClr val="000000"/>
                  </a:solidFill>
                  <a:latin typeface="Asap"/>
                  <a:ea typeface="Asap"/>
                  <a:cs typeface="Asap"/>
                  <a:sym typeface="Asap"/>
                </a:rPr>
                <a:t>Không tạo bản copy</a:t>
              </a:r>
            </a:p>
            <a:p>
              <a:pPr algn="just" marL="764289" indent="-382145" lvl="1">
                <a:lnSpc>
                  <a:spcPts val="4779"/>
                </a:lnSpc>
                <a:buFont typeface="Arial"/>
                <a:buChar char="•"/>
              </a:pPr>
              <a:r>
                <a:rPr lang="en-US" sz="3540" spc="-35">
                  <a:solidFill>
                    <a:srgbClr val="000000"/>
                  </a:solidFill>
                  <a:latin typeface="Asap"/>
                  <a:ea typeface="Asap"/>
                  <a:cs typeface="Asap"/>
                  <a:sym typeface="Asap"/>
                </a:rPr>
                <a:t>Tiết kiệm RAM</a:t>
              </a:r>
            </a:p>
            <a:p>
              <a:pPr algn="just">
                <a:lnSpc>
                  <a:spcPts val="4779"/>
                </a:lnSpc>
              </a:pPr>
              <a:r>
                <a:rPr lang="en-US" sz="3540" spc="-35">
                  <a:solidFill>
                    <a:srgbClr val="000000"/>
                  </a:solidFill>
                  <a:latin typeface="Asap"/>
                  <a:ea typeface="Asap"/>
                  <a:cs typeface="Asap"/>
                  <a:sym typeface="Asap"/>
                </a:rPr>
                <a:t>Streaming:</a:t>
              </a:r>
            </a:p>
            <a:p>
              <a:pPr algn="just" marL="764289" indent="-382145" lvl="1">
                <a:lnSpc>
                  <a:spcPts val="4779"/>
                </a:lnSpc>
                <a:buFont typeface="Arial"/>
                <a:buChar char="•"/>
              </a:pPr>
              <a:r>
                <a:rPr lang="en-US" sz="3540" spc="-35">
                  <a:solidFill>
                    <a:srgbClr val="000000"/>
                  </a:solidFill>
                  <a:latin typeface="Asap"/>
                  <a:ea typeface="Asap"/>
                  <a:cs typeface="Asap"/>
                  <a:sym typeface="Asap"/>
                </a:rPr>
                <a:t>Xử lý từng phầ</a:t>
              </a:r>
              <a:r>
                <a:rPr lang="en-US" sz="3540" spc="-35">
                  <a:solidFill>
                    <a:srgbClr val="000000"/>
                  </a:solidFill>
                  <a:latin typeface="Asap"/>
                  <a:ea typeface="Asap"/>
                  <a:cs typeface="Asap"/>
                  <a:sym typeface="Asap"/>
                </a:rPr>
                <a:t>n</a:t>
              </a:r>
            </a:p>
            <a:p>
              <a:pPr algn="just" marL="764289" indent="-382145" lvl="1">
                <a:lnSpc>
                  <a:spcPts val="4779"/>
                </a:lnSpc>
                <a:buFont typeface="Arial"/>
                <a:buChar char="•"/>
              </a:pPr>
              <a:r>
                <a:rPr lang="en-US" sz="3540" spc="-35">
                  <a:solidFill>
                    <a:srgbClr val="000000"/>
                  </a:solidFill>
                  <a:latin typeface="Asap"/>
                  <a:ea typeface="Asap"/>
                  <a:cs typeface="Asap"/>
                  <a:sym typeface="Asap"/>
                </a:rPr>
                <a:t>Dù</a:t>
              </a:r>
              <a:r>
                <a:rPr lang="en-US" sz="3540" spc="-35">
                  <a:solidFill>
                    <a:srgbClr val="000000"/>
                  </a:solidFill>
                  <a:latin typeface="Asap"/>
                  <a:ea typeface="Asap"/>
                  <a:cs typeface="Asap"/>
                  <a:sym typeface="Asap"/>
                </a:rPr>
                <a:t>ng</a:t>
              </a:r>
              <a:r>
                <a:rPr lang="en-US" sz="3540" spc="-35">
                  <a:solidFill>
                    <a:srgbClr val="000000"/>
                  </a:solidFill>
                  <a:latin typeface="Asap"/>
                  <a:ea typeface="Asap"/>
                  <a:cs typeface="Asap"/>
                  <a:sym typeface="Asap"/>
                </a:rPr>
                <a:t> cho dữ liệu lớn</a:t>
              </a:r>
            </a:p>
            <a:p>
              <a:pPr algn="just">
                <a:lnSpc>
                  <a:spcPts val="4779"/>
                </a:lnSpc>
              </a:pPr>
            </a:p>
          </p:txBody>
        </p:sp>
        <p:sp>
          <p:nvSpPr>
            <p:cNvPr name="TextBox 13" id="13"/>
            <p:cNvSpPr txBox="true"/>
            <p:nvPr/>
          </p:nvSpPr>
          <p:spPr>
            <a:xfrm rot="0">
              <a:off x="0" y="0"/>
              <a:ext cx="12467932" cy="1207078"/>
            </a:xfrm>
            <a:prstGeom prst="rect">
              <a:avLst/>
            </a:prstGeom>
          </p:spPr>
          <p:txBody>
            <a:bodyPr anchor="t" rtlCol="false" tIns="0" lIns="0" bIns="0" rIns="0">
              <a:spAutoFit/>
            </a:bodyPr>
            <a:lstStyle/>
            <a:p>
              <a:pPr algn="just">
                <a:lnSpc>
                  <a:spcPts val="7140"/>
                </a:lnSpc>
              </a:pPr>
              <a:r>
                <a:rPr lang="en-US" b="true" sz="5950">
                  <a:solidFill>
                    <a:srgbClr val="1D2B74"/>
                  </a:solidFill>
                  <a:latin typeface="Faustina Bold"/>
                  <a:ea typeface="Faustina Bold"/>
                  <a:cs typeface="Faustina Bold"/>
                  <a:sym typeface="Faustina Bold"/>
                </a:rPr>
                <a:t>IN-PLACE &amp; STREAMING</a:t>
              </a:r>
            </a:p>
          </p:txBody>
        </p:sp>
      </p:grpSp>
    </p:spTree>
  </p:cSld>
  <p:clrMapOvr>
    <a:masterClrMapping/>
  </p:clrMapOvr>
  <p:transition spd="slow">
    <p:push dir="d"/>
  </p:transition>
</p:sld>
</file>

<file path=ppt/slides/slide22.xml><?xml version="1.0" encoding="utf-8"?>
<p:sld xmlns:p="http://schemas.openxmlformats.org/presentationml/2006/main" xmlns:a="http://schemas.openxmlformats.org/drawingml/2006/main">
  <p:cSld>
    <p:bg>
      <p:bgPr>
        <a:solidFill>
          <a:srgbClr val="C8E3ED"/>
        </a:solidFill>
      </p:bgPr>
    </p:bg>
    <p:spTree>
      <p:nvGrpSpPr>
        <p:cNvPr id="1" name=""/>
        <p:cNvGrpSpPr/>
        <p:nvPr/>
      </p:nvGrpSpPr>
      <p:grpSpPr>
        <a:xfrm>
          <a:off x="0" y="0"/>
          <a:ext cx="0" cy="0"/>
          <a:chOff x="0" y="0"/>
          <a:chExt cx="0" cy="0"/>
        </a:xfrm>
      </p:grpSpPr>
      <p:grpSp>
        <p:nvGrpSpPr>
          <p:cNvPr name="Group 2" id="2"/>
          <p:cNvGrpSpPr/>
          <p:nvPr/>
        </p:nvGrpSpPr>
        <p:grpSpPr>
          <a:xfrm rot="0">
            <a:off x="774820" y="1028700"/>
            <a:ext cx="18537765" cy="8229600"/>
            <a:chOff x="0" y="0"/>
            <a:chExt cx="24717020" cy="10972800"/>
          </a:xfrm>
        </p:grpSpPr>
        <p:grpSp>
          <p:nvGrpSpPr>
            <p:cNvPr name="Group 3" id="3"/>
            <p:cNvGrpSpPr/>
            <p:nvPr/>
          </p:nvGrpSpPr>
          <p:grpSpPr>
            <a:xfrm rot="0">
              <a:off x="0" y="977717"/>
              <a:ext cx="23352980" cy="9995083"/>
              <a:chOff x="0" y="0"/>
              <a:chExt cx="22703567" cy="9717134"/>
            </a:xfrm>
          </p:grpSpPr>
          <p:sp>
            <p:nvSpPr>
              <p:cNvPr name="Freeform 4" id="4"/>
              <p:cNvSpPr/>
              <p:nvPr/>
            </p:nvSpPr>
            <p:spPr>
              <a:xfrm flipH="false" flipV="false" rot="0">
                <a:off x="-1" y="0"/>
                <a:ext cx="22703568" cy="9717134"/>
              </a:xfrm>
              <a:custGeom>
                <a:avLst/>
                <a:gdLst/>
                <a:ahLst/>
                <a:cxnLst/>
                <a:rect r="r" b="b" t="t" l="l"/>
                <a:pathLst>
                  <a:path h="9717134" w="22703568">
                    <a:moveTo>
                      <a:pt x="22204787" y="9700216"/>
                    </a:moveTo>
                    <a:cubicBezTo>
                      <a:pt x="22204787" y="9700216"/>
                      <a:pt x="21967792" y="9690246"/>
                      <a:pt x="21605653" y="9703690"/>
                    </a:cubicBezTo>
                    <a:cubicBezTo>
                      <a:pt x="21243514" y="9717134"/>
                      <a:pt x="490924" y="9717134"/>
                      <a:pt x="490924" y="9717134"/>
                    </a:cubicBezTo>
                    <a:cubicBezTo>
                      <a:pt x="245502" y="9717134"/>
                      <a:pt x="32509" y="9619866"/>
                      <a:pt x="31032" y="9459752"/>
                    </a:cubicBezTo>
                    <a:cubicBezTo>
                      <a:pt x="31032" y="9459752"/>
                      <a:pt x="0" y="6758194"/>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158239" y="0"/>
                      <a:pt x="22158239" y="0"/>
                    </a:cubicBezTo>
                    <a:cubicBezTo>
                      <a:pt x="22470140" y="0"/>
                      <a:pt x="22703569" y="101069"/>
                      <a:pt x="22695710" y="303616"/>
                    </a:cubicBezTo>
                    <a:cubicBezTo>
                      <a:pt x="22695710" y="303616"/>
                      <a:pt x="22693715" y="6210870"/>
                      <a:pt x="22702471" y="8760165"/>
                    </a:cubicBezTo>
                    <a:cubicBezTo>
                      <a:pt x="22711226" y="9053467"/>
                      <a:pt x="22664678" y="9386538"/>
                      <a:pt x="22664678" y="9386538"/>
                    </a:cubicBezTo>
                    <a:cubicBezTo>
                      <a:pt x="22661712" y="9566563"/>
                      <a:pt x="22450209" y="9700216"/>
                      <a:pt x="22204787" y="9700216"/>
                    </a:cubicBezTo>
                    <a:close/>
                  </a:path>
                </a:pathLst>
              </a:custGeom>
              <a:solidFill>
                <a:srgbClr val="8FB7C6"/>
              </a:solidFill>
            </p:spPr>
          </p:sp>
        </p:grpSp>
        <p:grpSp>
          <p:nvGrpSpPr>
            <p:cNvPr name="Group 5" id="5"/>
            <p:cNvGrpSpPr/>
            <p:nvPr/>
          </p:nvGrpSpPr>
          <p:grpSpPr>
            <a:xfrm rot="0">
              <a:off x="254961" y="1067537"/>
              <a:ext cx="22897610" cy="9778026"/>
              <a:chOff x="0" y="0"/>
              <a:chExt cx="22594507" cy="9648591"/>
            </a:xfrm>
          </p:grpSpPr>
          <p:sp>
            <p:nvSpPr>
              <p:cNvPr name="Freeform 6" id="6"/>
              <p:cNvSpPr/>
              <p:nvPr/>
            </p:nvSpPr>
            <p:spPr>
              <a:xfrm flipH="false" flipV="false" rot="0">
                <a:off x="-1" y="0"/>
                <a:ext cx="22594508" cy="9648591"/>
              </a:xfrm>
              <a:custGeom>
                <a:avLst/>
                <a:gdLst/>
                <a:ahLst/>
                <a:cxnLst/>
                <a:rect r="r" b="b" t="t" l="l"/>
                <a:pathLst>
                  <a:path h="9648591" w="22594508">
                    <a:moveTo>
                      <a:pt x="22095727" y="9631673"/>
                    </a:moveTo>
                    <a:cubicBezTo>
                      <a:pt x="22095727" y="9631673"/>
                      <a:pt x="21858730" y="9621703"/>
                      <a:pt x="21496593" y="9635147"/>
                    </a:cubicBezTo>
                    <a:cubicBezTo>
                      <a:pt x="21134454" y="9648591"/>
                      <a:pt x="490924" y="9648591"/>
                      <a:pt x="490924" y="9648591"/>
                    </a:cubicBezTo>
                    <a:cubicBezTo>
                      <a:pt x="245502" y="9648591"/>
                      <a:pt x="32509" y="9551323"/>
                      <a:pt x="31032" y="9391209"/>
                    </a:cubicBezTo>
                    <a:cubicBezTo>
                      <a:pt x="31032" y="9391209"/>
                      <a:pt x="0" y="6705102"/>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049179" y="0"/>
                      <a:pt x="22049179" y="0"/>
                    </a:cubicBezTo>
                    <a:cubicBezTo>
                      <a:pt x="22361080" y="0"/>
                      <a:pt x="22594507" y="101069"/>
                      <a:pt x="22586650" y="303616"/>
                    </a:cubicBezTo>
                    <a:cubicBezTo>
                      <a:pt x="22586650" y="303616"/>
                      <a:pt x="22584655" y="6162502"/>
                      <a:pt x="22593411" y="8691622"/>
                    </a:cubicBezTo>
                    <a:cubicBezTo>
                      <a:pt x="22602166" y="8984924"/>
                      <a:pt x="22555618" y="9317995"/>
                      <a:pt x="22555618" y="9317995"/>
                    </a:cubicBezTo>
                    <a:cubicBezTo>
                      <a:pt x="22552652" y="9498020"/>
                      <a:pt x="22341149" y="9631673"/>
                      <a:pt x="22095727" y="9631673"/>
                    </a:cubicBezTo>
                    <a:close/>
                  </a:path>
                </a:pathLst>
              </a:custGeom>
              <a:solidFill>
                <a:srgbClr val="8FB7C6"/>
              </a:solidFill>
            </p:spPr>
          </p:sp>
        </p:grpSp>
        <p:grpSp>
          <p:nvGrpSpPr>
            <p:cNvPr name="Group 7" id="7"/>
            <p:cNvGrpSpPr/>
            <p:nvPr/>
          </p:nvGrpSpPr>
          <p:grpSpPr>
            <a:xfrm rot="0">
              <a:off x="919721" y="0"/>
              <a:ext cx="22232850" cy="10328670"/>
              <a:chOff x="0" y="0"/>
              <a:chExt cx="23043639" cy="10705337"/>
            </a:xfrm>
          </p:grpSpPr>
          <p:sp>
            <p:nvSpPr>
              <p:cNvPr name="Freeform 8" id="8"/>
              <p:cNvSpPr/>
              <p:nvPr/>
            </p:nvSpPr>
            <p:spPr>
              <a:xfrm flipH="false" flipV="false" rot="0">
                <a:off x="-1" y="0"/>
                <a:ext cx="23043639" cy="10705337"/>
              </a:xfrm>
              <a:custGeom>
                <a:avLst/>
                <a:gdLst/>
                <a:ahLst/>
                <a:cxnLst/>
                <a:rect r="r" b="b" t="t" l="l"/>
                <a:pathLst>
                  <a:path h="10705337" w="23043639">
                    <a:moveTo>
                      <a:pt x="22544859" y="10688418"/>
                    </a:moveTo>
                    <a:cubicBezTo>
                      <a:pt x="22544859" y="10688418"/>
                      <a:pt x="22307863" y="10678449"/>
                      <a:pt x="21945723" y="10691893"/>
                    </a:cubicBezTo>
                    <a:cubicBezTo>
                      <a:pt x="21583586" y="10705337"/>
                      <a:pt x="490924" y="10705337"/>
                      <a:pt x="490924" y="10705337"/>
                    </a:cubicBezTo>
                    <a:cubicBezTo>
                      <a:pt x="245502" y="10705337"/>
                      <a:pt x="32509" y="10608069"/>
                      <a:pt x="31032" y="10447955"/>
                    </a:cubicBezTo>
                    <a:cubicBezTo>
                      <a:pt x="31032" y="10447955"/>
                      <a:pt x="0" y="7523653"/>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498310" y="0"/>
                      <a:pt x="22498310" y="0"/>
                    </a:cubicBezTo>
                    <a:cubicBezTo>
                      <a:pt x="22810212" y="0"/>
                      <a:pt x="23043639" y="101069"/>
                      <a:pt x="23035783" y="303616"/>
                    </a:cubicBezTo>
                    <a:cubicBezTo>
                      <a:pt x="23035783" y="303616"/>
                      <a:pt x="23033787" y="6908210"/>
                      <a:pt x="23042542" y="9748368"/>
                    </a:cubicBezTo>
                    <a:cubicBezTo>
                      <a:pt x="23051298" y="10041669"/>
                      <a:pt x="23004750" y="10374741"/>
                      <a:pt x="23004750" y="10374741"/>
                    </a:cubicBezTo>
                    <a:cubicBezTo>
                      <a:pt x="23001785" y="10554766"/>
                      <a:pt x="22790281" y="10688418"/>
                      <a:pt x="22544859" y="10688418"/>
                    </a:cubicBezTo>
                    <a:close/>
                  </a:path>
                </a:pathLst>
              </a:custGeom>
              <a:solidFill>
                <a:srgbClr val="F3FCFF"/>
              </a:solidFill>
            </p:spPr>
          </p:sp>
        </p:grpSp>
        <p:sp>
          <p:nvSpPr>
            <p:cNvPr name="AutoShape 9" id="9"/>
            <p:cNvSpPr/>
            <p:nvPr/>
          </p:nvSpPr>
          <p:spPr>
            <a:xfrm>
              <a:off x="2250246" y="9826016"/>
              <a:ext cx="22466735" cy="34286"/>
            </a:xfrm>
            <a:prstGeom prst="line">
              <a:avLst/>
            </a:prstGeom>
            <a:ln cap="rnd" w="50800">
              <a:solidFill>
                <a:srgbClr val="8FB7C6"/>
              </a:solidFill>
              <a:prstDash val="solid"/>
              <a:headEnd type="none" len="sm" w="sm"/>
              <a:tailEnd type="none" len="sm" w="sm"/>
            </a:ln>
          </p:spPr>
        </p:sp>
        <p:sp>
          <p:nvSpPr>
            <p:cNvPr name="AutoShape 10" id="10"/>
            <p:cNvSpPr/>
            <p:nvPr/>
          </p:nvSpPr>
          <p:spPr>
            <a:xfrm>
              <a:off x="2250246" y="717206"/>
              <a:ext cx="22466735" cy="34286"/>
            </a:xfrm>
            <a:prstGeom prst="line">
              <a:avLst/>
            </a:prstGeom>
            <a:ln cap="rnd" w="50800">
              <a:solidFill>
                <a:srgbClr val="8FB7C6"/>
              </a:solidFill>
              <a:prstDash val="solid"/>
              <a:headEnd type="none" len="sm" w="sm"/>
              <a:tailEnd type="none" len="sm" w="sm"/>
            </a:ln>
          </p:spPr>
        </p:sp>
      </p:grpSp>
      <p:grpSp>
        <p:nvGrpSpPr>
          <p:cNvPr name="Group 11" id="11"/>
          <p:cNvGrpSpPr/>
          <p:nvPr/>
        </p:nvGrpSpPr>
        <p:grpSpPr>
          <a:xfrm rot="0">
            <a:off x="3521482" y="1800836"/>
            <a:ext cx="12028932" cy="6115786"/>
            <a:chOff x="0" y="0"/>
            <a:chExt cx="16038576" cy="8154382"/>
          </a:xfrm>
        </p:grpSpPr>
        <p:sp>
          <p:nvSpPr>
            <p:cNvPr name="TextBox 12" id="12"/>
            <p:cNvSpPr txBox="true"/>
            <p:nvPr/>
          </p:nvSpPr>
          <p:spPr>
            <a:xfrm rot="0">
              <a:off x="0" y="1786348"/>
              <a:ext cx="16038576" cy="6368034"/>
            </a:xfrm>
            <a:prstGeom prst="rect">
              <a:avLst/>
            </a:prstGeom>
          </p:spPr>
          <p:txBody>
            <a:bodyPr anchor="t" rtlCol="false" tIns="0" lIns="0" bIns="0" rIns="0">
              <a:spAutoFit/>
            </a:bodyPr>
            <a:lstStyle/>
            <a:p>
              <a:pPr algn="just">
                <a:lnSpc>
                  <a:spcPts val="4779"/>
                </a:lnSpc>
              </a:pPr>
              <a:r>
                <a:rPr lang="en-US" sz="3540" spc="-35">
                  <a:solidFill>
                    <a:srgbClr val="000000"/>
                  </a:solidFill>
                  <a:latin typeface="Asap"/>
                  <a:ea typeface="Asap"/>
                  <a:cs typeface="Asap"/>
                  <a:sym typeface="Asap"/>
                </a:rPr>
                <a:t>Khái niệm:</a:t>
              </a:r>
            </a:p>
            <a:p>
              <a:pPr algn="just" marL="764289" indent="-382145" lvl="1">
                <a:lnSpc>
                  <a:spcPts val="4779"/>
                </a:lnSpc>
                <a:buFont typeface="Arial"/>
                <a:buChar char="•"/>
              </a:pPr>
              <a:r>
                <a:rPr lang="en-US" sz="3540" spc="-35">
                  <a:solidFill>
                    <a:srgbClr val="000000"/>
                  </a:solidFill>
                  <a:latin typeface="Asap"/>
                  <a:ea typeface="Asap"/>
                  <a:cs typeface="Asap"/>
                  <a:sym typeface="Asap"/>
                </a:rPr>
                <a:t>Chia bài toán thành nhiều bước</a:t>
              </a:r>
            </a:p>
            <a:p>
              <a:pPr algn="just">
                <a:lnSpc>
                  <a:spcPts val="4779"/>
                </a:lnSpc>
              </a:pPr>
              <a:r>
                <a:rPr lang="en-US" sz="3540" spc="-35">
                  <a:solidFill>
                    <a:srgbClr val="000000"/>
                  </a:solidFill>
                  <a:latin typeface="Asap"/>
                  <a:ea typeface="Asap"/>
                  <a:cs typeface="Asap"/>
                  <a:sym typeface="Asap"/>
                </a:rPr>
                <a:t>Quy </a:t>
              </a:r>
              <a:r>
                <a:rPr lang="en-US" sz="3540" spc="-35">
                  <a:solidFill>
                    <a:srgbClr val="000000"/>
                  </a:solidFill>
                  <a:latin typeface="Asap"/>
                  <a:ea typeface="Asap"/>
                  <a:cs typeface="Asap"/>
                  <a:sym typeface="Asap"/>
                </a:rPr>
                <a:t>trình:</a:t>
              </a:r>
            </a:p>
            <a:p>
              <a:pPr algn="just" marL="764289" indent="-382145" lvl="1">
                <a:lnSpc>
                  <a:spcPts val="4779"/>
                </a:lnSpc>
                <a:buAutoNum type="arabicPeriod" startAt="1"/>
              </a:pPr>
              <a:r>
                <a:rPr lang="en-US" sz="3540" spc="-35">
                  <a:solidFill>
                    <a:srgbClr val="000000"/>
                  </a:solidFill>
                  <a:latin typeface="Asap"/>
                  <a:ea typeface="Asap"/>
                  <a:cs typeface="Asap"/>
                  <a:sym typeface="Asap"/>
                </a:rPr>
                <a:t>Phâ</a:t>
              </a:r>
              <a:r>
                <a:rPr lang="en-US" sz="3540" spc="-35">
                  <a:solidFill>
                    <a:srgbClr val="000000"/>
                  </a:solidFill>
                  <a:latin typeface="Asap"/>
                  <a:ea typeface="Asap"/>
                  <a:cs typeface="Asap"/>
                  <a:sym typeface="Asap"/>
                </a:rPr>
                <a:t>n</a:t>
              </a:r>
              <a:r>
                <a:rPr lang="en-US" sz="3540" spc="-35">
                  <a:solidFill>
                    <a:srgbClr val="000000"/>
                  </a:solidFill>
                  <a:latin typeface="Asap"/>
                  <a:ea typeface="Asap"/>
                  <a:cs typeface="Asap"/>
                  <a:sym typeface="Asap"/>
                </a:rPr>
                <a:t> tích</a:t>
              </a:r>
            </a:p>
            <a:p>
              <a:pPr algn="just" marL="764289" indent="-382145" lvl="1">
                <a:lnSpc>
                  <a:spcPts val="4779"/>
                </a:lnSpc>
                <a:buAutoNum type="arabicPeriod" startAt="1"/>
              </a:pPr>
              <a:r>
                <a:rPr lang="en-US" sz="3540" spc="-35">
                  <a:solidFill>
                    <a:srgbClr val="000000"/>
                  </a:solidFill>
                  <a:latin typeface="Asap"/>
                  <a:ea typeface="Asap"/>
                  <a:cs typeface="Asap"/>
                  <a:sym typeface="Asap"/>
                </a:rPr>
                <a:t>Tìm lỗi</a:t>
              </a:r>
            </a:p>
            <a:p>
              <a:pPr algn="just" marL="764289" indent="-382145" lvl="1">
                <a:lnSpc>
                  <a:spcPts val="4779"/>
                </a:lnSpc>
                <a:buAutoNum type="arabicPeriod" startAt="1"/>
              </a:pPr>
              <a:r>
                <a:rPr lang="en-US" sz="3540" spc="-35">
                  <a:solidFill>
                    <a:srgbClr val="000000"/>
                  </a:solidFill>
                  <a:latin typeface="Asap"/>
                  <a:ea typeface="Asap"/>
                  <a:cs typeface="Asap"/>
                  <a:sym typeface="Asap"/>
                </a:rPr>
                <a:t>Đề xuất</a:t>
              </a:r>
            </a:p>
            <a:p>
              <a:pPr algn="just" marL="764289" indent="-382145" lvl="1">
                <a:lnSpc>
                  <a:spcPts val="4779"/>
                </a:lnSpc>
                <a:buAutoNum type="arabicPeriod" startAt="1"/>
              </a:pPr>
              <a:r>
                <a:rPr lang="en-US" sz="3540" spc="-35">
                  <a:solidFill>
                    <a:srgbClr val="000000"/>
                  </a:solidFill>
                  <a:latin typeface="Asap"/>
                  <a:ea typeface="Asap"/>
                  <a:cs typeface="Asap"/>
                  <a:sym typeface="Asap"/>
                </a:rPr>
                <a:t>Tối ưu</a:t>
              </a:r>
            </a:p>
            <a:p>
              <a:pPr algn="just">
                <a:lnSpc>
                  <a:spcPts val="4779"/>
                </a:lnSpc>
              </a:pPr>
            </a:p>
          </p:txBody>
        </p:sp>
        <p:sp>
          <p:nvSpPr>
            <p:cNvPr name="TextBox 13" id="13"/>
            <p:cNvSpPr txBox="true"/>
            <p:nvPr/>
          </p:nvSpPr>
          <p:spPr>
            <a:xfrm rot="0">
              <a:off x="0" y="0"/>
              <a:ext cx="12467932" cy="1207078"/>
            </a:xfrm>
            <a:prstGeom prst="rect">
              <a:avLst/>
            </a:prstGeom>
          </p:spPr>
          <p:txBody>
            <a:bodyPr anchor="t" rtlCol="false" tIns="0" lIns="0" bIns="0" rIns="0">
              <a:spAutoFit/>
            </a:bodyPr>
            <a:lstStyle/>
            <a:p>
              <a:pPr algn="just">
                <a:lnSpc>
                  <a:spcPts val="7140"/>
                </a:lnSpc>
              </a:pPr>
              <a:r>
                <a:rPr lang="en-US" b="true" sz="5950">
                  <a:solidFill>
                    <a:srgbClr val="1D2B74"/>
                  </a:solidFill>
                  <a:latin typeface="Faustina Bold"/>
                  <a:ea typeface="Faustina Bold"/>
                  <a:cs typeface="Faustina Bold"/>
                  <a:sym typeface="Faustina Bold"/>
                </a:rPr>
                <a:t>PROMPT CHAINING</a:t>
              </a:r>
            </a:p>
          </p:txBody>
        </p:sp>
      </p:grpSp>
    </p:spTree>
  </p:cSld>
  <p:clrMapOvr>
    <a:masterClrMapping/>
  </p:clrMapOvr>
  <p:transition spd="slow">
    <p:push dir="d"/>
  </p:transition>
</p:sld>
</file>

<file path=ppt/slides/slide23.xml><?xml version="1.0" encoding="utf-8"?>
<p:sld xmlns:p="http://schemas.openxmlformats.org/presentationml/2006/main" xmlns:a="http://schemas.openxmlformats.org/drawingml/2006/main">
  <p:cSld>
    <p:bg>
      <p:bgPr>
        <a:solidFill>
          <a:srgbClr val="C8E3ED"/>
        </a:solidFill>
      </p:bgPr>
    </p:bg>
    <p:spTree>
      <p:nvGrpSpPr>
        <p:cNvPr id="1" name=""/>
        <p:cNvGrpSpPr/>
        <p:nvPr/>
      </p:nvGrpSpPr>
      <p:grpSpPr>
        <a:xfrm>
          <a:off x="0" y="0"/>
          <a:ext cx="0" cy="0"/>
          <a:chOff x="0" y="0"/>
          <a:chExt cx="0" cy="0"/>
        </a:xfrm>
      </p:grpSpPr>
      <p:grpSp>
        <p:nvGrpSpPr>
          <p:cNvPr name="Group 2" id="2"/>
          <p:cNvGrpSpPr/>
          <p:nvPr/>
        </p:nvGrpSpPr>
        <p:grpSpPr>
          <a:xfrm rot="0">
            <a:off x="774820" y="1028700"/>
            <a:ext cx="18537765" cy="8229600"/>
            <a:chOff x="0" y="0"/>
            <a:chExt cx="24717020" cy="10972800"/>
          </a:xfrm>
        </p:grpSpPr>
        <p:grpSp>
          <p:nvGrpSpPr>
            <p:cNvPr name="Group 3" id="3"/>
            <p:cNvGrpSpPr/>
            <p:nvPr/>
          </p:nvGrpSpPr>
          <p:grpSpPr>
            <a:xfrm rot="0">
              <a:off x="0" y="977717"/>
              <a:ext cx="23352980" cy="9995083"/>
              <a:chOff x="0" y="0"/>
              <a:chExt cx="22703567" cy="9717134"/>
            </a:xfrm>
          </p:grpSpPr>
          <p:sp>
            <p:nvSpPr>
              <p:cNvPr name="Freeform 4" id="4"/>
              <p:cNvSpPr/>
              <p:nvPr/>
            </p:nvSpPr>
            <p:spPr>
              <a:xfrm flipH="false" flipV="false" rot="0">
                <a:off x="-1" y="0"/>
                <a:ext cx="22703568" cy="9717134"/>
              </a:xfrm>
              <a:custGeom>
                <a:avLst/>
                <a:gdLst/>
                <a:ahLst/>
                <a:cxnLst/>
                <a:rect r="r" b="b" t="t" l="l"/>
                <a:pathLst>
                  <a:path h="9717134" w="22703568">
                    <a:moveTo>
                      <a:pt x="22204787" y="9700216"/>
                    </a:moveTo>
                    <a:cubicBezTo>
                      <a:pt x="22204787" y="9700216"/>
                      <a:pt x="21967792" y="9690246"/>
                      <a:pt x="21605653" y="9703690"/>
                    </a:cubicBezTo>
                    <a:cubicBezTo>
                      <a:pt x="21243514" y="9717134"/>
                      <a:pt x="490924" y="9717134"/>
                      <a:pt x="490924" y="9717134"/>
                    </a:cubicBezTo>
                    <a:cubicBezTo>
                      <a:pt x="245502" y="9717134"/>
                      <a:pt x="32509" y="9619866"/>
                      <a:pt x="31032" y="9459752"/>
                    </a:cubicBezTo>
                    <a:cubicBezTo>
                      <a:pt x="31032" y="9459752"/>
                      <a:pt x="0" y="6758194"/>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158239" y="0"/>
                      <a:pt x="22158239" y="0"/>
                    </a:cubicBezTo>
                    <a:cubicBezTo>
                      <a:pt x="22470140" y="0"/>
                      <a:pt x="22703569" y="101069"/>
                      <a:pt x="22695710" y="303616"/>
                    </a:cubicBezTo>
                    <a:cubicBezTo>
                      <a:pt x="22695710" y="303616"/>
                      <a:pt x="22693715" y="6210870"/>
                      <a:pt x="22702471" y="8760165"/>
                    </a:cubicBezTo>
                    <a:cubicBezTo>
                      <a:pt x="22711226" y="9053467"/>
                      <a:pt x="22664678" y="9386538"/>
                      <a:pt x="22664678" y="9386538"/>
                    </a:cubicBezTo>
                    <a:cubicBezTo>
                      <a:pt x="22661712" y="9566563"/>
                      <a:pt x="22450209" y="9700216"/>
                      <a:pt x="22204787" y="9700216"/>
                    </a:cubicBezTo>
                    <a:close/>
                  </a:path>
                </a:pathLst>
              </a:custGeom>
              <a:solidFill>
                <a:srgbClr val="8FB7C6"/>
              </a:solidFill>
            </p:spPr>
          </p:sp>
        </p:grpSp>
        <p:grpSp>
          <p:nvGrpSpPr>
            <p:cNvPr name="Group 5" id="5"/>
            <p:cNvGrpSpPr/>
            <p:nvPr/>
          </p:nvGrpSpPr>
          <p:grpSpPr>
            <a:xfrm rot="0">
              <a:off x="254961" y="1067537"/>
              <a:ext cx="22897610" cy="9778026"/>
              <a:chOff x="0" y="0"/>
              <a:chExt cx="22594507" cy="9648591"/>
            </a:xfrm>
          </p:grpSpPr>
          <p:sp>
            <p:nvSpPr>
              <p:cNvPr name="Freeform 6" id="6"/>
              <p:cNvSpPr/>
              <p:nvPr/>
            </p:nvSpPr>
            <p:spPr>
              <a:xfrm flipH="false" flipV="false" rot="0">
                <a:off x="-1" y="0"/>
                <a:ext cx="22594508" cy="9648591"/>
              </a:xfrm>
              <a:custGeom>
                <a:avLst/>
                <a:gdLst/>
                <a:ahLst/>
                <a:cxnLst/>
                <a:rect r="r" b="b" t="t" l="l"/>
                <a:pathLst>
                  <a:path h="9648591" w="22594508">
                    <a:moveTo>
                      <a:pt x="22095727" y="9631673"/>
                    </a:moveTo>
                    <a:cubicBezTo>
                      <a:pt x="22095727" y="9631673"/>
                      <a:pt x="21858730" y="9621703"/>
                      <a:pt x="21496593" y="9635147"/>
                    </a:cubicBezTo>
                    <a:cubicBezTo>
                      <a:pt x="21134454" y="9648591"/>
                      <a:pt x="490924" y="9648591"/>
                      <a:pt x="490924" y="9648591"/>
                    </a:cubicBezTo>
                    <a:cubicBezTo>
                      <a:pt x="245502" y="9648591"/>
                      <a:pt x="32509" y="9551323"/>
                      <a:pt x="31032" y="9391209"/>
                    </a:cubicBezTo>
                    <a:cubicBezTo>
                      <a:pt x="31032" y="9391209"/>
                      <a:pt x="0" y="6705102"/>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049179" y="0"/>
                      <a:pt x="22049179" y="0"/>
                    </a:cubicBezTo>
                    <a:cubicBezTo>
                      <a:pt x="22361080" y="0"/>
                      <a:pt x="22594507" y="101069"/>
                      <a:pt x="22586650" y="303616"/>
                    </a:cubicBezTo>
                    <a:cubicBezTo>
                      <a:pt x="22586650" y="303616"/>
                      <a:pt x="22584655" y="6162502"/>
                      <a:pt x="22593411" y="8691622"/>
                    </a:cubicBezTo>
                    <a:cubicBezTo>
                      <a:pt x="22602166" y="8984924"/>
                      <a:pt x="22555618" y="9317995"/>
                      <a:pt x="22555618" y="9317995"/>
                    </a:cubicBezTo>
                    <a:cubicBezTo>
                      <a:pt x="22552652" y="9498020"/>
                      <a:pt x="22341149" y="9631673"/>
                      <a:pt x="22095727" y="9631673"/>
                    </a:cubicBezTo>
                    <a:close/>
                  </a:path>
                </a:pathLst>
              </a:custGeom>
              <a:solidFill>
                <a:srgbClr val="8FB7C6"/>
              </a:solidFill>
            </p:spPr>
          </p:sp>
        </p:grpSp>
        <p:grpSp>
          <p:nvGrpSpPr>
            <p:cNvPr name="Group 7" id="7"/>
            <p:cNvGrpSpPr/>
            <p:nvPr/>
          </p:nvGrpSpPr>
          <p:grpSpPr>
            <a:xfrm rot="0">
              <a:off x="919721" y="0"/>
              <a:ext cx="22232850" cy="10328670"/>
              <a:chOff x="0" y="0"/>
              <a:chExt cx="23043639" cy="10705337"/>
            </a:xfrm>
          </p:grpSpPr>
          <p:sp>
            <p:nvSpPr>
              <p:cNvPr name="Freeform 8" id="8"/>
              <p:cNvSpPr/>
              <p:nvPr/>
            </p:nvSpPr>
            <p:spPr>
              <a:xfrm flipH="false" flipV="false" rot="0">
                <a:off x="-1" y="0"/>
                <a:ext cx="23043639" cy="10705337"/>
              </a:xfrm>
              <a:custGeom>
                <a:avLst/>
                <a:gdLst/>
                <a:ahLst/>
                <a:cxnLst/>
                <a:rect r="r" b="b" t="t" l="l"/>
                <a:pathLst>
                  <a:path h="10705337" w="23043639">
                    <a:moveTo>
                      <a:pt x="22544859" y="10688418"/>
                    </a:moveTo>
                    <a:cubicBezTo>
                      <a:pt x="22544859" y="10688418"/>
                      <a:pt x="22307863" y="10678449"/>
                      <a:pt x="21945723" y="10691893"/>
                    </a:cubicBezTo>
                    <a:cubicBezTo>
                      <a:pt x="21583586" y="10705337"/>
                      <a:pt x="490924" y="10705337"/>
                      <a:pt x="490924" y="10705337"/>
                    </a:cubicBezTo>
                    <a:cubicBezTo>
                      <a:pt x="245502" y="10705337"/>
                      <a:pt x="32509" y="10608069"/>
                      <a:pt x="31032" y="10447955"/>
                    </a:cubicBezTo>
                    <a:cubicBezTo>
                      <a:pt x="31032" y="10447955"/>
                      <a:pt x="0" y="7523653"/>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498310" y="0"/>
                      <a:pt x="22498310" y="0"/>
                    </a:cubicBezTo>
                    <a:cubicBezTo>
                      <a:pt x="22810212" y="0"/>
                      <a:pt x="23043639" y="101069"/>
                      <a:pt x="23035783" y="303616"/>
                    </a:cubicBezTo>
                    <a:cubicBezTo>
                      <a:pt x="23035783" y="303616"/>
                      <a:pt x="23033787" y="6908210"/>
                      <a:pt x="23042542" y="9748368"/>
                    </a:cubicBezTo>
                    <a:cubicBezTo>
                      <a:pt x="23051298" y="10041669"/>
                      <a:pt x="23004750" y="10374741"/>
                      <a:pt x="23004750" y="10374741"/>
                    </a:cubicBezTo>
                    <a:cubicBezTo>
                      <a:pt x="23001785" y="10554766"/>
                      <a:pt x="22790281" y="10688418"/>
                      <a:pt x="22544859" y="10688418"/>
                    </a:cubicBezTo>
                    <a:close/>
                  </a:path>
                </a:pathLst>
              </a:custGeom>
              <a:solidFill>
                <a:srgbClr val="F3FCFF"/>
              </a:solidFill>
            </p:spPr>
          </p:sp>
        </p:grpSp>
        <p:sp>
          <p:nvSpPr>
            <p:cNvPr name="AutoShape 9" id="9"/>
            <p:cNvSpPr/>
            <p:nvPr/>
          </p:nvSpPr>
          <p:spPr>
            <a:xfrm>
              <a:off x="2250246" y="9826016"/>
              <a:ext cx="22466735" cy="34286"/>
            </a:xfrm>
            <a:prstGeom prst="line">
              <a:avLst/>
            </a:prstGeom>
            <a:ln cap="rnd" w="50800">
              <a:solidFill>
                <a:srgbClr val="8FB7C6"/>
              </a:solidFill>
              <a:prstDash val="solid"/>
              <a:headEnd type="none" len="sm" w="sm"/>
              <a:tailEnd type="none" len="sm" w="sm"/>
            </a:ln>
          </p:spPr>
        </p:sp>
        <p:sp>
          <p:nvSpPr>
            <p:cNvPr name="AutoShape 10" id="10"/>
            <p:cNvSpPr/>
            <p:nvPr/>
          </p:nvSpPr>
          <p:spPr>
            <a:xfrm>
              <a:off x="2250246" y="717206"/>
              <a:ext cx="22466735" cy="34286"/>
            </a:xfrm>
            <a:prstGeom prst="line">
              <a:avLst/>
            </a:prstGeom>
            <a:ln cap="rnd" w="50800">
              <a:solidFill>
                <a:srgbClr val="8FB7C6"/>
              </a:solidFill>
              <a:prstDash val="solid"/>
              <a:headEnd type="none" len="sm" w="sm"/>
              <a:tailEnd type="none" len="sm" w="sm"/>
            </a:ln>
          </p:spPr>
        </p:sp>
      </p:grpSp>
      <p:grpSp>
        <p:nvGrpSpPr>
          <p:cNvPr name="Group 11" id="11"/>
          <p:cNvGrpSpPr/>
          <p:nvPr/>
        </p:nvGrpSpPr>
        <p:grpSpPr>
          <a:xfrm rot="0">
            <a:off x="3521482" y="2400911"/>
            <a:ext cx="12028932" cy="4915636"/>
            <a:chOff x="0" y="0"/>
            <a:chExt cx="16038576" cy="6554182"/>
          </a:xfrm>
        </p:grpSpPr>
        <p:sp>
          <p:nvSpPr>
            <p:cNvPr name="TextBox 12" id="12"/>
            <p:cNvSpPr txBox="true"/>
            <p:nvPr/>
          </p:nvSpPr>
          <p:spPr>
            <a:xfrm rot="0">
              <a:off x="0" y="1786348"/>
              <a:ext cx="16038576" cy="4767834"/>
            </a:xfrm>
            <a:prstGeom prst="rect">
              <a:avLst/>
            </a:prstGeom>
          </p:spPr>
          <p:txBody>
            <a:bodyPr anchor="t" rtlCol="false" tIns="0" lIns="0" bIns="0" rIns="0">
              <a:spAutoFit/>
            </a:bodyPr>
            <a:lstStyle/>
            <a:p>
              <a:pPr algn="just" marL="764289" indent="-382145" lvl="1">
                <a:lnSpc>
                  <a:spcPts val="4779"/>
                </a:lnSpc>
                <a:buFont typeface="Arial"/>
                <a:buChar char="•"/>
              </a:pPr>
              <a:r>
                <a:rPr lang="en-US" sz="3540" spc="-35">
                  <a:solidFill>
                    <a:srgbClr val="000000"/>
                  </a:solidFill>
                  <a:latin typeface="Asap"/>
                  <a:ea typeface="Asap"/>
                  <a:cs typeface="Asap"/>
                  <a:sym typeface="Asap"/>
                </a:rPr>
                <a:t>Backend API</a:t>
              </a:r>
            </a:p>
            <a:p>
              <a:pPr algn="just" marL="764289" indent="-382145" lvl="1">
                <a:lnSpc>
                  <a:spcPts val="4779"/>
                </a:lnSpc>
                <a:buFont typeface="Arial"/>
                <a:buChar char="•"/>
              </a:pPr>
              <a:r>
                <a:rPr lang="en-US" sz="3540" spc="-35">
                  <a:solidFill>
                    <a:srgbClr val="000000"/>
                  </a:solidFill>
                  <a:latin typeface="Asap"/>
                  <a:ea typeface="Asap"/>
                  <a:cs typeface="Asap"/>
                  <a:sym typeface="Asap"/>
                </a:rPr>
                <a:t>Data processing</a:t>
              </a:r>
            </a:p>
            <a:p>
              <a:pPr algn="just" marL="764289" indent="-382145" lvl="1">
                <a:lnSpc>
                  <a:spcPts val="4779"/>
                </a:lnSpc>
                <a:buFont typeface="Arial"/>
                <a:buChar char="•"/>
              </a:pPr>
              <a:r>
                <a:rPr lang="en-US" sz="3540" spc="-35">
                  <a:solidFill>
                    <a:srgbClr val="000000"/>
                  </a:solidFill>
                  <a:latin typeface="Asap"/>
                  <a:ea typeface="Asap"/>
                  <a:cs typeface="Asap"/>
                  <a:sym typeface="Asap"/>
                </a:rPr>
                <a:t>AI systems</a:t>
              </a:r>
            </a:p>
            <a:p>
              <a:pPr algn="just" marL="764289" indent="-382145" lvl="1">
                <a:lnSpc>
                  <a:spcPts val="4779"/>
                </a:lnSpc>
                <a:buFont typeface="Arial"/>
                <a:buChar char="•"/>
              </a:pPr>
              <a:r>
                <a:rPr lang="en-US" sz="3540" spc="-35">
                  <a:solidFill>
                    <a:srgbClr val="000000"/>
                  </a:solidFill>
                  <a:latin typeface="Asap"/>
                  <a:ea typeface="Asap"/>
                  <a:cs typeface="Asap"/>
                  <a:sym typeface="Asap"/>
                </a:rPr>
                <a:t>Web performance</a:t>
              </a:r>
            </a:p>
            <a:p>
              <a:pPr algn="just">
                <a:lnSpc>
                  <a:spcPts val="4779"/>
                </a:lnSpc>
              </a:pPr>
              <a:r>
                <a:rPr lang="en-US" sz="3540" spc="-35">
                  <a:solidFill>
                    <a:srgbClr val="000000"/>
                  </a:solidFill>
                  <a:latin typeface="Asap"/>
                  <a:ea typeface="Asap"/>
                  <a:cs typeface="Asap"/>
                  <a:sym typeface="Asap"/>
                </a:rPr>
                <a:t>Giúp: nhanh hơ</a:t>
              </a:r>
              <a:r>
                <a:rPr lang="en-US" sz="3540" spc="-35">
                  <a:solidFill>
                    <a:srgbClr val="000000"/>
                  </a:solidFill>
                  <a:latin typeface="Asap"/>
                  <a:ea typeface="Asap"/>
                  <a:cs typeface="Asap"/>
                  <a:sym typeface="Asap"/>
                </a:rPr>
                <a:t>n</a:t>
              </a:r>
              <a:r>
                <a:rPr lang="en-US" sz="3540" spc="-35">
                  <a:solidFill>
                    <a:srgbClr val="000000"/>
                  </a:solidFill>
                  <a:latin typeface="Asap"/>
                  <a:ea typeface="Asap"/>
                  <a:cs typeface="Asap"/>
                  <a:sym typeface="Asap"/>
                </a:rPr>
                <a:t> + ít tốn RAM</a:t>
              </a:r>
            </a:p>
            <a:p>
              <a:pPr algn="just">
                <a:lnSpc>
                  <a:spcPts val="4779"/>
                </a:lnSpc>
              </a:pPr>
            </a:p>
          </p:txBody>
        </p:sp>
        <p:sp>
          <p:nvSpPr>
            <p:cNvPr name="TextBox 13" id="13"/>
            <p:cNvSpPr txBox="true"/>
            <p:nvPr/>
          </p:nvSpPr>
          <p:spPr>
            <a:xfrm rot="0">
              <a:off x="0" y="0"/>
              <a:ext cx="12467932" cy="1207078"/>
            </a:xfrm>
            <a:prstGeom prst="rect">
              <a:avLst/>
            </a:prstGeom>
          </p:spPr>
          <p:txBody>
            <a:bodyPr anchor="t" rtlCol="false" tIns="0" lIns="0" bIns="0" rIns="0">
              <a:spAutoFit/>
            </a:bodyPr>
            <a:lstStyle/>
            <a:p>
              <a:pPr algn="just">
                <a:lnSpc>
                  <a:spcPts val="7140"/>
                </a:lnSpc>
              </a:pPr>
              <a:r>
                <a:rPr lang="en-US" b="true" sz="5950">
                  <a:solidFill>
                    <a:srgbClr val="1D2B74"/>
                  </a:solidFill>
                  <a:latin typeface="Faustina Bold"/>
                  <a:ea typeface="Faustina Bold"/>
                  <a:cs typeface="Faustina Bold"/>
                  <a:sym typeface="Faustina Bold"/>
                </a:rPr>
                <a:t>ỨNG DỤNG</a:t>
              </a:r>
            </a:p>
          </p:txBody>
        </p:sp>
      </p:grpSp>
    </p:spTree>
  </p:cSld>
  <p:clrMapOvr>
    <a:masterClrMapping/>
  </p:clrMapOvr>
  <p:transition spd="slow">
    <p:push dir="d"/>
  </p:transition>
</p:sld>
</file>

<file path=ppt/slides/slide24.xml><?xml version="1.0" encoding="utf-8"?>
<p:sld xmlns:p="http://schemas.openxmlformats.org/presentationml/2006/main" xmlns:a="http://schemas.openxmlformats.org/drawingml/2006/main">
  <p:cSld>
    <p:bg>
      <p:bgPr>
        <a:solidFill>
          <a:srgbClr val="C8E3ED"/>
        </a:solidFill>
      </p:bgPr>
    </p:bg>
    <p:spTree>
      <p:nvGrpSpPr>
        <p:cNvPr id="1" name=""/>
        <p:cNvGrpSpPr/>
        <p:nvPr/>
      </p:nvGrpSpPr>
      <p:grpSpPr>
        <a:xfrm>
          <a:off x="0" y="0"/>
          <a:ext cx="0" cy="0"/>
          <a:chOff x="0" y="0"/>
          <a:chExt cx="0" cy="0"/>
        </a:xfrm>
      </p:grpSpPr>
      <p:grpSp>
        <p:nvGrpSpPr>
          <p:cNvPr name="Group 2" id="2"/>
          <p:cNvGrpSpPr/>
          <p:nvPr/>
        </p:nvGrpSpPr>
        <p:grpSpPr>
          <a:xfrm rot="0">
            <a:off x="774820" y="1028700"/>
            <a:ext cx="18537765" cy="8229600"/>
            <a:chOff x="0" y="0"/>
            <a:chExt cx="24717020" cy="10972800"/>
          </a:xfrm>
        </p:grpSpPr>
        <p:grpSp>
          <p:nvGrpSpPr>
            <p:cNvPr name="Group 3" id="3"/>
            <p:cNvGrpSpPr/>
            <p:nvPr/>
          </p:nvGrpSpPr>
          <p:grpSpPr>
            <a:xfrm rot="0">
              <a:off x="0" y="977717"/>
              <a:ext cx="23352980" cy="9995083"/>
              <a:chOff x="0" y="0"/>
              <a:chExt cx="22703567" cy="9717134"/>
            </a:xfrm>
          </p:grpSpPr>
          <p:sp>
            <p:nvSpPr>
              <p:cNvPr name="Freeform 4" id="4"/>
              <p:cNvSpPr/>
              <p:nvPr/>
            </p:nvSpPr>
            <p:spPr>
              <a:xfrm flipH="false" flipV="false" rot="0">
                <a:off x="-1" y="0"/>
                <a:ext cx="22703568" cy="9717134"/>
              </a:xfrm>
              <a:custGeom>
                <a:avLst/>
                <a:gdLst/>
                <a:ahLst/>
                <a:cxnLst/>
                <a:rect r="r" b="b" t="t" l="l"/>
                <a:pathLst>
                  <a:path h="9717134" w="22703568">
                    <a:moveTo>
                      <a:pt x="22204787" y="9700216"/>
                    </a:moveTo>
                    <a:cubicBezTo>
                      <a:pt x="22204787" y="9700216"/>
                      <a:pt x="21967792" y="9690246"/>
                      <a:pt x="21605653" y="9703690"/>
                    </a:cubicBezTo>
                    <a:cubicBezTo>
                      <a:pt x="21243514" y="9717134"/>
                      <a:pt x="490924" y="9717134"/>
                      <a:pt x="490924" y="9717134"/>
                    </a:cubicBezTo>
                    <a:cubicBezTo>
                      <a:pt x="245502" y="9717134"/>
                      <a:pt x="32509" y="9619866"/>
                      <a:pt x="31032" y="9459752"/>
                    </a:cubicBezTo>
                    <a:cubicBezTo>
                      <a:pt x="31032" y="9459752"/>
                      <a:pt x="0" y="6758194"/>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158239" y="0"/>
                      <a:pt x="22158239" y="0"/>
                    </a:cubicBezTo>
                    <a:cubicBezTo>
                      <a:pt x="22470140" y="0"/>
                      <a:pt x="22703569" y="101069"/>
                      <a:pt x="22695710" y="303616"/>
                    </a:cubicBezTo>
                    <a:cubicBezTo>
                      <a:pt x="22695710" y="303616"/>
                      <a:pt x="22693715" y="6210870"/>
                      <a:pt x="22702471" y="8760165"/>
                    </a:cubicBezTo>
                    <a:cubicBezTo>
                      <a:pt x="22711226" y="9053467"/>
                      <a:pt x="22664678" y="9386538"/>
                      <a:pt x="22664678" y="9386538"/>
                    </a:cubicBezTo>
                    <a:cubicBezTo>
                      <a:pt x="22661712" y="9566563"/>
                      <a:pt x="22450209" y="9700216"/>
                      <a:pt x="22204787" y="9700216"/>
                    </a:cubicBezTo>
                    <a:close/>
                  </a:path>
                </a:pathLst>
              </a:custGeom>
              <a:solidFill>
                <a:srgbClr val="8FB7C6"/>
              </a:solidFill>
            </p:spPr>
          </p:sp>
        </p:grpSp>
        <p:grpSp>
          <p:nvGrpSpPr>
            <p:cNvPr name="Group 5" id="5"/>
            <p:cNvGrpSpPr/>
            <p:nvPr/>
          </p:nvGrpSpPr>
          <p:grpSpPr>
            <a:xfrm rot="0">
              <a:off x="254961" y="1067537"/>
              <a:ext cx="22897610" cy="9778026"/>
              <a:chOff x="0" y="0"/>
              <a:chExt cx="22594507" cy="9648591"/>
            </a:xfrm>
          </p:grpSpPr>
          <p:sp>
            <p:nvSpPr>
              <p:cNvPr name="Freeform 6" id="6"/>
              <p:cNvSpPr/>
              <p:nvPr/>
            </p:nvSpPr>
            <p:spPr>
              <a:xfrm flipH="false" flipV="false" rot="0">
                <a:off x="-1" y="0"/>
                <a:ext cx="22594508" cy="9648591"/>
              </a:xfrm>
              <a:custGeom>
                <a:avLst/>
                <a:gdLst/>
                <a:ahLst/>
                <a:cxnLst/>
                <a:rect r="r" b="b" t="t" l="l"/>
                <a:pathLst>
                  <a:path h="9648591" w="22594508">
                    <a:moveTo>
                      <a:pt x="22095727" y="9631673"/>
                    </a:moveTo>
                    <a:cubicBezTo>
                      <a:pt x="22095727" y="9631673"/>
                      <a:pt x="21858730" y="9621703"/>
                      <a:pt x="21496593" y="9635147"/>
                    </a:cubicBezTo>
                    <a:cubicBezTo>
                      <a:pt x="21134454" y="9648591"/>
                      <a:pt x="490924" y="9648591"/>
                      <a:pt x="490924" y="9648591"/>
                    </a:cubicBezTo>
                    <a:cubicBezTo>
                      <a:pt x="245502" y="9648591"/>
                      <a:pt x="32509" y="9551323"/>
                      <a:pt x="31032" y="9391209"/>
                    </a:cubicBezTo>
                    <a:cubicBezTo>
                      <a:pt x="31032" y="9391209"/>
                      <a:pt x="0" y="6705102"/>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049179" y="0"/>
                      <a:pt x="22049179" y="0"/>
                    </a:cubicBezTo>
                    <a:cubicBezTo>
                      <a:pt x="22361080" y="0"/>
                      <a:pt x="22594507" y="101069"/>
                      <a:pt x="22586650" y="303616"/>
                    </a:cubicBezTo>
                    <a:cubicBezTo>
                      <a:pt x="22586650" y="303616"/>
                      <a:pt x="22584655" y="6162502"/>
                      <a:pt x="22593411" y="8691622"/>
                    </a:cubicBezTo>
                    <a:cubicBezTo>
                      <a:pt x="22602166" y="8984924"/>
                      <a:pt x="22555618" y="9317995"/>
                      <a:pt x="22555618" y="9317995"/>
                    </a:cubicBezTo>
                    <a:cubicBezTo>
                      <a:pt x="22552652" y="9498020"/>
                      <a:pt x="22341149" y="9631673"/>
                      <a:pt x="22095727" y="9631673"/>
                    </a:cubicBezTo>
                    <a:close/>
                  </a:path>
                </a:pathLst>
              </a:custGeom>
              <a:solidFill>
                <a:srgbClr val="8FB7C6"/>
              </a:solidFill>
            </p:spPr>
          </p:sp>
        </p:grpSp>
        <p:grpSp>
          <p:nvGrpSpPr>
            <p:cNvPr name="Group 7" id="7"/>
            <p:cNvGrpSpPr/>
            <p:nvPr/>
          </p:nvGrpSpPr>
          <p:grpSpPr>
            <a:xfrm rot="0">
              <a:off x="919721" y="0"/>
              <a:ext cx="22232850" cy="10328670"/>
              <a:chOff x="0" y="0"/>
              <a:chExt cx="23043639" cy="10705337"/>
            </a:xfrm>
          </p:grpSpPr>
          <p:sp>
            <p:nvSpPr>
              <p:cNvPr name="Freeform 8" id="8"/>
              <p:cNvSpPr/>
              <p:nvPr/>
            </p:nvSpPr>
            <p:spPr>
              <a:xfrm flipH="false" flipV="false" rot="0">
                <a:off x="-1" y="0"/>
                <a:ext cx="23043639" cy="10705337"/>
              </a:xfrm>
              <a:custGeom>
                <a:avLst/>
                <a:gdLst/>
                <a:ahLst/>
                <a:cxnLst/>
                <a:rect r="r" b="b" t="t" l="l"/>
                <a:pathLst>
                  <a:path h="10705337" w="23043639">
                    <a:moveTo>
                      <a:pt x="22544859" y="10688418"/>
                    </a:moveTo>
                    <a:cubicBezTo>
                      <a:pt x="22544859" y="10688418"/>
                      <a:pt x="22307863" y="10678449"/>
                      <a:pt x="21945723" y="10691893"/>
                    </a:cubicBezTo>
                    <a:cubicBezTo>
                      <a:pt x="21583586" y="10705337"/>
                      <a:pt x="490924" y="10705337"/>
                      <a:pt x="490924" y="10705337"/>
                    </a:cubicBezTo>
                    <a:cubicBezTo>
                      <a:pt x="245502" y="10705337"/>
                      <a:pt x="32509" y="10608069"/>
                      <a:pt x="31032" y="10447955"/>
                    </a:cubicBezTo>
                    <a:cubicBezTo>
                      <a:pt x="31032" y="10447955"/>
                      <a:pt x="0" y="7523653"/>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498310" y="0"/>
                      <a:pt x="22498310" y="0"/>
                    </a:cubicBezTo>
                    <a:cubicBezTo>
                      <a:pt x="22810212" y="0"/>
                      <a:pt x="23043639" y="101069"/>
                      <a:pt x="23035783" y="303616"/>
                    </a:cubicBezTo>
                    <a:cubicBezTo>
                      <a:pt x="23035783" y="303616"/>
                      <a:pt x="23033787" y="6908210"/>
                      <a:pt x="23042542" y="9748368"/>
                    </a:cubicBezTo>
                    <a:cubicBezTo>
                      <a:pt x="23051298" y="10041669"/>
                      <a:pt x="23004750" y="10374741"/>
                      <a:pt x="23004750" y="10374741"/>
                    </a:cubicBezTo>
                    <a:cubicBezTo>
                      <a:pt x="23001785" y="10554766"/>
                      <a:pt x="22790281" y="10688418"/>
                      <a:pt x="22544859" y="10688418"/>
                    </a:cubicBezTo>
                    <a:close/>
                  </a:path>
                </a:pathLst>
              </a:custGeom>
              <a:solidFill>
                <a:srgbClr val="F3FCFF"/>
              </a:solidFill>
            </p:spPr>
          </p:sp>
        </p:grpSp>
        <p:sp>
          <p:nvSpPr>
            <p:cNvPr name="AutoShape 9" id="9"/>
            <p:cNvSpPr/>
            <p:nvPr/>
          </p:nvSpPr>
          <p:spPr>
            <a:xfrm>
              <a:off x="2250246" y="9826016"/>
              <a:ext cx="22466735" cy="34286"/>
            </a:xfrm>
            <a:prstGeom prst="line">
              <a:avLst/>
            </a:prstGeom>
            <a:ln cap="rnd" w="50800">
              <a:solidFill>
                <a:srgbClr val="8FB7C6"/>
              </a:solidFill>
              <a:prstDash val="solid"/>
              <a:headEnd type="none" len="sm" w="sm"/>
              <a:tailEnd type="none" len="sm" w="sm"/>
            </a:ln>
          </p:spPr>
        </p:sp>
        <p:sp>
          <p:nvSpPr>
            <p:cNvPr name="AutoShape 10" id="10"/>
            <p:cNvSpPr/>
            <p:nvPr/>
          </p:nvSpPr>
          <p:spPr>
            <a:xfrm>
              <a:off x="2250246" y="717206"/>
              <a:ext cx="22466735" cy="34286"/>
            </a:xfrm>
            <a:prstGeom prst="line">
              <a:avLst/>
            </a:prstGeom>
            <a:ln cap="rnd" w="50800">
              <a:solidFill>
                <a:srgbClr val="8FB7C6"/>
              </a:solidFill>
              <a:prstDash val="solid"/>
              <a:headEnd type="none" len="sm" w="sm"/>
              <a:tailEnd type="none" len="sm" w="sm"/>
            </a:ln>
          </p:spPr>
        </p:sp>
      </p:grpSp>
      <p:grpSp>
        <p:nvGrpSpPr>
          <p:cNvPr name="Group 11" id="11"/>
          <p:cNvGrpSpPr/>
          <p:nvPr/>
        </p:nvGrpSpPr>
        <p:grpSpPr>
          <a:xfrm rot="0">
            <a:off x="1733905" y="1769621"/>
            <a:ext cx="18865850" cy="4084066"/>
            <a:chOff x="0" y="0"/>
            <a:chExt cx="25154466" cy="5445421"/>
          </a:xfrm>
        </p:grpSpPr>
        <p:sp>
          <p:nvSpPr>
            <p:cNvPr name="TextBox 12" id="12"/>
            <p:cNvSpPr txBox="true"/>
            <p:nvPr/>
          </p:nvSpPr>
          <p:spPr>
            <a:xfrm rot="0">
              <a:off x="0" y="1774455"/>
              <a:ext cx="21545932" cy="3670966"/>
            </a:xfrm>
            <a:prstGeom prst="rect">
              <a:avLst/>
            </a:prstGeom>
          </p:spPr>
          <p:txBody>
            <a:bodyPr anchor="t" rtlCol="false" tIns="0" lIns="0" bIns="0" rIns="0">
              <a:spAutoFit/>
            </a:bodyPr>
            <a:lstStyle/>
            <a:p>
              <a:pPr algn="l">
                <a:lnSpc>
                  <a:spcPts val="5533"/>
                </a:lnSpc>
              </a:pPr>
              <a:r>
                <a:rPr lang="en-US" sz="4098" spc="-40">
                  <a:solidFill>
                    <a:srgbClr val="000000"/>
                  </a:solidFill>
                  <a:latin typeface="Asap"/>
                  <a:ea typeface="Asap"/>
                  <a:cs typeface="Asap"/>
                  <a:sym typeface="Asap"/>
                </a:rPr>
                <a:t>def fibonacci_recursive(n):</a:t>
              </a:r>
            </a:p>
            <a:p>
              <a:pPr algn="l">
                <a:lnSpc>
                  <a:spcPts val="5533"/>
                </a:lnSpc>
              </a:pPr>
              <a:r>
                <a:rPr lang="en-US" sz="4098" spc="-40">
                  <a:solidFill>
                    <a:srgbClr val="000000"/>
                  </a:solidFill>
                  <a:latin typeface="Asap"/>
                  <a:ea typeface="Asap"/>
                  <a:cs typeface="Asap"/>
                  <a:sym typeface="Asap"/>
                </a:rPr>
                <a:t>    if n &lt;= 1:</a:t>
              </a:r>
            </a:p>
            <a:p>
              <a:pPr algn="l">
                <a:lnSpc>
                  <a:spcPts val="5533"/>
                </a:lnSpc>
              </a:pPr>
              <a:r>
                <a:rPr lang="en-US" sz="4098" spc="-40">
                  <a:solidFill>
                    <a:srgbClr val="000000"/>
                  </a:solidFill>
                  <a:latin typeface="Asap"/>
                  <a:ea typeface="Asap"/>
                  <a:cs typeface="Asap"/>
                  <a:sym typeface="Asap"/>
                </a:rPr>
                <a:t>     return n</a:t>
              </a:r>
            </a:p>
            <a:p>
              <a:pPr algn="just">
                <a:lnSpc>
                  <a:spcPts val="5533"/>
                </a:lnSpc>
              </a:pPr>
              <a:r>
                <a:rPr lang="en-US" sz="4098" spc="-40">
                  <a:solidFill>
                    <a:srgbClr val="000000"/>
                  </a:solidFill>
                  <a:latin typeface="Asap"/>
                  <a:ea typeface="Asap"/>
                  <a:cs typeface="Asap"/>
                  <a:sym typeface="Asap"/>
                </a:rPr>
                <a:t> return fibonacci_recursive(n-1)</a:t>
              </a:r>
              <a:r>
                <a:rPr lang="en-US" sz="4098" spc="-40">
                  <a:solidFill>
                    <a:srgbClr val="000000"/>
                  </a:solidFill>
                  <a:latin typeface="Asap"/>
                  <a:ea typeface="Asap"/>
                  <a:cs typeface="Asap"/>
                  <a:sym typeface="Asap"/>
                </a:rPr>
                <a:t> + fibonacci_recursive(n-2)</a:t>
              </a:r>
            </a:p>
          </p:txBody>
        </p:sp>
        <p:sp>
          <p:nvSpPr>
            <p:cNvPr name="TextBox 13" id="13"/>
            <p:cNvSpPr txBox="true"/>
            <p:nvPr/>
          </p:nvSpPr>
          <p:spPr>
            <a:xfrm rot="0">
              <a:off x="1946141" y="-9525"/>
              <a:ext cx="23208326" cy="1407130"/>
            </a:xfrm>
            <a:prstGeom prst="rect">
              <a:avLst/>
            </a:prstGeom>
          </p:spPr>
          <p:txBody>
            <a:bodyPr anchor="t" rtlCol="false" tIns="0" lIns="0" bIns="0" rIns="0">
              <a:spAutoFit/>
            </a:bodyPr>
            <a:lstStyle/>
            <a:p>
              <a:pPr algn="just">
                <a:lnSpc>
                  <a:spcPts val="8267"/>
                </a:lnSpc>
              </a:pPr>
              <a:r>
                <a:rPr lang="en-US" b="true" sz="6889">
                  <a:solidFill>
                    <a:srgbClr val="1D2B74"/>
                  </a:solidFill>
                  <a:latin typeface="Faustina Bold"/>
                  <a:ea typeface="Faustina Bold"/>
                  <a:cs typeface="Faustina Bold"/>
                  <a:sym typeface="Faustina Bold"/>
                </a:rPr>
                <a:t>VẤN ĐỀ: Recursive Fibonacci chậm</a:t>
              </a:r>
            </a:p>
          </p:txBody>
        </p:sp>
      </p:grpSp>
      <p:sp>
        <p:nvSpPr>
          <p:cNvPr name="TextBox 14" id="14"/>
          <p:cNvSpPr txBox="true"/>
          <p:nvPr/>
        </p:nvSpPr>
        <p:spPr>
          <a:xfrm rot="0">
            <a:off x="2656124" y="5796537"/>
            <a:ext cx="8510707" cy="2390013"/>
          </a:xfrm>
          <a:prstGeom prst="rect">
            <a:avLst/>
          </a:prstGeom>
        </p:spPr>
        <p:txBody>
          <a:bodyPr anchor="t" rtlCol="false" tIns="0" lIns="0" bIns="0" rIns="0">
            <a:spAutoFit/>
          </a:bodyPr>
          <a:lstStyle/>
          <a:p>
            <a:pPr algn="l">
              <a:lnSpc>
                <a:spcPts val="4779"/>
              </a:lnSpc>
              <a:spcBef>
                <a:spcPct val="0"/>
              </a:spcBef>
            </a:pPr>
            <a:r>
              <a:rPr lang="en-US" sz="3540" spc="-35">
                <a:solidFill>
                  <a:srgbClr val="000000"/>
                </a:solidFill>
                <a:latin typeface="Asap"/>
                <a:ea typeface="Asap"/>
                <a:cs typeface="Asap"/>
                <a:sym typeface="Asap"/>
              </a:rPr>
              <a:t>Độ phức tạp: O(2ⁿ)</a:t>
            </a:r>
          </a:p>
          <a:p>
            <a:pPr algn="l">
              <a:lnSpc>
                <a:spcPts val="4779"/>
              </a:lnSpc>
              <a:spcBef>
                <a:spcPct val="0"/>
              </a:spcBef>
            </a:pPr>
            <a:r>
              <a:rPr lang="en-US" sz="3540" spc="-35">
                <a:solidFill>
                  <a:srgbClr val="000000"/>
                </a:solidFill>
                <a:latin typeface="Asap"/>
                <a:ea typeface="Asap"/>
                <a:cs typeface="Asap"/>
                <a:sym typeface="Asap"/>
              </a:rPr>
              <a:t>fib(40): ~25s</a:t>
            </a:r>
          </a:p>
          <a:p>
            <a:pPr algn="l">
              <a:lnSpc>
                <a:spcPts val="4779"/>
              </a:lnSpc>
              <a:spcBef>
                <a:spcPct val="0"/>
              </a:spcBef>
            </a:pPr>
            <a:r>
              <a:rPr lang="en-US" sz="3540" spc="-35">
                <a:solidFill>
                  <a:srgbClr val="000000"/>
                </a:solidFill>
                <a:latin typeface="Asap"/>
                <a:ea typeface="Asap"/>
                <a:cs typeface="Asap"/>
                <a:sym typeface="Asap"/>
              </a:rPr>
              <a:t>fib(42): &gt;100s </a:t>
            </a:r>
          </a:p>
          <a:p>
            <a:pPr algn="l">
              <a:lnSpc>
                <a:spcPts val="4779"/>
              </a:lnSpc>
              <a:spcBef>
                <a:spcPct val="0"/>
              </a:spcBef>
            </a:pPr>
            <a:r>
              <a:rPr lang="en-US" sz="3540" spc="-35">
                <a:solidFill>
                  <a:srgbClr val="000000"/>
                </a:solidFill>
                <a:latin typeface="Asap"/>
                <a:ea typeface="Asap"/>
                <a:cs typeface="Asap"/>
                <a:sym typeface="Asap"/>
              </a:rPr>
              <a:t> Nguyên nhân: tính toán lặp lại rất nhiều lần</a:t>
            </a:r>
          </a:p>
        </p:txBody>
      </p:sp>
    </p:spTree>
  </p:cSld>
  <p:clrMapOvr>
    <a:masterClrMapping/>
  </p:clrMapOvr>
  <p:transition spd="slow">
    <p:push dir="d"/>
  </p:transition>
</p:sld>
</file>

<file path=ppt/slides/slide25.xml><?xml version="1.0" encoding="utf-8"?>
<p:sld xmlns:p="http://schemas.openxmlformats.org/presentationml/2006/main" xmlns:a="http://schemas.openxmlformats.org/drawingml/2006/main">
  <p:cSld>
    <p:bg>
      <p:bgPr>
        <a:solidFill>
          <a:srgbClr val="C8E3ED"/>
        </a:solidFill>
      </p:bgPr>
    </p:bg>
    <p:spTree>
      <p:nvGrpSpPr>
        <p:cNvPr id="1" name=""/>
        <p:cNvGrpSpPr/>
        <p:nvPr/>
      </p:nvGrpSpPr>
      <p:grpSpPr>
        <a:xfrm>
          <a:off x="0" y="0"/>
          <a:ext cx="0" cy="0"/>
          <a:chOff x="0" y="0"/>
          <a:chExt cx="0" cy="0"/>
        </a:xfrm>
      </p:grpSpPr>
      <p:grpSp>
        <p:nvGrpSpPr>
          <p:cNvPr name="Group 2" id="2"/>
          <p:cNvGrpSpPr/>
          <p:nvPr/>
        </p:nvGrpSpPr>
        <p:grpSpPr>
          <a:xfrm rot="0">
            <a:off x="774820" y="1028700"/>
            <a:ext cx="18537765" cy="8229600"/>
            <a:chOff x="0" y="0"/>
            <a:chExt cx="24717020" cy="10972800"/>
          </a:xfrm>
        </p:grpSpPr>
        <p:grpSp>
          <p:nvGrpSpPr>
            <p:cNvPr name="Group 3" id="3"/>
            <p:cNvGrpSpPr/>
            <p:nvPr/>
          </p:nvGrpSpPr>
          <p:grpSpPr>
            <a:xfrm rot="0">
              <a:off x="0" y="977717"/>
              <a:ext cx="23352980" cy="9995083"/>
              <a:chOff x="0" y="0"/>
              <a:chExt cx="22703567" cy="9717134"/>
            </a:xfrm>
          </p:grpSpPr>
          <p:sp>
            <p:nvSpPr>
              <p:cNvPr name="Freeform 4" id="4"/>
              <p:cNvSpPr/>
              <p:nvPr/>
            </p:nvSpPr>
            <p:spPr>
              <a:xfrm flipH="false" flipV="false" rot="0">
                <a:off x="-1" y="0"/>
                <a:ext cx="22703568" cy="9717134"/>
              </a:xfrm>
              <a:custGeom>
                <a:avLst/>
                <a:gdLst/>
                <a:ahLst/>
                <a:cxnLst/>
                <a:rect r="r" b="b" t="t" l="l"/>
                <a:pathLst>
                  <a:path h="9717134" w="22703568">
                    <a:moveTo>
                      <a:pt x="22204787" y="9700216"/>
                    </a:moveTo>
                    <a:cubicBezTo>
                      <a:pt x="22204787" y="9700216"/>
                      <a:pt x="21967792" y="9690246"/>
                      <a:pt x="21605653" y="9703690"/>
                    </a:cubicBezTo>
                    <a:cubicBezTo>
                      <a:pt x="21243514" y="9717134"/>
                      <a:pt x="490924" y="9717134"/>
                      <a:pt x="490924" y="9717134"/>
                    </a:cubicBezTo>
                    <a:cubicBezTo>
                      <a:pt x="245502" y="9717134"/>
                      <a:pt x="32509" y="9619866"/>
                      <a:pt x="31032" y="9459752"/>
                    </a:cubicBezTo>
                    <a:cubicBezTo>
                      <a:pt x="31032" y="9459752"/>
                      <a:pt x="0" y="6758194"/>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158239" y="0"/>
                      <a:pt x="22158239" y="0"/>
                    </a:cubicBezTo>
                    <a:cubicBezTo>
                      <a:pt x="22470140" y="0"/>
                      <a:pt x="22703569" y="101069"/>
                      <a:pt x="22695710" y="303616"/>
                    </a:cubicBezTo>
                    <a:cubicBezTo>
                      <a:pt x="22695710" y="303616"/>
                      <a:pt x="22693715" y="6210870"/>
                      <a:pt x="22702471" y="8760165"/>
                    </a:cubicBezTo>
                    <a:cubicBezTo>
                      <a:pt x="22711226" y="9053467"/>
                      <a:pt x="22664678" y="9386538"/>
                      <a:pt x="22664678" y="9386538"/>
                    </a:cubicBezTo>
                    <a:cubicBezTo>
                      <a:pt x="22661712" y="9566563"/>
                      <a:pt x="22450209" y="9700216"/>
                      <a:pt x="22204787" y="9700216"/>
                    </a:cubicBezTo>
                    <a:close/>
                  </a:path>
                </a:pathLst>
              </a:custGeom>
              <a:solidFill>
                <a:srgbClr val="8FB7C6"/>
              </a:solidFill>
            </p:spPr>
          </p:sp>
        </p:grpSp>
        <p:grpSp>
          <p:nvGrpSpPr>
            <p:cNvPr name="Group 5" id="5"/>
            <p:cNvGrpSpPr/>
            <p:nvPr/>
          </p:nvGrpSpPr>
          <p:grpSpPr>
            <a:xfrm rot="0">
              <a:off x="254961" y="1067537"/>
              <a:ext cx="22897610" cy="9778026"/>
              <a:chOff x="0" y="0"/>
              <a:chExt cx="22594507" cy="9648591"/>
            </a:xfrm>
          </p:grpSpPr>
          <p:sp>
            <p:nvSpPr>
              <p:cNvPr name="Freeform 6" id="6"/>
              <p:cNvSpPr/>
              <p:nvPr/>
            </p:nvSpPr>
            <p:spPr>
              <a:xfrm flipH="false" flipV="false" rot="0">
                <a:off x="-1" y="0"/>
                <a:ext cx="22594508" cy="9648591"/>
              </a:xfrm>
              <a:custGeom>
                <a:avLst/>
                <a:gdLst/>
                <a:ahLst/>
                <a:cxnLst/>
                <a:rect r="r" b="b" t="t" l="l"/>
                <a:pathLst>
                  <a:path h="9648591" w="22594508">
                    <a:moveTo>
                      <a:pt x="22095727" y="9631673"/>
                    </a:moveTo>
                    <a:cubicBezTo>
                      <a:pt x="22095727" y="9631673"/>
                      <a:pt x="21858730" y="9621703"/>
                      <a:pt x="21496593" y="9635147"/>
                    </a:cubicBezTo>
                    <a:cubicBezTo>
                      <a:pt x="21134454" y="9648591"/>
                      <a:pt x="490924" y="9648591"/>
                      <a:pt x="490924" y="9648591"/>
                    </a:cubicBezTo>
                    <a:cubicBezTo>
                      <a:pt x="245502" y="9648591"/>
                      <a:pt x="32509" y="9551323"/>
                      <a:pt x="31032" y="9391209"/>
                    </a:cubicBezTo>
                    <a:cubicBezTo>
                      <a:pt x="31032" y="9391209"/>
                      <a:pt x="0" y="6705102"/>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049179" y="0"/>
                      <a:pt x="22049179" y="0"/>
                    </a:cubicBezTo>
                    <a:cubicBezTo>
                      <a:pt x="22361080" y="0"/>
                      <a:pt x="22594507" y="101069"/>
                      <a:pt x="22586650" y="303616"/>
                    </a:cubicBezTo>
                    <a:cubicBezTo>
                      <a:pt x="22586650" y="303616"/>
                      <a:pt x="22584655" y="6162502"/>
                      <a:pt x="22593411" y="8691622"/>
                    </a:cubicBezTo>
                    <a:cubicBezTo>
                      <a:pt x="22602166" y="8984924"/>
                      <a:pt x="22555618" y="9317995"/>
                      <a:pt x="22555618" y="9317995"/>
                    </a:cubicBezTo>
                    <a:cubicBezTo>
                      <a:pt x="22552652" y="9498020"/>
                      <a:pt x="22341149" y="9631673"/>
                      <a:pt x="22095727" y="9631673"/>
                    </a:cubicBezTo>
                    <a:close/>
                  </a:path>
                </a:pathLst>
              </a:custGeom>
              <a:solidFill>
                <a:srgbClr val="8FB7C6"/>
              </a:solidFill>
            </p:spPr>
          </p:sp>
        </p:grpSp>
        <p:grpSp>
          <p:nvGrpSpPr>
            <p:cNvPr name="Group 7" id="7"/>
            <p:cNvGrpSpPr/>
            <p:nvPr/>
          </p:nvGrpSpPr>
          <p:grpSpPr>
            <a:xfrm rot="0">
              <a:off x="919721" y="0"/>
              <a:ext cx="22232850" cy="10328670"/>
              <a:chOff x="0" y="0"/>
              <a:chExt cx="23043639" cy="10705337"/>
            </a:xfrm>
          </p:grpSpPr>
          <p:sp>
            <p:nvSpPr>
              <p:cNvPr name="Freeform 8" id="8"/>
              <p:cNvSpPr/>
              <p:nvPr/>
            </p:nvSpPr>
            <p:spPr>
              <a:xfrm flipH="false" flipV="false" rot="0">
                <a:off x="-1" y="0"/>
                <a:ext cx="23043639" cy="10705337"/>
              </a:xfrm>
              <a:custGeom>
                <a:avLst/>
                <a:gdLst/>
                <a:ahLst/>
                <a:cxnLst/>
                <a:rect r="r" b="b" t="t" l="l"/>
                <a:pathLst>
                  <a:path h="10705337" w="23043639">
                    <a:moveTo>
                      <a:pt x="22544859" y="10688418"/>
                    </a:moveTo>
                    <a:cubicBezTo>
                      <a:pt x="22544859" y="10688418"/>
                      <a:pt x="22307863" y="10678449"/>
                      <a:pt x="21945723" y="10691893"/>
                    </a:cubicBezTo>
                    <a:cubicBezTo>
                      <a:pt x="21583586" y="10705337"/>
                      <a:pt x="490924" y="10705337"/>
                      <a:pt x="490924" y="10705337"/>
                    </a:cubicBezTo>
                    <a:cubicBezTo>
                      <a:pt x="245502" y="10705337"/>
                      <a:pt x="32509" y="10608069"/>
                      <a:pt x="31032" y="10447955"/>
                    </a:cubicBezTo>
                    <a:cubicBezTo>
                      <a:pt x="31032" y="10447955"/>
                      <a:pt x="0" y="7523653"/>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498310" y="0"/>
                      <a:pt x="22498310" y="0"/>
                    </a:cubicBezTo>
                    <a:cubicBezTo>
                      <a:pt x="22810212" y="0"/>
                      <a:pt x="23043639" y="101069"/>
                      <a:pt x="23035783" y="303616"/>
                    </a:cubicBezTo>
                    <a:cubicBezTo>
                      <a:pt x="23035783" y="303616"/>
                      <a:pt x="23033787" y="6908210"/>
                      <a:pt x="23042542" y="9748368"/>
                    </a:cubicBezTo>
                    <a:cubicBezTo>
                      <a:pt x="23051298" y="10041669"/>
                      <a:pt x="23004750" y="10374741"/>
                      <a:pt x="23004750" y="10374741"/>
                    </a:cubicBezTo>
                    <a:cubicBezTo>
                      <a:pt x="23001785" y="10554766"/>
                      <a:pt x="22790281" y="10688418"/>
                      <a:pt x="22544859" y="10688418"/>
                    </a:cubicBezTo>
                    <a:close/>
                  </a:path>
                </a:pathLst>
              </a:custGeom>
              <a:solidFill>
                <a:srgbClr val="F3FCFF"/>
              </a:solidFill>
            </p:spPr>
          </p:sp>
        </p:grpSp>
        <p:sp>
          <p:nvSpPr>
            <p:cNvPr name="AutoShape 9" id="9"/>
            <p:cNvSpPr/>
            <p:nvPr/>
          </p:nvSpPr>
          <p:spPr>
            <a:xfrm>
              <a:off x="2250246" y="9826016"/>
              <a:ext cx="22466735" cy="34286"/>
            </a:xfrm>
            <a:prstGeom prst="line">
              <a:avLst/>
            </a:prstGeom>
            <a:ln cap="rnd" w="50800">
              <a:solidFill>
                <a:srgbClr val="8FB7C6"/>
              </a:solidFill>
              <a:prstDash val="solid"/>
              <a:headEnd type="none" len="sm" w="sm"/>
              <a:tailEnd type="none" len="sm" w="sm"/>
            </a:ln>
          </p:spPr>
        </p:sp>
        <p:sp>
          <p:nvSpPr>
            <p:cNvPr name="AutoShape 10" id="10"/>
            <p:cNvSpPr/>
            <p:nvPr/>
          </p:nvSpPr>
          <p:spPr>
            <a:xfrm>
              <a:off x="2250246" y="717206"/>
              <a:ext cx="22466735" cy="34286"/>
            </a:xfrm>
            <a:prstGeom prst="line">
              <a:avLst/>
            </a:prstGeom>
            <a:ln cap="rnd" w="50800">
              <a:solidFill>
                <a:srgbClr val="8FB7C6"/>
              </a:solidFill>
              <a:prstDash val="solid"/>
              <a:headEnd type="none" len="sm" w="sm"/>
              <a:tailEnd type="none" len="sm" w="sm"/>
            </a:ln>
          </p:spPr>
        </p:sp>
      </p:grpSp>
      <p:grpSp>
        <p:nvGrpSpPr>
          <p:cNvPr name="Group 11" id="11"/>
          <p:cNvGrpSpPr/>
          <p:nvPr/>
        </p:nvGrpSpPr>
        <p:grpSpPr>
          <a:xfrm rot="0">
            <a:off x="1733905" y="1701994"/>
            <a:ext cx="18865850" cy="4219320"/>
            <a:chOff x="0" y="0"/>
            <a:chExt cx="25154466" cy="5625760"/>
          </a:xfrm>
        </p:grpSpPr>
        <p:sp>
          <p:nvSpPr>
            <p:cNvPr name="TextBox 12" id="12"/>
            <p:cNvSpPr txBox="true"/>
            <p:nvPr/>
          </p:nvSpPr>
          <p:spPr>
            <a:xfrm rot="0">
              <a:off x="0" y="1803030"/>
              <a:ext cx="21545932" cy="3822730"/>
            </a:xfrm>
            <a:prstGeom prst="rect">
              <a:avLst/>
            </a:prstGeom>
          </p:spPr>
          <p:txBody>
            <a:bodyPr anchor="t" rtlCol="false" tIns="0" lIns="0" bIns="0" rIns="0">
              <a:spAutoFit/>
            </a:bodyPr>
            <a:lstStyle/>
            <a:p>
              <a:pPr algn="l">
                <a:lnSpc>
                  <a:spcPts val="3373"/>
                </a:lnSpc>
              </a:pPr>
              <a:r>
                <a:rPr lang="en-US" sz="2498" spc="-24">
                  <a:solidFill>
                    <a:srgbClr val="000000"/>
                  </a:solidFill>
                  <a:latin typeface="Asap"/>
                  <a:ea typeface="Asap"/>
                  <a:cs typeface="Asap"/>
                  <a:sym typeface="Asap"/>
                </a:rPr>
                <a:t>def fibonacci_iterative(n):</a:t>
              </a:r>
            </a:p>
            <a:p>
              <a:pPr algn="l">
                <a:lnSpc>
                  <a:spcPts val="2968"/>
                </a:lnSpc>
              </a:pPr>
              <a:r>
                <a:rPr lang="en-US" sz="2198" spc="-21">
                  <a:solidFill>
                    <a:srgbClr val="000000"/>
                  </a:solidFill>
                  <a:latin typeface="Asap"/>
                  <a:ea typeface="Asap"/>
                  <a:cs typeface="Asap"/>
                  <a:sym typeface="Asap"/>
                </a:rPr>
                <a:t>    if n &lt;= 1:</a:t>
              </a:r>
            </a:p>
            <a:p>
              <a:pPr algn="l">
                <a:lnSpc>
                  <a:spcPts val="3373"/>
                </a:lnSpc>
              </a:pPr>
              <a:r>
                <a:rPr lang="en-US" sz="2498" spc="-24">
                  <a:solidFill>
                    <a:srgbClr val="000000"/>
                  </a:solidFill>
                  <a:latin typeface="Asap"/>
                  <a:ea typeface="Asap"/>
                  <a:cs typeface="Asap"/>
                  <a:sym typeface="Asap"/>
                </a:rPr>
                <a:t>        return n</a:t>
              </a:r>
            </a:p>
            <a:p>
              <a:pPr algn="l">
                <a:lnSpc>
                  <a:spcPts val="3373"/>
                </a:lnSpc>
              </a:pPr>
              <a:r>
                <a:rPr lang="en-US" sz="2498" spc="-24">
                  <a:solidFill>
                    <a:srgbClr val="000000"/>
                  </a:solidFill>
                  <a:latin typeface="Asap"/>
                  <a:ea typeface="Asap"/>
                  <a:cs typeface="Asap"/>
                  <a:sym typeface="Asap"/>
                </a:rPr>
                <a:t>    prev, curr = 0, 1</a:t>
              </a:r>
            </a:p>
            <a:p>
              <a:pPr algn="l">
                <a:lnSpc>
                  <a:spcPts val="3373"/>
                </a:lnSpc>
              </a:pPr>
              <a:r>
                <a:rPr lang="en-US" sz="2498" spc="-24">
                  <a:solidFill>
                    <a:srgbClr val="000000"/>
                  </a:solidFill>
                  <a:latin typeface="Asap"/>
                  <a:ea typeface="Asap"/>
                  <a:cs typeface="Asap"/>
                  <a:sym typeface="Asap"/>
                </a:rPr>
                <a:t>    for _ in range(2, n + 1):</a:t>
              </a:r>
            </a:p>
            <a:p>
              <a:pPr algn="l">
                <a:lnSpc>
                  <a:spcPts val="3373"/>
                </a:lnSpc>
              </a:pPr>
              <a:r>
                <a:rPr lang="en-US" sz="2498" spc="-24">
                  <a:solidFill>
                    <a:srgbClr val="000000"/>
                  </a:solidFill>
                  <a:latin typeface="Asap"/>
                  <a:ea typeface="Asap"/>
                  <a:cs typeface="Asap"/>
                  <a:sym typeface="Asap"/>
                </a:rPr>
                <a:t>        prev, curr = curr, prev + curr</a:t>
              </a:r>
            </a:p>
            <a:p>
              <a:pPr algn="just">
                <a:lnSpc>
                  <a:spcPts val="3373"/>
                </a:lnSpc>
              </a:pPr>
              <a:r>
                <a:rPr lang="en-US" sz="2498" spc="-24">
                  <a:solidFill>
                    <a:srgbClr val="000000"/>
                  </a:solidFill>
                  <a:latin typeface="Asap"/>
                  <a:ea typeface="Asap"/>
                  <a:cs typeface="Asap"/>
                  <a:sym typeface="Asap"/>
                </a:rPr>
                <a:t>    return curr</a:t>
              </a:r>
            </a:p>
          </p:txBody>
        </p:sp>
        <p:sp>
          <p:nvSpPr>
            <p:cNvPr name="TextBox 13" id="13"/>
            <p:cNvSpPr txBox="true"/>
            <p:nvPr/>
          </p:nvSpPr>
          <p:spPr>
            <a:xfrm rot="0">
              <a:off x="1946141" y="-9525"/>
              <a:ext cx="23208326" cy="1407130"/>
            </a:xfrm>
            <a:prstGeom prst="rect">
              <a:avLst/>
            </a:prstGeom>
          </p:spPr>
          <p:txBody>
            <a:bodyPr anchor="t" rtlCol="false" tIns="0" lIns="0" bIns="0" rIns="0">
              <a:spAutoFit/>
            </a:bodyPr>
            <a:lstStyle/>
            <a:p>
              <a:pPr algn="just">
                <a:lnSpc>
                  <a:spcPts val="8267"/>
                </a:lnSpc>
              </a:pPr>
              <a:r>
                <a:rPr lang="en-US" b="true" sz="6889">
                  <a:solidFill>
                    <a:srgbClr val="1D2B74"/>
                  </a:solidFill>
                  <a:latin typeface="Faustina Bold"/>
                  <a:ea typeface="Faustina Bold"/>
                  <a:cs typeface="Faustina Bold"/>
                  <a:sym typeface="Faustina Bold"/>
                </a:rPr>
                <a:t>GIẢI PHÁP: Iterative (vòng lặp)</a:t>
              </a:r>
            </a:p>
          </p:txBody>
        </p:sp>
      </p:grpSp>
      <p:sp>
        <p:nvSpPr>
          <p:cNvPr name="TextBox 14" id="14"/>
          <p:cNvSpPr txBox="true"/>
          <p:nvPr/>
        </p:nvSpPr>
        <p:spPr>
          <a:xfrm rot="0">
            <a:off x="2484405" y="6219209"/>
            <a:ext cx="4608552" cy="2186178"/>
          </a:xfrm>
          <a:prstGeom prst="rect">
            <a:avLst/>
          </a:prstGeom>
        </p:spPr>
        <p:txBody>
          <a:bodyPr anchor="t" rtlCol="false" tIns="0" lIns="0" bIns="0" rIns="0">
            <a:spAutoFit/>
          </a:bodyPr>
          <a:lstStyle/>
          <a:p>
            <a:pPr algn="l" marL="699521" indent="-349760" lvl="1">
              <a:lnSpc>
                <a:spcPts val="4374"/>
              </a:lnSpc>
              <a:spcBef>
                <a:spcPct val="0"/>
              </a:spcBef>
              <a:buFont typeface="Arial"/>
              <a:buChar char="•"/>
            </a:pPr>
            <a:r>
              <a:rPr lang="en-US" sz="3240" spc="-32">
                <a:solidFill>
                  <a:srgbClr val="000000"/>
                </a:solidFill>
                <a:latin typeface="Asap"/>
                <a:ea typeface="Asap"/>
                <a:cs typeface="Asap"/>
                <a:sym typeface="Asap"/>
              </a:rPr>
              <a:t>Độ phức tạp: O(n)</a:t>
            </a:r>
          </a:p>
          <a:p>
            <a:pPr algn="l" marL="699521" indent="-349760" lvl="1">
              <a:lnSpc>
                <a:spcPts val="4374"/>
              </a:lnSpc>
              <a:spcBef>
                <a:spcPct val="0"/>
              </a:spcBef>
              <a:buFont typeface="Arial"/>
              <a:buChar char="•"/>
            </a:pPr>
            <a:r>
              <a:rPr lang="en-US" sz="3240" spc="-32">
                <a:solidFill>
                  <a:srgbClr val="000000"/>
                </a:solidFill>
                <a:latin typeface="Asap"/>
                <a:ea typeface="Asap"/>
                <a:cs typeface="Asap"/>
                <a:sym typeface="Asap"/>
              </a:rPr>
              <a:t>fib(40): ~0.00001s </a:t>
            </a:r>
          </a:p>
          <a:p>
            <a:pPr algn="l">
              <a:lnSpc>
                <a:spcPts val="4239"/>
              </a:lnSpc>
              <a:spcBef>
                <a:spcPct val="0"/>
              </a:spcBef>
            </a:pPr>
            <a:r>
              <a:rPr lang="en-US" sz="3140" spc="-31">
                <a:solidFill>
                  <a:srgbClr val="000000"/>
                </a:solidFill>
                <a:latin typeface="Asap"/>
                <a:ea typeface="Asap"/>
                <a:cs typeface="Asap"/>
                <a:sym typeface="Asap"/>
              </a:rPr>
              <a:t> </a:t>
            </a:r>
            <a:r>
              <a:rPr lang="en-US" sz="3140" spc="-31">
                <a:solidFill>
                  <a:srgbClr val="000000"/>
                </a:solidFill>
                <a:latin typeface="Asap"/>
                <a:ea typeface="Asap"/>
                <a:cs typeface="Asap"/>
                <a:sym typeface="Asap"/>
              </a:rPr>
              <a:t>Nhanh hơn hàng triệu lần!</a:t>
            </a:r>
          </a:p>
          <a:p>
            <a:pPr algn="l">
              <a:lnSpc>
                <a:spcPts val="4374"/>
              </a:lnSpc>
              <a:spcBef>
                <a:spcPct val="0"/>
              </a:spcBef>
            </a:pPr>
          </a:p>
        </p:txBody>
      </p:sp>
    </p:spTree>
  </p:cSld>
  <p:clrMapOvr>
    <a:masterClrMapping/>
  </p:clrMapOvr>
  <p:transition spd="slow">
    <p:push dir="d"/>
  </p:transition>
</p:sld>
</file>

<file path=ppt/slides/slide26.xml><?xml version="1.0" encoding="utf-8"?>
<p:sld xmlns:p="http://schemas.openxmlformats.org/presentationml/2006/main" xmlns:a="http://schemas.openxmlformats.org/drawingml/2006/main">
  <p:cSld>
    <p:bg>
      <p:bgPr>
        <a:solidFill>
          <a:srgbClr val="C8E3ED"/>
        </a:solidFill>
      </p:bgPr>
    </p:bg>
    <p:spTree>
      <p:nvGrpSpPr>
        <p:cNvPr id="1" name=""/>
        <p:cNvGrpSpPr/>
        <p:nvPr/>
      </p:nvGrpSpPr>
      <p:grpSpPr>
        <a:xfrm>
          <a:off x="0" y="0"/>
          <a:ext cx="0" cy="0"/>
          <a:chOff x="0" y="0"/>
          <a:chExt cx="0" cy="0"/>
        </a:xfrm>
      </p:grpSpPr>
      <p:grpSp>
        <p:nvGrpSpPr>
          <p:cNvPr name="Group 2" id="2"/>
          <p:cNvGrpSpPr/>
          <p:nvPr/>
        </p:nvGrpSpPr>
        <p:grpSpPr>
          <a:xfrm rot="0">
            <a:off x="774820" y="1028700"/>
            <a:ext cx="18537765" cy="8229600"/>
            <a:chOff x="0" y="0"/>
            <a:chExt cx="24717020" cy="10972800"/>
          </a:xfrm>
        </p:grpSpPr>
        <p:grpSp>
          <p:nvGrpSpPr>
            <p:cNvPr name="Group 3" id="3"/>
            <p:cNvGrpSpPr/>
            <p:nvPr/>
          </p:nvGrpSpPr>
          <p:grpSpPr>
            <a:xfrm rot="0">
              <a:off x="0" y="977717"/>
              <a:ext cx="23352980" cy="9995083"/>
              <a:chOff x="0" y="0"/>
              <a:chExt cx="22703567" cy="9717134"/>
            </a:xfrm>
          </p:grpSpPr>
          <p:sp>
            <p:nvSpPr>
              <p:cNvPr name="Freeform 4" id="4"/>
              <p:cNvSpPr/>
              <p:nvPr/>
            </p:nvSpPr>
            <p:spPr>
              <a:xfrm flipH="false" flipV="false" rot="0">
                <a:off x="-1" y="0"/>
                <a:ext cx="22703568" cy="9717134"/>
              </a:xfrm>
              <a:custGeom>
                <a:avLst/>
                <a:gdLst/>
                <a:ahLst/>
                <a:cxnLst/>
                <a:rect r="r" b="b" t="t" l="l"/>
                <a:pathLst>
                  <a:path h="9717134" w="22703568">
                    <a:moveTo>
                      <a:pt x="22204787" y="9700216"/>
                    </a:moveTo>
                    <a:cubicBezTo>
                      <a:pt x="22204787" y="9700216"/>
                      <a:pt x="21967792" y="9690246"/>
                      <a:pt x="21605653" y="9703690"/>
                    </a:cubicBezTo>
                    <a:cubicBezTo>
                      <a:pt x="21243514" y="9717134"/>
                      <a:pt x="490924" y="9717134"/>
                      <a:pt x="490924" y="9717134"/>
                    </a:cubicBezTo>
                    <a:cubicBezTo>
                      <a:pt x="245502" y="9717134"/>
                      <a:pt x="32509" y="9619866"/>
                      <a:pt x="31032" y="9459752"/>
                    </a:cubicBezTo>
                    <a:cubicBezTo>
                      <a:pt x="31032" y="9459752"/>
                      <a:pt x="0" y="6758194"/>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158239" y="0"/>
                      <a:pt x="22158239" y="0"/>
                    </a:cubicBezTo>
                    <a:cubicBezTo>
                      <a:pt x="22470140" y="0"/>
                      <a:pt x="22703569" y="101069"/>
                      <a:pt x="22695710" y="303616"/>
                    </a:cubicBezTo>
                    <a:cubicBezTo>
                      <a:pt x="22695710" y="303616"/>
                      <a:pt x="22693715" y="6210870"/>
                      <a:pt x="22702471" y="8760165"/>
                    </a:cubicBezTo>
                    <a:cubicBezTo>
                      <a:pt x="22711226" y="9053467"/>
                      <a:pt x="22664678" y="9386538"/>
                      <a:pt x="22664678" y="9386538"/>
                    </a:cubicBezTo>
                    <a:cubicBezTo>
                      <a:pt x="22661712" y="9566563"/>
                      <a:pt x="22450209" y="9700216"/>
                      <a:pt x="22204787" y="9700216"/>
                    </a:cubicBezTo>
                    <a:close/>
                  </a:path>
                </a:pathLst>
              </a:custGeom>
              <a:solidFill>
                <a:srgbClr val="8FB7C6"/>
              </a:solidFill>
            </p:spPr>
          </p:sp>
        </p:grpSp>
        <p:grpSp>
          <p:nvGrpSpPr>
            <p:cNvPr name="Group 5" id="5"/>
            <p:cNvGrpSpPr/>
            <p:nvPr/>
          </p:nvGrpSpPr>
          <p:grpSpPr>
            <a:xfrm rot="0">
              <a:off x="254961" y="1067537"/>
              <a:ext cx="22897610" cy="9778026"/>
              <a:chOff x="0" y="0"/>
              <a:chExt cx="22594507" cy="9648591"/>
            </a:xfrm>
          </p:grpSpPr>
          <p:sp>
            <p:nvSpPr>
              <p:cNvPr name="Freeform 6" id="6"/>
              <p:cNvSpPr/>
              <p:nvPr/>
            </p:nvSpPr>
            <p:spPr>
              <a:xfrm flipH="false" flipV="false" rot="0">
                <a:off x="-1" y="0"/>
                <a:ext cx="22594508" cy="9648591"/>
              </a:xfrm>
              <a:custGeom>
                <a:avLst/>
                <a:gdLst/>
                <a:ahLst/>
                <a:cxnLst/>
                <a:rect r="r" b="b" t="t" l="l"/>
                <a:pathLst>
                  <a:path h="9648591" w="22594508">
                    <a:moveTo>
                      <a:pt x="22095727" y="9631673"/>
                    </a:moveTo>
                    <a:cubicBezTo>
                      <a:pt x="22095727" y="9631673"/>
                      <a:pt x="21858730" y="9621703"/>
                      <a:pt x="21496593" y="9635147"/>
                    </a:cubicBezTo>
                    <a:cubicBezTo>
                      <a:pt x="21134454" y="9648591"/>
                      <a:pt x="490924" y="9648591"/>
                      <a:pt x="490924" y="9648591"/>
                    </a:cubicBezTo>
                    <a:cubicBezTo>
                      <a:pt x="245502" y="9648591"/>
                      <a:pt x="32509" y="9551323"/>
                      <a:pt x="31032" y="9391209"/>
                    </a:cubicBezTo>
                    <a:cubicBezTo>
                      <a:pt x="31032" y="9391209"/>
                      <a:pt x="0" y="6705102"/>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049179" y="0"/>
                      <a:pt x="22049179" y="0"/>
                    </a:cubicBezTo>
                    <a:cubicBezTo>
                      <a:pt x="22361080" y="0"/>
                      <a:pt x="22594507" y="101069"/>
                      <a:pt x="22586650" y="303616"/>
                    </a:cubicBezTo>
                    <a:cubicBezTo>
                      <a:pt x="22586650" y="303616"/>
                      <a:pt x="22584655" y="6162502"/>
                      <a:pt x="22593411" y="8691622"/>
                    </a:cubicBezTo>
                    <a:cubicBezTo>
                      <a:pt x="22602166" y="8984924"/>
                      <a:pt x="22555618" y="9317995"/>
                      <a:pt x="22555618" y="9317995"/>
                    </a:cubicBezTo>
                    <a:cubicBezTo>
                      <a:pt x="22552652" y="9498020"/>
                      <a:pt x="22341149" y="9631673"/>
                      <a:pt x="22095727" y="9631673"/>
                    </a:cubicBezTo>
                    <a:close/>
                  </a:path>
                </a:pathLst>
              </a:custGeom>
              <a:solidFill>
                <a:srgbClr val="8FB7C6"/>
              </a:solidFill>
            </p:spPr>
          </p:sp>
        </p:grpSp>
        <p:grpSp>
          <p:nvGrpSpPr>
            <p:cNvPr name="Group 7" id="7"/>
            <p:cNvGrpSpPr/>
            <p:nvPr/>
          </p:nvGrpSpPr>
          <p:grpSpPr>
            <a:xfrm rot="0">
              <a:off x="919721" y="0"/>
              <a:ext cx="22232850" cy="10328670"/>
              <a:chOff x="0" y="0"/>
              <a:chExt cx="23043639" cy="10705337"/>
            </a:xfrm>
          </p:grpSpPr>
          <p:sp>
            <p:nvSpPr>
              <p:cNvPr name="Freeform 8" id="8"/>
              <p:cNvSpPr/>
              <p:nvPr/>
            </p:nvSpPr>
            <p:spPr>
              <a:xfrm flipH="false" flipV="false" rot="0">
                <a:off x="-1" y="0"/>
                <a:ext cx="23043639" cy="10705337"/>
              </a:xfrm>
              <a:custGeom>
                <a:avLst/>
                <a:gdLst/>
                <a:ahLst/>
                <a:cxnLst/>
                <a:rect r="r" b="b" t="t" l="l"/>
                <a:pathLst>
                  <a:path h="10705337" w="23043639">
                    <a:moveTo>
                      <a:pt x="22544859" y="10688418"/>
                    </a:moveTo>
                    <a:cubicBezTo>
                      <a:pt x="22544859" y="10688418"/>
                      <a:pt x="22307863" y="10678449"/>
                      <a:pt x="21945723" y="10691893"/>
                    </a:cubicBezTo>
                    <a:cubicBezTo>
                      <a:pt x="21583586" y="10705337"/>
                      <a:pt x="490924" y="10705337"/>
                      <a:pt x="490924" y="10705337"/>
                    </a:cubicBezTo>
                    <a:cubicBezTo>
                      <a:pt x="245502" y="10705337"/>
                      <a:pt x="32509" y="10608069"/>
                      <a:pt x="31032" y="10447955"/>
                    </a:cubicBezTo>
                    <a:cubicBezTo>
                      <a:pt x="31032" y="10447955"/>
                      <a:pt x="0" y="7523653"/>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498310" y="0"/>
                      <a:pt x="22498310" y="0"/>
                    </a:cubicBezTo>
                    <a:cubicBezTo>
                      <a:pt x="22810212" y="0"/>
                      <a:pt x="23043639" y="101069"/>
                      <a:pt x="23035783" y="303616"/>
                    </a:cubicBezTo>
                    <a:cubicBezTo>
                      <a:pt x="23035783" y="303616"/>
                      <a:pt x="23033787" y="6908210"/>
                      <a:pt x="23042542" y="9748368"/>
                    </a:cubicBezTo>
                    <a:cubicBezTo>
                      <a:pt x="23051298" y="10041669"/>
                      <a:pt x="23004750" y="10374741"/>
                      <a:pt x="23004750" y="10374741"/>
                    </a:cubicBezTo>
                    <a:cubicBezTo>
                      <a:pt x="23001785" y="10554766"/>
                      <a:pt x="22790281" y="10688418"/>
                      <a:pt x="22544859" y="10688418"/>
                    </a:cubicBezTo>
                    <a:close/>
                  </a:path>
                </a:pathLst>
              </a:custGeom>
              <a:solidFill>
                <a:srgbClr val="F3FCFF"/>
              </a:solidFill>
            </p:spPr>
          </p:sp>
        </p:grpSp>
        <p:sp>
          <p:nvSpPr>
            <p:cNvPr name="AutoShape 9" id="9"/>
            <p:cNvSpPr/>
            <p:nvPr/>
          </p:nvSpPr>
          <p:spPr>
            <a:xfrm>
              <a:off x="2250246" y="717206"/>
              <a:ext cx="22466735" cy="34286"/>
            </a:xfrm>
            <a:prstGeom prst="line">
              <a:avLst/>
            </a:prstGeom>
            <a:ln cap="rnd" w="50800">
              <a:solidFill>
                <a:srgbClr val="8FB7C6"/>
              </a:solidFill>
              <a:prstDash val="solid"/>
              <a:headEnd type="none" len="sm" w="sm"/>
              <a:tailEnd type="none" len="sm" w="sm"/>
            </a:ln>
          </p:spPr>
        </p:sp>
      </p:grpSp>
      <p:grpSp>
        <p:nvGrpSpPr>
          <p:cNvPr name="Group 10" id="10"/>
          <p:cNvGrpSpPr/>
          <p:nvPr/>
        </p:nvGrpSpPr>
        <p:grpSpPr>
          <a:xfrm rot="0">
            <a:off x="1733905" y="2015875"/>
            <a:ext cx="17406244" cy="2400323"/>
            <a:chOff x="0" y="0"/>
            <a:chExt cx="23208326" cy="3200430"/>
          </a:xfrm>
        </p:grpSpPr>
        <p:sp>
          <p:nvSpPr>
            <p:cNvPr name="TextBox 11" id="11"/>
            <p:cNvSpPr txBox="true"/>
            <p:nvPr/>
          </p:nvSpPr>
          <p:spPr>
            <a:xfrm rot="0">
              <a:off x="457915" y="990600"/>
              <a:ext cx="21545932" cy="2209830"/>
            </a:xfrm>
            <a:prstGeom prst="rect">
              <a:avLst/>
            </a:prstGeom>
          </p:spPr>
          <p:txBody>
            <a:bodyPr anchor="t" rtlCol="false" tIns="0" lIns="0" bIns="0" rIns="0">
              <a:spAutoFit/>
            </a:bodyPr>
            <a:lstStyle/>
            <a:p>
              <a:pPr algn="l" marL="539494" indent="-269747" lvl="1">
                <a:lnSpc>
                  <a:spcPts val="3373"/>
                </a:lnSpc>
                <a:buFont typeface="Arial"/>
                <a:buChar char="•"/>
              </a:pPr>
              <a:r>
                <a:rPr lang="en-US" sz="2498" spc="-24">
                  <a:solidFill>
                    <a:srgbClr val="000000"/>
                  </a:solidFill>
                  <a:latin typeface="Asap"/>
                  <a:ea typeface="Asap"/>
                  <a:cs typeface="Asap"/>
                  <a:sym typeface="Asap"/>
                </a:rPr>
                <a:t>Recursive</a:t>
              </a:r>
              <a:r>
                <a:rPr lang="en-US" sz="2498" spc="-24">
                  <a:solidFill>
                    <a:srgbClr val="000000"/>
                  </a:solidFill>
                  <a:latin typeface="Asap"/>
                  <a:ea typeface="Asap"/>
                  <a:cs typeface="Asap"/>
                  <a:sym typeface="Asap"/>
                </a:rPr>
                <a:t> tăng theo</a:t>
              </a:r>
              <a:r>
                <a:rPr lang="en-US" sz="2498" spc="-24">
                  <a:solidFill>
                    <a:srgbClr val="000000"/>
                  </a:solidFill>
                  <a:latin typeface="Asap"/>
                  <a:ea typeface="Asap"/>
                  <a:cs typeface="Asap"/>
                  <a:sym typeface="Asap"/>
                </a:rPr>
                <a:t> cấp số nhân</a:t>
              </a:r>
            </a:p>
            <a:p>
              <a:pPr algn="l" marL="539494" indent="-269747" lvl="1">
                <a:lnSpc>
                  <a:spcPts val="3373"/>
                </a:lnSpc>
                <a:buFont typeface="Arial"/>
                <a:buChar char="•"/>
              </a:pPr>
              <a:r>
                <a:rPr lang="en-US" sz="2498" spc="-24">
                  <a:solidFill>
                    <a:srgbClr val="000000"/>
                  </a:solidFill>
                  <a:latin typeface="Asap"/>
                  <a:ea typeface="Asap"/>
                  <a:cs typeface="Asap"/>
                  <a:sym typeface="Asap"/>
                </a:rPr>
                <a:t>n</a:t>
              </a:r>
              <a:r>
                <a:rPr lang="en-US" sz="2498" spc="-24">
                  <a:solidFill>
                    <a:srgbClr val="000000"/>
                  </a:solidFill>
                  <a:latin typeface="Asap"/>
                  <a:ea typeface="Asap"/>
                  <a:cs typeface="Asap"/>
                  <a:sym typeface="Asap"/>
                </a:rPr>
                <a:t> tăng 1 → thời gian tăng gấp đôi</a:t>
              </a:r>
            </a:p>
            <a:p>
              <a:pPr algn="l">
                <a:lnSpc>
                  <a:spcPts val="3373"/>
                </a:lnSpc>
              </a:pPr>
              <a:r>
                <a:rPr lang="en-US" sz="2498" spc="-24">
                  <a:solidFill>
                    <a:srgbClr val="000000"/>
                  </a:solidFill>
                  <a:latin typeface="Asap"/>
                  <a:ea typeface="Asap"/>
                  <a:cs typeface="Asap"/>
                  <a:sym typeface="Asap"/>
                </a:rPr>
                <a:t>=&gt;</a:t>
              </a:r>
              <a:r>
                <a:rPr lang="en-US" sz="2498" spc="-24">
                  <a:solidFill>
                    <a:srgbClr val="000000"/>
                  </a:solidFill>
                  <a:latin typeface="Asap"/>
                  <a:ea typeface="Asap"/>
                  <a:cs typeface="Asap"/>
                  <a:sym typeface="Asap"/>
                </a:rPr>
                <a:t>Bottleneck: TIME</a:t>
              </a:r>
            </a:p>
            <a:p>
              <a:pPr algn="just">
                <a:lnSpc>
                  <a:spcPts val="3373"/>
                </a:lnSpc>
              </a:pPr>
            </a:p>
          </p:txBody>
        </p:sp>
        <p:sp>
          <p:nvSpPr>
            <p:cNvPr name="TextBox 12" id="12"/>
            <p:cNvSpPr txBox="true"/>
            <p:nvPr/>
          </p:nvSpPr>
          <p:spPr>
            <a:xfrm rot="0">
              <a:off x="0" y="0"/>
              <a:ext cx="23208326" cy="1028700"/>
            </a:xfrm>
            <a:prstGeom prst="rect">
              <a:avLst/>
            </a:prstGeom>
          </p:spPr>
          <p:txBody>
            <a:bodyPr anchor="t" rtlCol="false" tIns="0" lIns="0" bIns="0" rIns="0">
              <a:spAutoFit/>
            </a:bodyPr>
            <a:lstStyle/>
            <a:p>
              <a:pPr algn="just">
                <a:lnSpc>
                  <a:spcPts val="6107"/>
                </a:lnSpc>
              </a:pPr>
              <a:r>
                <a:rPr lang="en-US" b="true" sz="5089">
                  <a:solidFill>
                    <a:srgbClr val="1D2B74"/>
                  </a:solidFill>
                  <a:latin typeface="Faustina Bold"/>
                  <a:ea typeface="Faustina Bold"/>
                  <a:cs typeface="Faustina Bold"/>
                  <a:sym typeface="Faustina Bold"/>
                </a:rPr>
                <a:t>Runtime (TIME)</a:t>
              </a:r>
            </a:p>
          </p:txBody>
        </p:sp>
      </p:grpSp>
      <p:grpSp>
        <p:nvGrpSpPr>
          <p:cNvPr name="Group 13" id="13"/>
          <p:cNvGrpSpPr/>
          <p:nvPr/>
        </p:nvGrpSpPr>
        <p:grpSpPr>
          <a:xfrm rot="0">
            <a:off x="10834976" y="2015875"/>
            <a:ext cx="17406244" cy="2400323"/>
            <a:chOff x="0" y="0"/>
            <a:chExt cx="23208326" cy="3200430"/>
          </a:xfrm>
        </p:grpSpPr>
        <p:sp>
          <p:nvSpPr>
            <p:cNvPr name="TextBox 14" id="14"/>
            <p:cNvSpPr txBox="true"/>
            <p:nvPr/>
          </p:nvSpPr>
          <p:spPr>
            <a:xfrm rot="0">
              <a:off x="457915" y="990600"/>
              <a:ext cx="21545932" cy="2209830"/>
            </a:xfrm>
            <a:prstGeom prst="rect">
              <a:avLst/>
            </a:prstGeom>
          </p:spPr>
          <p:txBody>
            <a:bodyPr anchor="t" rtlCol="false" tIns="0" lIns="0" bIns="0" rIns="0">
              <a:spAutoFit/>
            </a:bodyPr>
            <a:lstStyle/>
            <a:p>
              <a:pPr algn="l" marL="539494" indent="-269747" lvl="1">
                <a:lnSpc>
                  <a:spcPts val="3373"/>
                </a:lnSpc>
                <a:buFont typeface="Arial"/>
                <a:buChar char="•"/>
              </a:pPr>
              <a:r>
                <a:rPr lang="en-US" sz="2498" spc="-24">
                  <a:solidFill>
                    <a:srgbClr val="000000"/>
                  </a:solidFill>
                  <a:latin typeface="Asap"/>
                  <a:ea typeface="Asap"/>
                  <a:cs typeface="Asap"/>
                  <a:sym typeface="Asap"/>
                </a:rPr>
                <a:t>Recursive:</a:t>
              </a:r>
              <a:r>
                <a:rPr lang="en-US" sz="2498" spc="-24">
                  <a:solidFill>
                    <a:srgbClr val="000000"/>
                  </a:solidFill>
                  <a:latin typeface="Asap"/>
                  <a:ea typeface="Asap"/>
                  <a:cs typeface="Asap"/>
                  <a:sym typeface="Asap"/>
                </a:rPr>
                <a:t> O(n)</a:t>
              </a:r>
            </a:p>
            <a:p>
              <a:pPr algn="l" marL="539494" indent="-269747" lvl="1">
                <a:lnSpc>
                  <a:spcPts val="3373"/>
                </a:lnSpc>
                <a:buFont typeface="Arial"/>
                <a:buChar char="•"/>
              </a:pPr>
              <a:r>
                <a:rPr lang="en-US" sz="2498" spc="-24">
                  <a:solidFill>
                    <a:srgbClr val="000000"/>
                  </a:solidFill>
                  <a:latin typeface="Asap"/>
                  <a:ea typeface="Asap"/>
                  <a:cs typeface="Asap"/>
                  <a:sym typeface="Asap"/>
                </a:rPr>
                <a:t>Iterative:</a:t>
              </a:r>
              <a:r>
                <a:rPr lang="en-US" sz="2498" spc="-24">
                  <a:solidFill>
                    <a:srgbClr val="000000"/>
                  </a:solidFill>
                  <a:latin typeface="Asap"/>
                  <a:ea typeface="Asap"/>
                  <a:cs typeface="Asap"/>
                  <a:sym typeface="Asap"/>
                </a:rPr>
                <a:t> O(1)</a:t>
              </a:r>
            </a:p>
            <a:p>
              <a:pPr algn="l">
                <a:lnSpc>
                  <a:spcPts val="3373"/>
                </a:lnSpc>
              </a:pPr>
              <a:r>
                <a:rPr lang="en-US" sz="2498" spc="-24">
                  <a:solidFill>
                    <a:srgbClr val="000000"/>
                  </a:solidFill>
                  <a:latin typeface="Asap"/>
                  <a:ea typeface="Asap"/>
                  <a:cs typeface="Asap"/>
                  <a:sym typeface="Asap"/>
                </a:rPr>
                <a:t>=&gt;</a:t>
              </a:r>
              <a:r>
                <a:rPr lang="en-US" sz="2498" spc="-24">
                  <a:solidFill>
                    <a:srgbClr val="000000"/>
                  </a:solidFill>
                  <a:latin typeface="Asap"/>
                  <a:ea typeface="Asap"/>
                  <a:cs typeface="Asap"/>
                  <a:sym typeface="Asap"/>
                </a:rPr>
                <a:t>Memory khô</a:t>
              </a:r>
              <a:r>
                <a:rPr lang="en-US" sz="2498" spc="-24">
                  <a:solidFill>
                    <a:srgbClr val="000000"/>
                  </a:solidFill>
                  <a:latin typeface="Asap"/>
                  <a:ea typeface="Asap"/>
                  <a:cs typeface="Asap"/>
                  <a:sym typeface="Asap"/>
                </a:rPr>
                <a:t>ng phải vấn đề chí</a:t>
              </a:r>
              <a:r>
                <a:rPr lang="en-US" sz="2498" spc="-24">
                  <a:solidFill>
                    <a:srgbClr val="000000"/>
                  </a:solidFill>
                  <a:latin typeface="Asap"/>
                  <a:ea typeface="Asap"/>
                  <a:cs typeface="Asap"/>
                  <a:sym typeface="Asap"/>
                </a:rPr>
                <a:t>nh</a:t>
              </a:r>
            </a:p>
            <a:p>
              <a:pPr algn="just">
                <a:lnSpc>
                  <a:spcPts val="3373"/>
                </a:lnSpc>
              </a:pPr>
            </a:p>
          </p:txBody>
        </p:sp>
        <p:sp>
          <p:nvSpPr>
            <p:cNvPr name="TextBox 15" id="15"/>
            <p:cNvSpPr txBox="true"/>
            <p:nvPr/>
          </p:nvSpPr>
          <p:spPr>
            <a:xfrm rot="0">
              <a:off x="0" y="0"/>
              <a:ext cx="23208326" cy="1028700"/>
            </a:xfrm>
            <a:prstGeom prst="rect">
              <a:avLst/>
            </a:prstGeom>
          </p:spPr>
          <p:txBody>
            <a:bodyPr anchor="t" rtlCol="false" tIns="0" lIns="0" bIns="0" rIns="0">
              <a:spAutoFit/>
            </a:bodyPr>
            <a:lstStyle/>
            <a:p>
              <a:pPr algn="just">
                <a:lnSpc>
                  <a:spcPts val="6107"/>
                </a:lnSpc>
              </a:pPr>
              <a:r>
                <a:rPr lang="en-US" b="true" sz="5089">
                  <a:solidFill>
                    <a:srgbClr val="1D2B74"/>
                  </a:solidFill>
                  <a:latin typeface="Faustina Bold"/>
                  <a:ea typeface="Faustina Bold"/>
                  <a:cs typeface="Faustina Bold"/>
                  <a:sym typeface="Faustina Bold"/>
                </a:rPr>
                <a:t>Memory (SPACE)</a:t>
              </a:r>
            </a:p>
          </p:txBody>
        </p:sp>
      </p:grpSp>
      <p:grpSp>
        <p:nvGrpSpPr>
          <p:cNvPr name="Group 16" id="16"/>
          <p:cNvGrpSpPr/>
          <p:nvPr/>
        </p:nvGrpSpPr>
        <p:grpSpPr>
          <a:xfrm rot="0">
            <a:off x="5535322" y="5512064"/>
            <a:ext cx="12380622" cy="2819423"/>
            <a:chOff x="0" y="0"/>
            <a:chExt cx="16507496" cy="3759230"/>
          </a:xfrm>
        </p:grpSpPr>
        <p:sp>
          <p:nvSpPr>
            <p:cNvPr name="TextBox 17" id="17"/>
            <p:cNvSpPr txBox="true"/>
            <p:nvPr/>
          </p:nvSpPr>
          <p:spPr>
            <a:xfrm rot="0">
              <a:off x="591209" y="990600"/>
              <a:ext cx="15325077" cy="2768630"/>
            </a:xfrm>
            <a:prstGeom prst="rect">
              <a:avLst/>
            </a:prstGeom>
          </p:spPr>
          <p:txBody>
            <a:bodyPr anchor="t" rtlCol="false" tIns="0" lIns="0" bIns="0" rIns="0">
              <a:spAutoFit/>
            </a:bodyPr>
            <a:lstStyle/>
            <a:p>
              <a:pPr algn="l" marL="539494" indent="-269747" lvl="1">
                <a:lnSpc>
                  <a:spcPts val="3373"/>
                </a:lnSpc>
                <a:buFont typeface="Arial"/>
                <a:buChar char="•"/>
              </a:pPr>
              <a:r>
                <a:rPr lang="en-US" sz="2498" spc="-24">
                  <a:solidFill>
                    <a:srgbClr val="000000"/>
                  </a:solidFill>
                  <a:latin typeface="Asap"/>
                  <a:ea typeface="Asap"/>
                  <a:cs typeface="Asap"/>
                  <a:sym typeface="Asap"/>
                </a:rPr>
                <a:t>Iterative:</a:t>
              </a:r>
            </a:p>
            <a:p>
              <a:pPr algn="just">
                <a:lnSpc>
                  <a:spcPts val="3373"/>
                </a:lnSpc>
              </a:pPr>
              <a:r>
                <a:rPr lang="en-US" sz="2498" spc="-24">
                  <a:solidFill>
                    <a:srgbClr val="000000"/>
                  </a:solidFill>
                  <a:latin typeface="Asap"/>
                  <a:ea typeface="Asap"/>
                  <a:cs typeface="Asap"/>
                  <a:sym typeface="Asap"/>
                </a:rPr>
                <a:t>                      </a:t>
              </a:r>
              <a:r>
                <a:rPr lang="en-US" sz="2498" spc="-24">
                  <a:solidFill>
                    <a:srgbClr val="000000"/>
                  </a:solidFill>
                  <a:latin typeface="Asap"/>
                  <a:ea typeface="Asap"/>
                  <a:cs typeface="Asap"/>
                  <a:sym typeface="Asap"/>
                </a:rPr>
                <a:t>O(n) time</a:t>
              </a:r>
            </a:p>
            <a:p>
              <a:pPr algn="just">
                <a:lnSpc>
                  <a:spcPts val="3373"/>
                </a:lnSpc>
              </a:pPr>
              <a:r>
                <a:rPr lang="en-US" sz="2498" spc="-24">
                  <a:solidFill>
                    <a:srgbClr val="000000"/>
                  </a:solidFill>
                  <a:latin typeface="Asap"/>
                  <a:ea typeface="Asap"/>
                  <a:cs typeface="Asap"/>
                  <a:sym typeface="Asap"/>
                </a:rPr>
                <a:t>                     O(1) space → tối ưu nhất</a:t>
              </a:r>
            </a:p>
            <a:p>
              <a:pPr algn="l" marL="539494" indent="-269747" lvl="1">
                <a:lnSpc>
                  <a:spcPts val="3373"/>
                </a:lnSpc>
                <a:buFont typeface="Arial"/>
                <a:buChar char="•"/>
              </a:pPr>
              <a:r>
                <a:rPr lang="en-US" sz="2498" spc="-24">
                  <a:solidFill>
                    <a:srgbClr val="000000"/>
                  </a:solidFill>
                  <a:latin typeface="Asap"/>
                  <a:ea typeface="Asap"/>
                  <a:cs typeface="Asap"/>
                  <a:sym typeface="Asap"/>
                </a:rPr>
                <a:t>Có thể xử lý input rất lớn</a:t>
              </a:r>
            </a:p>
            <a:p>
              <a:pPr algn="just">
                <a:lnSpc>
                  <a:spcPts val="3373"/>
                </a:lnSpc>
              </a:pPr>
            </a:p>
          </p:txBody>
        </p:sp>
        <p:sp>
          <p:nvSpPr>
            <p:cNvPr name="TextBox 18" id="18"/>
            <p:cNvSpPr txBox="true"/>
            <p:nvPr/>
          </p:nvSpPr>
          <p:spPr>
            <a:xfrm rot="0">
              <a:off x="0" y="0"/>
              <a:ext cx="16507496" cy="1028700"/>
            </a:xfrm>
            <a:prstGeom prst="rect">
              <a:avLst/>
            </a:prstGeom>
          </p:spPr>
          <p:txBody>
            <a:bodyPr anchor="t" rtlCol="false" tIns="0" lIns="0" bIns="0" rIns="0">
              <a:spAutoFit/>
            </a:bodyPr>
            <a:lstStyle/>
            <a:p>
              <a:pPr algn="just">
                <a:lnSpc>
                  <a:spcPts val="6107"/>
                </a:lnSpc>
              </a:pPr>
              <a:r>
                <a:rPr lang="en-US" b="true" sz="5089">
                  <a:solidFill>
                    <a:srgbClr val="1D2B74"/>
                  </a:solidFill>
                  <a:latin typeface="Faustina Bold"/>
                  <a:ea typeface="Faustina Bold"/>
                  <a:cs typeface="Faustina Bold"/>
                  <a:sym typeface="Faustina Bold"/>
                </a:rPr>
                <a:t>Giải pháp tối ưu</a:t>
              </a:r>
            </a:p>
          </p:txBody>
        </p:sp>
      </p:grpSp>
    </p:spTree>
  </p:cSld>
  <p:clrMapOvr>
    <a:masterClrMapping/>
  </p:clrMapOvr>
  <p:transition spd="slow">
    <p:push dir="d"/>
  </p:transition>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C8E3ED"/>
        </a:solidFill>
      </p:bgPr>
    </p:bg>
    <p:spTree>
      <p:nvGrpSpPr>
        <p:cNvPr id="1" name=""/>
        <p:cNvGrpSpPr/>
        <p:nvPr/>
      </p:nvGrpSpPr>
      <p:grpSpPr>
        <a:xfrm>
          <a:off x="0" y="0"/>
          <a:ext cx="0" cy="0"/>
          <a:chOff x="0" y="0"/>
          <a:chExt cx="0" cy="0"/>
        </a:xfrm>
      </p:grpSpPr>
      <p:sp>
        <p:nvSpPr>
          <p:cNvPr name="Freeform 2" id="2"/>
          <p:cNvSpPr/>
          <p:nvPr/>
        </p:nvSpPr>
        <p:spPr>
          <a:xfrm flipH="false" flipV="false" rot="-5113635">
            <a:off x="-531325" y="8224703"/>
            <a:ext cx="2025851" cy="2067195"/>
          </a:xfrm>
          <a:custGeom>
            <a:avLst/>
            <a:gdLst/>
            <a:ahLst/>
            <a:cxnLst/>
            <a:rect r="r" b="b" t="t" l="l"/>
            <a:pathLst>
              <a:path h="2067195" w="2025851">
                <a:moveTo>
                  <a:pt x="0" y="0"/>
                </a:moveTo>
                <a:lnTo>
                  <a:pt x="2025851" y="0"/>
                </a:lnTo>
                <a:lnTo>
                  <a:pt x="2025851" y="2067194"/>
                </a:lnTo>
                <a:lnTo>
                  <a:pt x="0" y="206719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729243" y="2482718"/>
            <a:ext cx="14867614" cy="8114767"/>
            <a:chOff x="0" y="0"/>
            <a:chExt cx="19823485" cy="10819690"/>
          </a:xfrm>
        </p:grpSpPr>
        <p:grpSp>
          <p:nvGrpSpPr>
            <p:cNvPr name="Group 4" id="4"/>
            <p:cNvGrpSpPr/>
            <p:nvPr/>
          </p:nvGrpSpPr>
          <p:grpSpPr>
            <a:xfrm rot="0">
              <a:off x="0" y="266122"/>
              <a:ext cx="10010230" cy="10553568"/>
              <a:chOff x="0" y="0"/>
              <a:chExt cx="9178315" cy="9676498"/>
            </a:xfrm>
          </p:grpSpPr>
          <p:sp>
            <p:nvSpPr>
              <p:cNvPr name="Freeform 5" id="5"/>
              <p:cNvSpPr/>
              <p:nvPr/>
            </p:nvSpPr>
            <p:spPr>
              <a:xfrm flipH="false" flipV="false" rot="0">
                <a:off x="-1" y="0"/>
                <a:ext cx="9178316" cy="9676498"/>
              </a:xfrm>
              <a:custGeom>
                <a:avLst/>
                <a:gdLst/>
                <a:ahLst/>
                <a:cxnLst/>
                <a:rect r="r" b="b" t="t" l="l"/>
                <a:pathLst>
                  <a:path h="9676498" w="9178316">
                    <a:moveTo>
                      <a:pt x="8679536" y="9659579"/>
                    </a:moveTo>
                    <a:cubicBezTo>
                      <a:pt x="8679536" y="9659579"/>
                      <a:pt x="8442539" y="9649609"/>
                      <a:pt x="8080400" y="9663054"/>
                    </a:cubicBezTo>
                    <a:cubicBezTo>
                      <a:pt x="7718262" y="9676498"/>
                      <a:pt x="490924" y="9676498"/>
                      <a:pt x="490924" y="9676498"/>
                    </a:cubicBezTo>
                    <a:cubicBezTo>
                      <a:pt x="245502" y="9676498"/>
                      <a:pt x="32509" y="9579230"/>
                      <a:pt x="31032" y="9419116"/>
                    </a:cubicBezTo>
                    <a:cubicBezTo>
                      <a:pt x="31032" y="9419116"/>
                      <a:pt x="0" y="6726718"/>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8632987" y="0"/>
                      <a:pt x="8632987" y="0"/>
                    </a:cubicBezTo>
                    <a:cubicBezTo>
                      <a:pt x="8944888" y="0"/>
                      <a:pt x="9178316" y="101069"/>
                      <a:pt x="9170458" y="303616"/>
                    </a:cubicBezTo>
                    <a:cubicBezTo>
                      <a:pt x="9170458" y="303616"/>
                      <a:pt x="9168464" y="6182194"/>
                      <a:pt x="9177219" y="8719529"/>
                    </a:cubicBezTo>
                    <a:cubicBezTo>
                      <a:pt x="9185974" y="9012830"/>
                      <a:pt x="9139426" y="9345902"/>
                      <a:pt x="9139426" y="9345902"/>
                    </a:cubicBezTo>
                    <a:cubicBezTo>
                      <a:pt x="9136461" y="9525927"/>
                      <a:pt x="8924958" y="9659579"/>
                      <a:pt x="8679536" y="9659579"/>
                    </a:cubicBezTo>
                    <a:close/>
                  </a:path>
                </a:pathLst>
              </a:custGeom>
              <a:solidFill>
                <a:srgbClr val="8FB7C6"/>
              </a:solidFill>
            </p:spPr>
          </p:sp>
        </p:grpSp>
        <p:grpSp>
          <p:nvGrpSpPr>
            <p:cNvPr name="Group 6" id="6"/>
            <p:cNvGrpSpPr/>
            <p:nvPr/>
          </p:nvGrpSpPr>
          <p:grpSpPr>
            <a:xfrm rot="0">
              <a:off x="9813255" y="266122"/>
              <a:ext cx="10010230" cy="10553568"/>
              <a:chOff x="0" y="0"/>
              <a:chExt cx="9178315" cy="9676498"/>
            </a:xfrm>
          </p:grpSpPr>
          <p:sp>
            <p:nvSpPr>
              <p:cNvPr name="Freeform 7" id="7"/>
              <p:cNvSpPr/>
              <p:nvPr/>
            </p:nvSpPr>
            <p:spPr>
              <a:xfrm flipH="false" flipV="false" rot="0">
                <a:off x="-1" y="0"/>
                <a:ext cx="9178316" cy="9676498"/>
              </a:xfrm>
              <a:custGeom>
                <a:avLst/>
                <a:gdLst/>
                <a:ahLst/>
                <a:cxnLst/>
                <a:rect r="r" b="b" t="t" l="l"/>
                <a:pathLst>
                  <a:path h="9676498" w="9178316">
                    <a:moveTo>
                      <a:pt x="8679536" y="9659579"/>
                    </a:moveTo>
                    <a:cubicBezTo>
                      <a:pt x="8679536" y="9659579"/>
                      <a:pt x="8442539" y="9649609"/>
                      <a:pt x="8080400" y="9663054"/>
                    </a:cubicBezTo>
                    <a:cubicBezTo>
                      <a:pt x="7718262" y="9676498"/>
                      <a:pt x="490924" y="9676498"/>
                      <a:pt x="490924" y="9676498"/>
                    </a:cubicBezTo>
                    <a:cubicBezTo>
                      <a:pt x="245502" y="9676498"/>
                      <a:pt x="32509" y="9579230"/>
                      <a:pt x="31032" y="9419116"/>
                    </a:cubicBezTo>
                    <a:cubicBezTo>
                      <a:pt x="31032" y="9419116"/>
                      <a:pt x="0" y="6726718"/>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8632987" y="0"/>
                      <a:pt x="8632987" y="0"/>
                    </a:cubicBezTo>
                    <a:cubicBezTo>
                      <a:pt x="8944888" y="0"/>
                      <a:pt x="9178316" y="101069"/>
                      <a:pt x="9170458" y="303616"/>
                    </a:cubicBezTo>
                    <a:cubicBezTo>
                      <a:pt x="9170458" y="303616"/>
                      <a:pt x="9168464" y="6182194"/>
                      <a:pt x="9177219" y="8719529"/>
                    </a:cubicBezTo>
                    <a:cubicBezTo>
                      <a:pt x="9185974" y="9012830"/>
                      <a:pt x="9139426" y="9345902"/>
                      <a:pt x="9139426" y="9345902"/>
                    </a:cubicBezTo>
                    <a:cubicBezTo>
                      <a:pt x="9136461" y="9525927"/>
                      <a:pt x="8924958" y="9659579"/>
                      <a:pt x="8679536" y="9659579"/>
                    </a:cubicBezTo>
                    <a:close/>
                  </a:path>
                </a:pathLst>
              </a:custGeom>
              <a:solidFill>
                <a:srgbClr val="8FB7C6"/>
              </a:solidFill>
            </p:spPr>
          </p:sp>
        </p:grpSp>
        <p:grpSp>
          <p:nvGrpSpPr>
            <p:cNvPr name="Group 8" id="8"/>
            <p:cNvGrpSpPr/>
            <p:nvPr/>
          </p:nvGrpSpPr>
          <p:grpSpPr>
            <a:xfrm rot="0">
              <a:off x="146364" y="361359"/>
              <a:ext cx="9862412" cy="9586972"/>
              <a:chOff x="0" y="0"/>
              <a:chExt cx="9178315" cy="8921981"/>
            </a:xfrm>
          </p:grpSpPr>
          <p:sp>
            <p:nvSpPr>
              <p:cNvPr name="Freeform 9" id="9"/>
              <p:cNvSpPr/>
              <p:nvPr/>
            </p:nvSpPr>
            <p:spPr>
              <a:xfrm flipH="false" flipV="false" rot="0">
                <a:off x="-1" y="0"/>
                <a:ext cx="9178316" cy="8921981"/>
              </a:xfrm>
              <a:custGeom>
                <a:avLst/>
                <a:gdLst/>
                <a:ahLst/>
                <a:cxnLst/>
                <a:rect r="r" b="b" t="t" l="l"/>
                <a:pathLst>
                  <a:path h="8921981" w="9178316">
                    <a:moveTo>
                      <a:pt x="8679536" y="8905062"/>
                    </a:moveTo>
                    <a:cubicBezTo>
                      <a:pt x="8679536" y="8905062"/>
                      <a:pt x="8442539" y="8895093"/>
                      <a:pt x="8080400" y="8908537"/>
                    </a:cubicBezTo>
                    <a:cubicBezTo>
                      <a:pt x="7718262" y="8921981"/>
                      <a:pt x="490924" y="8921981"/>
                      <a:pt x="490924" y="8921981"/>
                    </a:cubicBezTo>
                    <a:cubicBezTo>
                      <a:pt x="245502" y="8921981"/>
                      <a:pt x="32509" y="8824713"/>
                      <a:pt x="31032" y="8664599"/>
                    </a:cubicBezTo>
                    <a:cubicBezTo>
                      <a:pt x="31032" y="8664599"/>
                      <a:pt x="0" y="6142272"/>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8632987" y="0"/>
                      <a:pt x="8632987" y="0"/>
                    </a:cubicBezTo>
                    <a:cubicBezTo>
                      <a:pt x="8944888" y="0"/>
                      <a:pt x="9178316" y="101069"/>
                      <a:pt x="9170458" y="303616"/>
                    </a:cubicBezTo>
                    <a:cubicBezTo>
                      <a:pt x="9170458" y="303616"/>
                      <a:pt x="9168464" y="5649759"/>
                      <a:pt x="9177219" y="7965011"/>
                    </a:cubicBezTo>
                    <a:cubicBezTo>
                      <a:pt x="9185974" y="8258313"/>
                      <a:pt x="9139426" y="8591385"/>
                      <a:pt x="9139426" y="8591385"/>
                    </a:cubicBezTo>
                    <a:cubicBezTo>
                      <a:pt x="9136461" y="8771410"/>
                      <a:pt x="8924958" y="8905062"/>
                      <a:pt x="8679536" y="8905062"/>
                    </a:cubicBezTo>
                    <a:close/>
                  </a:path>
                </a:pathLst>
              </a:custGeom>
              <a:solidFill>
                <a:srgbClr val="8FB7C6"/>
              </a:solidFill>
            </p:spPr>
          </p:sp>
        </p:grpSp>
        <p:grpSp>
          <p:nvGrpSpPr>
            <p:cNvPr name="Group 10" id="10"/>
            <p:cNvGrpSpPr/>
            <p:nvPr/>
          </p:nvGrpSpPr>
          <p:grpSpPr>
            <a:xfrm rot="0">
              <a:off x="9814709" y="361359"/>
              <a:ext cx="9862412" cy="9586972"/>
              <a:chOff x="0" y="0"/>
              <a:chExt cx="9178315" cy="8921981"/>
            </a:xfrm>
          </p:grpSpPr>
          <p:sp>
            <p:nvSpPr>
              <p:cNvPr name="Freeform 11" id="11"/>
              <p:cNvSpPr/>
              <p:nvPr/>
            </p:nvSpPr>
            <p:spPr>
              <a:xfrm flipH="false" flipV="false" rot="0">
                <a:off x="-1" y="0"/>
                <a:ext cx="9178316" cy="8921981"/>
              </a:xfrm>
              <a:custGeom>
                <a:avLst/>
                <a:gdLst/>
                <a:ahLst/>
                <a:cxnLst/>
                <a:rect r="r" b="b" t="t" l="l"/>
                <a:pathLst>
                  <a:path h="8921981" w="9178316">
                    <a:moveTo>
                      <a:pt x="8679536" y="8905062"/>
                    </a:moveTo>
                    <a:cubicBezTo>
                      <a:pt x="8679536" y="8905062"/>
                      <a:pt x="8442539" y="8895093"/>
                      <a:pt x="8080400" y="8908537"/>
                    </a:cubicBezTo>
                    <a:cubicBezTo>
                      <a:pt x="7718262" y="8921981"/>
                      <a:pt x="490924" y="8921981"/>
                      <a:pt x="490924" y="8921981"/>
                    </a:cubicBezTo>
                    <a:cubicBezTo>
                      <a:pt x="245502" y="8921981"/>
                      <a:pt x="32509" y="8824713"/>
                      <a:pt x="31032" y="8664599"/>
                    </a:cubicBezTo>
                    <a:cubicBezTo>
                      <a:pt x="31032" y="8664599"/>
                      <a:pt x="0" y="6142272"/>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8632987" y="0"/>
                      <a:pt x="8632987" y="0"/>
                    </a:cubicBezTo>
                    <a:cubicBezTo>
                      <a:pt x="8944888" y="0"/>
                      <a:pt x="9178316" y="101069"/>
                      <a:pt x="9170458" y="303616"/>
                    </a:cubicBezTo>
                    <a:cubicBezTo>
                      <a:pt x="9170458" y="303616"/>
                      <a:pt x="9168464" y="5649759"/>
                      <a:pt x="9177219" y="7965011"/>
                    </a:cubicBezTo>
                    <a:cubicBezTo>
                      <a:pt x="9185974" y="8258313"/>
                      <a:pt x="9139426" y="8591385"/>
                      <a:pt x="9139426" y="8591385"/>
                    </a:cubicBezTo>
                    <a:cubicBezTo>
                      <a:pt x="9136461" y="8771410"/>
                      <a:pt x="8924958" y="8905062"/>
                      <a:pt x="8679536" y="8905062"/>
                    </a:cubicBezTo>
                    <a:close/>
                  </a:path>
                </a:pathLst>
              </a:custGeom>
              <a:solidFill>
                <a:srgbClr val="8FB7C6"/>
              </a:solidFill>
            </p:spPr>
          </p:sp>
        </p:grpSp>
        <p:grpSp>
          <p:nvGrpSpPr>
            <p:cNvPr name="Group 12" id="12"/>
            <p:cNvGrpSpPr/>
            <p:nvPr/>
          </p:nvGrpSpPr>
          <p:grpSpPr>
            <a:xfrm rot="0">
              <a:off x="600568" y="0"/>
              <a:ext cx="9389445" cy="10819690"/>
              <a:chOff x="0" y="0"/>
              <a:chExt cx="9178315" cy="10576399"/>
            </a:xfrm>
          </p:grpSpPr>
          <p:sp>
            <p:nvSpPr>
              <p:cNvPr name="Freeform 13" id="13"/>
              <p:cNvSpPr/>
              <p:nvPr/>
            </p:nvSpPr>
            <p:spPr>
              <a:xfrm flipH="false" flipV="false" rot="0">
                <a:off x="-1" y="0"/>
                <a:ext cx="9178316" cy="10576399"/>
              </a:xfrm>
              <a:custGeom>
                <a:avLst/>
                <a:gdLst/>
                <a:ahLst/>
                <a:cxnLst/>
                <a:rect r="r" b="b" t="t" l="l"/>
                <a:pathLst>
                  <a:path h="10576399" w="9178316">
                    <a:moveTo>
                      <a:pt x="8679536" y="10559480"/>
                    </a:moveTo>
                    <a:cubicBezTo>
                      <a:pt x="8679536" y="10559480"/>
                      <a:pt x="8442539" y="10549511"/>
                      <a:pt x="8080400" y="10562955"/>
                    </a:cubicBezTo>
                    <a:cubicBezTo>
                      <a:pt x="7718262" y="10576399"/>
                      <a:pt x="490924" y="10576399"/>
                      <a:pt x="490924" y="10576399"/>
                    </a:cubicBezTo>
                    <a:cubicBezTo>
                      <a:pt x="245502" y="10576399"/>
                      <a:pt x="32509" y="10479132"/>
                      <a:pt x="31032" y="10319017"/>
                    </a:cubicBezTo>
                    <a:cubicBezTo>
                      <a:pt x="31032" y="10319017"/>
                      <a:pt x="0" y="7423779"/>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8632987" y="0"/>
                      <a:pt x="8632987" y="0"/>
                    </a:cubicBezTo>
                    <a:cubicBezTo>
                      <a:pt x="8944888" y="0"/>
                      <a:pt x="9178316" y="101069"/>
                      <a:pt x="9170458" y="303616"/>
                    </a:cubicBezTo>
                    <a:cubicBezTo>
                      <a:pt x="9170458" y="303616"/>
                      <a:pt x="9168464" y="6817223"/>
                      <a:pt x="9177219" y="9619430"/>
                    </a:cubicBezTo>
                    <a:cubicBezTo>
                      <a:pt x="9185974" y="9912731"/>
                      <a:pt x="9139426" y="10245803"/>
                      <a:pt x="9139426" y="10245803"/>
                    </a:cubicBezTo>
                    <a:cubicBezTo>
                      <a:pt x="9136461" y="10425828"/>
                      <a:pt x="8924958" y="10559480"/>
                      <a:pt x="8679536" y="10559480"/>
                    </a:cubicBezTo>
                    <a:close/>
                  </a:path>
                </a:pathLst>
              </a:custGeom>
              <a:solidFill>
                <a:srgbClr val="F3FCFF"/>
              </a:solidFill>
            </p:spPr>
          </p:sp>
        </p:grpSp>
        <p:grpSp>
          <p:nvGrpSpPr>
            <p:cNvPr name="Group 14" id="14"/>
            <p:cNvGrpSpPr/>
            <p:nvPr/>
          </p:nvGrpSpPr>
          <p:grpSpPr>
            <a:xfrm rot="0">
              <a:off x="9805254" y="0"/>
              <a:ext cx="9389445" cy="10819690"/>
              <a:chOff x="0" y="0"/>
              <a:chExt cx="9178315" cy="10576399"/>
            </a:xfrm>
          </p:grpSpPr>
          <p:sp>
            <p:nvSpPr>
              <p:cNvPr name="Freeform 15" id="15"/>
              <p:cNvSpPr/>
              <p:nvPr/>
            </p:nvSpPr>
            <p:spPr>
              <a:xfrm flipH="false" flipV="false" rot="0">
                <a:off x="-1" y="0"/>
                <a:ext cx="9178316" cy="10576399"/>
              </a:xfrm>
              <a:custGeom>
                <a:avLst/>
                <a:gdLst/>
                <a:ahLst/>
                <a:cxnLst/>
                <a:rect r="r" b="b" t="t" l="l"/>
                <a:pathLst>
                  <a:path h="10576399" w="9178316">
                    <a:moveTo>
                      <a:pt x="8679536" y="10559480"/>
                    </a:moveTo>
                    <a:cubicBezTo>
                      <a:pt x="8679536" y="10559480"/>
                      <a:pt x="8442539" y="10549511"/>
                      <a:pt x="8080400" y="10562955"/>
                    </a:cubicBezTo>
                    <a:cubicBezTo>
                      <a:pt x="7718262" y="10576399"/>
                      <a:pt x="490924" y="10576399"/>
                      <a:pt x="490924" y="10576399"/>
                    </a:cubicBezTo>
                    <a:cubicBezTo>
                      <a:pt x="245502" y="10576399"/>
                      <a:pt x="32509" y="10479132"/>
                      <a:pt x="31032" y="10319017"/>
                    </a:cubicBezTo>
                    <a:cubicBezTo>
                      <a:pt x="31032" y="10319017"/>
                      <a:pt x="0" y="7423779"/>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8632987" y="0"/>
                      <a:pt x="8632987" y="0"/>
                    </a:cubicBezTo>
                    <a:cubicBezTo>
                      <a:pt x="8944888" y="0"/>
                      <a:pt x="9178316" y="101069"/>
                      <a:pt x="9170458" y="303616"/>
                    </a:cubicBezTo>
                    <a:cubicBezTo>
                      <a:pt x="9170458" y="303616"/>
                      <a:pt x="9168464" y="6817223"/>
                      <a:pt x="9177219" y="9619430"/>
                    </a:cubicBezTo>
                    <a:cubicBezTo>
                      <a:pt x="9185974" y="9912731"/>
                      <a:pt x="9139426" y="10245803"/>
                      <a:pt x="9139426" y="10245803"/>
                    </a:cubicBezTo>
                    <a:cubicBezTo>
                      <a:pt x="9136461" y="10425828"/>
                      <a:pt x="8924958" y="10559480"/>
                      <a:pt x="8679536" y="10559480"/>
                    </a:cubicBezTo>
                    <a:close/>
                  </a:path>
                </a:pathLst>
              </a:custGeom>
              <a:solidFill>
                <a:srgbClr val="F3FCFF"/>
              </a:solidFill>
            </p:spPr>
          </p:sp>
        </p:grpSp>
        <p:sp>
          <p:nvSpPr>
            <p:cNvPr name="AutoShape 16" id="16"/>
            <p:cNvSpPr/>
            <p:nvPr/>
          </p:nvSpPr>
          <p:spPr>
            <a:xfrm>
              <a:off x="1808896" y="762843"/>
              <a:ext cx="16177474" cy="34286"/>
            </a:xfrm>
            <a:prstGeom prst="line">
              <a:avLst/>
            </a:prstGeom>
            <a:ln cap="rnd" w="50800">
              <a:solidFill>
                <a:srgbClr val="8FB7C6"/>
              </a:solidFill>
              <a:prstDash val="solid"/>
              <a:headEnd type="none" len="sm" w="sm"/>
              <a:tailEnd type="none" len="sm" w="sm"/>
            </a:ln>
          </p:spPr>
        </p:sp>
      </p:grpSp>
      <p:grpSp>
        <p:nvGrpSpPr>
          <p:cNvPr name="Group 17" id="17"/>
          <p:cNvGrpSpPr/>
          <p:nvPr/>
        </p:nvGrpSpPr>
        <p:grpSpPr>
          <a:xfrm rot="0">
            <a:off x="2418335" y="3731486"/>
            <a:ext cx="13380106" cy="5353641"/>
            <a:chOff x="0" y="0"/>
            <a:chExt cx="17840141" cy="7138187"/>
          </a:xfrm>
        </p:grpSpPr>
        <p:sp>
          <p:nvSpPr>
            <p:cNvPr name="TextBox 18" id="18"/>
            <p:cNvSpPr txBox="true"/>
            <p:nvPr/>
          </p:nvSpPr>
          <p:spPr>
            <a:xfrm rot="0">
              <a:off x="0" y="0"/>
              <a:ext cx="17840141" cy="5537200"/>
            </a:xfrm>
            <a:prstGeom prst="rect">
              <a:avLst/>
            </a:prstGeom>
          </p:spPr>
          <p:txBody>
            <a:bodyPr anchor="t" rtlCol="false" tIns="0" lIns="0" bIns="0" rIns="0">
              <a:spAutoFit/>
            </a:bodyPr>
            <a:lstStyle/>
            <a:p>
              <a:pPr algn="ctr">
                <a:lnSpc>
                  <a:spcPts val="8189"/>
                </a:lnSpc>
              </a:pPr>
              <a:r>
                <a:rPr lang="en-US" sz="6824" b="true">
                  <a:solidFill>
                    <a:srgbClr val="1D2B74"/>
                  </a:solidFill>
                  <a:latin typeface="Faustina Bold"/>
                  <a:ea typeface="Faustina Bold"/>
                  <a:cs typeface="Faustina Bold"/>
                  <a:sym typeface="Faustina Bold"/>
                </a:rPr>
                <a:t>CHƯƠNG 15: Triển khai hệ thống với GenAI</a:t>
              </a:r>
            </a:p>
            <a:p>
              <a:pPr algn="ctr" marL="0" indent="0" lvl="1">
                <a:lnSpc>
                  <a:spcPts val="8189"/>
                </a:lnSpc>
                <a:spcBef>
                  <a:spcPct val="0"/>
                </a:spcBef>
              </a:pPr>
              <a:r>
                <a:rPr lang="en-US" b="true" sz="6824">
                  <a:solidFill>
                    <a:srgbClr val="1D2B74"/>
                  </a:solidFill>
                  <a:latin typeface="Faustina Bold"/>
                  <a:ea typeface="Faustina Bold"/>
                  <a:cs typeface="Faustina Bold"/>
                  <a:sym typeface="Faustina Bold"/>
                </a:rPr>
                <a:t> Logging – Monitoring – Error Handling</a:t>
              </a:r>
            </a:p>
          </p:txBody>
        </p:sp>
        <p:sp>
          <p:nvSpPr>
            <p:cNvPr name="TextBox 19" id="19"/>
            <p:cNvSpPr txBox="true"/>
            <p:nvPr/>
          </p:nvSpPr>
          <p:spPr>
            <a:xfrm rot="0">
              <a:off x="1756892" y="6376187"/>
              <a:ext cx="14421324" cy="762000"/>
            </a:xfrm>
            <a:prstGeom prst="rect">
              <a:avLst/>
            </a:prstGeom>
          </p:spPr>
          <p:txBody>
            <a:bodyPr anchor="t" rtlCol="false" tIns="0" lIns="0" bIns="0" rIns="0">
              <a:spAutoFit/>
            </a:bodyPr>
            <a:lstStyle/>
            <a:p>
              <a:pPr algn="ctr">
                <a:lnSpc>
                  <a:spcPts val="4559"/>
                </a:lnSpc>
              </a:pPr>
            </a:p>
          </p:txBody>
        </p:sp>
      </p:grpSp>
      <p:sp>
        <p:nvSpPr>
          <p:cNvPr name="Freeform 20" id="20"/>
          <p:cNvSpPr/>
          <p:nvPr/>
        </p:nvSpPr>
        <p:spPr>
          <a:xfrm flipH="false" flipV="false" rot="1186719">
            <a:off x="16925814" y="3640910"/>
            <a:ext cx="1863737" cy="2381773"/>
          </a:xfrm>
          <a:custGeom>
            <a:avLst/>
            <a:gdLst/>
            <a:ahLst/>
            <a:cxnLst/>
            <a:rect r="r" b="b" t="t" l="l"/>
            <a:pathLst>
              <a:path h="2381773" w="1863737">
                <a:moveTo>
                  <a:pt x="0" y="0"/>
                </a:moveTo>
                <a:lnTo>
                  <a:pt x="1863737" y="0"/>
                </a:lnTo>
                <a:lnTo>
                  <a:pt x="1863737" y="2381773"/>
                </a:lnTo>
                <a:lnTo>
                  <a:pt x="0" y="238177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1" id="21"/>
          <p:cNvSpPr/>
          <p:nvPr/>
        </p:nvSpPr>
        <p:spPr>
          <a:xfrm flipH="false" flipV="false" rot="-458302">
            <a:off x="16900877" y="6386450"/>
            <a:ext cx="1913611" cy="1913611"/>
          </a:xfrm>
          <a:custGeom>
            <a:avLst/>
            <a:gdLst/>
            <a:ahLst/>
            <a:cxnLst/>
            <a:rect r="r" b="b" t="t" l="l"/>
            <a:pathLst>
              <a:path h="1913611" w="1913611">
                <a:moveTo>
                  <a:pt x="0" y="0"/>
                </a:moveTo>
                <a:lnTo>
                  <a:pt x="1913611" y="0"/>
                </a:lnTo>
                <a:lnTo>
                  <a:pt x="1913611" y="1913611"/>
                </a:lnTo>
                <a:lnTo>
                  <a:pt x="0" y="191361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2" id="22"/>
          <p:cNvSpPr/>
          <p:nvPr/>
        </p:nvSpPr>
        <p:spPr>
          <a:xfrm flipH="false" flipV="false" rot="-1055302">
            <a:off x="-552465" y="274878"/>
            <a:ext cx="2767204" cy="2199927"/>
          </a:xfrm>
          <a:custGeom>
            <a:avLst/>
            <a:gdLst/>
            <a:ahLst/>
            <a:cxnLst/>
            <a:rect r="r" b="b" t="t" l="l"/>
            <a:pathLst>
              <a:path h="2199927" w="2767204">
                <a:moveTo>
                  <a:pt x="0" y="0"/>
                </a:moveTo>
                <a:lnTo>
                  <a:pt x="2767204" y="0"/>
                </a:lnTo>
                <a:lnTo>
                  <a:pt x="2767204" y="2199927"/>
                </a:lnTo>
                <a:lnTo>
                  <a:pt x="0" y="21999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3" id="23"/>
          <p:cNvSpPr/>
          <p:nvPr/>
        </p:nvSpPr>
        <p:spPr>
          <a:xfrm flipH="false" flipV="false" rot="-1656121">
            <a:off x="16327664" y="237013"/>
            <a:ext cx="2885843" cy="2903993"/>
          </a:xfrm>
          <a:custGeom>
            <a:avLst/>
            <a:gdLst/>
            <a:ahLst/>
            <a:cxnLst/>
            <a:rect r="r" b="b" t="t" l="l"/>
            <a:pathLst>
              <a:path h="2903993" w="2885843">
                <a:moveTo>
                  <a:pt x="0" y="0"/>
                </a:moveTo>
                <a:lnTo>
                  <a:pt x="2885843" y="0"/>
                </a:lnTo>
                <a:lnTo>
                  <a:pt x="2885843" y="2903994"/>
                </a:lnTo>
                <a:lnTo>
                  <a:pt x="0" y="290399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24" id="24"/>
          <p:cNvSpPr/>
          <p:nvPr/>
        </p:nvSpPr>
        <p:spPr>
          <a:xfrm flipH="false" flipV="false" rot="-2237841">
            <a:off x="17105360" y="8414200"/>
            <a:ext cx="1768567" cy="1835089"/>
          </a:xfrm>
          <a:custGeom>
            <a:avLst/>
            <a:gdLst/>
            <a:ahLst/>
            <a:cxnLst/>
            <a:rect r="r" b="b" t="t" l="l"/>
            <a:pathLst>
              <a:path h="1835089" w="1768567">
                <a:moveTo>
                  <a:pt x="0" y="0"/>
                </a:moveTo>
                <a:lnTo>
                  <a:pt x="1768567" y="0"/>
                </a:lnTo>
                <a:lnTo>
                  <a:pt x="1768567" y="1835089"/>
                </a:lnTo>
                <a:lnTo>
                  <a:pt x="0" y="183508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25" id="25"/>
          <p:cNvSpPr/>
          <p:nvPr/>
        </p:nvSpPr>
        <p:spPr>
          <a:xfrm flipH="false" flipV="false" rot="-1479392">
            <a:off x="-577273" y="5940385"/>
            <a:ext cx="1488231" cy="1901893"/>
          </a:xfrm>
          <a:custGeom>
            <a:avLst/>
            <a:gdLst/>
            <a:ahLst/>
            <a:cxnLst/>
            <a:rect r="r" b="b" t="t" l="l"/>
            <a:pathLst>
              <a:path h="1901893" w="1488231">
                <a:moveTo>
                  <a:pt x="0" y="0"/>
                </a:moveTo>
                <a:lnTo>
                  <a:pt x="1488232" y="0"/>
                </a:lnTo>
                <a:lnTo>
                  <a:pt x="1488232" y="1901893"/>
                </a:lnTo>
                <a:lnTo>
                  <a:pt x="0" y="190189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6" id="26"/>
          <p:cNvSpPr/>
          <p:nvPr/>
        </p:nvSpPr>
        <p:spPr>
          <a:xfrm flipH="false" flipV="false" rot="-458292">
            <a:off x="-903414" y="3078267"/>
            <a:ext cx="2287819" cy="2367730"/>
          </a:xfrm>
          <a:custGeom>
            <a:avLst/>
            <a:gdLst/>
            <a:ahLst/>
            <a:cxnLst/>
            <a:rect r="r" b="b" t="t" l="l"/>
            <a:pathLst>
              <a:path h="2367730" w="2287819">
                <a:moveTo>
                  <a:pt x="0" y="0"/>
                </a:moveTo>
                <a:lnTo>
                  <a:pt x="2287819" y="0"/>
                </a:lnTo>
                <a:lnTo>
                  <a:pt x="2287819" y="2367731"/>
                </a:lnTo>
                <a:lnTo>
                  <a:pt x="0" y="2367731"/>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Tree>
  </p:cSld>
  <p:clrMapOvr>
    <a:masterClrMapping/>
  </p:clrMapOvr>
  <p:transition spd="slow">
    <p:push dir="d"/>
  </p:transition>
</p:sld>
</file>

<file path=ppt/slides/slide28.xml><?xml version="1.0" encoding="utf-8"?>
<p:sld xmlns:p="http://schemas.openxmlformats.org/presentationml/2006/main" xmlns:a="http://schemas.openxmlformats.org/drawingml/2006/main">
  <p:cSld>
    <p:bg>
      <p:bgPr>
        <a:solidFill>
          <a:srgbClr val="C8E3ED"/>
        </a:solidFill>
      </p:bgPr>
    </p:bg>
    <p:spTree>
      <p:nvGrpSpPr>
        <p:cNvPr id="1" name=""/>
        <p:cNvGrpSpPr/>
        <p:nvPr/>
      </p:nvGrpSpPr>
      <p:grpSpPr>
        <a:xfrm>
          <a:off x="0" y="0"/>
          <a:ext cx="0" cy="0"/>
          <a:chOff x="0" y="0"/>
          <a:chExt cx="0" cy="0"/>
        </a:xfrm>
      </p:grpSpPr>
      <p:grpSp>
        <p:nvGrpSpPr>
          <p:cNvPr name="Group 2" id="2"/>
          <p:cNvGrpSpPr/>
          <p:nvPr/>
        </p:nvGrpSpPr>
        <p:grpSpPr>
          <a:xfrm rot="0">
            <a:off x="774820" y="1028700"/>
            <a:ext cx="18537765" cy="8229600"/>
            <a:chOff x="0" y="0"/>
            <a:chExt cx="24717020" cy="10972800"/>
          </a:xfrm>
        </p:grpSpPr>
        <p:grpSp>
          <p:nvGrpSpPr>
            <p:cNvPr name="Group 3" id="3"/>
            <p:cNvGrpSpPr/>
            <p:nvPr/>
          </p:nvGrpSpPr>
          <p:grpSpPr>
            <a:xfrm rot="0">
              <a:off x="0" y="977717"/>
              <a:ext cx="23352980" cy="9995083"/>
              <a:chOff x="0" y="0"/>
              <a:chExt cx="22703567" cy="9717134"/>
            </a:xfrm>
          </p:grpSpPr>
          <p:sp>
            <p:nvSpPr>
              <p:cNvPr name="Freeform 4" id="4"/>
              <p:cNvSpPr/>
              <p:nvPr/>
            </p:nvSpPr>
            <p:spPr>
              <a:xfrm flipH="false" flipV="false" rot="0">
                <a:off x="-1" y="0"/>
                <a:ext cx="22703568" cy="9717134"/>
              </a:xfrm>
              <a:custGeom>
                <a:avLst/>
                <a:gdLst/>
                <a:ahLst/>
                <a:cxnLst/>
                <a:rect r="r" b="b" t="t" l="l"/>
                <a:pathLst>
                  <a:path h="9717134" w="22703568">
                    <a:moveTo>
                      <a:pt x="22204787" y="9700216"/>
                    </a:moveTo>
                    <a:cubicBezTo>
                      <a:pt x="22204787" y="9700216"/>
                      <a:pt x="21967792" y="9690246"/>
                      <a:pt x="21605653" y="9703690"/>
                    </a:cubicBezTo>
                    <a:cubicBezTo>
                      <a:pt x="21243514" y="9717134"/>
                      <a:pt x="490924" y="9717134"/>
                      <a:pt x="490924" y="9717134"/>
                    </a:cubicBezTo>
                    <a:cubicBezTo>
                      <a:pt x="245502" y="9717134"/>
                      <a:pt x="32509" y="9619866"/>
                      <a:pt x="31032" y="9459752"/>
                    </a:cubicBezTo>
                    <a:cubicBezTo>
                      <a:pt x="31032" y="9459752"/>
                      <a:pt x="0" y="6758194"/>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158239" y="0"/>
                      <a:pt x="22158239" y="0"/>
                    </a:cubicBezTo>
                    <a:cubicBezTo>
                      <a:pt x="22470140" y="0"/>
                      <a:pt x="22703569" y="101069"/>
                      <a:pt x="22695710" y="303616"/>
                    </a:cubicBezTo>
                    <a:cubicBezTo>
                      <a:pt x="22695710" y="303616"/>
                      <a:pt x="22693715" y="6210870"/>
                      <a:pt x="22702471" y="8760165"/>
                    </a:cubicBezTo>
                    <a:cubicBezTo>
                      <a:pt x="22711226" y="9053467"/>
                      <a:pt x="22664678" y="9386538"/>
                      <a:pt x="22664678" y="9386538"/>
                    </a:cubicBezTo>
                    <a:cubicBezTo>
                      <a:pt x="22661712" y="9566563"/>
                      <a:pt x="22450209" y="9700216"/>
                      <a:pt x="22204787" y="9700216"/>
                    </a:cubicBezTo>
                    <a:close/>
                  </a:path>
                </a:pathLst>
              </a:custGeom>
              <a:solidFill>
                <a:srgbClr val="8FB7C6"/>
              </a:solidFill>
            </p:spPr>
          </p:sp>
        </p:grpSp>
        <p:grpSp>
          <p:nvGrpSpPr>
            <p:cNvPr name="Group 5" id="5"/>
            <p:cNvGrpSpPr/>
            <p:nvPr/>
          </p:nvGrpSpPr>
          <p:grpSpPr>
            <a:xfrm rot="0">
              <a:off x="254961" y="1067537"/>
              <a:ext cx="22897610" cy="9778026"/>
              <a:chOff x="0" y="0"/>
              <a:chExt cx="22594507" cy="9648591"/>
            </a:xfrm>
          </p:grpSpPr>
          <p:sp>
            <p:nvSpPr>
              <p:cNvPr name="Freeform 6" id="6"/>
              <p:cNvSpPr/>
              <p:nvPr/>
            </p:nvSpPr>
            <p:spPr>
              <a:xfrm flipH="false" flipV="false" rot="0">
                <a:off x="-1" y="0"/>
                <a:ext cx="22594508" cy="9648591"/>
              </a:xfrm>
              <a:custGeom>
                <a:avLst/>
                <a:gdLst/>
                <a:ahLst/>
                <a:cxnLst/>
                <a:rect r="r" b="b" t="t" l="l"/>
                <a:pathLst>
                  <a:path h="9648591" w="22594508">
                    <a:moveTo>
                      <a:pt x="22095727" y="9631673"/>
                    </a:moveTo>
                    <a:cubicBezTo>
                      <a:pt x="22095727" y="9631673"/>
                      <a:pt x="21858730" y="9621703"/>
                      <a:pt x="21496593" y="9635147"/>
                    </a:cubicBezTo>
                    <a:cubicBezTo>
                      <a:pt x="21134454" y="9648591"/>
                      <a:pt x="490924" y="9648591"/>
                      <a:pt x="490924" y="9648591"/>
                    </a:cubicBezTo>
                    <a:cubicBezTo>
                      <a:pt x="245502" y="9648591"/>
                      <a:pt x="32509" y="9551323"/>
                      <a:pt x="31032" y="9391209"/>
                    </a:cubicBezTo>
                    <a:cubicBezTo>
                      <a:pt x="31032" y="9391209"/>
                      <a:pt x="0" y="6705102"/>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049179" y="0"/>
                      <a:pt x="22049179" y="0"/>
                    </a:cubicBezTo>
                    <a:cubicBezTo>
                      <a:pt x="22361080" y="0"/>
                      <a:pt x="22594507" y="101069"/>
                      <a:pt x="22586650" y="303616"/>
                    </a:cubicBezTo>
                    <a:cubicBezTo>
                      <a:pt x="22586650" y="303616"/>
                      <a:pt x="22584655" y="6162502"/>
                      <a:pt x="22593411" y="8691622"/>
                    </a:cubicBezTo>
                    <a:cubicBezTo>
                      <a:pt x="22602166" y="8984924"/>
                      <a:pt x="22555618" y="9317995"/>
                      <a:pt x="22555618" y="9317995"/>
                    </a:cubicBezTo>
                    <a:cubicBezTo>
                      <a:pt x="22552652" y="9498020"/>
                      <a:pt x="22341149" y="9631673"/>
                      <a:pt x="22095727" y="9631673"/>
                    </a:cubicBezTo>
                    <a:close/>
                  </a:path>
                </a:pathLst>
              </a:custGeom>
              <a:solidFill>
                <a:srgbClr val="8FB7C6"/>
              </a:solidFill>
            </p:spPr>
          </p:sp>
        </p:grpSp>
        <p:grpSp>
          <p:nvGrpSpPr>
            <p:cNvPr name="Group 7" id="7"/>
            <p:cNvGrpSpPr/>
            <p:nvPr/>
          </p:nvGrpSpPr>
          <p:grpSpPr>
            <a:xfrm rot="0">
              <a:off x="919721" y="0"/>
              <a:ext cx="22232850" cy="10328670"/>
              <a:chOff x="0" y="0"/>
              <a:chExt cx="23043639" cy="10705337"/>
            </a:xfrm>
          </p:grpSpPr>
          <p:sp>
            <p:nvSpPr>
              <p:cNvPr name="Freeform 8" id="8"/>
              <p:cNvSpPr/>
              <p:nvPr/>
            </p:nvSpPr>
            <p:spPr>
              <a:xfrm flipH="false" flipV="false" rot="0">
                <a:off x="-1" y="0"/>
                <a:ext cx="23043639" cy="10705337"/>
              </a:xfrm>
              <a:custGeom>
                <a:avLst/>
                <a:gdLst/>
                <a:ahLst/>
                <a:cxnLst/>
                <a:rect r="r" b="b" t="t" l="l"/>
                <a:pathLst>
                  <a:path h="10705337" w="23043639">
                    <a:moveTo>
                      <a:pt x="22544859" y="10688418"/>
                    </a:moveTo>
                    <a:cubicBezTo>
                      <a:pt x="22544859" y="10688418"/>
                      <a:pt x="22307863" y="10678449"/>
                      <a:pt x="21945723" y="10691893"/>
                    </a:cubicBezTo>
                    <a:cubicBezTo>
                      <a:pt x="21583586" y="10705337"/>
                      <a:pt x="490924" y="10705337"/>
                      <a:pt x="490924" y="10705337"/>
                    </a:cubicBezTo>
                    <a:cubicBezTo>
                      <a:pt x="245502" y="10705337"/>
                      <a:pt x="32509" y="10608069"/>
                      <a:pt x="31032" y="10447955"/>
                    </a:cubicBezTo>
                    <a:cubicBezTo>
                      <a:pt x="31032" y="10447955"/>
                      <a:pt x="0" y="7523653"/>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498310" y="0"/>
                      <a:pt x="22498310" y="0"/>
                    </a:cubicBezTo>
                    <a:cubicBezTo>
                      <a:pt x="22810212" y="0"/>
                      <a:pt x="23043639" y="101069"/>
                      <a:pt x="23035783" y="303616"/>
                    </a:cubicBezTo>
                    <a:cubicBezTo>
                      <a:pt x="23035783" y="303616"/>
                      <a:pt x="23033787" y="6908210"/>
                      <a:pt x="23042542" y="9748368"/>
                    </a:cubicBezTo>
                    <a:cubicBezTo>
                      <a:pt x="23051298" y="10041669"/>
                      <a:pt x="23004750" y="10374741"/>
                      <a:pt x="23004750" y="10374741"/>
                    </a:cubicBezTo>
                    <a:cubicBezTo>
                      <a:pt x="23001785" y="10554766"/>
                      <a:pt x="22790281" y="10688418"/>
                      <a:pt x="22544859" y="10688418"/>
                    </a:cubicBezTo>
                    <a:close/>
                  </a:path>
                </a:pathLst>
              </a:custGeom>
              <a:solidFill>
                <a:srgbClr val="F3FCFF"/>
              </a:solidFill>
            </p:spPr>
          </p:sp>
        </p:grpSp>
        <p:sp>
          <p:nvSpPr>
            <p:cNvPr name="AutoShape 9" id="9"/>
            <p:cNvSpPr/>
            <p:nvPr/>
          </p:nvSpPr>
          <p:spPr>
            <a:xfrm>
              <a:off x="2250246" y="9826016"/>
              <a:ext cx="22466735" cy="34286"/>
            </a:xfrm>
            <a:prstGeom prst="line">
              <a:avLst/>
            </a:prstGeom>
            <a:ln cap="rnd" w="50800">
              <a:solidFill>
                <a:srgbClr val="8FB7C6"/>
              </a:solidFill>
              <a:prstDash val="solid"/>
              <a:headEnd type="none" len="sm" w="sm"/>
              <a:tailEnd type="none" len="sm" w="sm"/>
            </a:ln>
          </p:spPr>
        </p:sp>
        <p:sp>
          <p:nvSpPr>
            <p:cNvPr name="AutoShape 10" id="10"/>
            <p:cNvSpPr/>
            <p:nvPr/>
          </p:nvSpPr>
          <p:spPr>
            <a:xfrm>
              <a:off x="2250246" y="717206"/>
              <a:ext cx="22466735" cy="34286"/>
            </a:xfrm>
            <a:prstGeom prst="line">
              <a:avLst/>
            </a:prstGeom>
            <a:ln cap="rnd" w="50800">
              <a:solidFill>
                <a:srgbClr val="8FB7C6"/>
              </a:solidFill>
              <a:prstDash val="solid"/>
              <a:headEnd type="none" len="sm" w="sm"/>
              <a:tailEnd type="none" len="sm" w="sm"/>
            </a:ln>
          </p:spPr>
        </p:sp>
      </p:grpSp>
      <p:grpSp>
        <p:nvGrpSpPr>
          <p:cNvPr name="Group 11" id="11"/>
          <p:cNvGrpSpPr/>
          <p:nvPr/>
        </p:nvGrpSpPr>
        <p:grpSpPr>
          <a:xfrm rot="0">
            <a:off x="3521482" y="2100874"/>
            <a:ext cx="12028932" cy="5515711"/>
            <a:chOff x="0" y="0"/>
            <a:chExt cx="16038576" cy="7354282"/>
          </a:xfrm>
        </p:grpSpPr>
        <p:sp>
          <p:nvSpPr>
            <p:cNvPr name="TextBox 12" id="12"/>
            <p:cNvSpPr txBox="true"/>
            <p:nvPr/>
          </p:nvSpPr>
          <p:spPr>
            <a:xfrm rot="0">
              <a:off x="0" y="1786348"/>
              <a:ext cx="16038576" cy="5567934"/>
            </a:xfrm>
            <a:prstGeom prst="rect">
              <a:avLst/>
            </a:prstGeom>
          </p:spPr>
          <p:txBody>
            <a:bodyPr anchor="t" rtlCol="false" tIns="0" lIns="0" bIns="0" rIns="0">
              <a:spAutoFit/>
            </a:bodyPr>
            <a:lstStyle/>
            <a:p>
              <a:pPr algn="just" marL="764289" indent="-382145" lvl="1">
                <a:lnSpc>
                  <a:spcPts val="4779"/>
                </a:lnSpc>
                <a:buFont typeface="Arial"/>
                <a:buChar char="•"/>
              </a:pPr>
              <a:r>
                <a:rPr lang="en-US" sz="3540" spc="-35">
                  <a:solidFill>
                    <a:srgbClr val="000000"/>
                  </a:solidFill>
                  <a:latin typeface="Asap"/>
                  <a:ea typeface="Asap"/>
                  <a:cs typeface="Asap"/>
                  <a:sym typeface="Asap"/>
                </a:rPr>
                <a:t>Mục tiêu chương</a:t>
              </a:r>
            </a:p>
            <a:p>
              <a:pPr algn="just" marL="764289" indent="-382145" lvl="1">
                <a:lnSpc>
                  <a:spcPts val="4779"/>
                </a:lnSpc>
                <a:buFont typeface="Arial"/>
                <a:buChar char="•"/>
              </a:pPr>
              <a:r>
                <a:rPr lang="en-US" sz="3540" spc="-35">
                  <a:solidFill>
                    <a:srgbClr val="000000"/>
                  </a:solidFill>
                  <a:latin typeface="Asap"/>
                  <a:ea typeface="Asap"/>
                  <a:cs typeface="Asap"/>
                  <a:sym typeface="Asap"/>
                </a:rPr>
                <a:t>Hiểu cách đư</a:t>
              </a:r>
              <a:r>
                <a:rPr lang="en-US" sz="3540" spc="-35">
                  <a:solidFill>
                    <a:srgbClr val="000000"/>
                  </a:solidFill>
                  <a:latin typeface="Asap"/>
                  <a:ea typeface="Asap"/>
                  <a:cs typeface="Asap"/>
                  <a:sym typeface="Asap"/>
                </a:rPr>
                <a:t>a hệ thống vào production</a:t>
              </a:r>
            </a:p>
            <a:p>
              <a:pPr algn="just" marL="764289" indent="-382145" lvl="1">
                <a:lnSpc>
                  <a:spcPts val="4779"/>
                </a:lnSpc>
                <a:buFont typeface="Arial"/>
                <a:buChar char="•"/>
              </a:pPr>
              <a:r>
                <a:rPr lang="en-US" sz="3540" spc="-35">
                  <a:solidFill>
                    <a:srgbClr val="000000"/>
                  </a:solidFill>
                  <a:latin typeface="Asap"/>
                  <a:ea typeface="Asap"/>
                  <a:cs typeface="Asap"/>
                  <a:sym typeface="Asap"/>
                </a:rPr>
                <a:t>Áp dụng:</a:t>
              </a:r>
            </a:p>
            <a:p>
              <a:pPr algn="just" marL="764289" indent="-382145" lvl="1">
                <a:lnSpc>
                  <a:spcPts val="4779"/>
                </a:lnSpc>
                <a:buFont typeface="Arial"/>
                <a:buChar char="•"/>
              </a:pPr>
              <a:r>
                <a:rPr lang="en-US" sz="3540" spc="-35">
                  <a:solidFill>
                    <a:srgbClr val="000000"/>
                  </a:solidFill>
                  <a:latin typeface="Asap"/>
                  <a:ea typeface="Asap"/>
                  <a:cs typeface="Asap"/>
                  <a:sym typeface="Asap"/>
                </a:rPr>
                <a:t>Logging</a:t>
              </a:r>
            </a:p>
            <a:p>
              <a:pPr algn="just" marL="764289" indent="-382145" lvl="1">
                <a:lnSpc>
                  <a:spcPts val="4779"/>
                </a:lnSpc>
                <a:buFont typeface="Arial"/>
                <a:buChar char="•"/>
              </a:pPr>
              <a:r>
                <a:rPr lang="en-US" sz="3540" spc="-35">
                  <a:solidFill>
                    <a:srgbClr val="000000"/>
                  </a:solidFill>
                  <a:latin typeface="Asap"/>
                  <a:ea typeface="Asap"/>
                  <a:cs typeface="Asap"/>
                  <a:sym typeface="Asap"/>
                </a:rPr>
                <a:t>Moni</a:t>
              </a:r>
              <a:r>
                <a:rPr lang="en-US" sz="3540" spc="-35">
                  <a:solidFill>
                    <a:srgbClr val="000000"/>
                  </a:solidFill>
                  <a:latin typeface="Asap"/>
                  <a:ea typeface="Asap"/>
                  <a:cs typeface="Asap"/>
                  <a:sym typeface="Asap"/>
                </a:rPr>
                <a:t>toring</a:t>
              </a:r>
            </a:p>
            <a:p>
              <a:pPr algn="just" marL="764289" indent="-382145" lvl="1">
                <a:lnSpc>
                  <a:spcPts val="4779"/>
                </a:lnSpc>
                <a:buFont typeface="Arial"/>
                <a:buChar char="•"/>
              </a:pPr>
              <a:r>
                <a:rPr lang="en-US" sz="3540" spc="-35">
                  <a:solidFill>
                    <a:srgbClr val="000000"/>
                  </a:solidFill>
                  <a:latin typeface="Asap"/>
                  <a:ea typeface="Asap"/>
                  <a:cs typeface="Asap"/>
                  <a:sym typeface="Asap"/>
                </a:rPr>
                <a:t>E</a:t>
              </a:r>
              <a:r>
                <a:rPr lang="en-US" sz="3540" spc="-35">
                  <a:solidFill>
                    <a:srgbClr val="000000"/>
                  </a:solidFill>
                  <a:latin typeface="Asap"/>
                  <a:ea typeface="Asap"/>
                  <a:cs typeface="Asap"/>
                  <a:sym typeface="Asap"/>
                </a:rPr>
                <a:t>rror handli</a:t>
              </a:r>
              <a:r>
                <a:rPr lang="en-US" sz="3540" spc="-35">
                  <a:solidFill>
                    <a:srgbClr val="000000"/>
                  </a:solidFill>
                  <a:latin typeface="Asap"/>
                  <a:ea typeface="Asap"/>
                  <a:cs typeface="Asap"/>
                  <a:sym typeface="Asap"/>
                </a:rPr>
                <a:t>ng</a:t>
              </a:r>
            </a:p>
            <a:p>
              <a:pPr algn="just">
                <a:lnSpc>
                  <a:spcPts val="4779"/>
                </a:lnSpc>
              </a:pPr>
            </a:p>
          </p:txBody>
        </p:sp>
        <p:sp>
          <p:nvSpPr>
            <p:cNvPr name="TextBox 13" id="13"/>
            <p:cNvSpPr txBox="true"/>
            <p:nvPr/>
          </p:nvSpPr>
          <p:spPr>
            <a:xfrm rot="0">
              <a:off x="0" y="0"/>
              <a:ext cx="12467932" cy="1207078"/>
            </a:xfrm>
            <a:prstGeom prst="rect">
              <a:avLst/>
            </a:prstGeom>
          </p:spPr>
          <p:txBody>
            <a:bodyPr anchor="t" rtlCol="false" tIns="0" lIns="0" bIns="0" rIns="0">
              <a:spAutoFit/>
            </a:bodyPr>
            <a:lstStyle/>
            <a:p>
              <a:pPr algn="just">
                <a:lnSpc>
                  <a:spcPts val="7140"/>
                </a:lnSpc>
              </a:pPr>
              <a:r>
                <a:rPr lang="en-US" b="true" sz="5950">
                  <a:solidFill>
                    <a:srgbClr val="1D2B74"/>
                  </a:solidFill>
                  <a:latin typeface="Faustina Bold"/>
                  <a:ea typeface="Faustina Bold"/>
                  <a:cs typeface="Faustina Bold"/>
                  <a:sym typeface="Faustina Bold"/>
                </a:rPr>
                <a:t>GIỚI THIỆU</a:t>
              </a:r>
            </a:p>
          </p:txBody>
        </p:sp>
      </p:grpSp>
    </p:spTree>
  </p:cSld>
  <p:clrMapOvr>
    <a:masterClrMapping/>
  </p:clrMapOvr>
  <p:transition spd="slow">
    <p:push dir="r"/>
  </p:transition>
</p:sld>
</file>

<file path=ppt/slides/slide29.xml><?xml version="1.0" encoding="utf-8"?>
<p:sld xmlns:p="http://schemas.openxmlformats.org/presentationml/2006/main" xmlns:a="http://schemas.openxmlformats.org/drawingml/2006/main">
  <p:cSld>
    <p:bg>
      <p:bgPr>
        <a:solidFill>
          <a:srgbClr val="C8E3ED"/>
        </a:solidFill>
      </p:bgPr>
    </p:bg>
    <p:spTree>
      <p:nvGrpSpPr>
        <p:cNvPr id="1" name=""/>
        <p:cNvGrpSpPr/>
        <p:nvPr/>
      </p:nvGrpSpPr>
      <p:grpSpPr>
        <a:xfrm>
          <a:off x="0" y="0"/>
          <a:ext cx="0" cy="0"/>
          <a:chOff x="0" y="0"/>
          <a:chExt cx="0" cy="0"/>
        </a:xfrm>
      </p:grpSpPr>
      <p:grpSp>
        <p:nvGrpSpPr>
          <p:cNvPr name="Group 2" id="2"/>
          <p:cNvGrpSpPr/>
          <p:nvPr/>
        </p:nvGrpSpPr>
        <p:grpSpPr>
          <a:xfrm rot="0">
            <a:off x="774820" y="1028700"/>
            <a:ext cx="18537765" cy="8229600"/>
            <a:chOff x="0" y="0"/>
            <a:chExt cx="24717020" cy="10972800"/>
          </a:xfrm>
        </p:grpSpPr>
        <p:grpSp>
          <p:nvGrpSpPr>
            <p:cNvPr name="Group 3" id="3"/>
            <p:cNvGrpSpPr/>
            <p:nvPr/>
          </p:nvGrpSpPr>
          <p:grpSpPr>
            <a:xfrm rot="0">
              <a:off x="0" y="977717"/>
              <a:ext cx="23352980" cy="9995083"/>
              <a:chOff x="0" y="0"/>
              <a:chExt cx="22703567" cy="9717134"/>
            </a:xfrm>
          </p:grpSpPr>
          <p:sp>
            <p:nvSpPr>
              <p:cNvPr name="Freeform 4" id="4"/>
              <p:cNvSpPr/>
              <p:nvPr/>
            </p:nvSpPr>
            <p:spPr>
              <a:xfrm flipH="false" flipV="false" rot="0">
                <a:off x="-1" y="0"/>
                <a:ext cx="22703568" cy="9717134"/>
              </a:xfrm>
              <a:custGeom>
                <a:avLst/>
                <a:gdLst/>
                <a:ahLst/>
                <a:cxnLst/>
                <a:rect r="r" b="b" t="t" l="l"/>
                <a:pathLst>
                  <a:path h="9717134" w="22703568">
                    <a:moveTo>
                      <a:pt x="22204787" y="9700216"/>
                    </a:moveTo>
                    <a:cubicBezTo>
                      <a:pt x="22204787" y="9700216"/>
                      <a:pt x="21967792" y="9690246"/>
                      <a:pt x="21605653" y="9703690"/>
                    </a:cubicBezTo>
                    <a:cubicBezTo>
                      <a:pt x="21243514" y="9717134"/>
                      <a:pt x="490924" y="9717134"/>
                      <a:pt x="490924" y="9717134"/>
                    </a:cubicBezTo>
                    <a:cubicBezTo>
                      <a:pt x="245502" y="9717134"/>
                      <a:pt x="32509" y="9619866"/>
                      <a:pt x="31032" y="9459752"/>
                    </a:cubicBezTo>
                    <a:cubicBezTo>
                      <a:pt x="31032" y="9459752"/>
                      <a:pt x="0" y="6758194"/>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158239" y="0"/>
                      <a:pt x="22158239" y="0"/>
                    </a:cubicBezTo>
                    <a:cubicBezTo>
                      <a:pt x="22470140" y="0"/>
                      <a:pt x="22703569" y="101069"/>
                      <a:pt x="22695710" y="303616"/>
                    </a:cubicBezTo>
                    <a:cubicBezTo>
                      <a:pt x="22695710" y="303616"/>
                      <a:pt x="22693715" y="6210870"/>
                      <a:pt x="22702471" y="8760165"/>
                    </a:cubicBezTo>
                    <a:cubicBezTo>
                      <a:pt x="22711226" y="9053467"/>
                      <a:pt x="22664678" y="9386538"/>
                      <a:pt x="22664678" y="9386538"/>
                    </a:cubicBezTo>
                    <a:cubicBezTo>
                      <a:pt x="22661712" y="9566563"/>
                      <a:pt x="22450209" y="9700216"/>
                      <a:pt x="22204787" y="9700216"/>
                    </a:cubicBezTo>
                    <a:close/>
                  </a:path>
                </a:pathLst>
              </a:custGeom>
              <a:solidFill>
                <a:srgbClr val="8FB7C6"/>
              </a:solidFill>
            </p:spPr>
          </p:sp>
        </p:grpSp>
        <p:grpSp>
          <p:nvGrpSpPr>
            <p:cNvPr name="Group 5" id="5"/>
            <p:cNvGrpSpPr/>
            <p:nvPr/>
          </p:nvGrpSpPr>
          <p:grpSpPr>
            <a:xfrm rot="0">
              <a:off x="254961" y="1067537"/>
              <a:ext cx="22897610" cy="9778026"/>
              <a:chOff x="0" y="0"/>
              <a:chExt cx="22594507" cy="9648591"/>
            </a:xfrm>
          </p:grpSpPr>
          <p:sp>
            <p:nvSpPr>
              <p:cNvPr name="Freeform 6" id="6"/>
              <p:cNvSpPr/>
              <p:nvPr/>
            </p:nvSpPr>
            <p:spPr>
              <a:xfrm flipH="false" flipV="false" rot="0">
                <a:off x="-1" y="0"/>
                <a:ext cx="22594508" cy="9648591"/>
              </a:xfrm>
              <a:custGeom>
                <a:avLst/>
                <a:gdLst/>
                <a:ahLst/>
                <a:cxnLst/>
                <a:rect r="r" b="b" t="t" l="l"/>
                <a:pathLst>
                  <a:path h="9648591" w="22594508">
                    <a:moveTo>
                      <a:pt x="22095727" y="9631673"/>
                    </a:moveTo>
                    <a:cubicBezTo>
                      <a:pt x="22095727" y="9631673"/>
                      <a:pt x="21858730" y="9621703"/>
                      <a:pt x="21496593" y="9635147"/>
                    </a:cubicBezTo>
                    <a:cubicBezTo>
                      <a:pt x="21134454" y="9648591"/>
                      <a:pt x="490924" y="9648591"/>
                      <a:pt x="490924" y="9648591"/>
                    </a:cubicBezTo>
                    <a:cubicBezTo>
                      <a:pt x="245502" y="9648591"/>
                      <a:pt x="32509" y="9551323"/>
                      <a:pt x="31032" y="9391209"/>
                    </a:cubicBezTo>
                    <a:cubicBezTo>
                      <a:pt x="31032" y="9391209"/>
                      <a:pt x="0" y="6705102"/>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049179" y="0"/>
                      <a:pt x="22049179" y="0"/>
                    </a:cubicBezTo>
                    <a:cubicBezTo>
                      <a:pt x="22361080" y="0"/>
                      <a:pt x="22594507" y="101069"/>
                      <a:pt x="22586650" y="303616"/>
                    </a:cubicBezTo>
                    <a:cubicBezTo>
                      <a:pt x="22586650" y="303616"/>
                      <a:pt x="22584655" y="6162502"/>
                      <a:pt x="22593411" y="8691622"/>
                    </a:cubicBezTo>
                    <a:cubicBezTo>
                      <a:pt x="22602166" y="8984924"/>
                      <a:pt x="22555618" y="9317995"/>
                      <a:pt x="22555618" y="9317995"/>
                    </a:cubicBezTo>
                    <a:cubicBezTo>
                      <a:pt x="22552652" y="9498020"/>
                      <a:pt x="22341149" y="9631673"/>
                      <a:pt x="22095727" y="9631673"/>
                    </a:cubicBezTo>
                    <a:close/>
                  </a:path>
                </a:pathLst>
              </a:custGeom>
              <a:solidFill>
                <a:srgbClr val="8FB7C6"/>
              </a:solidFill>
            </p:spPr>
          </p:sp>
        </p:grpSp>
        <p:grpSp>
          <p:nvGrpSpPr>
            <p:cNvPr name="Group 7" id="7"/>
            <p:cNvGrpSpPr/>
            <p:nvPr/>
          </p:nvGrpSpPr>
          <p:grpSpPr>
            <a:xfrm rot="0">
              <a:off x="919721" y="0"/>
              <a:ext cx="22232850" cy="10328670"/>
              <a:chOff x="0" y="0"/>
              <a:chExt cx="23043639" cy="10705337"/>
            </a:xfrm>
          </p:grpSpPr>
          <p:sp>
            <p:nvSpPr>
              <p:cNvPr name="Freeform 8" id="8"/>
              <p:cNvSpPr/>
              <p:nvPr/>
            </p:nvSpPr>
            <p:spPr>
              <a:xfrm flipH="false" flipV="false" rot="0">
                <a:off x="-1" y="0"/>
                <a:ext cx="23043639" cy="10705337"/>
              </a:xfrm>
              <a:custGeom>
                <a:avLst/>
                <a:gdLst/>
                <a:ahLst/>
                <a:cxnLst/>
                <a:rect r="r" b="b" t="t" l="l"/>
                <a:pathLst>
                  <a:path h="10705337" w="23043639">
                    <a:moveTo>
                      <a:pt x="22544859" y="10688418"/>
                    </a:moveTo>
                    <a:cubicBezTo>
                      <a:pt x="22544859" y="10688418"/>
                      <a:pt x="22307863" y="10678449"/>
                      <a:pt x="21945723" y="10691893"/>
                    </a:cubicBezTo>
                    <a:cubicBezTo>
                      <a:pt x="21583586" y="10705337"/>
                      <a:pt x="490924" y="10705337"/>
                      <a:pt x="490924" y="10705337"/>
                    </a:cubicBezTo>
                    <a:cubicBezTo>
                      <a:pt x="245502" y="10705337"/>
                      <a:pt x="32509" y="10608069"/>
                      <a:pt x="31032" y="10447955"/>
                    </a:cubicBezTo>
                    <a:cubicBezTo>
                      <a:pt x="31032" y="10447955"/>
                      <a:pt x="0" y="7523653"/>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498310" y="0"/>
                      <a:pt x="22498310" y="0"/>
                    </a:cubicBezTo>
                    <a:cubicBezTo>
                      <a:pt x="22810212" y="0"/>
                      <a:pt x="23043639" y="101069"/>
                      <a:pt x="23035783" y="303616"/>
                    </a:cubicBezTo>
                    <a:cubicBezTo>
                      <a:pt x="23035783" y="303616"/>
                      <a:pt x="23033787" y="6908210"/>
                      <a:pt x="23042542" y="9748368"/>
                    </a:cubicBezTo>
                    <a:cubicBezTo>
                      <a:pt x="23051298" y="10041669"/>
                      <a:pt x="23004750" y="10374741"/>
                      <a:pt x="23004750" y="10374741"/>
                    </a:cubicBezTo>
                    <a:cubicBezTo>
                      <a:pt x="23001785" y="10554766"/>
                      <a:pt x="22790281" y="10688418"/>
                      <a:pt x="22544859" y="10688418"/>
                    </a:cubicBezTo>
                    <a:close/>
                  </a:path>
                </a:pathLst>
              </a:custGeom>
              <a:solidFill>
                <a:srgbClr val="F3FCFF"/>
              </a:solidFill>
            </p:spPr>
          </p:sp>
        </p:grpSp>
        <p:sp>
          <p:nvSpPr>
            <p:cNvPr name="AutoShape 9" id="9"/>
            <p:cNvSpPr/>
            <p:nvPr/>
          </p:nvSpPr>
          <p:spPr>
            <a:xfrm>
              <a:off x="2250246" y="9826016"/>
              <a:ext cx="22466735" cy="34286"/>
            </a:xfrm>
            <a:prstGeom prst="line">
              <a:avLst/>
            </a:prstGeom>
            <a:ln cap="rnd" w="50800">
              <a:solidFill>
                <a:srgbClr val="8FB7C6"/>
              </a:solidFill>
              <a:prstDash val="solid"/>
              <a:headEnd type="none" len="sm" w="sm"/>
              <a:tailEnd type="none" len="sm" w="sm"/>
            </a:ln>
          </p:spPr>
        </p:sp>
        <p:sp>
          <p:nvSpPr>
            <p:cNvPr name="AutoShape 10" id="10"/>
            <p:cNvSpPr/>
            <p:nvPr/>
          </p:nvSpPr>
          <p:spPr>
            <a:xfrm>
              <a:off x="2250246" y="717206"/>
              <a:ext cx="22466735" cy="34286"/>
            </a:xfrm>
            <a:prstGeom prst="line">
              <a:avLst/>
            </a:prstGeom>
            <a:ln cap="rnd" w="50800">
              <a:solidFill>
                <a:srgbClr val="8FB7C6"/>
              </a:solidFill>
              <a:prstDash val="solid"/>
              <a:headEnd type="none" len="sm" w="sm"/>
              <a:tailEnd type="none" len="sm" w="sm"/>
            </a:ln>
          </p:spPr>
        </p:sp>
      </p:grpSp>
      <p:grpSp>
        <p:nvGrpSpPr>
          <p:cNvPr name="Group 11" id="11"/>
          <p:cNvGrpSpPr/>
          <p:nvPr/>
        </p:nvGrpSpPr>
        <p:grpSpPr>
          <a:xfrm rot="0">
            <a:off x="3521482" y="3000986"/>
            <a:ext cx="12028932" cy="3715486"/>
            <a:chOff x="0" y="0"/>
            <a:chExt cx="16038576" cy="4953982"/>
          </a:xfrm>
        </p:grpSpPr>
        <p:sp>
          <p:nvSpPr>
            <p:cNvPr name="TextBox 12" id="12"/>
            <p:cNvSpPr txBox="true"/>
            <p:nvPr/>
          </p:nvSpPr>
          <p:spPr>
            <a:xfrm rot="0">
              <a:off x="0" y="1786348"/>
              <a:ext cx="16038576" cy="3167634"/>
            </a:xfrm>
            <a:prstGeom prst="rect">
              <a:avLst/>
            </a:prstGeom>
          </p:spPr>
          <p:txBody>
            <a:bodyPr anchor="t" rtlCol="false" tIns="0" lIns="0" bIns="0" rIns="0">
              <a:spAutoFit/>
            </a:bodyPr>
            <a:lstStyle/>
            <a:p>
              <a:pPr algn="just" marL="764289" indent="-382145" lvl="1">
                <a:lnSpc>
                  <a:spcPts val="4779"/>
                </a:lnSpc>
                <a:buFont typeface="Arial"/>
                <a:buChar char="•"/>
              </a:pPr>
              <a:r>
                <a:rPr lang="en-US" sz="3540" spc="-35">
                  <a:solidFill>
                    <a:srgbClr val="000000"/>
                  </a:solidFill>
                  <a:latin typeface="Asap"/>
                  <a:ea typeface="Asap"/>
                  <a:cs typeface="Asap"/>
                  <a:sym typeface="Asap"/>
                </a:rPr>
                <a:t>Logging → gh</a:t>
              </a:r>
              <a:r>
                <a:rPr lang="en-US" sz="3540" spc="-35">
                  <a:solidFill>
                    <a:srgbClr val="000000"/>
                  </a:solidFill>
                  <a:latin typeface="Asap"/>
                  <a:ea typeface="Asap"/>
                  <a:cs typeface="Asap"/>
                  <a:sym typeface="Asap"/>
                </a:rPr>
                <a:t>i lại hoạt động</a:t>
              </a:r>
              <a:r>
                <a:rPr lang="en-US" sz="3540" spc="-35">
                  <a:solidFill>
                    <a:srgbClr val="000000"/>
                  </a:solidFill>
                  <a:latin typeface="Asap"/>
                  <a:ea typeface="Asap"/>
                  <a:cs typeface="Asap"/>
                  <a:sym typeface="Asap"/>
                </a:rPr>
                <a:t> hệ thống</a:t>
              </a:r>
            </a:p>
            <a:p>
              <a:pPr algn="just" marL="764289" indent="-382145" lvl="1">
                <a:lnSpc>
                  <a:spcPts val="4779"/>
                </a:lnSpc>
                <a:buFont typeface="Arial"/>
                <a:buChar char="•"/>
              </a:pPr>
              <a:r>
                <a:rPr lang="en-US" sz="3540" spc="-35">
                  <a:solidFill>
                    <a:srgbClr val="000000"/>
                  </a:solidFill>
                  <a:latin typeface="Asap"/>
                  <a:ea typeface="Asap"/>
                  <a:cs typeface="Asap"/>
                  <a:sym typeface="Asap"/>
                </a:rPr>
                <a:t>Monitoring → theo dõi hệ thống realtime</a:t>
              </a:r>
            </a:p>
            <a:p>
              <a:pPr algn="just" marL="764289" indent="-382145" lvl="1">
                <a:lnSpc>
                  <a:spcPts val="4779"/>
                </a:lnSpc>
                <a:buFont typeface="Arial"/>
                <a:buChar char="•"/>
              </a:pPr>
              <a:r>
                <a:rPr lang="en-US" sz="3540" spc="-35">
                  <a:solidFill>
                    <a:srgbClr val="000000"/>
                  </a:solidFill>
                  <a:latin typeface="Asap"/>
                  <a:ea typeface="Asap"/>
                  <a:cs typeface="Asap"/>
                  <a:sym typeface="Asap"/>
                </a:rPr>
                <a:t>E</a:t>
              </a:r>
              <a:r>
                <a:rPr lang="en-US" sz="3540" spc="-35">
                  <a:solidFill>
                    <a:srgbClr val="000000"/>
                  </a:solidFill>
                  <a:latin typeface="Asap"/>
                  <a:ea typeface="Asap"/>
                  <a:cs typeface="Asap"/>
                  <a:sym typeface="Asap"/>
                </a:rPr>
                <a:t>rror Handli</a:t>
              </a:r>
              <a:r>
                <a:rPr lang="en-US" sz="3540" spc="-35">
                  <a:solidFill>
                    <a:srgbClr val="000000"/>
                  </a:solidFill>
                  <a:latin typeface="Asap"/>
                  <a:ea typeface="Asap"/>
                  <a:cs typeface="Asap"/>
                  <a:sym typeface="Asap"/>
                </a:rPr>
                <a:t>ng → xử lý lỗi</a:t>
              </a:r>
            </a:p>
            <a:p>
              <a:pPr algn="just">
                <a:lnSpc>
                  <a:spcPts val="4779"/>
                </a:lnSpc>
              </a:pPr>
            </a:p>
          </p:txBody>
        </p:sp>
        <p:sp>
          <p:nvSpPr>
            <p:cNvPr name="TextBox 13" id="13"/>
            <p:cNvSpPr txBox="true"/>
            <p:nvPr/>
          </p:nvSpPr>
          <p:spPr>
            <a:xfrm rot="0">
              <a:off x="0" y="0"/>
              <a:ext cx="12467932" cy="1207078"/>
            </a:xfrm>
            <a:prstGeom prst="rect">
              <a:avLst/>
            </a:prstGeom>
          </p:spPr>
          <p:txBody>
            <a:bodyPr anchor="t" rtlCol="false" tIns="0" lIns="0" bIns="0" rIns="0">
              <a:spAutoFit/>
            </a:bodyPr>
            <a:lstStyle/>
            <a:p>
              <a:pPr algn="just">
                <a:lnSpc>
                  <a:spcPts val="7140"/>
                </a:lnSpc>
              </a:pPr>
              <a:r>
                <a:rPr lang="en-US" b="true" sz="5950">
                  <a:solidFill>
                    <a:srgbClr val="1D2B74"/>
                  </a:solidFill>
                  <a:latin typeface="Faustina Bold"/>
                  <a:ea typeface="Faustina Bold"/>
                  <a:cs typeface="Faustina Bold"/>
                  <a:sym typeface="Faustina Bold"/>
                </a:rPr>
                <a:t> 3 THÀNH PHẦN CHÍNH</a:t>
              </a:r>
            </a:p>
          </p:txBody>
        </p:sp>
      </p:grpSp>
    </p:spTree>
  </p:cSld>
  <p:clrMapOvr>
    <a:masterClrMapping/>
  </p:clrMapOvr>
  <p:transition spd="slow">
    <p:push dir="d"/>
  </p:transition>
</p:sld>
</file>

<file path=ppt/slides/slide30.xml><?xml version="1.0" encoding="utf-8"?>
<p:sld xmlns:p="http://schemas.openxmlformats.org/presentationml/2006/main" xmlns:a="http://schemas.openxmlformats.org/drawingml/2006/main">
  <p:cSld>
    <p:bg>
      <p:bgPr>
        <a:solidFill>
          <a:srgbClr val="C8E3ED"/>
        </a:solidFill>
      </p:bgPr>
    </p:bg>
    <p:spTree>
      <p:nvGrpSpPr>
        <p:cNvPr id="1" name=""/>
        <p:cNvGrpSpPr/>
        <p:nvPr/>
      </p:nvGrpSpPr>
      <p:grpSpPr>
        <a:xfrm>
          <a:off x="0" y="0"/>
          <a:ext cx="0" cy="0"/>
          <a:chOff x="0" y="0"/>
          <a:chExt cx="0" cy="0"/>
        </a:xfrm>
      </p:grpSpPr>
      <p:grpSp>
        <p:nvGrpSpPr>
          <p:cNvPr name="Group 2" id="2"/>
          <p:cNvGrpSpPr/>
          <p:nvPr/>
        </p:nvGrpSpPr>
        <p:grpSpPr>
          <a:xfrm rot="0">
            <a:off x="774820" y="1028700"/>
            <a:ext cx="18537765" cy="8229600"/>
            <a:chOff x="0" y="0"/>
            <a:chExt cx="24717020" cy="10972800"/>
          </a:xfrm>
        </p:grpSpPr>
        <p:grpSp>
          <p:nvGrpSpPr>
            <p:cNvPr name="Group 3" id="3"/>
            <p:cNvGrpSpPr/>
            <p:nvPr/>
          </p:nvGrpSpPr>
          <p:grpSpPr>
            <a:xfrm rot="0">
              <a:off x="0" y="977717"/>
              <a:ext cx="23352980" cy="9995083"/>
              <a:chOff x="0" y="0"/>
              <a:chExt cx="22703567" cy="9717134"/>
            </a:xfrm>
          </p:grpSpPr>
          <p:sp>
            <p:nvSpPr>
              <p:cNvPr name="Freeform 4" id="4"/>
              <p:cNvSpPr/>
              <p:nvPr/>
            </p:nvSpPr>
            <p:spPr>
              <a:xfrm flipH="false" flipV="false" rot="0">
                <a:off x="-1" y="0"/>
                <a:ext cx="22703568" cy="9717134"/>
              </a:xfrm>
              <a:custGeom>
                <a:avLst/>
                <a:gdLst/>
                <a:ahLst/>
                <a:cxnLst/>
                <a:rect r="r" b="b" t="t" l="l"/>
                <a:pathLst>
                  <a:path h="9717134" w="22703568">
                    <a:moveTo>
                      <a:pt x="22204787" y="9700216"/>
                    </a:moveTo>
                    <a:cubicBezTo>
                      <a:pt x="22204787" y="9700216"/>
                      <a:pt x="21967792" y="9690246"/>
                      <a:pt x="21605653" y="9703690"/>
                    </a:cubicBezTo>
                    <a:cubicBezTo>
                      <a:pt x="21243514" y="9717134"/>
                      <a:pt x="490924" y="9717134"/>
                      <a:pt x="490924" y="9717134"/>
                    </a:cubicBezTo>
                    <a:cubicBezTo>
                      <a:pt x="245502" y="9717134"/>
                      <a:pt x="32509" y="9619866"/>
                      <a:pt x="31032" y="9459752"/>
                    </a:cubicBezTo>
                    <a:cubicBezTo>
                      <a:pt x="31032" y="9459752"/>
                      <a:pt x="0" y="6758194"/>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158239" y="0"/>
                      <a:pt x="22158239" y="0"/>
                    </a:cubicBezTo>
                    <a:cubicBezTo>
                      <a:pt x="22470140" y="0"/>
                      <a:pt x="22703569" y="101069"/>
                      <a:pt x="22695710" y="303616"/>
                    </a:cubicBezTo>
                    <a:cubicBezTo>
                      <a:pt x="22695710" y="303616"/>
                      <a:pt x="22693715" y="6210870"/>
                      <a:pt x="22702471" y="8760165"/>
                    </a:cubicBezTo>
                    <a:cubicBezTo>
                      <a:pt x="22711226" y="9053467"/>
                      <a:pt x="22664678" y="9386538"/>
                      <a:pt x="22664678" y="9386538"/>
                    </a:cubicBezTo>
                    <a:cubicBezTo>
                      <a:pt x="22661712" y="9566563"/>
                      <a:pt x="22450209" y="9700216"/>
                      <a:pt x="22204787" y="9700216"/>
                    </a:cubicBezTo>
                    <a:close/>
                  </a:path>
                </a:pathLst>
              </a:custGeom>
              <a:solidFill>
                <a:srgbClr val="8FB7C6"/>
              </a:solidFill>
            </p:spPr>
          </p:sp>
        </p:grpSp>
        <p:grpSp>
          <p:nvGrpSpPr>
            <p:cNvPr name="Group 5" id="5"/>
            <p:cNvGrpSpPr/>
            <p:nvPr/>
          </p:nvGrpSpPr>
          <p:grpSpPr>
            <a:xfrm rot="0">
              <a:off x="254961" y="1067537"/>
              <a:ext cx="22897610" cy="9778026"/>
              <a:chOff x="0" y="0"/>
              <a:chExt cx="22594507" cy="9648591"/>
            </a:xfrm>
          </p:grpSpPr>
          <p:sp>
            <p:nvSpPr>
              <p:cNvPr name="Freeform 6" id="6"/>
              <p:cNvSpPr/>
              <p:nvPr/>
            </p:nvSpPr>
            <p:spPr>
              <a:xfrm flipH="false" flipV="false" rot="0">
                <a:off x="-1" y="0"/>
                <a:ext cx="22594508" cy="9648591"/>
              </a:xfrm>
              <a:custGeom>
                <a:avLst/>
                <a:gdLst/>
                <a:ahLst/>
                <a:cxnLst/>
                <a:rect r="r" b="b" t="t" l="l"/>
                <a:pathLst>
                  <a:path h="9648591" w="22594508">
                    <a:moveTo>
                      <a:pt x="22095727" y="9631673"/>
                    </a:moveTo>
                    <a:cubicBezTo>
                      <a:pt x="22095727" y="9631673"/>
                      <a:pt x="21858730" y="9621703"/>
                      <a:pt x="21496593" y="9635147"/>
                    </a:cubicBezTo>
                    <a:cubicBezTo>
                      <a:pt x="21134454" y="9648591"/>
                      <a:pt x="490924" y="9648591"/>
                      <a:pt x="490924" y="9648591"/>
                    </a:cubicBezTo>
                    <a:cubicBezTo>
                      <a:pt x="245502" y="9648591"/>
                      <a:pt x="32509" y="9551323"/>
                      <a:pt x="31032" y="9391209"/>
                    </a:cubicBezTo>
                    <a:cubicBezTo>
                      <a:pt x="31032" y="9391209"/>
                      <a:pt x="0" y="6705102"/>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049179" y="0"/>
                      <a:pt x="22049179" y="0"/>
                    </a:cubicBezTo>
                    <a:cubicBezTo>
                      <a:pt x="22361080" y="0"/>
                      <a:pt x="22594507" y="101069"/>
                      <a:pt x="22586650" y="303616"/>
                    </a:cubicBezTo>
                    <a:cubicBezTo>
                      <a:pt x="22586650" y="303616"/>
                      <a:pt x="22584655" y="6162502"/>
                      <a:pt x="22593411" y="8691622"/>
                    </a:cubicBezTo>
                    <a:cubicBezTo>
                      <a:pt x="22602166" y="8984924"/>
                      <a:pt x="22555618" y="9317995"/>
                      <a:pt x="22555618" y="9317995"/>
                    </a:cubicBezTo>
                    <a:cubicBezTo>
                      <a:pt x="22552652" y="9498020"/>
                      <a:pt x="22341149" y="9631673"/>
                      <a:pt x="22095727" y="9631673"/>
                    </a:cubicBezTo>
                    <a:close/>
                  </a:path>
                </a:pathLst>
              </a:custGeom>
              <a:solidFill>
                <a:srgbClr val="8FB7C6"/>
              </a:solidFill>
            </p:spPr>
          </p:sp>
        </p:grpSp>
        <p:grpSp>
          <p:nvGrpSpPr>
            <p:cNvPr name="Group 7" id="7"/>
            <p:cNvGrpSpPr/>
            <p:nvPr/>
          </p:nvGrpSpPr>
          <p:grpSpPr>
            <a:xfrm rot="0">
              <a:off x="919721" y="0"/>
              <a:ext cx="22232850" cy="10328670"/>
              <a:chOff x="0" y="0"/>
              <a:chExt cx="23043639" cy="10705337"/>
            </a:xfrm>
          </p:grpSpPr>
          <p:sp>
            <p:nvSpPr>
              <p:cNvPr name="Freeform 8" id="8"/>
              <p:cNvSpPr/>
              <p:nvPr/>
            </p:nvSpPr>
            <p:spPr>
              <a:xfrm flipH="false" flipV="false" rot="0">
                <a:off x="-1" y="0"/>
                <a:ext cx="23043639" cy="10705337"/>
              </a:xfrm>
              <a:custGeom>
                <a:avLst/>
                <a:gdLst/>
                <a:ahLst/>
                <a:cxnLst/>
                <a:rect r="r" b="b" t="t" l="l"/>
                <a:pathLst>
                  <a:path h="10705337" w="23043639">
                    <a:moveTo>
                      <a:pt x="22544859" y="10688418"/>
                    </a:moveTo>
                    <a:cubicBezTo>
                      <a:pt x="22544859" y="10688418"/>
                      <a:pt x="22307863" y="10678449"/>
                      <a:pt x="21945723" y="10691893"/>
                    </a:cubicBezTo>
                    <a:cubicBezTo>
                      <a:pt x="21583586" y="10705337"/>
                      <a:pt x="490924" y="10705337"/>
                      <a:pt x="490924" y="10705337"/>
                    </a:cubicBezTo>
                    <a:cubicBezTo>
                      <a:pt x="245502" y="10705337"/>
                      <a:pt x="32509" y="10608069"/>
                      <a:pt x="31032" y="10447955"/>
                    </a:cubicBezTo>
                    <a:cubicBezTo>
                      <a:pt x="31032" y="10447955"/>
                      <a:pt x="0" y="7523653"/>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498310" y="0"/>
                      <a:pt x="22498310" y="0"/>
                    </a:cubicBezTo>
                    <a:cubicBezTo>
                      <a:pt x="22810212" y="0"/>
                      <a:pt x="23043639" y="101069"/>
                      <a:pt x="23035783" y="303616"/>
                    </a:cubicBezTo>
                    <a:cubicBezTo>
                      <a:pt x="23035783" y="303616"/>
                      <a:pt x="23033787" y="6908210"/>
                      <a:pt x="23042542" y="9748368"/>
                    </a:cubicBezTo>
                    <a:cubicBezTo>
                      <a:pt x="23051298" y="10041669"/>
                      <a:pt x="23004750" y="10374741"/>
                      <a:pt x="23004750" y="10374741"/>
                    </a:cubicBezTo>
                    <a:cubicBezTo>
                      <a:pt x="23001785" y="10554766"/>
                      <a:pt x="22790281" y="10688418"/>
                      <a:pt x="22544859" y="10688418"/>
                    </a:cubicBezTo>
                    <a:close/>
                  </a:path>
                </a:pathLst>
              </a:custGeom>
              <a:solidFill>
                <a:srgbClr val="F3FCFF"/>
              </a:solidFill>
            </p:spPr>
          </p:sp>
        </p:grpSp>
        <p:sp>
          <p:nvSpPr>
            <p:cNvPr name="AutoShape 9" id="9"/>
            <p:cNvSpPr/>
            <p:nvPr/>
          </p:nvSpPr>
          <p:spPr>
            <a:xfrm>
              <a:off x="2250246" y="9826016"/>
              <a:ext cx="22466735" cy="34286"/>
            </a:xfrm>
            <a:prstGeom prst="line">
              <a:avLst/>
            </a:prstGeom>
            <a:ln cap="rnd" w="50800">
              <a:solidFill>
                <a:srgbClr val="8FB7C6"/>
              </a:solidFill>
              <a:prstDash val="solid"/>
              <a:headEnd type="none" len="sm" w="sm"/>
              <a:tailEnd type="none" len="sm" w="sm"/>
            </a:ln>
          </p:spPr>
        </p:sp>
        <p:sp>
          <p:nvSpPr>
            <p:cNvPr name="AutoShape 10" id="10"/>
            <p:cNvSpPr/>
            <p:nvPr/>
          </p:nvSpPr>
          <p:spPr>
            <a:xfrm>
              <a:off x="2250246" y="717206"/>
              <a:ext cx="22466735" cy="34286"/>
            </a:xfrm>
            <a:prstGeom prst="line">
              <a:avLst/>
            </a:prstGeom>
            <a:ln cap="rnd" w="50800">
              <a:solidFill>
                <a:srgbClr val="8FB7C6"/>
              </a:solidFill>
              <a:prstDash val="solid"/>
              <a:headEnd type="none" len="sm" w="sm"/>
              <a:tailEnd type="none" len="sm" w="sm"/>
            </a:ln>
          </p:spPr>
        </p:sp>
      </p:grpSp>
      <p:grpSp>
        <p:nvGrpSpPr>
          <p:cNvPr name="Group 11" id="11"/>
          <p:cNvGrpSpPr/>
          <p:nvPr/>
        </p:nvGrpSpPr>
        <p:grpSpPr>
          <a:xfrm rot="0">
            <a:off x="3407003" y="1615331"/>
            <a:ext cx="12876604" cy="7056337"/>
            <a:chOff x="0" y="0"/>
            <a:chExt cx="17168805" cy="9408449"/>
          </a:xfrm>
        </p:grpSpPr>
        <p:sp>
          <p:nvSpPr>
            <p:cNvPr name="TextBox 12" id="12"/>
            <p:cNvSpPr txBox="true"/>
            <p:nvPr/>
          </p:nvSpPr>
          <p:spPr>
            <a:xfrm rot="0">
              <a:off x="284901" y="1440216"/>
              <a:ext cx="16038576" cy="7968234"/>
            </a:xfrm>
            <a:prstGeom prst="rect">
              <a:avLst/>
            </a:prstGeom>
          </p:spPr>
          <p:txBody>
            <a:bodyPr anchor="t" rtlCol="false" tIns="0" lIns="0" bIns="0" rIns="0">
              <a:spAutoFit/>
            </a:bodyPr>
            <a:lstStyle/>
            <a:p>
              <a:pPr algn="just" marL="764289" indent="-382145" lvl="1">
                <a:lnSpc>
                  <a:spcPts val="4779"/>
                </a:lnSpc>
                <a:buFont typeface="Arial"/>
                <a:buChar char="•"/>
              </a:pPr>
              <a:r>
                <a:rPr lang="en-US" sz="3540" spc="-35">
                  <a:solidFill>
                    <a:srgbClr val="000000"/>
                  </a:solidFill>
                  <a:latin typeface="Asap"/>
                  <a:ea typeface="Asap"/>
                  <a:cs typeface="Asap"/>
                  <a:sym typeface="Asap"/>
                </a:rPr>
                <a:t>Gh</a:t>
              </a:r>
              <a:r>
                <a:rPr lang="en-US" sz="3540" spc="-35">
                  <a:solidFill>
                    <a:srgbClr val="000000"/>
                  </a:solidFill>
                  <a:latin typeface="Asap"/>
                  <a:ea typeface="Asap"/>
                  <a:cs typeface="Asap"/>
                  <a:sym typeface="Asap"/>
                </a:rPr>
                <a:t>i lại toàn bộ hoạt động:</a:t>
              </a:r>
            </a:p>
            <a:p>
              <a:pPr algn="just" marL="764289" indent="-382145" lvl="1">
                <a:lnSpc>
                  <a:spcPts val="4779"/>
                </a:lnSpc>
                <a:buFont typeface="Arial"/>
                <a:buChar char="•"/>
              </a:pPr>
              <a:r>
                <a:rPr lang="en-US" sz="3540" spc="-35">
                  <a:solidFill>
                    <a:srgbClr val="000000"/>
                  </a:solidFill>
                  <a:latin typeface="Asap"/>
                  <a:ea typeface="Asap"/>
                  <a:cs typeface="Asap"/>
                  <a:sym typeface="Asap"/>
                </a:rPr>
                <a:t>user làm</a:t>
              </a:r>
              <a:r>
                <a:rPr lang="en-US" sz="3540" spc="-35">
                  <a:solidFill>
                    <a:srgbClr val="000000"/>
                  </a:solidFill>
                  <a:latin typeface="Asap"/>
                  <a:ea typeface="Asap"/>
                  <a:cs typeface="Asap"/>
                  <a:sym typeface="Asap"/>
                </a:rPr>
                <a:t> gì</a:t>
              </a:r>
            </a:p>
            <a:p>
              <a:pPr algn="just" marL="764289" indent="-382145" lvl="1">
                <a:lnSpc>
                  <a:spcPts val="4779"/>
                </a:lnSpc>
                <a:buFont typeface="Arial"/>
                <a:buChar char="•"/>
              </a:pPr>
              <a:r>
                <a:rPr lang="en-US" sz="3540" spc="-35">
                  <a:solidFill>
                    <a:srgbClr val="000000"/>
                  </a:solidFill>
                  <a:latin typeface="Asap"/>
                  <a:ea typeface="Asap"/>
                  <a:cs typeface="Asap"/>
                  <a:sym typeface="Asap"/>
                </a:rPr>
                <a:t>hệ thống xử lý tới đâu</a:t>
              </a:r>
            </a:p>
            <a:p>
              <a:pPr algn="just" marL="764289" indent="-382145" lvl="1">
                <a:lnSpc>
                  <a:spcPts val="4779"/>
                </a:lnSpc>
                <a:buFont typeface="Arial"/>
                <a:buChar char="•"/>
              </a:pPr>
              <a:r>
                <a:rPr lang="en-US" sz="3540" spc="-35">
                  <a:solidFill>
                    <a:srgbClr val="000000"/>
                  </a:solidFill>
                  <a:latin typeface="Asap"/>
                  <a:ea typeface="Asap"/>
                  <a:cs typeface="Asap"/>
                  <a:sym typeface="Asap"/>
                </a:rPr>
                <a:t>lỗ</a:t>
              </a:r>
              <a:r>
                <a:rPr lang="en-US" sz="3540" spc="-35">
                  <a:solidFill>
                    <a:srgbClr val="000000"/>
                  </a:solidFill>
                  <a:latin typeface="Asap"/>
                  <a:ea typeface="Asap"/>
                  <a:cs typeface="Asap"/>
                  <a:sym typeface="Asap"/>
                </a:rPr>
                <a:t>i xảy ra ở bước nào</a:t>
              </a:r>
            </a:p>
            <a:p>
              <a:pPr algn="just">
                <a:lnSpc>
                  <a:spcPts val="4779"/>
                </a:lnSpc>
              </a:pPr>
              <a:r>
                <a:rPr lang="en-US" sz="3540" spc="-35">
                  <a:solidFill>
                    <a:srgbClr val="000000"/>
                  </a:solidFill>
                  <a:latin typeface="Asap"/>
                  <a:ea typeface="Asap"/>
                  <a:cs typeface="Asap"/>
                  <a:sym typeface="Asap"/>
                </a:rPr>
                <a:t>=&gt; </a:t>
              </a:r>
              <a:r>
                <a:rPr lang="en-US" sz="3540" spc="-35">
                  <a:solidFill>
                    <a:srgbClr val="000000"/>
                  </a:solidFill>
                  <a:latin typeface="Asap"/>
                  <a:ea typeface="Asap"/>
                  <a:cs typeface="Asap"/>
                  <a:sym typeface="Asap"/>
                </a:rPr>
                <a:t>Khi có bug:</a:t>
              </a:r>
            </a:p>
            <a:p>
              <a:pPr algn="just" marL="764289" indent="-382145" lvl="1">
                <a:lnSpc>
                  <a:spcPts val="4779"/>
                </a:lnSpc>
                <a:buFont typeface="Arial"/>
                <a:buChar char="•"/>
              </a:pPr>
              <a:r>
                <a:rPr lang="en-US" sz="3540" spc="-35">
                  <a:solidFill>
                    <a:srgbClr val="000000"/>
                  </a:solidFill>
                  <a:latin typeface="Asap"/>
                  <a:ea typeface="Asap"/>
                  <a:cs typeface="Asap"/>
                  <a:sym typeface="Asap"/>
                </a:rPr>
                <a:t>Nhìn log → biết lỗi nằm ở đâu</a:t>
              </a:r>
            </a:p>
            <a:p>
              <a:pPr algn="just">
                <a:lnSpc>
                  <a:spcPts val="4779"/>
                </a:lnSpc>
              </a:pPr>
              <a:r>
                <a:rPr lang="en-US" sz="3540" spc="-35">
                  <a:solidFill>
                    <a:srgbClr val="000000"/>
                  </a:solidFill>
                  <a:latin typeface="Asap"/>
                  <a:ea typeface="Asap"/>
                  <a:cs typeface="Asap"/>
                  <a:sym typeface="Asap"/>
                </a:rPr>
                <a:t>=&gt;</a:t>
              </a:r>
              <a:r>
                <a:rPr lang="en-US" sz="3540" spc="-35">
                  <a:solidFill>
                    <a:srgbClr val="000000"/>
                  </a:solidFill>
                  <a:latin typeface="Asap"/>
                  <a:ea typeface="Asap"/>
                  <a:cs typeface="Asap"/>
                  <a:sym typeface="Asap"/>
                </a:rPr>
                <a:t>Không có logging:</a:t>
              </a:r>
            </a:p>
            <a:p>
              <a:pPr algn="just" marL="764289" indent="-382145" lvl="1">
                <a:lnSpc>
                  <a:spcPts val="4779"/>
                </a:lnSpc>
                <a:buFont typeface="Arial"/>
                <a:buChar char="•"/>
              </a:pPr>
              <a:r>
                <a:rPr lang="en-US" sz="3540" spc="-35">
                  <a:solidFill>
                    <a:srgbClr val="000000"/>
                  </a:solidFill>
                  <a:latin typeface="Asap"/>
                  <a:ea typeface="Asap"/>
                  <a:cs typeface="Asap"/>
                  <a:sym typeface="Asap"/>
                </a:rPr>
                <a:t>Không</a:t>
              </a:r>
              <a:r>
                <a:rPr lang="en-US" sz="3540" spc="-35">
                  <a:solidFill>
                    <a:srgbClr val="000000"/>
                  </a:solidFill>
                  <a:latin typeface="Asap"/>
                  <a:ea typeface="Asap"/>
                  <a:cs typeface="Asap"/>
                  <a:sym typeface="Asap"/>
                </a:rPr>
                <a:t> biết chuyệ</a:t>
              </a:r>
              <a:r>
                <a:rPr lang="en-US" sz="3540" spc="-35">
                  <a:solidFill>
                    <a:srgbClr val="000000"/>
                  </a:solidFill>
                  <a:latin typeface="Asap"/>
                  <a:ea typeface="Asap"/>
                  <a:cs typeface="Asap"/>
                  <a:sym typeface="Asap"/>
                </a:rPr>
                <a:t>n gì đã xảy ra</a:t>
              </a:r>
            </a:p>
            <a:p>
              <a:pPr algn="just" marL="764289" indent="-382145" lvl="1">
                <a:lnSpc>
                  <a:spcPts val="4779"/>
                </a:lnSpc>
                <a:buFont typeface="Arial"/>
                <a:buChar char="•"/>
              </a:pPr>
              <a:r>
                <a:rPr lang="en-US" sz="3540" spc="-35">
                  <a:solidFill>
                    <a:srgbClr val="000000"/>
                  </a:solidFill>
                  <a:latin typeface="Asap"/>
                  <a:ea typeface="Asap"/>
                  <a:cs typeface="Asap"/>
                  <a:sym typeface="Asap"/>
                </a:rPr>
                <a:t>Debug rất khó</a:t>
              </a:r>
            </a:p>
            <a:p>
              <a:pPr algn="just">
                <a:lnSpc>
                  <a:spcPts val="4779"/>
                </a:lnSpc>
              </a:pPr>
            </a:p>
          </p:txBody>
        </p:sp>
        <p:sp>
          <p:nvSpPr>
            <p:cNvPr name="TextBox 13" id="13"/>
            <p:cNvSpPr txBox="true"/>
            <p:nvPr/>
          </p:nvSpPr>
          <p:spPr>
            <a:xfrm rot="0">
              <a:off x="0" y="0"/>
              <a:ext cx="17168805" cy="1207078"/>
            </a:xfrm>
            <a:prstGeom prst="rect">
              <a:avLst/>
            </a:prstGeom>
          </p:spPr>
          <p:txBody>
            <a:bodyPr anchor="t" rtlCol="false" tIns="0" lIns="0" bIns="0" rIns="0">
              <a:spAutoFit/>
            </a:bodyPr>
            <a:lstStyle/>
            <a:p>
              <a:pPr algn="just">
                <a:lnSpc>
                  <a:spcPts val="7140"/>
                </a:lnSpc>
              </a:pPr>
              <a:r>
                <a:rPr lang="en-US" b="true" sz="5950">
                  <a:solidFill>
                    <a:srgbClr val="1D2B74"/>
                  </a:solidFill>
                  <a:latin typeface="Faustina Bold"/>
                  <a:ea typeface="Faustina Bold"/>
                  <a:cs typeface="Faustina Bold"/>
                  <a:sym typeface="Faustina Bold"/>
                </a:rPr>
                <a:t>Logging → Biết hệ thống đang làm gì</a:t>
              </a:r>
            </a:p>
          </p:txBody>
        </p:sp>
      </p:grpSp>
    </p:spTree>
  </p:cSld>
  <p:clrMapOvr>
    <a:masterClrMapping/>
  </p:clrMapOvr>
  <p:transition spd="slow">
    <p:push dir="d"/>
  </p:transition>
</p:sld>
</file>

<file path=ppt/slides/slide31.xml><?xml version="1.0" encoding="utf-8"?>
<p:sld xmlns:p="http://schemas.openxmlformats.org/presentationml/2006/main" xmlns:a="http://schemas.openxmlformats.org/drawingml/2006/main">
  <p:cSld>
    <p:bg>
      <p:bgPr>
        <a:solidFill>
          <a:srgbClr val="C8E3ED"/>
        </a:solidFill>
      </p:bgPr>
    </p:bg>
    <p:spTree>
      <p:nvGrpSpPr>
        <p:cNvPr id="1" name=""/>
        <p:cNvGrpSpPr/>
        <p:nvPr/>
      </p:nvGrpSpPr>
      <p:grpSpPr>
        <a:xfrm>
          <a:off x="0" y="0"/>
          <a:ext cx="0" cy="0"/>
          <a:chOff x="0" y="0"/>
          <a:chExt cx="0" cy="0"/>
        </a:xfrm>
      </p:grpSpPr>
      <p:grpSp>
        <p:nvGrpSpPr>
          <p:cNvPr name="Group 2" id="2"/>
          <p:cNvGrpSpPr/>
          <p:nvPr/>
        </p:nvGrpSpPr>
        <p:grpSpPr>
          <a:xfrm rot="0">
            <a:off x="774820" y="1028700"/>
            <a:ext cx="18537765" cy="8229600"/>
            <a:chOff x="0" y="0"/>
            <a:chExt cx="24717020" cy="10972800"/>
          </a:xfrm>
        </p:grpSpPr>
        <p:grpSp>
          <p:nvGrpSpPr>
            <p:cNvPr name="Group 3" id="3"/>
            <p:cNvGrpSpPr/>
            <p:nvPr/>
          </p:nvGrpSpPr>
          <p:grpSpPr>
            <a:xfrm rot="0">
              <a:off x="0" y="977717"/>
              <a:ext cx="23352980" cy="9995083"/>
              <a:chOff x="0" y="0"/>
              <a:chExt cx="22703567" cy="9717134"/>
            </a:xfrm>
          </p:grpSpPr>
          <p:sp>
            <p:nvSpPr>
              <p:cNvPr name="Freeform 4" id="4"/>
              <p:cNvSpPr/>
              <p:nvPr/>
            </p:nvSpPr>
            <p:spPr>
              <a:xfrm flipH="false" flipV="false" rot="0">
                <a:off x="-1" y="0"/>
                <a:ext cx="22703568" cy="9717134"/>
              </a:xfrm>
              <a:custGeom>
                <a:avLst/>
                <a:gdLst/>
                <a:ahLst/>
                <a:cxnLst/>
                <a:rect r="r" b="b" t="t" l="l"/>
                <a:pathLst>
                  <a:path h="9717134" w="22703568">
                    <a:moveTo>
                      <a:pt x="22204787" y="9700216"/>
                    </a:moveTo>
                    <a:cubicBezTo>
                      <a:pt x="22204787" y="9700216"/>
                      <a:pt x="21967792" y="9690246"/>
                      <a:pt x="21605653" y="9703690"/>
                    </a:cubicBezTo>
                    <a:cubicBezTo>
                      <a:pt x="21243514" y="9717134"/>
                      <a:pt x="490924" y="9717134"/>
                      <a:pt x="490924" y="9717134"/>
                    </a:cubicBezTo>
                    <a:cubicBezTo>
                      <a:pt x="245502" y="9717134"/>
                      <a:pt x="32509" y="9619866"/>
                      <a:pt x="31032" y="9459752"/>
                    </a:cubicBezTo>
                    <a:cubicBezTo>
                      <a:pt x="31032" y="9459752"/>
                      <a:pt x="0" y="6758194"/>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158239" y="0"/>
                      <a:pt x="22158239" y="0"/>
                    </a:cubicBezTo>
                    <a:cubicBezTo>
                      <a:pt x="22470140" y="0"/>
                      <a:pt x="22703569" y="101069"/>
                      <a:pt x="22695710" y="303616"/>
                    </a:cubicBezTo>
                    <a:cubicBezTo>
                      <a:pt x="22695710" y="303616"/>
                      <a:pt x="22693715" y="6210870"/>
                      <a:pt x="22702471" y="8760165"/>
                    </a:cubicBezTo>
                    <a:cubicBezTo>
                      <a:pt x="22711226" y="9053467"/>
                      <a:pt x="22664678" y="9386538"/>
                      <a:pt x="22664678" y="9386538"/>
                    </a:cubicBezTo>
                    <a:cubicBezTo>
                      <a:pt x="22661712" y="9566563"/>
                      <a:pt x="22450209" y="9700216"/>
                      <a:pt x="22204787" y="9700216"/>
                    </a:cubicBezTo>
                    <a:close/>
                  </a:path>
                </a:pathLst>
              </a:custGeom>
              <a:solidFill>
                <a:srgbClr val="8FB7C6"/>
              </a:solidFill>
            </p:spPr>
          </p:sp>
        </p:grpSp>
        <p:grpSp>
          <p:nvGrpSpPr>
            <p:cNvPr name="Group 5" id="5"/>
            <p:cNvGrpSpPr/>
            <p:nvPr/>
          </p:nvGrpSpPr>
          <p:grpSpPr>
            <a:xfrm rot="0">
              <a:off x="254961" y="1067537"/>
              <a:ext cx="22897610" cy="9778026"/>
              <a:chOff x="0" y="0"/>
              <a:chExt cx="22594507" cy="9648591"/>
            </a:xfrm>
          </p:grpSpPr>
          <p:sp>
            <p:nvSpPr>
              <p:cNvPr name="Freeform 6" id="6"/>
              <p:cNvSpPr/>
              <p:nvPr/>
            </p:nvSpPr>
            <p:spPr>
              <a:xfrm flipH="false" flipV="false" rot="0">
                <a:off x="-1" y="0"/>
                <a:ext cx="22594508" cy="9648591"/>
              </a:xfrm>
              <a:custGeom>
                <a:avLst/>
                <a:gdLst/>
                <a:ahLst/>
                <a:cxnLst/>
                <a:rect r="r" b="b" t="t" l="l"/>
                <a:pathLst>
                  <a:path h="9648591" w="22594508">
                    <a:moveTo>
                      <a:pt x="22095727" y="9631673"/>
                    </a:moveTo>
                    <a:cubicBezTo>
                      <a:pt x="22095727" y="9631673"/>
                      <a:pt x="21858730" y="9621703"/>
                      <a:pt x="21496593" y="9635147"/>
                    </a:cubicBezTo>
                    <a:cubicBezTo>
                      <a:pt x="21134454" y="9648591"/>
                      <a:pt x="490924" y="9648591"/>
                      <a:pt x="490924" y="9648591"/>
                    </a:cubicBezTo>
                    <a:cubicBezTo>
                      <a:pt x="245502" y="9648591"/>
                      <a:pt x="32509" y="9551323"/>
                      <a:pt x="31032" y="9391209"/>
                    </a:cubicBezTo>
                    <a:cubicBezTo>
                      <a:pt x="31032" y="9391209"/>
                      <a:pt x="0" y="6705102"/>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049179" y="0"/>
                      <a:pt x="22049179" y="0"/>
                    </a:cubicBezTo>
                    <a:cubicBezTo>
                      <a:pt x="22361080" y="0"/>
                      <a:pt x="22594507" y="101069"/>
                      <a:pt x="22586650" y="303616"/>
                    </a:cubicBezTo>
                    <a:cubicBezTo>
                      <a:pt x="22586650" y="303616"/>
                      <a:pt x="22584655" y="6162502"/>
                      <a:pt x="22593411" y="8691622"/>
                    </a:cubicBezTo>
                    <a:cubicBezTo>
                      <a:pt x="22602166" y="8984924"/>
                      <a:pt x="22555618" y="9317995"/>
                      <a:pt x="22555618" y="9317995"/>
                    </a:cubicBezTo>
                    <a:cubicBezTo>
                      <a:pt x="22552652" y="9498020"/>
                      <a:pt x="22341149" y="9631673"/>
                      <a:pt x="22095727" y="9631673"/>
                    </a:cubicBezTo>
                    <a:close/>
                  </a:path>
                </a:pathLst>
              </a:custGeom>
              <a:solidFill>
                <a:srgbClr val="8FB7C6"/>
              </a:solidFill>
            </p:spPr>
          </p:sp>
        </p:grpSp>
        <p:grpSp>
          <p:nvGrpSpPr>
            <p:cNvPr name="Group 7" id="7"/>
            <p:cNvGrpSpPr/>
            <p:nvPr/>
          </p:nvGrpSpPr>
          <p:grpSpPr>
            <a:xfrm rot="0">
              <a:off x="919721" y="0"/>
              <a:ext cx="22232850" cy="10328670"/>
              <a:chOff x="0" y="0"/>
              <a:chExt cx="23043639" cy="10705337"/>
            </a:xfrm>
          </p:grpSpPr>
          <p:sp>
            <p:nvSpPr>
              <p:cNvPr name="Freeform 8" id="8"/>
              <p:cNvSpPr/>
              <p:nvPr/>
            </p:nvSpPr>
            <p:spPr>
              <a:xfrm flipH="false" flipV="false" rot="0">
                <a:off x="-1" y="0"/>
                <a:ext cx="23043639" cy="10705337"/>
              </a:xfrm>
              <a:custGeom>
                <a:avLst/>
                <a:gdLst/>
                <a:ahLst/>
                <a:cxnLst/>
                <a:rect r="r" b="b" t="t" l="l"/>
                <a:pathLst>
                  <a:path h="10705337" w="23043639">
                    <a:moveTo>
                      <a:pt x="22544859" y="10688418"/>
                    </a:moveTo>
                    <a:cubicBezTo>
                      <a:pt x="22544859" y="10688418"/>
                      <a:pt x="22307863" y="10678449"/>
                      <a:pt x="21945723" y="10691893"/>
                    </a:cubicBezTo>
                    <a:cubicBezTo>
                      <a:pt x="21583586" y="10705337"/>
                      <a:pt x="490924" y="10705337"/>
                      <a:pt x="490924" y="10705337"/>
                    </a:cubicBezTo>
                    <a:cubicBezTo>
                      <a:pt x="245502" y="10705337"/>
                      <a:pt x="32509" y="10608069"/>
                      <a:pt x="31032" y="10447955"/>
                    </a:cubicBezTo>
                    <a:cubicBezTo>
                      <a:pt x="31032" y="10447955"/>
                      <a:pt x="0" y="7523653"/>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498310" y="0"/>
                      <a:pt x="22498310" y="0"/>
                    </a:cubicBezTo>
                    <a:cubicBezTo>
                      <a:pt x="22810212" y="0"/>
                      <a:pt x="23043639" y="101069"/>
                      <a:pt x="23035783" y="303616"/>
                    </a:cubicBezTo>
                    <a:cubicBezTo>
                      <a:pt x="23035783" y="303616"/>
                      <a:pt x="23033787" y="6908210"/>
                      <a:pt x="23042542" y="9748368"/>
                    </a:cubicBezTo>
                    <a:cubicBezTo>
                      <a:pt x="23051298" y="10041669"/>
                      <a:pt x="23004750" y="10374741"/>
                      <a:pt x="23004750" y="10374741"/>
                    </a:cubicBezTo>
                    <a:cubicBezTo>
                      <a:pt x="23001785" y="10554766"/>
                      <a:pt x="22790281" y="10688418"/>
                      <a:pt x="22544859" y="10688418"/>
                    </a:cubicBezTo>
                    <a:close/>
                  </a:path>
                </a:pathLst>
              </a:custGeom>
              <a:solidFill>
                <a:srgbClr val="F3FCFF"/>
              </a:solidFill>
            </p:spPr>
          </p:sp>
        </p:grpSp>
        <p:sp>
          <p:nvSpPr>
            <p:cNvPr name="AutoShape 9" id="9"/>
            <p:cNvSpPr/>
            <p:nvPr/>
          </p:nvSpPr>
          <p:spPr>
            <a:xfrm>
              <a:off x="2250246" y="717206"/>
              <a:ext cx="22466735" cy="34286"/>
            </a:xfrm>
            <a:prstGeom prst="line">
              <a:avLst/>
            </a:prstGeom>
            <a:ln cap="rnd" w="50800">
              <a:solidFill>
                <a:srgbClr val="8FB7C6"/>
              </a:solidFill>
              <a:prstDash val="solid"/>
              <a:headEnd type="none" len="sm" w="sm"/>
              <a:tailEnd type="none" len="sm" w="sm"/>
            </a:ln>
          </p:spPr>
        </p:sp>
      </p:grpSp>
      <p:grpSp>
        <p:nvGrpSpPr>
          <p:cNvPr name="Group 10" id="10"/>
          <p:cNvGrpSpPr/>
          <p:nvPr/>
        </p:nvGrpSpPr>
        <p:grpSpPr>
          <a:xfrm rot="0">
            <a:off x="2132588" y="1601888"/>
            <a:ext cx="15126712" cy="7656412"/>
            <a:chOff x="0" y="0"/>
            <a:chExt cx="20168950" cy="10208549"/>
          </a:xfrm>
        </p:grpSpPr>
        <p:sp>
          <p:nvSpPr>
            <p:cNvPr name="TextBox 11" id="11"/>
            <p:cNvSpPr txBox="true"/>
            <p:nvPr/>
          </p:nvSpPr>
          <p:spPr>
            <a:xfrm rot="0">
              <a:off x="334686" y="1440216"/>
              <a:ext cx="18841219" cy="8768334"/>
            </a:xfrm>
            <a:prstGeom prst="rect">
              <a:avLst/>
            </a:prstGeom>
          </p:spPr>
          <p:txBody>
            <a:bodyPr anchor="t" rtlCol="false" tIns="0" lIns="0" bIns="0" rIns="0">
              <a:spAutoFit/>
            </a:bodyPr>
            <a:lstStyle/>
            <a:p>
              <a:pPr algn="just" marL="764289" indent="-382145" lvl="1">
                <a:lnSpc>
                  <a:spcPts val="4779"/>
                </a:lnSpc>
                <a:buFont typeface="Arial"/>
                <a:buChar char="•"/>
              </a:pPr>
              <a:r>
                <a:rPr lang="en-US" sz="3540" spc="-35">
                  <a:solidFill>
                    <a:srgbClr val="000000"/>
                  </a:solidFill>
                  <a:latin typeface="Asap"/>
                  <a:ea typeface="Asap"/>
                  <a:cs typeface="Asap"/>
                  <a:sym typeface="Asap"/>
                </a:rPr>
                <a:t>Theo dõ</a:t>
              </a:r>
              <a:r>
                <a:rPr lang="en-US" sz="3540" spc="-35">
                  <a:solidFill>
                    <a:srgbClr val="000000"/>
                  </a:solidFill>
                  <a:latin typeface="Asap"/>
                  <a:ea typeface="Asap"/>
                  <a:cs typeface="Asap"/>
                  <a:sym typeface="Asap"/>
                </a:rPr>
                <a:t>i hệ thống realtime:</a:t>
              </a:r>
            </a:p>
            <a:p>
              <a:pPr algn="just" marL="764289" indent="-382145" lvl="1">
                <a:lnSpc>
                  <a:spcPts val="4779"/>
                </a:lnSpc>
                <a:buFont typeface="Arial"/>
                <a:buChar char="•"/>
              </a:pPr>
              <a:r>
                <a:rPr lang="en-US" sz="3540" spc="-35">
                  <a:solidFill>
                    <a:srgbClr val="000000"/>
                  </a:solidFill>
                  <a:latin typeface="Asap"/>
                  <a:ea typeface="Asap"/>
                  <a:cs typeface="Asap"/>
                  <a:sym typeface="Asap"/>
                </a:rPr>
                <a:t>có chậm không</a:t>
              </a:r>
            </a:p>
            <a:p>
              <a:pPr algn="just" marL="764289" indent="-382145" lvl="1">
                <a:lnSpc>
                  <a:spcPts val="4779"/>
                </a:lnSpc>
                <a:buFont typeface="Arial"/>
                <a:buChar char="•"/>
              </a:pPr>
              <a:r>
                <a:rPr lang="en-US" sz="3540" spc="-35">
                  <a:solidFill>
                    <a:srgbClr val="000000"/>
                  </a:solidFill>
                  <a:latin typeface="Asap"/>
                  <a:ea typeface="Asap"/>
                  <a:cs typeface="Asap"/>
                  <a:sym typeface="Asap"/>
                </a:rPr>
                <a:t>có quá tải không</a:t>
              </a:r>
            </a:p>
            <a:p>
              <a:pPr algn="just" marL="764289" indent="-382145" lvl="1">
                <a:lnSpc>
                  <a:spcPts val="4779"/>
                </a:lnSpc>
                <a:buFont typeface="Arial"/>
                <a:buChar char="•"/>
              </a:pPr>
              <a:r>
                <a:rPr lang="en-US" sz="3540" spc="-35">
                  <a:solidFill>
                    <a:srgbClr val="000000"/>
                  </a:solidFill>
                  <a:latin typeface="Asap"/>
                  <a:ea typeface="Asap"/>
                  <a:cs typeface="Asap"/>
                  <a:sym typeface="Asap"/>
                </a:rPr>
                <a:t>có lỗi</a:t>
              </a:r>
              <a:r>
                <a:rPr lang="en-US" sz="3540" spc="-35">
                  <a:solidFill>
                    <a:srgbClr val="000000"/>
                  </a:solidFill>
                  <a:latin typeface="Asap"/>
                  <a:ea typeface="Asap"/>
                  <a:cs typeface="Asap"/>
                  <a:sym typeface="Asap"/>
                </a:rPr>
                <a:t> tăng bất thường không</a:t>
              </a:r>
            </a:p>
            <a:p>
              <a:pPr algn="just">
                <a:lnSpc>
                  <a:spcPts val="4779"/>
                </a:lnSpc>
              </a:pPr>
              <a:r>
                <a:rPr lang="en-US" sz="3540" spc="-35">
                  <a:solidFill>
                    <a:srgbClr val="000000"/>
                  </a:solidFill>
                  <a:latin typeface="Asap"/>
                  <a:ea typeface="Asap"/>
                  <a:cs typeface="Asap"/>
                  <a:sym typeface="Asap"/>
                </a:rPr>
                <a:t>=&gt;</a:t>
              </a:r>
              <a:r>
                <a:rPr lang="en-US" sz="3540" spc="-35">
                  <a:solidFill>
                    <a:srgbClr val="000000"/>
                  </a:solidFill>
                  <a:latin typeface="Asap"/>
                  <a:ea typeface="Asap"/>
                  <a:cs typeface="Asap"/>
                  <a:sym typeface="Asap"/>
                </a:rPr>
                <a:t> Giúp:</a:t>
              </a:r>
            </a:p>
            <a:p>
              <a:pPr algn="just" marL="764289" indent="-382145" lvl="1">
                <a:lnSpc>
                  <a:spcPts val="4779"/>
                </a:lnSpc>
                <a:buFont typeface="Arial"/>
                <a:buChar char="•"/>
              </a:pPr>
              <a:r>
                <a:rPr lang="en-US" sz="3540" spc="-35">
                  <a:solidFill>
                    <a:srgbClr val="000000"/>
                  </a:solidFill>
                  <a:latin typeface="Asap"/>
                  <a:ea typeface="Asap"/>
                  <a:cs typeface="Asap"/>
                  <a:sym typeface="Asap"/>
                </a:rPr>
                <a:t>phát hiện </a:t>
              </a:r>
              <a:r>
                <a:rPr lang="en-US" sz="3540" spc="-35">
                  <a:solidFill>
                    <a:srgbClr val="000000"/>
                  </a:solidFill>
                  <a:latin typeface="Asap"/>
                  <a:ea typeface="Asap"/>
                  <a:cs typeface="Asap"/>
                  <a:sym typeface="Asap"/>
                </a:rPr>
                <a:t>lỗ</a:t>
              </a:r>
              <a:r>
                <a:rPr lang="en-US" sz="3540" spc="-35">
                  <a:solidFill>
                    <a:srgbClr val="000000"/>
                  </a:solidFill>
                  <a:latin typeface="Asap"/>
                  <a:ea typeface="Asap"/>
                  <a:cs typeface="Asap"/>
                  <a:sym typeface="Asap"/>
                </a:rPr>
                <a:t>i trước khi user complain</a:t>
              </a:r>
            </a:p>
            <a:p>
              <a:pPr algn="just" marL="764289" indent="-382145" lvl="1">
                <a:lnSpc>
                  <a:spcPts val="4779"/>
                </a:lnSpc>
                <a:buFont typeface="Arial"/>
                <a:buChar char="•"/>
              </a:pPr>
              <a:r>
                <a:rPr lang="en-US" sz="3540" spc="-35">
                  <a:solidFill>
                    <a:srgbClr val="000000"/>
                  </a:solidFill>
                  <a:latin typeface="Asap"/>
                  <a:ea typeface="Asap"/>
                  <a:cs typeface="Asap"/>
                  <a:sym typeface="Asap"/>
                </a:rPr>
                <a:t>đảm bảo hệ thống luôn chạy ổn</a:t>
              </a:r>
            </a:p>
            <a:p>
              <a:pPr algn="just">
                <a:lnSpc>
                  <a:spcPts val="4779"/>
                </a:lnSpc>
              </a:pPr>
              <a:r>
                <a:rPr lang="en-US" sz="3540" spc="-35">
                  <a:solidFill>
                    <a:srgbClr val="000000"/>
                  </a:solidFill>
                  <a:latin typeface="Asap"/>
                  <a:ea typeface="Asap"/>
                  <a:cs typeface="Asap"/>
                  <a:sym typeface="Asap"/>
                </a:rPr>
                <a:t>=&gt; </a:t>
              </a:r>
              <a:r>
                <a:rPr lang="en-US" sz="3540" spc="-35">
                  <a:solidFill>
                    <a:srgbClr val="000000"/>
                  </a:solidFill>
                  <a:latin typeface="Asap"/>
                  <a:ea typeface="Asap"/>
                  <a:cs typeface="Asap"/>
                  <a:sym typeface="Asap"/>
                </a:rPr>
                <a:t>Không monitoring:</a:t>
              </a:r>
            </a:p>
            <a:p>
              <a:pPr algn="just" marL="764289" indent="-382145" lvl="1">
                <a:lnSpc>
                  <a:spcPts val="4779"/>
                </a:lnSpc>
                <a:buFont typeface="Arial"/>
                <a:buChar char="•"/>
              </a:pPr>
              <a:r>
                <a:rPr lang="en-US" sz="3540" spc="-35">
                  <a:solidFill>
                    <a:srgbClr val="000000"/>
                  </a:solidFill>
                  <a:latin typeface="Asap"/>
                  <a:ea typeface="Asap"/>
                  <a:cs typeface="Asap"/>
                  <a:sym typeface="Asap"/>
                </a:rPr>
                <a:t>Server chết cũng k</a:t>
              </a:r>
              <a:r>
                <a:rPr lang="en-US" sz="3540" spc="-35">
                  <a:solidFill>
                    <a:srgbClr val="000000"/>
                  </a:solidFill>
                  <a:latin typeface="Asap"/>
                  <a:ea typeface="Asap"/>
                  <a:cs typeface="Asap"/>
                  <a:sym typeface="Asap"/>
                </a:rPr>
                <a:t>hông</a:t>
              </a:r>
              <a:r>
                <a:rPr lang="en-US" sz="3540" spc="-35">
                  <a:solidFill>
                    <a:srgbClr val="000000"/>
                  </a:solidFill>
                  <a:latin typeface="Asap"/>
                  <a:ea typeface="Asap"/>
                  <a:cs typeface="Asap"/>
                  <a:sym typeface="Asap"/>
                </a:rPr>
                <a:t> biết</a:t>
              </a:r>
            </a:p>
            <a:p>
              <a:pPr algn="just" marL="764289" indent="-382145" lvl="1">
                <a:lnSpc>
                  <a:spcPts val="4779"/>
                </a:lnSpc>
                <a:buFont typeface="Arial"/>
                <a:buChar char="•"/>
              </a:pPr>
              <a:r>
                <a:rPr lang="en-US" sz="3540" spc="-35">
                  <a:solidFill>
                    <a:srgbClr val="000000"/>
                  </a:solidFill>
                  <a:latin typeface="Asap"/>
                  <a:ea typeface="Asap"/>
                  <a:cs typeface="Asap"/>
                  <a:sym typeface="Asap"/>
                </a:rPr>
                <a:t>User lỗi</a:t>
              </a:r>
              <a:r>
                <a:rPr lang="en-US" sz="3540" spc="-35">
                  <a:solidFill>
                    <a:srgbClr val="000000"/>
                  </a:solidFill>
                  <a:latin typeface="Asap"/>
                  <a:ea typeface="Asap"/>
                  <a:cs typeface="Asap"/>
                  <a:sym typeface="Asap"/>
                </a:rPr>
                <a:t> mới phát hiện</a:t>
              </a:r>
            </a:p>
            <a:p>
              <a:pPr algn="just">
                <a:lnSpc>
                  <a:spcPts val="4779"/>
                </a:lnSpc>
              </a:pPr>
            </a:p>
          </p:txBody>
        </p:sp>
        <p:sp>
          <p:nvSpPr>
            <p:cNvPr name="TextBox 12" id="12"/>
            <p:cNvSpPr txBox="true"/>
            <p:nvPr/>
          </p:nvSpPr>
          <p:spPr>
            <a:xfrm rot="0">
              <a:off x="0" y="0"/>
              <a:ext cx="20168950" cy="1207078"/>
            </a:xfrm>
            <a:prstGeom prst="rect">
              <a:avLst/>
            </a:prstGeom>
          </p:spPr>
          <p:txBody>
            <a:bodyPr anchor="t" rtlCol="false" tIns="0" lIns="0" bIns="0" rIns="0">
              <a:spAutoFit/>
            </a:bodyPr>
            <a:lstStyle/>
            <a:p>
              <a:pPr algn="just">
                <a:lnSpc>
                  <a:spcPts val="7140"/>
                </a:lnSpc>
              </a:pPr>
              <a:r>
                <a:rPr lang="en-US" b="true" sz="5950">
                  <a:solidFill>
                    <a:srgbClr val="1D2B74"/>
                  </a:solidFill>
                  <a:latin typeface="Faustina Bold"/>
                  <a:ea typeface="Faustina Bold"/>
                  <a:cs typeface="Faustina Bold"/>
                  <a:sym typeface="Faustina Bold"/>
                </a:rPr>
                <a:t>Monitoring → Biết hệ thống có đang ổn không</a:t>
              </a:r>
            </a:p>
          </p:txBody>
        </p:sp>
      </p:grpSp>
    </p:spTree>
  </p:cSld>
  <p:clrMapOvr>
    <a:masterClrMapping/>
  </p:clrMapOvr>
  <p:transition spd="slow">
    <p:push dir="d"/>
  </p:transition>
</p:sld>
</file>

<file path=ppt/slides/slide32.xml><?xml version="1.0" encoding="utf-8"?>
<p:sld xmlns:p="http://schemas.openxmlformats.org/presentationml/2006/main" xmlns:a="http://schemas.openxmlformats.org/drawingml/2006/main">
  <p:cSld>
    <p:bg>
      <p:bgPr>
        <a:solidFill>
          <a:srgbClr val="C8E3ED"/>
        </a:solidFill>
      </p:bgPr>
    </p:bg>
    <p:spTree>
      <p:nvGrpSpPr>
        <p:cNvPr id="1" name=""/>
        <p:cNvGrpSpPr/>
        <p:nvPr/>
      </p:nvGrpSpPr>
      <p:grpSpPr>
        <a:xfrm>
          <a:off x="0" y="0"/>
          <a:ext cx="0" cy="0"/>
          <a:chOff x="0" y="0"/>
          <a:chExt cx="0" cy="0"/>
        </a:xfrm>
      </p:grpSpPr>
      <p:grpSp>
        <p:nvGrpSpPr>
          <p:cNvPr name="Group 2" id="2"/>
          <p:cNvGrpSpPr/>
          <p:nvPr/>
        </p:nvGrpSpPr>
        <p:grpSpPr>
          <a:xfrm rot="0">
            <a:off x="774820" y="1028700"/>
            <a:ext cx="18537765" cy="8229600"/>
            <a:chOff x="0" y="0"/>
            <a:chExt cx="24717020" cy="10972800"/>
          </a:xfrm>
        </p:grpSpPr>
        <p:grpSp>
          <p:nvGrpSpPr>
            <p:cNvPr name="Group 3" id="3"/>
            <p:cNvGrpSpPr/>
            <p:nvPr/>
          </p:nvGrpSpPr>
          <p:grpSpPr>
            <a:xfrm rot="0">
              <a:off x="0" y="977717"/>
              <a:ext cx="23352980" cy="9995083"/>
              <a:chOff x="0" y="0"/>
              <a:chExt cx="22703567" cy="9717134"/>
            </a:xfrm>
          </p:grpSpPr>
          <p:sp>
            <p:nvSpPr>
              <p:cNvPr name="Freeform 4" id="4"/>
              <p:cNvSpPr/>
              <p:nvPr/>
            </p:nvSpPr>
            <p:spPr>
              <a:xfrm flipH="false" flipV="false" rot="0">
                <a:off x="-1" y="0"/>
                <a:ext cx="22703568" cy="9717134"/>
              </a:xfrm>
              <a:custGeom>
                <a:avLst/>
                <a:gdLst/>
                <a:ahLst/>
                <a:cxnLst/>
                <a:rect r="r" b="b" t="t" l="l"/>
                <a:pathLst>
                  <a:path h="9717134" w="22703568">
                    <a:moveTo>
                      <a:pt x="22204787" y="9700216"/>
                    </a:moveTo>
                    <a:cubicBezTo>
                      <a:pt x="22204787" y="9700216"/>
                      <a:pt x="21967792" y="9690246"/>
                      <a:pt x="21605653" y="9703690"/>
                    </a:cubicBezTo>
                    <a:cubicBezTo>
                      <a:pt x="21243514" y="9717134"/>
                      <a:pt x="490924" y="9717134"/>
                      <a:pt x="490924" y="9717134"/>
                    </a:cubicBezTo>
                    <a:cubicBezTo>
                      <a:pt x="245502" y="9717134"/>
                      <a:pt x="32509" y="9619866"/>
                      <a:pt x="31032" y="9459752"/>
                    </a:cubicBezTo>
                    <a:cubicBezTo>
                      <a:pt x="31032" y="9459752"/>
                      <a:pt x="0" y="6758194"/>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158239" y="0"/>
                      <a:pt x="22158239" y="0"/>
                    </a:cubicBezTo>
                    <a:cubicBezTo>
                      <a:pt x="22470140" y="0"/>
                      <a:pt x="22703569" y="101069"/>
                      <a:pt x="22695710" y="303616"/>
                    </a:cubicBezTo>
                    <a:cubicBezTo>
                      <a:pt x="22695710" y="303616"/>
                      <a:pt x="22693715" y="6210870"/>
                      <a:pt x="22702471" y="8760165"/>
                    </a:cubicBezTo>
                    <a:cubicBezTo>
                      <a:pt x="22711226" y="9053467"/>
                      <a:pt x="22664678" y="9386538"/>
                      <a:pt x="22664678" y="9386538"/>
                    </a:cubicBezTo>
                    <a:cubicBezTo>
                      <a:pt x="22661712" y="9566563"/>
                      <a:pt x="22450209" y="9700216"/>
                      <a:pt x="22204787" y="9700216"/>
                    </a:cubicBezTo>
                    <a:close/>
                  </a:path>
                </a:pathLst>
              </a:custGeom>
              <a:solidFill>
                <a:srgbClr val="8FB7C6"/>
              </a:solidFill>
            </p:spPr>
          </p:sp>
        </p:grpSp>
        <p:grpSp>
          <p:nvGrpSpPr>
            <p:cNvPr name="Group 5" id="5"/>
            <p:cNvGrpSpPr/>
            <p:nvPr/>
          </p:nvGrpSpPr>
          <p:grpSpPr>
            <a:xfrm rot="0">
              <a:off x="254961" y="1067537"/>
              <a:ext cx="22897610" cy="9778026"/>
              <a:chOff x="0" y="0"/>
              <a:chExt cx="22594507" cy="9648591"/>
            </a:xfrm>
          </p:grpSpPr>
          <p:sp>
            <p:nvSpPr>
              <p:cNvPr name="Freeform 6" id="6"/>
              <p:cNvSpPr/>
              <p:nvPr/>
            </p:nvSpPr>
            <p:spPr>
              <a:xfrm flipH="false" flipV="false" rot="0">
                <a:off x="-1" y="0"/>
                <a:ext cx="22594508" cy="9648591"/>
              </a:xfrm>
              <a:custGeom>
                <a:avLst/>
                <a:gdLst/>
                <a:ahLst/>
                <a:cxnLst/>
                <a:rect r="r" b="b" t="t" l="l"/>
                <a:pathLst>
                  <a:path h="9648591" w="22594508">
                    <a:moveTo>
                      <a:pt x="22095727" y="9631673"/>
                    </a:moveTo>
                    <a:cubicBezTo>
                      <a:pt x="22095727" y="9631673"/>
                      <a:pt x="21858730" y="9621703"/>
                      <a:pt x="21496593" y="9635147"/>
                    </a:cubicBezTo>
                    <a:cubicBezTo>
                      <a:pt x="21134454" y="9648591"/>
                      <a:pt x="490924" y="9648591"/>
                      <a:pt x="490924" y="9648591"/>
                    </a:cubicBezTo>
                    <a:cubicBezTo>
                      <a:pt x="245502" y="9648591"/>
                      <a:pt x="32509" y="9551323"/>
                      <a:pt x="31032" y="9391209"/>
                    </a:cubicBezTo>
                    <a:cubicBezTo>
                      <a:pt x="31032" y="9391209"/>
                      <a:pt x="0" y="6705102"/>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049179" y="0"/>
                      <a:pt x="22049179" y="0"/>
                    </a:cubicBezTo>
                    <a:cubicBezTo>
                      <a:pt x="22361080" y="0"/>
                      <a:pt x="22594507" y="101069"/>
                      <a:pt x="22586650" y="303616"/>
                    </a:cubicBezTo>
                    <a:cubicBezTo>
                      <a:pt x="22586650" y="303616"/>
                      <a:pt x="22584655" y="6162502"/>
                      <a:pt x="22593411" y="8691622"/>
                    </a:cubicBezTo>
                    <a:cubicBezTo>
                      <a:pt x="22602166" y="8984924"/>
                      <a:pt x="22555618" y="9317995"/>
                      <a:pt x="22555618" y="9317995"/>
                    </a:cubicBezTo>
                    <a:cubicBezTo>
                      <a:pt x="22552652" y="9498020"/>
                      <a:pt x="22341149" y="9631673"/>
                      <a:pt x="22095727" y="9631673"/>
                    </a:cubicBezTo>
                    <a:close/>
                  </a:path>
                </a:pathLst>
              </a:custGeom>
              <a:solidFill>
                <a:srgbClr val="8FB7C6"/>
              </a:solidFill>
            </p:spPr>
          </p:sp>
        </p:grpSp>
        <p:grpSp>
          <p:nvGrpSpPr>
            <p:cNvPr name="Group 7" id="7"/>
            <p:cNvGrpSpPr/>
            <p:nvPr/>
          </p:nvGrpSpPr>
          <p:grpSpPr>
            <a:xfrm rot="0">
              <a:off x="919721" y="0"/>
              <a:ext cx="22232850" cy="10328670"/>
              <a:chOff x="0" y="0"/>
              <a:chExt cx="23043639" cy="10705337"/>
            </a:xfrm>
          </p:grpSpPr>
          <p:sp>
            <p:nvSpPr>
              <p:cNvPr name="Freeform 8" id="8"/>
              <p:cNvSpPr/>
              <p:nvPr/>
            </p:nvSpPr>
            <p:spPr>
              <a:xfrm flipH="false" flipV="false" rot="0">
                <a:off x="-1" y="0"/>
                <a:ext cx="23043639" cy="10705337"/>
              </a:xfrm>
              <a:custGeom>
                <a:avLst/>
                <a:gdLst/>
                <a:ahLst/>
                <a:cxnLst/>
                <a:rect r="r" b="b" t="t" l="l"/>
                <a:pathLst>
                  <a:path h="10705337" w="23043639">
                    <a:moveTo>
                      <a:pt x="22544859" y="10688418"/>
                    </a:moveTo>
                    <a:cubicBezTo>
                      <a:pt x="22544859" y="10688418"/>
                      <a:pt x="22307863" y="10678449"/>
                      <a:pt x="21945723" y="10691893"/>
                    </a:cubicBezTo>
                    <a:cubicBezTo>
                      <a:pt x="21583586" y="10705337"/>
                      <a:pt x="490924" y="10705337"/>
                      <a:pt x="490924" y="10705337"/>
                    </a:cubicBezTo>
                    <a:cubicBezTo>
                      <a:pt x="245502" y="10705337"/>
                      <a:pt x="32509" y="10608069"/>
                      <a:pt x="31032" y="10447955"/>
                    </a:cubicBezTo>
                    <a:cubicBezTo>
                      <a:pt x="31032" y="10447955"/>
                      <a:pt x="0" y="7523653"/>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498310" y="0"/>
                      <a:pt x="22498310" y="0"/>
                    </a:cubicBezTo>
                    <a:cubicBezTo>
                      <a:pt x="22810212" y="0"/>
                      <a:pt x="23043639" y="101069"/>
                      <a:pt x="23035783" y="303616"/>
                    </a:cubicBezTo>
                    <a:cubicBezTo>
                      <a:pt x="23035783" y="303616"/>
                      <a:pt x="23033787" y="6908210"/>
                      <a:pt x="23042542" y="9748368"/>
                    </a:cubicBezTo>
                    <a:cubicBezTo>
                      <a:pt x="23051298" y="10041669"/>
                      <a:pt x="23004750" y="10374741"/>
                      <a:pt x="23004750" y="10374741"/>
                    </a:cubicBezTo>
                    <a:cubicBezTo>
                      <a:pt x="23001785" y="10554766"/>
                      <a:pt x="22790281" y="10688418"/>
                      <a:pt x="22544859" y="10688418"/>
                    </a:cubicBezTo>
                    <a:close/>
                  </a:path>
                </a:pathLst>
              </a:custGeom>
              <a:solidFill>
                <a:srgbClr val="F3FCFF"/>
              </a:solidFill>
            </p:spPr>
          </p:sp>
        </p:grpSp>
        <p:sp>
          <p:nvSpPr>
            <p:cNvPr name="AutoShape 9" id="9"/>
            <p:cNvSpPr/>
            <p:nvPr/>
          </p:nvSpPr>
          <p:spPr>
            <a:xfrm>
              <a:off x="2250246" y="9826016"/>
              <a:ext cx="22466735" cy="34286"/>
            </a:xfrm>
            <a:prstGeom prst="line">
              <a:avLst/>
            </a:prstGeom>
            <a:ln cap="rnd" w="50800">
              <a:solidFill>
                <a:srgbClr val="8FB7C6"/>
              </a:solidFill>
              <a:prstDash val="solid"/>
              <a:headEnd type="none" len="sm" w="sm"/>
              <a:tailEnd type="none" len="sm" w="sm"/>
            </a:ln>
          </p:spPr>
        </p:sp>
        <p:sp>
          <p:nvSpPr>
            <p:cNvPr name="AutoShape 10" id="10"/>
            <p:cNvSpPr/>
            <p:nvPr/>
          </p:nvSpPr>
          <p:spPr>
            <a:xfrm>
              <a:off x="2250246" y="717206"/>
              <a:ext cx="22466735" cy="34286"/>
            </a:xfrm>
            <a:prstGeom prst="line">
              <a:avLst/>
            </a:prstGeom>
            <a:ln cap="rnd" w="50800">
              <a:solidFill>
                <a:srgbClr val="8FB7C6"/>
              </a:solidFill>
              <a:prstDash val="solid"/>
              <a:headEnd type="none" len="sm" w="sm"/>
              <a:tailEnd type="none" len="sm" w="sm"/>
            </a:ln>
          </p:spPr>
        </p:sp>
      </p:grpSp>
      <p:grpSp>
        <p:nvGrpSpPr>
          <p:cNvPr name="Group 11" id="11"/>
          <p:cNvGrpSpPr/>
          <p:nvPr/>
        </p:nvGrpSpPr>
        <p:grpSpPr>
          <a:xfrm rot="0">
            <a:off x="2132588" y="1315294"/>
            <a:ext cx="15126712" cy="7656412"/>
            <a:chOff x="0" y="0"/>
            <a:chExt cx="20168950" cy="10208549"/>
          </a:xfrm>
        </p:grpSpPr>
        <p:sp>
          <p:nvSpPr>
            <p:cNvPr name="TextBox 12" id="12"/>
            <p:cNvSpPr txBox="true"/>
            <p:nvPr/>
          </p:nvSpPr>
          <p:spPr>
            <a:xfrm rot="0">
              <a:off x="334686" y="1440216"/>
              <a:ext cx="18841219" cy="8768334"/>
            </a:xfrm>
            <a:prstGeom prst="rect">
              <a:avLst/>
            </a:prstGeom>
          </p:spPr>
          <p:txBody>
            <a:bodyPr anchor="t" rtlCol="false" tIns="0" lIns="0" bIns="0" rIns="0">
              <a:spAutoFit/>
            </a:bodyPr>
            <a:lstStyle/>
            <a:p>
              <a:pPr algn="just" marL="764289" indent="-382145" lvl="1">
                <a:lnSpc>
                  <a:spcPts val="4779"/>
                </a:lnSpc>
                <a:buFont typeface="Arial"/>
                <a:buChar char="•"/>
              </a:pPr>
              <a:r>
                <a:rPr lang="en-US" sz="3540" spc="-35">
                  <a:solidFill>
                    <a:srgbClr val="000000"/>
                  </a:solidFill>
                  <a:latin typeface="Asap"/>
                  <a:ea typeface="Asap"/>
                  <a:cs typeface="Asap"/>
                  <a:sym typeface="Asap"/>
                </a:rPr>
                <a:t>Xử</a:t>
              </a:r>
              <a:r>
                <a:rPr lang="en-US" sz="3540" spc="-35">
                  <a:solidFill>
                    <a:srgbClr val="000000"/>
                  </a:solidFill>
                  <a:latin typeface="Asap"/>
                  <a:ea typeface="Asap"/>
                  <a:cs typeface="Asap"/>
                  <a:sym typeface="Asap"/>
                </a:rPr>
                <a:t> lý khi:</a:t>
              </a:r>
            </a:p>
            <a:p>
              <a:pPr algn="just" marL="764289" indent="-382145" lvl="1">
                <a:lnSpc>
                  <a:spcPts val="4779"/>
                </a:lnSpc>
                <a:buFont typeface="Arial"/>
                <a:buChar char="•"/>
              </a:pPr>
              <a:r>
                <a:rPr lang="en-US" sz="3540" spc="-35">
                  <a:solidFill>
                    <a:srgbClr val="000000"/>
                  </a:solidFill>
                  <a:latin typeface="Asap"/>
                  <a:ea typeface="Asap"/>
                  <a:cs typeface="Asap"/>
                  <a:sym typeface="Asap"/>
                </a:rPr>
                <a:t>input sai</a:t>
              </a:r>
            </a:p>
            <a:p>
              <a:pPr algn="just" marL="764289" indent="-382145" lvl="1">
                <a:lnSpc>
                  <a:spcPts val="4779"/>
                </a:lnSpc>
                <a:buFont typeface="Arial"/>
                <a:buChar char="•"/>
              </a:pPr>
              <a:r>
                <a:rPr lang="en-US" sz="3540" spc="-35">
                  <a:solidFill>
                    <a:srgbClr val="000000"/>
                  </a:solidFill>
                  <a:latin typeface="Asap"/>
                  <a:ea typeface="Asap"/>
                  <a:cs typeface="Asap"/>
                  <a:sym typeface="Asap"/>
                </a:rPr>
                <a:t>API lỗi</a:t>
              </a:r>
            </a:p>
            <a:p>
              <a:pPr algn="just" marL="764289" indent="-382145" lvl="1">
                <a:lnSpc>
                  <a:spcPts val="4779"/>
                </a:lnSpc>
                <a:buFont typeface="Arial"/>
                <a:buChar char="•"/>
              </a:pPr>
              <a:r>
                <a:rPr lang="en-US" sz="3540" spc="-35">
                  <a:solidFill>
                    <a:srgbClr val="000000"/>
                  </a:solidFill>
                  <a:latin typeface="Asap"/>
                  <a:ea typeface="Asap"/>
                  <a:cs typeface="Asap"/>
                  <a:sym typeface="Asap"/>
                </a:rPr>
                <a:t>dữ</a:t>
              </a:r>
              <a:r>
                <a:rPr lang="en-US" sz="3540" spc="-35">
                  <a:solidFill>
                    <a:srgbClr val="000000"/>
                  </a:solidFill>
                  <a:latin typeface="Asap"/>
                  <a:ea typeface="Asap"/>
                  <a:cs typeface="Asap"/>
                  <a:sym typeface="Asap"/>
                </a:rPr>
                <a:t> liệu bất thường</a:t>
              </a:r>
            </a:p>
            <a:p>
              <a:pPr algn="just">
                <a:lnSpc>
                  <a:spcPts val="4779"/>
                </a:lnSpc>
              </a:pPr>
              <a:r>
                <a:rPr lang="en-US" sz="3540" spc="-35">
                  <a:solidFill>
                    <a:srgbClr val="000000"/>
                  </a:solidFill>
                  <a:latin typeface="Asap"/>
                  <a:ea typeface="Asap"/>
                  <a:cs typeface="Asap"/>
                  <a:sym typeface="Asap"/>
                </a:rPr>
                <a:t>=&gt;</a:t>
              </a:r>
              <a:r>
                <a:rPr lang="en-US" sz="3540" spc="-35">
                  <a:solidFill>
                    <a:srgbClr val="000000"/>
                  </a:solidFill>
                  <a:latin typeface="Asap"/>
                  <a:ea typeface="Asap"/>
                  <a:cs typeface="Asap"/>
                  <a:sym typeface="Asap"/>
                </a:rPr>
                <a:t> Thay vì crash:</a:t>
              </a:r>
            </a:p>
            <a:p>
              <a:pPr algn="just" marL="764289" indent="-382145" lvl="1">
                <a:lnSpc>
                  <a:spcPts val="4779"/>
                </a:lnSpc>
                <a:buFont typeface="Arial"/>
                <a:buChar char="•"/>
              </a:pPr>
              <a:r>
                <a:rPr lang="en-US" sz="3540" spc="-35">
                  <a:solidFill>
                    <a:srgbClr val="000000"/>
                  </a:solidFill>
                  <a:latin typeface="Asap"/>
                  <a:ea typeface="Asap"/>
                  <a:cs typeface="Asap"/>
                  <a:sym typeface="Asap"/>
                </a:rPr>
                <a:t>bắt </a:t>
              </a:r>
              <a:r>
                <a:rPr lang="en-US" sz="3540" spc="-35">
                  <a:solidFill>
                    <a:srgbClr val="000000"/>
                  </a:solidFill>
                  <a:latin typeface="Asap"/>
                  <a:ea typeface="Asap"/>
                  <a:cs typeface="Asap"/>
                  <a:sym typeface="Asap"/>
                </a:rPr>
                <a:t>lỗ</a:t>
              </a:r>
              <a:r>
                <a:rPr lang="en-US" sz="3540" spc="-35">
                  <a:solidFill>
                    <a:srgbClr val="000000"/>
                  </a:solidFill>
                  <a:latin typeface="Asap"/>
                  <a:ea typeface="Asap"/>
                  <a:cs typeface="Asap"/>
                  <a:sym typeface="Asap"/>
                </a:rPr>
                <a:t>i</a:t>
              </a:r>
            </a:p>
            <a:p>
              <a:pPr algn="just" marL="764289" indent="-382145" lvl="1">
                <a:lnSpc>
                  <a:spcPts val="4779"/>
                </a:lnSpc>
                <a:buFont typeface="Arial"/>
                <a:buChar char="•"/>
              </a:pPr>
              <a:r>
                <a:rPr lang="en-US" sz="3540" spc="-35">
                  <a:solidFill>
                    <a:srgbClr val="000000"/>
                  </a:solidFill>
                  <a:latin typeface="Asap"/>
                  <a:ea typeface="Asap"/>
                  <a:cs typeface="Asap"/>
                  <a:sym typeface="Asap"/>
                </a:rPr>
                <a:t>trả message rõ ràng</a:t>
              </a:r>
            </a:p>
            <a:p>
              <a:pPr algn="just">
                <a:lnSpc>
                  <a:spcPts val="4779"/>
                </a:lnSpc>
              </a:pPr>
              <a:r>
                <a:rPr lang="en-US" sz="3540" spc="-35">
                  <a:solidFill>
                    <a:srgbClr val="000000"/>
                  </a:solidFill>
                  <a:latin typeface="Asap"/>
                  <a:ea typeface="Asap"/>
                  <a:cs typeface="Asap"/>
                  <a:sym typeface="Asap"/>
                </a:rPr>
                <a:t>=&gt;</a:t>
              </a:r>
              <a:r>
                <a:rPr lang="en-US" sz="3540" spc="-35">
                  <a:solidFill>
                    <a:srgbClr val="000000"/>
                  </a:solidFill>
                  <a:latin typeface="Asap"/>
                  <a:ea typeface="Asap"/>
                  <a:cs typeface="Asap"/>
                  <a:sym typeface="Asap"/>
                </a:rPr>
                <a:t>Không error handli</a:t>
              </a:r>
              <a:r>
                <a:rPr lang="en-US" sz="3540" spc="-35">
                  <a:solidFill>
                    <a:srgbClr val="000000"/>
                  </a:solidFill>
                  <a:latin typeface="Asap"/>
                  <a:ea typeface="Asap"/>
                  <a:cs typeface="Asap"/>
                  <a:sym typeface="Asap"/>
                </a:rPr>
                <a:t>ng:</a:t>
              </a:r>
            </a:p>
            <a:p>
              <a:pPr algn="just" marL="764289" indent="-382145" lvl="1">
                <a:lnSpc>
                  <a:spcPts val="4779"/>
                </a:lnSpc>
                <a:buFont typeface="Arial"/>
                <a:buChar char="•"/>
              </a:pPr>
              <a:r>
                <a:rPr lang="en-US" sz="3540" spc="-35">
                  <a:solidFill>
                    <a:srgbClr val="000000"/>
                  </a:solidFill>
                  <a:latin typeface="Asap"/>
                  <a:ea typeface="Asap"/>
                  <a:cs typeface="Asap"/>
                  <a:sym typeface="Asap"/>
                </a:rPr>
                <a:t>app</a:t>
              </a:r>
              <a:r>
                <a:rPr lang="en-US" sz="3540" spc="-35">
                  <a:solidFill>
                    <a:srgbClr val="000000"/>
                  </a:solidFill>
                  <a:latin typeface="Asap"/>
                  <a:ea typeface="Asap"/>
                  <a:cs typeface="Asap"/>
                  <a:sym typeface="Asap"/>
                </a:rPr>
                <a:t> sập</a:t>
              </a:r>
            </a:p>
            <a:p>
              <a:pPr algn="just" marL="764289" indent="-382145" lvl="1">
                <a:lnSpc>
                  <a:spcPts val="4779"/>
                </a:lnSpc>
                <a:buFont typeface="Arial"/>
                <a:buChar char="•"/>
              </a:pPr>
              <a:r>
                <a:rPr lang="en-US" sz="3540" spc="-35">
                  <a:solidFill>
                    <a:srgbClr val="000000"/>
                  </a:solidFill>
                  <a:latin typeface="Asap"/>
                  <a:ea typeface="Asap"/>
                  <a:cs typeface="Asap"/>
                  <a:sym typeface="Asap"/>
                </a:rPr>
                <a:t>u</a:t>
              </a:r>
              <a:r>
                <a:rPr lang="en-US" sz="3540" spc="-35">
                  <a:solidFill>
                    <a:srgbClr val="000000"/>
                  </a:solidFill>
                  <a:latin typeface="Asap"/>
                  <a:ea typeface="Asap"/>
                  <a:cs typeface="Asap"/>
                  <a:sym typeface="Asap"/>
                </a:rPr>
                <a:t>ser k</a:t>
              </a:r>
              <a:r>
                <a:rPr lang="en-US" sz="3540" spc="-35">
                  <a:solidFill>
                    <a:srgbClr val="000000"/>
                  </a:solidFill>
                  <a:latin typeface="Asap"/>
                  <a:ea typeface="Asap"/>
                  <a:cs typeface="Asap"/>
                  <a:sym typeface="Asap"/>
                </a:rPr>
                <a:t>hông dùng được</a:t>
              </a:r>
            </a:p>
            <a:p>
              <a:pPr algn="just">
                <a:lnSpc>
                  <a:spcPts val="4779"/>
                </a:lnSpc>
              </a:pPr>
            </a:p>
          </p:txBody>
        </p:sp>
        <p:sp>
          <p:nvSpPr>
            <p:cNvPr name="TextBox 13" id="13"/>
            <p:cNvSpPr txBox="true"/>
            <p:nvPr/>
          </p:nvSpPr>
          <p:spPr>
            <a:xfrm rot="0">
              <a:off x="0" y="0"/>
              <a:ext cx="20168950" cy="1207078"/>
            </a:xfrm>
            <a:prstGeom prst="rect">
              <a:avLst/>
            </a:prstGeom>
          </p:spPr>
          <p:txBody>
            <a:bodyPr anchor="t" rtlCol="false" tIns="0" lIns="0" bIns="0" rIns="0">
              <a:spAutoFit/>
            </a:bodyPr>
            <a:lstStyle/>
            <a:p>
              <a:pPr algn="just">
                <a:lnSpc>
                  <a:spcPts val="7140"/>
                </a:lnSpc>
              </a:pPr>
              <a:r>
                <a:rPr lang="en-US" b="true" sz="5950">
                  <a:solidFill>
                    <a:srgbClr val="1D2B74"/>
                  </a:solidFill>
                  <a:latin typeface="Faustina Bold"/>
                  <a:ea typeface="Faustina Bold"/>
                  <a:cs typeface="Faustina Bold"/>
                  <a:sym typeface="Faustina Bold"/>
                </a:rPr>
                <a:t>Error Handling → Không để hệ thống crash</a:t>
              </a:r>
            </a:p>
          </p:txBody>
        </p:sp>
      </p:grpSp>
    </p:spTree>
  </p:cSld>
  <p:clrMapOvr>
    <a:masterClrMapping/>
  </p:clrMapOvr>
  <p:transition spd="slow">
    <p:push dir="d"/>
  </p:transition>
</p:sld>
</file>

<file path=ppt/slides/slide33.xml><?xml version="1.0" encoding="utf-8"?>
<p:sld xmlns:p="http://schemas.openxmlformats.org/presentationml/2006/main" xmlns:a="http://schemas.openxmlformats.org/drawingml/2006/main">
  <p:cSld>
    <p:bg>
      <p:bgPr>
        <a:solidFill>
          <a:srgbClr val="C8E3ED"/>
        </a:solidFill>
      </p:bgPr>
    </p:bg>
    <p:spTree>
      <p:nvGrpSpPr>
        <p:cNvPr id="1" name=""/>
        <p:cNvGrpSpPr/>
        <p:nvPr/>
      </p:nvGrpSpPr>
      <p:grpSpPr>
        <a:xfrm>
          <a:off x="0" y="0"/>
          <a:ext cx="0" cy="0"/>
          <a:chOff x="0" y="0"/>
          <a:chExt cx="0" cy="0"/>
        </a:xfrm>
      </p:grpSpPr>
      <p:grpSp>
        <p:nvGrpSpPr>
          <p:cNvPr name="Group 2" id="2"/>
          <p:cNvGrpSpPr/>
          <p:nvPr/>
        </p:nvGrpSpPr>
        <p:grpSpPr>
          <a:xfrm rot="0">
            <a:off x="774820" y="1028700"/>
            <a:ext cx="18537765" cy="8229600"/>
            <a:chOff x="0" y="0"/>
            <a:chExt cx="24717020" cy="10972800"/>
          </a:xfrm>
        </p:grpSpPr>
        <p:grpSp>
          <p:nvGrpSpPr>
            <p:cNvPr name="Group 3" id="3"/>
            <p:cNvGrpSpPr/>
            <p:nvPr/>
          </p:nvGrpSpPr>
          <p:grpSpPr>
            <a:xfrm rot="0">
              <a:off x="0" y="977717"/>
              <a:ext cx="23352980" cy="9995083"/>
              <a:chOff x="0" y="0"/>
              <a:chExt cx="22703567" cy="9717134"/>
            </a:xfrm>
          </p:grpSpPr>
          <p:sp>
            <p:nvSpPr>
              <p:cNvPr name="Freeform 4" id="4"/>
              <p:cNvSpPr/>
              <p:nvPr/>
            </p:nvSpPr>
            <p:spPr>
              <a:xfrm flipH="false" flipV="false" rot="0">
                <a:off x="-1" y="0"/>
                <a:ext cx="22703568" cy="9717134"/>
              </a:xfrm>
              <a:custGeom>
                <a:avLst/>
                <a:gdLst/>
                <a:ahLst/>
                <a:cxnLst/>
                <a:rect r="r" b="b" t="t" l="l"/>
                <a:pathLst>
                  <a:path h="9717134" w="22703568">
                    <a:moveTo>
                      <a:pt x="22204787" y="9700216"/>
                    </a:moveTo>
                    <a:cubicBezTo>
                      <a:pt x="22204787" y="9700216"/>
                      <a:pt x="21967792" y="9690246"/>
                      <a:pt x="21605653" y="9703690"/>
                    </a:cubicBezTo>
                    <a:cubicBezTo>
                      <a:pt x="21243514" y="9717134"/>
                      <a:pt x="490924" y="9717134"/>
                      <a:pt x="490924" y="9717134"/>
                    </a:cubicBezTo>
                    <a:cubicBezTo>
                      <a:pt x="245502" y="9717134"/>
                      <a:pt x="32509" y="9619866"/>
                      <a:pt x="31032" y="9459752"/>
                    </a:cubicBezTo>
                    <a:cubicBezTo>
                      <a:pt x="31032" y="9459752"/>
                      <a:pt x="0" y="6758194"/>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158239" y="0"/>
                      <a:pt x="22158239" y="0"/>
                    </a:cubicBezTo>
                    <a:cubicBezTo>
                      <a:pt x="22470140" y="0"/>
                      <a:pt x="22703569" y="101069"/>
                      <a:pt x="22695710" y="303616"/>
                    </a:cubicBezTo>
                    <a:cubicBezTo>
                      <a:pt x="22695710" y="303616"/>
                      <a:pt x="22693715" y="6210870"/>
                      <a:pt x="22702471" y="8760165"/>
                    </a:cubicBezTo>
                    <a:cubicBezTo>
                      <a:pt x="22711226" y="9053467"/>
                      <a:pt x="22664678" y="9386538"/>
                      <a:pt x="22664678" y="9386538"/>
                    </a:cubicBezTo>
                    <a:cubicBezTo>
                      <a:pt x="22661712" y="9566563"/>
                      <a:pt x="22450209" y="9700216"/>
                      <a:pt x="22204787" y="9700216"/>
                    </a:cubicBezTo>
                    <a:close/>
                  </a:path>
                </a:pathLst>
              </a:custGeom>
              <a:solidFill>
                <a:srgbClr val="8FB7C6"/>
              </a:solidFill>
            </p:spPr>
          </p:sp>
        </p:grpSp>
        <p:grpSp>
          <p:nvGrpSpPr>
            <p:cNvPr name="Group 5" id="5"/>
            <p:cNvGrpSpPr/>
            <p:nvPr/>
          </p:nvGrpSpPr>
          <p:grpSpPr>
            <a:xfrm rot="0">
              <a:off x="254961" y="1067537"/>
              <a:ext cx="22897610" cy="9778026"/>
              <a:chOff x="0" y="0"/>
              <a:chExt cx="22594507" cy="9648591"/>
            </a:xfrm>
          </p:grpSpPr>
          <p:sp>
            <p:nvSpPr>
              <p:cNvPr name="Freeform 6" id="6"/>
              <p:cNvSpPr/>
              <p:nvPr/>
            </p:nvSpPr>
            <p:spPr>
              <a:xfrm flipH="false" flipV="false" rot="0">
                <a:off x="-1" y="0"/>
                <a:ext cx="22594508" cy="9648591"/>
              </a:xfrm>
              <a:custGeom>
                <a:avLst/>
                <a:gdLst/>
                <a:ahLst/>
                <a:cxnLst/>
                <a:rect r="r" b="b" t="t" l="l"/>
                <a:pathLst>
                  <a:path h="9648591" w="22594508">
                    <a:moveTo>
                      <a:pt x="22095727" y="9631673"/>
                    </a:moveTo>
                    <a:cubicBezTo>
                      <a:pt x="22095727" y="9631673"/>
                      <a:pt x="21858730" y="9621703"/>
                      <a:pt x="21496593" y="9635147"/>
                    </a:cubicBezTo>
                    <a:cubicBezTo>
                      <a:pt x="21134454" y="9648591"/>
                      <a:pt x="490924" y="9648591"/>
                      <a:pt x="490924" y="9648591"/>
                    </a:cubicBezTo>
                    <a:cubicBezTo>
                      <a:pt x="245502" y="9648591"/>
                      <a:pt x="32509" y="9551323"/>
                      <a:pt x="31032" y="9391209"/>
                    </a:cubicBezTo>
                    <a:cubicBezTo>
                      <a:pt x="31032" y="9391209"/>
                      <a:pt x="0" y="6705102"/>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049179" y="0"/>
                      <a:pt x="22049179" y="0"/>
                    </a:cubicBezTo>
                    <a:cubicBezTo>
                      <a:pt x="22361080" y="0"/>
                      <a:pt x="22594507" y="101069"/>
                      <a:pt x="22586650" y="303616"/>
                    </a:cubicBezTo>
                    <a:cubicBezTo>
                      <a:pt x="22586650" y="303616"/>
                      <a:pt x="22584655" y="6162502"/>
                      <a:pt x="22593411" y="8691622"/>
                    </a:cubicBezTo>
                    <a:cubicBezTo>
                      <a:pt x="22602166" y="8984924"/>
                      <a:pt x="22555618" y="9317995"/>
                      <a:pt x="22555618" y="9317995"/>
                    </a:cubicBezTo>
                    <a:cubicBezTo>
                      <a:pt x="22552652" y="9498020"/>
                      <a:pt x="22341149" y="9631673"/>
                      <a:pt x="22095727" y="9631673"/>
                    </a:cubicBezTo>
                    <a:close/>
                  </a:path>
                </a:pathLst>
              </a:custGeom>
              <a:solidFill>
                <a:srgbClr val="8FB7C6"/>
              </a:solidFill>
            </p:spPr>
          </p:sp>
        </p:grpSp>
        <p:grpSp>
          <p:nvGrpSpPr>
            <p:cNvPr name="Group 7" id="7"/>
            <p:cNvGrpSpPr/>
            <p:nvPr/>
          </p:nvGrpSpPr>
          <p:grpSpPr>
            <a:xfrm rot="0">
              <a:off x="919721" y="0"/>
              <a:ext cx="22232850" cy="10328670"/>
              <a:chOff x="0" y="0"/>
              <a:chExt cx="23043639" cy="10705337"/>
            </a:xfrm>
          </p:grpSpPr>
          <p:sp>
            <p:nvSpPr>
              <p:cNvPr name="Freeform 8" id="8"/>
              <p:cNvSpPr/>
              <p:nvPr/>
            </p:nvSpPr>
            <p:spPr>
              <a:xfrm flipH="false" flipV="false" rot="0">
                <a:off x="-1" y="0"/>
                <a:ext cx="23043639" cy="10705337"/>
              </a:xfrm>
              <a:custGeom>
                <a:avLst/>
                <a:gdLst/>
                <a:ahLst/>
                <a:cxnLst/>
                <a:rect r="r" b="b" t="t" l="l"/>
                <a:pathLst>
                  <a:path h="10705337" w="23043639">
                    <a:moveTo>
                      <a:pt x="22544859" y="10688418"/>
                    </a:moveTo>
                    <a:cubicBezTo>
                      <a:pt x="22544859" y="10688418"/>
                      <a:pt x="22307863" y="10678449"/>
                      <a:pt x="21945723" y="10691893"/>
                    </a:cubicBezTo>
                    <a:cubicBezTo>
                      <a:pt x="21583586" y="10705337"/>
                      <a:pt x="490924" y="10705337"/>
                      <a:pt x="490924" y="10705337"/>
                    </a:cubicBezTo>
                    <a:cubicBezTo>
                      <a:pt x="245502" y="10705337"/>
                      <a:pt x="32509" y="10608069"/>
                      <a:pt x="31032" y="10447955"/>
                    </a:cubicBezTo>
                    <a:cubicBezTo>
                      <a:pt x="31032" y="10447955"/>
                      <a:pt x="0" y="7523653"/>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498310" y="0"/>
                      <a:pt x="22498310" y="0"/>
                    </a:cubicBezTo>
                    <a:cubicBezTo>
                      <a:pt x="22810212" y="0"/>
                      <a:pt x="23043639" y="101069"/>
                      <a:pt x="23035783" y="303616"/>
                    </a:cubicBezTo>
                    <a:cubicBezTo>
                      <a:pt x="23035783" y="303616"/>
                      <a:pt x="23033787" y="6908210"/>
                      <a:pt x="23042542" y="9748368"/>
                    </a:cubicBezTo>
                    <a:cubicBezTo>
                      <a:pt x="23051298" y="10041669"/>
                      <a:pt x="23004750" y="10374741"/>
                      <a:pt x="23004750" y="10374741"/>
                    </a:cubicBezTo>
                    <a:cubicBezTo>
                      <a:pt x="23001785" y="10554766"/>
                      <a:pt x="22790281" y="10688418"/>
                      <a:pt x="22544859" y="10688418"/>
                    </a:cubicBezTo>
                    <a:close/>
                  </a:path>
                </a:pathLst>
              </a:custGeom>
              <a:solidFill>
                <a:srgbClr val="F3FCFF"/>
              </a:solidFill>
            </p:spPr>
          </p:sp>
        </p:grpSp>
        <p:sp>
          <p:nvSpPr>
            <p:cNvPr name="AutoShape 9" id="9"/>
            <p:cNvSpPr/>
            <p:nvPr/>
          </p:nvSpPr>
          <p:spPr>
            <a:xfrm>
              <a:off x="2250246" y="9826016"/>
              <a:ext cx="22466735" cy="34286"/>
            </a:xfrm>
            <a:prstGeom prst="line">
              <a:avLst/>
            </a:prstGeom>
            <a:ln cap="rnd" w="50800">
              <a:solidFill>
                <a:srgbClr val="8FB7C6"/>
              </a:solidFill>
              <a:prstDash val="solid"/>
              <a:headEnd type="none" len="sm" w="sm"/>
              <a:tailEnd type="none" len="sm" w="sm"/>
            </a:ln>
          </p:spPr>
        </p:sp>
        <p:sp>
          <p:nvSpPr>
            <p:cNvPr name="AutoShape 10" id="10"/>
            <p:cNvSpPr/>
            <p:nvPr/>
          </p:nvSpPr>
          <p:spPr>
            <a:xfrm>
              <a:off x="2250246" y="717206"/>
              <a:ext cx="22466735" cy="34286"/>
            </a:xfrm>
            <a:prstGeom prst="line">
              <a:avLst/>
            </a:prstGeom>
            <a:ln cap="rnd" w="50800">
              <a:solidFill>
                <a:srgbClr val="8FB7C6"/>
              </a:solidFill>
              <a:prstDash val="solid"/>
              <a:headEnd type="none" len="sm" w="sm"/>
              <a:tailEnd type="none" len="sm" w="sm"/>
            </a:ln>
          </p:spPr>
        </p:sp>
      </p:grpSp>
      <p:grpSp>
        <p:nvGrpSpPr>
          <p:cNvPr name="Group 11" id="11"/>
          <p:cNvGrpSpPr/>
          <p:nvPr/>
        </p:nvGrpSpPr>
        <p:grpSpPr>
          <a:xfrm rot="0">
            <a:off x="2132588" y="1497206"/>
            <a:ext cx="15126712" cy="6463448"/>
            <a:chOff x="0" y="0"/>
            <a:chExt cx="20168950" cy="8617931"/>
          </a:xfrm>
        </p:grpSpPr>
        <p:sp>
          <p:nvSpPr>
            <p:cNvPr name="TextBox 12" id="12"/>
            <p:cNvSpPr txBox="true"/>
            <p:nvPr/>
          </p:nvSpPr>
          <p:spPr>
            <a:xfrm rot="0">
              <a:off x="334686" y="1449797"/>
              <a:ext cx="18841219" cy="7168134"/>
            </a:xfrm>
            <a:prstGeom prst="rect">
              <a:avLst/>
            </a:prstGeom>
          </p:spPr>
          <p:txBody>
            <a:bodyPr anchor="t" rtlCol="false" tIns="0" lIns="0" bIns="0" rIns="0">
              <a:spAutoFit/>
            </a:bodyPr>
            <a:lstStyle/>
            <a:p>
              <a:pPr algn="just">
                <a:lnSpc>
                  <a:spcPts val="4779"/>
                </a:lnSpc>
              </a:pPr>
              <a:r>
                <a:rPr lang="en-US" sz="3540" spc="-35">
                  <a:solidFill>
                    <a:srgbClr val="000000"/>
                  </a:solidFill>
                  <a:latin typeface="Asap"/>
                  <a:ea typeface="Asap"/>
                  <a:cs typeface="Asap"/>
                  <a:sym typeface="Asap"/>
                </a:rPr>
                <a:t>Vấn đề với code bình thường</a:t>
              </a:r>
            </a:p>
            <a:p>
              <a:pPr algn="just" marL="764289" indent="-382145" lvl="1">
                <a:lnSpc>
                  <a:spcPts val="4779"/>
                </a:lnSpc>
                <a:buFont typeface="Arial"/>
                <a:buChar char="•"/>
              </a:pPr>
              <a:r>
                <a:rPr lang="en-US" sz="3540" spc="-35">
                  <a:solidFill>
                    <a:srgbClr val="000000"/>
                  </a:solidFill>
                  <a:latin typeface="Asap"/>
                  <a:ea typeface="Asap"/>
                  <a:cs typeface="Asap"/>
                  <a:sym typeface="Asap"/>
                </a:rPr>
                <a:t>Chỉ tập trung:</a:t>
              </a:r>
            </a:p>
            <a:p>
              <a:pPr algn="just" marL="1528578" indent="-509526" lvl="2">
                <a:lnSpc>
                  <a:spcPts val="4779"/>
                </a:lnSpc>
                <a:buFont typeface="Arial"/>
                <a:buChar char="⚬"/>
              </a:pPr>
              <a:r>
                <a:rPr lang="en-US" sz="3540" spc="-35">
                  <a:solidFill>
                    <a:srgbClr val="000000"/>
                  </a:solidFill>
                  <a:latin typeface="Asap"/>
                  <a:ea typeface="Asap"/>
                  <a:cs typeface="Asap"/>
                  <a:sym typeface="Asap"/>
                </a:rPr>
                <a:t>chạy đúng logic</a:t>
              </a:r>
            </a:p>
            <a:p>
              <a:pPr algn="just" marL="764289" indent="-382145" lvl="1">
                <a:lnSpc>
                  <a:spcPts val="4779"/>
                </a:lnSpc>
                <a:buFont typeface="Arial"/>
                <a:buChar char="•"/>
              </a:pPr>
              <a:r>
                <a:rPr lang="en-US" sz="3540" spc="-35">
                  <a:solidFill>
                    <a:srgbClr val="000000"/>
                  </a:solidFill>
                  <a:latin typeface="Asap"/>
                  <a:ea typeface="Asap"/>
                  <a:cs typeface="Asap"/>
                  <a:sym typeface="Asap"/>
                </a:rPr>
                <a:t>Không có:</a:t>
              </a:r>
            </a:p>
            <a:p>
              <a:pPr algn="just" marL="1528578" indent="-509526" lvl="2">
                <a:lnSpc>
                  <a:spcPts val="4779"/>
                </a:lnSpc>
                <a:buFont typeface="Arial"/>
                <a:buChar char="⚬"/>
              </a:pPr>
              <a:r>
                <a:rPr lang="en-US" sz="3540" spc="-35">
                  <a:solidFill>
                    <a:srgbClr val="000000"/>
                  </a:solidFill>
                  <a:latin typeface="Asap"/>
                  <a:ea typeface="Asap"/>
                  <a:cs typeface="Asap"/>
                  <a:sym typeface="Asap"/>
                </a:rPr>
                <a:t>logging</a:t>
              </a:r>
            </a:p>
            <a:p>
              <a:pPr algn="just" marL="1528578" indent="-509526" lvl="2">
                <a:lnSpc>
                  <a:spcPts val="4779"/>
                </a:lnSpc>
                <a:buFont typeface="Arial"/>
                <a:buChar char="⚬"/>
              </a:pPr>
              <a:r>
                <a:rPr lang="en-US" sz="3540" spc="-35">
                  <a:solidFill>
                    <a:srgbClr val="000000"/>
                  </a:solidFill>
                  <a:latin typeface="Asap"/>
                  <a:ea typeface="Asap"/>
                  <a:cs typeface="Asap"/>
                  <a:sym typeface="Asap"/>
                </a:rPr>
                <a:t>kiểm tra input</a:t>
              </a:r>
            </a:p>
            <a:p>
              <a:pPr algn="just" marL="1528578" indent="-509526" lvl="2">
                <a:lnSpc>
                  <a:spcPts val="4779"/>
                </a:lnSpc>
                <a:buFont typeface="Arial"/>
                <a:buChar char="⚬"/>
              </a:pPr>
              <a:r>
                <a:rPr lang="en-US" sz="3540" spc="-35">
                  <a:solidFill>
                    <a:srgbClr val="000000"/>
                  </a:solidFill>
                  <a:latin typeface="Asap"/>
                  <a:ea typeface="Asap"/>
                  <a:cs typeface="Asap"/>
                  <a:sym typeface="Asap"/>
                </a:rPr>
                <a:t>xử lý lỗi</a:t>
              </a:r>
            </a:p>
            <a:p>
              <a:pPr algn="just">
                <a:lnSpc>
                  <a:spcPts val="4779"/>
                </a:lnSpc>
              </a:pPr>
              <a:r>
                <a:rPr lang="en-US" sz="3540" spc="-35">
                  <a:solidFill>
                    <a:srgbClr val="000000"/>
                  </a:solidFill>
                  <a:latin typeface="Asap"/>
                  <a:ea typeface="Asap"/>
                  <a:cs typeface="Asap"/>
                  <a:sym typeface="Asap"/>
                </a:rPr>
                <a:t>=&gt; </a:t>
              </a:r>
              <a:r>
                <a:rPr lang="en-US" sz="3540" spc="-35">
                  <a:solidFill>
                    <a:srgbClr val="000000"/>
                  </a:solidFill>
                  <a:latin typeface="Asap"/>
                  <a:ea typeface="Asap"/>
                  <a:cs typeface="Asap"/>
                  <a:sym typeface="Asap"/>
                </a:rPr>
                <a:t>Chỉ dùng được trong môi trường học / test</a:t>
              </a:r>
            </a:p>
            <a:p>
              <a:pPr algn="just">
                <a:lnSpc>
                  <a:spcPts val="4779"/>
                </a:lnSpc>
              </a:pPr>
            </a:p>
          </p:txBody>
        </p:sp>
        <p:sp>
          <p:nvSpPr>
            <p:cNvPr name="TextBox 13" id="13"/>
            <p:cNvSpPr txBox="true"/>
            <p:nvPr/>
          </p:nvSpPr>
          <p:spPr>
            <a:xfrm rot="0">
              <a:off x="0" y="0"/>
              <a:ext cx="20168950" cy="1216660"/>
            </a:xfrm>
            <a:prstGeom prst="rect">
              <a:avLst/>
            </a:prstGeom>
          </p:spPr>
          <p:txBody>
            <a:bodyPr anchor="t" rtlCol="false" tIns="0" lIns="0" bIns="0" rIns="0">
              <a:spAutoFit/>
            </a:bodyPr>
            <a:lstStyle/>
            <a:p>
              <a:pPr algn="ctr">
                <a:lnSpc>
                  <a:spcPts val="7140"/>
                </a:lnSpc>
              </a:pPr>
              <a:r>
                <a:rPr lang="en-US" b="true" sz="5950">
                  <a:solidFill>
                    <a:srgbClr val="1D2B74"/>
                  </a:solidFill>
                  <a:latin typeface="Faustina Bold"/>
                  <a:ea typeface="Faustina Bold"/>
                  <a:cs typeface="Faustina Bold"/>
                  <a:sym typeface="Faustina Bold"/>
                </a:rPr>
                <a:t>FIZZBUZZ</a:t>
              </a:r>
            </a:p>
          </p:txBody>
        </p:sp>
      </p:grpSp>
    </p:spTree>
  </p:cSld>
  <p:clrMapOvr>
    <a:masterClrMapping/>
  </p:clrMapOvr>
  <p:transition spd="slow">
    <p:push dir="d"/>
  </p:transition>
</p:sld>
</file>

<file path=ppt/slides/slide34.xml><?xml version="1.0" encoding="utf-8"?>
<p:sld xmlns:p="http://schemas.openxmlformats.org/presentationml/2006/main" xmlns:a="http://schemas.openxmlformats.org/drawingml/2006/main">
  <p:cSld>
    <p:bg>
      <p:bgPr>
        <a:solidFill>
          <a:srgbClr val="C8E3ED"/>
        </a:solidFill>
      </p:bgPr>
    </p:bg>
    <p:spTree>
      <p:nvGrpSpPr>
        <p:cNvPr id="1" name=""/>
        <p:cNvGrpSpPr/>
        <p:nvPr/>
      </p:nvGrpSpPr>
      <p:grpSpPr>
        <a:xfrm>
          <a:off x="0" y="0"/>
          <a:ext cx="0" cy="0"/>
          <a:chOff x="0" y="0"/>
          <a:chExt cx="0" cy="0"/>
        </a:xfrm>
      </p:grpSpPr>
      <p:grpSp>
        <p:nvGrpSpPr>
          <p:cNvPr name="Group 2" id="2"/>
          <p:cNvGrpSpPr/>
          <p:nvPr/>
        </p:nvGrpSpPr>
        <p:grpSpPr>
          <a:xfrm rot="0">
            <a:off x="774820" y="1028700"/>
            <a:ext cx="18537765" cy="8229600"/>
            <a:chOff x="0" y="0"/>
            <a:chExt cx="24717020" cy="10972800"/>
          </a:xfrm>
        </p:grpSpPr>
        <p:grpSp>
          <p:nvGrpSpPr>
            <p:cNvPr name="Group 3" id="3"/>
            <p:cNvGrpSpPr/>
            <p:nvPr/>
          </p:nvGrpSpPr>
          <p:grpSpPr>
            <a:xfrm rot="0">
              <a:off x="0" y="977717"/>
              <a:ext cx="23352980" cy="9995083"/>
              <a:chOff x="0" y="0"/>
              <a:chExt cx="22703567" cy="9717134"/>
            </a:xfrm>
          </p:grpSpPr>
          <p:sp>
            <p:nvSpPr>
              <p:cNvPr name="Freeform 4" id="4"/>
              <p:cNvSpPr/>
              <p:nvPr/>
            </p:nvSpPr>
            <p:spPr>
              <a:xfrm flipH="false" flipV="false" rot="0">
                <a:off x="-1" y="0"/>
                <a:ext cx="22703568" cy="9717134"/>
              </a:xfrm>
              <a:custGeom>
                <a:avLst/>
                <a:gdLst/>
                <a:ahLst/>
                <a:cxnLst/>
                <a:rect r="r" b="b" t="t" l="l"/>
                <a:pathLst>
                  <a:path h="9717134" w="22703568">
                    <a:moveTo>
                      <a:pt x="22204787" y="9700216"/>
                    </a:moveTo>
                    <a:cubicBezTo>
                      <a:pt x="22204787" y="9700216"/>
                      <a:pt x="21967792" y="9690246"/>
                      <a:pt x="21605653" y="9703690"/>
                    </a:cubicBezTo>
                    <a:cubicBezTo>
                      <a:pt x="21243514" y="9717134"/>
                      <a:pt x="490924" y="9717134"/>
                      <a:pt x="490924" y="9717134"/>
                    </a:cubicBezTo>
                    <a:cubicBezTo>
                      <a:pt x="245502" y="9717134"/>
                      <a:pt x="32509" y="9619866"/>
                      <a:pt x="31032" y="9459752"/>
                    </a:cubicBezTo>
                    <a:cubicBezTo>
                      <a:pt x="31032" y="9459752"/>
                      <a:pt x="0" y="6758194"/>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158239" y="0"/>
                      <a:pt x="22158239" y="0"/>
                    </a:cubicBezTo>
                    <a:cubicBezTo>
                      <a:pt x="22470140" y="0"/>
                      <a:pt x="22703569" y="101069"/>
                      <a:pt x="22695710" y="303616"/>
                    </a:cubicBezTo>
                    <a:cubicBezTo>
                      <a:pt x="22695710" y="303616"/>
                      <a:pt x="22693715" y="6210870"/>
                      <a:pt x="22702471" y="8760165"/>
                    </a:cubicBezTo>
                    <a:cubicBezTo>
                      <a:pt x="22711226" y="9053467"/>
                      <a:pt x="22664678" y="9386538"/>
                      <a:pt x="22664678" y="9386538"/>
                    </a:cubicBezTo>
                    <a:cubicBezTo>
                      <a:pt x="22661712" y="9566563"/>
                      <a:pt x="22450209" y="9700216"/>
                      <a:pt x="22204787" y="9700216"/>
                    </a:cubicBezTo>
                    <a:close/>
                  </a:path>
                </a:pathLst>
              </a:custGeom>
              <a:solidFill>
                <a:srgbClr val="8FB7C6"/>
              </a:solidFill>
            </p:spPr>
          </p:sp>
        </p:grpSp>
        <p:grpSp>
          <p:nvGrpSpPr>
            <p:cNvPr name="Group 5" id="5"/>
            <p:cNvGrpSpPr/>
            <p:nvPr/>
          </p:nvGrpSpPr>
          <p:grpSpPr>
            <a:xfrm rot="0">
              <a:off x="254961" y="1067537"/>
              <a:ext cx="22897610" cy="9778026"/>
              <a:chOff x="0" y="0"/>
              <a:chExt cx="22594507" cy="9648591"/>
            </a:xfrm>
          </p:grpSpPr>
          <p:sp>
            <p:nvSpPr>
              <p:cNvPr name="Freeform 6" id="6"/>
              <p:cNvSpPr/>
              <p:nvPr/>
            </p:nvSpPr>
            <p:spPr>
              <a:xfrm flipH="false" flipV="false" rot="0">
                <a:off x="-1" y="0"/>
                <a:ext cx="22594508" cy="9648591"/>
              </a:xfrm>
              <a:custGeom>
                <a:avLst/>
                <a:gdLst/>
                <a:ahLst/>
                <a:cxnLst/>
                <a:rect r="r" b="b" t="t" l="l"/>
                <a:pathLst>
                  <a:path h="9648591" w="22594508">
                    <a:moveTo>
                      <a:pt x="22095727" y="9631673"/>
                    </a:moveTo>
                    <a:cubicBezTo>
                      <a:pt x="22095727" y="9631673"/>
                      <a:pt x="21858730" y="9621703"/>
                      <a:pt x="21496593" y="9635147"/>
                    </a:cubicBezTo>
                    <a:cubicBezTo>
                      <a:pt x="21134454" y="9648591"/>
                      <a:pt x="490924" y="9648591"/>
                      <a:pt x="490924" y="9648591"/>
                    </a:cubicBezTo>
                    <a:cubicBezTo>
                      <a:pt x="245502" y="9648591"/>
                      <a:pt x="32509" y="9551323"/>
                      <a:pt x="31032" y="9391209"/>
                    </a:cubicBezTo>
                    <a:cubicBezTo>
                      <a:pt x="31032" y="9391209"/>
                      <a:pt x="0" y="6705102"/>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049179" y="0"/>
                      <a:pt x="22049179" y="0"/>
                    </a:cubicBezTo>
                    <a:cubicBezTo>
                      <a:pt x="22361080" y="0"/>
                      <a:pt x="22594507" y="101069"/>
                      <a:pt x="22586650" y="303616"/>
                    </a:cubicBezTo>
                    <a:cubicBezTo>
                      <a:pt x="22586650" y="303616"/>
                      <a:pt x="22584655" y="6162502"/>
                      <a:pt x="22593411" y="8691622"/>
                    </a:cubicBezTo>
                    <a:cubicBezTo>
                      <a:pt x="22602166" y="8984924"/>
                      <a:pt x="22555618" y="9317995"/>
                      <a:pt x="22555618" y="9317995"/>
                    </a:cubicBezTo>
                    <a:cubicBezTo>
                      <a:pt x="22552652" y="9498020"/>
                      <a:pt x="22341149" y="9631673"/>
                      <a:pt x="22095727" y="9631673"/>
                    </a:cubicBezTo>
                    <a:close/>
                  </a:path>
                </a:pathLst>
              </a:custGeom>
              <a:solidFill>
                <a:srgbClr val="8FB7C6"/>
              </a:solidFill>
            </p:spPr>
          </p:sp>
        </p:grpSp>
        <p:grpSp>
          <p:nvGrpSpPr>
            <p:cNvPr name="Group 7" id="7"/>
            <p:cNvGrpSpPr/>
            <p:nvPr/>
          </p:nvGrpSpPr>
          <p:grpSpPr>
            <a:xfrm rot="0">
              <a:off x="919721" y="0"/>
              <a:ext cx="22232850" cy="10328670"/>
              <a:chOff x="0" y="0"/>
              <a:chExt cx="23043639" cy="10705337"/>
            </a:xfrm>
          </p:grpSpPr>
          <p:sp>
            <p:nvSpPr>
              <p:cNvPr name="Freeform 8" id="8"/>
              <p:cNvSpPr/>
              <p:nvPr/>
            </p:nvSpPr>
            <p:spPr>
              <a:xfrm flipH="false" flipV="false" rot="0">
                <a:off x="-1" y="0"/>
                <a:ext cx="23043639" cy="10705337"/>
              </a:xfrm>
              <a:custGeom>
                <a:avLst/>
                <a:gdLst/>
                <a:ahLst/>
                <a:cxnLst/>
                <a:rect r="r" b="b" t="t" l="l"/>
                <a:pathLst>
                  <a:path h="10705337" w="23043639">
                    <a:moveTo>
                      <a:pt x="22544859" y="10688418"/>
                    </a:moveTo>
                    <a:cubicBezTo>
                      <a:pt x="22544859" y="10688418"/>
                      <a:pt x="22307863" y="10678449"/>
                      <a:pt x="21945723" y="10691893"/>
                    </a:cubicBezTo>
                    <a:cubicBezTo>
                      <a:pt x="21583586" y="10705337"/>
                      <a:pt x="490924" y="10705337"/>
                      <a:pt x="490924" y="10705337"/>
                    </a:cubicBezTo>
                    <a:cubicBezTo>
                      <a:pt x="245502" y="10705337"/>
                      <a:pt x="32509" y="10608069"/>
                      <a:pt x="31032" y="10447955"/>
                    </a:cubicBezTo>
                    <a:cubicBezTo>
                      <a:pt x="31032" y="10447955"/>
                      <a:pt x="0" y="7523653"/>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498310" y="0"/>
                      <a:pt x="22498310" y="0"/>
                    </a:cubicBezTo>
                    <a:cubicBezTo>
                      <a:pt x="22810212" y="0"/>
                      <a:pt x="23043639" y="101069"/>
                      <a:pt x="23035783" y="303616"/>
                    </a:cubicBezTo>
                    <a:cubicBezTo>
                      <a:pt x="23035783" y="303616"/>
                      <a:pt x="23033787" y="6908210"/>
                      <a:pt x="23042542" y="9748368"/>
                    </a:cubicBezTo>
                    <a:cubicBezTo>
                      <a:pt x="23051298" y="10041669"/>
                      <a:pt x="23004750" y="10374741"/>
                      <a:pt x="23004750" y="10374741"/>
                    </a:cubicBezTo>
                    <a:cubicBezTo>
                      <a:pt x="23001785" y="10554766"/>
                      <a:pt x="22790281" y="10688418"/>
                      <a:pt x="22544859" y="10688418"/>
                    </a:cubicBezTo>
                    <a:close/>
                  </a:path>
                </a:pathLst>
              </a:custGeom>
              <a:solidFill>
                <a:srgbClr val="F3FCFF"/>
              </a:solidFill>
            </p:spPr>
          </p:sp>
        </p:grpSp>
        <p:sp>
          <p:nvSpPr>
            <p:cNvPr name="AutoShape 9" id="9"/>
            <p:cNvSpPr/>
            <p:nvPr/>
          </p:nvSpPr>
          <p:spPr>
            <a:xfrm>
              <a:off x="2250246" y="9826016"/>
              <a:ext cx="22466735" cy="34286"/>
            </a:xfrm>
            <a:prstGeom prst="line">
              <a:avLst/>
            </a:prstGeom>
            <a:ln cap="rnd" w="50800">
              <a:solidFill>
                <a:srgbClr val="8FB7C6"/>
              </a:solidFill>
              <a:prstDash val="solid"/>
              <a:headEnd type="none" len="sm" w="sm"/>
              <a:tailEnd type="none" len="sm" w="sm"/>
            </a:ln>
          </p:spPr>
        </p:sp>
        <p:sp>
          <p:nvSpPr>
            <p:cNvPr name="AutoShape 10" id="10"/>
            <p:cNvSpPr/>
            <p:nvPr/>
          </p:nvSpPr>
          <p:spPr>
            <a:xfrm>
              <a:off x="2250246" y="717206"/>
              <a:ext cx="22466735" cy="34286"/>
            </a:xfrm>
            <a:prstGeom prst="line">
              <a:avLst/>
            </a:prstGeom>
            <a:ln cap="rnd" w="50800">
              <a:solidFill>
                <a:srgbClr val="8FB7C6"/>
              </a:solidFill>
              <a:prstDash val="solid"/>
              <a:headEnd type="none" len="sm" w="sm"/>
              <a:tailEnd type="none" len="sm" w="sm"/>
            </a:ln>
          </p:spPr>
        </p:sp>
      </p:grpSp>
      <p:grpSp>
        <p:nvGrpSpPr>
          <p:cNvPr name="Group 11" id="11"/>
          <p:cNvGrpSpPr/>
          <p:nvPr/>
        </p:nvGrpSpPr>
        <p:grpSpPr>
          <a:xfrm rot="0">
            <a:off x="2132588" y="1293325"/>
            <a:ext cx="15126712" cy="7124480"/>
            <a:chOff x="0" y="0"/>
            <a:chExt cx="20168950" cy="9499306"/>
          </a:xfrm>
        </p:grpSpPr>
        <p:sp>
          <p:nvSpPr>
            <p:cNvPr name="TextBox 12" id="12"/>
            <p:cNvSpPr txBox="true"/>
            <p:nvPr/>
          </p:nvSpPr>
          <p:spPr>
            <a:xfrm rot="0">
              <a:off x="334686" y="1449797"/>
              <a:ext cx="18841219" cy="4767834"/>
            </a:xfrm>
            <a:prstGeom prst="rect">
              <a:avLst/>
            </a:prstGeom>
          </p:spPr>
          <p:txBody>
            <a:bodyPr anchor="t" rtlCol="false" tIns="0" lIns="0" bIns="0" rIns="0">
              <a:spAutoFit/>
            </a:bodyPr>
            <a:lstStyle/>
            <a:p>
              <a:pPr algn="just">
                <a:lnSpc>
                  <a:spcPts val="4779"/>
                </a:lnSpc>
              </a:pPr>
              <a:r>
                <a:rPr lang="en-US" b="true" sz="3540" spc="-35">
                  <a:solidFill>
                    <a:srgbClr val="000000"/>
                  </a:solidFill>
                  <a:latin typeface="Asap Bold"/>
                  <a:ea typeface="Asap Bold"/>
                  <a:cs typeface="Asap Bold"/>
                  <a:sym typeface="Asap Bold"/>
                </a:rPr>
                <a:t>Khi đưa vào production</a:t>
              </a:r>
            </a:p>
            <a:p>
              <a:pPr algn="just">
                <a:lnSpc>
                  <a:spcPts val="4779"/>
                </a:lnSpc>
              </a:pPr>
              <a:r>
                <a:rPr lang="en-US" sz="3540" spc="-35">
                  <a:solidFill>
                    <a:srgbClr val="000000"/>
                  </a:solidFill>
                  <a:latin typeface="Asap"/>
                  <a:ea typeface="Asap"/>
                  <a:cs typeface="Asap"/>
                  <a:sym typeface="Asap"/>
                </a:rPr>
                <a:t>Cần thêm:</a:t>
              </a:r>
            </a:p>
            <a:p>
              <a:pPr algn="just" marL="764289" indent="-382145" lvl="1">
                <a:lnSpc>
                  <a:spcPts val="4779"/>
                </a:lnSpc>
                <a:buFont typeface="Arial"/>
                <a:buChar char="•"/>
              </a:pPr>
              <a:r>
                <a:rPr lang="en-US" sz="3540" spc="-35">
                  <a:solidFill>
                    <a:srgbClr val="000000"/>
                  </a:solidFill>
                  <a:latin typeface="Asap"/>
                  <a:ea typeface="Asap"/>
                  <a:cs typeface="Asap"/>
                  <a:sym typeface="Asap"/>
                </a:rPr>
                <a:t>L</a:t>
              </a:r>
              <a:r>
                <a:rPr lang="en-US" sz="3540" spc="-35">
                  <a:solidFill>
                    <a:srgbClr val="000000"/>
                  </a:solidFill>
                  <a:latin typeface="Asap"/>
                  <a:ea typeface="Asap"/>
                  <a:cs typeface="Asap"/>
                  <a:sym typeface="Asap"/>
                </a:rPr>
                <a:t>ogging → biết chương trình chạy tới đâu</a:t>
              </a:r>
            </a:p>
            <a:p>
              <a:pPr algn="just" marL="764289" indent="-382145" lvl="1">
                <a:lnSpc>
                  <a:spcPts val="4779"/>
                </a:lnSpc>
                <a:buFont typeface="Arial"/>
                <a:buChar char="•"/>
              </a:pPr>
              <a:r>
                <a:rPr lang="en-US" sz="3540" spc="-35">
                  <a:solidFill>
                    <a:srgbClr val="000000"/>
                  </a:solidFill>
                  <a:latin typeface="Asap"/>
                  <a:ea typeface="Asap"/>
                  <a:cs typeface="Asap"/>
                  <a:sym typeface="Asap"/>
                </a:rPr>
                <a:t>Error </a:t>
              </a:r>
              <a:r>
                <a:rPr lang="en-US" sz="3540" spc="-35">
                  <a:solidFill>
                    <a:srgbClr val="000000"/>
                  </a:solidFill>
                  <a:latin typeface="Asap"/>
                  <a:ea typeface="Asap"/>
                  <a:cs typeface="Asap"/>
                  <a:sym typeface="Asap"/>
                </a:rPr>
                <a:t>handling → tránh crash</a:t>
              </a:r>
            </a:p>
            <a:p>
              <a:pPr algn="just" marL="764289" indent="-382145" lvl="1">
                <a:lnSpc>
                  <a:spcPts val="4779"/>
                </a:lnSpc>
                <a:buFont typeface="Arial"/>
                <a:buChar char="•"/>
              </a:pPr>
              <a:r>
                <a:rPr lang="en-US" sz="3540" spc="-35">
                  <a:solidFill>
                    <a:srgbClr val="000000"/>
                  </a:solidFill>
                  <a:latin typeface="Asap"/>
                  <a:ea typeface="Asap"/>
                  <a:cs typeface="Asap"/>
                  <a:sym typeface="Asap"/>
                </a:rPr>
                <a:t>Validation → kiểm tra input</a:t>
              </a:r>
            </a:p>
            <a:p>
              <a:pPr algn="just">
                <a:lnSpc>
                  <a:spcPts val="4779"/>
                </a:lnSpc>
              </a:pPr>
            </a:p>
          </p:txBody>
        </p:sp>
        <p:sp>
          <p:nvSpPr>
            <p:cNvPr name="TextBox 13" id="13"/>
            <p:cNvSpPr txBox="true"/>
            <p:nvPr/>
          </p:nvSpPr>
          <p:spPr>
            <a:xfrm rot="0">
              <a:off x="0" y="0"/>
              <a:ext cx="20168950" cy="1216660"/>
            </a:xfrm>
            <a:prstGeom prst="rect">
              <a:avLst/>
            </a:prstGeom>
          </p:spPr>
          <p:txBody>
            <a:bodyPr anchor="t" rtlCol="false" tIns="0" lIns="0" bIns="0" rIns="0">
              <a:spAutoFit/>
            </a:bodyPr>
            <a:lstStyle/>
            <a:p>
              <a:pPr algn="ctr">
                <a:lnSpc>
                  <a:spcPts val="7140"/>
                </a:lnSpc>
              </a:pPr>
              <a:r>
                <a:rPr lang="en-US" b="true" sz="5950">
                  <a:solidFill>
                    <a:srgbClr val="1D2B74"/>
                  </a:solidFill>
                  <a:latin typeface="Faustina Bold"/>
                  <a:ea typeface="Faustina Bold"/>
                  <a:cs typeface="Faustina Bold"/>
                  <a:sym typeface="Faustina Bold"/>
                </a:rPr>
                <a:t>FIZZBUZZ</a:t>
              </a:r>
            </a:p>
          </p:txBody>
        </p:sp>
        <p:sp>
          <p:nvSpPr>
            <p:cNvPr name="TextBox 14" id="14"/>
            <p:cNvSpPr txBox="true"/>
            <p:nvPr/>
          </p:nvSpPr>
          <p:spPr>
            <a:xfrm rot="0">
              <a:off x="334686" y="5531573"/>
              <a:ext cx="18841219" cy="3967734"/>
            </a:xfrm>
            <a:prstGeom prst="rect">
              <a:avLst/>
            </a:prstGeom>
          </p:spPr>
          <p:txBody>
            <a:bodyPr anchor="t" rtlCol="false" tIns="0" lIns="0" bIns="0" rIns="0">
              <a:spAutoFit/>
            </a:bodyPr>
            <a:lstStyle/>
            <a:p>
              <a:pPr algn="just">
                <a:lnSpc>
                  <a:spcPts val="4779"/>
                </a:lnSpc>
              </a:pPr>
              <a:r>
                <a:rPr lang="en-US" b="true" sz="3540" spc="-35">
                  <a:solidFill>
                    <a:srgbClr val="000000"/>
                  </a:solidFill>
                  <a:latin typeface="Asap Bold"/>
                  <a:ea typeface="Asap Bold"/>
                  <a:cs typeface="Asap Bold"/>
                  <a:sym typeface="Asap Bold"/>
                </a:rPr>
                <a:t>Insight</a:t>
              </a:r>
            </a:p>
            <a:p>
              <a:pPr algn="just">
                <a:lnSpc>
                  <a:spcPts val="4779"/>
                </a:lnSpc>
              </a:pPr>
              <a:r>
                <a:rPr lang="en-US" sz="3540" spc="-35">
                  <a:solidFill>
                    <a:srgbClr val="000000"/>
                  </a:solidFill>
                  <a:latin typeface="Asap"/>
                  <a:ea typeface="Asap"/>
                  <a:cs typeface="Asap"/>
                  <a:sym typeface="Asap"/>
                </a:rPr>
                <a:t>Cùng 1 bài toán</a:t>
              </a:r>
            </a:p>
            <a:p>
              <a:pPr algn="just" marL="764289" indent="-382145" lvl="1">
                <a:lnSpc>
                  <a:spcPts val="4779"/>
                </a:lnSpc>
                <a:buFont typeface="Arial"/>
                <a:buChar char="•"/>
              </a:pPr>
              <a:r>
                <a:rPr lang="en-US" sz="3540" spc="-35">
                  <a:solidFill>
                    <a:srgbClr val="000000"/>
                  </a:solidFill>
                  <a:latin typeface="Asap"/>
                  <a:ea typeface="Asap"/>
                  <a:cs typeface="Asap"/>
                  <a:sym typeface="Asap"/>
                </a:rPr>
                <a:t>Code thường → chạy được</a:t>
              </a:r>
            </a:p>
            <a:p>
              <a:pPr algn="just" marL="764289" indent="-382145" lvl="1">
                <a:lnSpc>
                  <a:spcPts val="4779"/>
                </a:lnSpc>
                <a:buFont typeface="Arial"/>
                <a:buChar char="•"/>
              </a:pPr>
              <a:r>
                <a:rPr lang="en-US" sz="3540" spc="-35">
                  <a:solidFill>
                    <a:srgbClr val="000000"/>
                  </a:solidFill>
                  <a:latin typeface="Asap"/>
                  <a:ea typeface="Asap"/>
                  <a:cs typeface="Asap"/>
                  <a:sym typeface="Asap"/>
                </a:rPr>
                <a:t>C</a:t>
              </a:r>
              <a:r>
                <a:rPr lang="en-US" sz="3540" spc="-35">
                  <a:solidFill>
                    <a:srgbClr val="000000"/>
                  </a:solidFill>
                  <a:latin typeface="Asap"/>
                  <a:ea typeface="Asap"/>
                  <a:cs typeface="Asap"/>
                  <a:sym typeface="Asap"/>
                </a:rPr>
                <a:t>ode pro</a:t>
              </a:r>
              <a:r>
                <a:rPr lang="en-US" sz="3540" spc="-35">
                  <a:solidFill>
                    <a:srgbClr val="000000"/>
                  </a:solidFill>
                  <a:latin typeface="Asap"/>
                  <a:ea typeface="Asap"/>
                  <a:cs typeface="Asap"/>
                  <a:sym typeface="Asap"/>
                </a:rPr>
                <a:t>duction → chạy ổn ngoài thực tế</a:t>
              </a:r>
            </a:p>
            <a:p>
              <a:pPr algn="just">
                <a:lnSpc>
                  <a:spcPts val="4779"/>
                </a:lnSpc>
              </a:pPr>
            </a:p>
          </p:txBody>
        </p:sp>
      </p:grpSp>
    </p:spTree>
  </p:cSld>
  <p:clrMapOvr>
    <a:masterClrMapping/>
  </p:clrMapOvr>
  <p:transition spd="slow">
    <p:push dir="d"/>
  </p:transition>
</p:sld>
</file>

<file path=ppt/slides/slide35.xml><?xml version="1.0" encoding="utf-8"?>
<p:sld xmlns:p="http://schemas.openxmlformats.org/presentationml/2006/main" xmlns:a="http://schemas.openxmlformats.org/drawingml/2006/main">
  <p:cSld>
    <p:bg>
      <p:bgPr>
        <a:solidFill>
          <a:srgbClr val="C8E3ED"/>
        </a:solidFill>
      </p:bgPr>
    </p:bg>
    <p:spTree>
      <p:nvGrpSpPr>
        <p:cNvPr id="1" name=""/>
        <p:cNvGrpSpPr/>
        <p:nvPr/>
      </p:nvGrpSpPr>
      <p:grpSpPr>
        <a:xfrm>
          <a:off x="0" y="0"/>
          <a:ext cx="0" cy="0"/>
          <a:chOff x="0" y="0"/>
          <a:chExt cx="0" cy="0"/>
        </a:xfrm>
      </p:grpSpPr>
      <p:grpSp>
        <p:nvGrpSpPr>
          <p:cNvPr name="Group 2" id="2"/>
          <p:cNvGrpSpPr/>
          <p:nvPr/>
        </p:nvGrpSpPr>
        <p:grpSpPr>
          <a:xfrm rot="0">
            <a:off x="774820" y="1028700"/>
            <a:ext cx="18537765" cy="8229600"/>
            <a:chOff x="0" y="0"/>
            <a:chExt cx="24717020" cy="10972800"/>
          </a:xfrm>
        </p:grpSpPr>
        <p:grpSp>
          <p:nvGrpSpPr>
            <p:cNvPr name="Group 3" id="3"/>
            <p:cNvGrpSpPr/>
            <p:nvPr/>
          </p:nvGrpSpPr>
          <p:grpSpPr>
            <a:xfrm rot="0">
              <a:off x="0" y="977717"/>
              <a:ext cx="23352980" cy="9995083"/>
              <a:chOff x="0" y="0"/>
              <a:chExt cx="22703567" cy="9717134"/>
            </a:xfrm>
          </p:grpSpPr>
          <p:sp>
            <p:nvSpPr>
              <p:cNvPr name="Freeform 4" id="4"/>
              <p:cNvSpPr/>
              <p:nvPr/>
            </p:nvSpPr>
            <p:spPr>
              <a:xfrm flipH="false" flipV="false" rot="0">
                <a:off x="-1" y="0"/>
                <a:ext cx="22703568" cy="9717134"/>
              </a:xfrm>
              <a:custGeom>
                <a:avLst/>
                <a:gdLst/>
                <a:ahLst/>
                <a:cxnLst/>
                <a:rect r="r" b="b" t="t" l="l"/>
                <a:pathLst>
                  <a:path h="9717134" w="22703568">
                    <a:moveTo>
                      <a:pt x="22204787" y="9700216"/>
                    </a:moveTo>
                    <a:cubicBezTo>
                      <a:pt x="22204787" y="9700216"/>
                      <a:pt x="21967792" y="9690246"/>
                      <a:pt x="21605653" y="9703690"/>
                    </a:cubicBezTo>
                    <a:cubicBezTo>
                      <a:pt x="21243514" y="9717134"/>
                      <a:pt x="490924" y="9717134"/>
                      <a:pt x="490924" y="9717134"/>
                    </a:cubicBezTo>
                    <a:cubicBezTo>
                      <a:pt x="245502" y="9717134"/>
                      <a:pt x="32509" y="9619866"/>
                      <a:pt x="31032" y="9459752"/>
                    </a:cubicBezTo>
                    <a:cubicBezTo>
                      <a:pt x="31032" y="9459752"/>
                      <a:pt x="0" y="6758194"/>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158239" y="0"/>
                      <a:pt x="22158239" y="0"/>
                    </a:cubicBezTo>
                    <a:cubicBezTo>
                      <a:pt x="22470140" y="0"/>
                      <a:pt x="22703569" y="101069"/>
                      <a:pt x="22695710" y="303616"/>
                    </a:cubicBezTo>
                    <a:cubicBezTo>
                      <a:pt x="22695710" y="303616"/>
                      <a:pt x="22693715" y="6210870"/>
                      <a:pt x="22702471" y="8760165"/>
                    </a:cubicBezTo>
                    <a:cubicBezTo>
                      <a:pt x="22711226" y="9053467"/>
                      <a:pt x="22664678" y="9386538"/>
                      <a:pt x="22664678" y="9386538"/>
                    </a:cubicBezTo>
                    <a:cubicBezTo>
                      <a:pt x="22661712" y="9566563"/>
                      <a:pt x="22450209" y="9700216"/>
                      <a:pt x="22204787" y="9700216"/>
                    </a:cubicBezTo>
                    <a:close/>
                  </a:path>
                </a:pathLst>
              </a:custGeom>
              <a:solidFill>
                <a:srgbClr val="8FB7C6"/>
              </a:solidFill>
            </p:spPr>
          </p:sp>
        </p:grpSp>
        <p:grpSp>
          <p:nvGrpSpPr>
            <p:cNvPr name="Group 5" id="5"/>
            <p:cNvGrpSpPr/>
            <p:nvPr/>
          </p:nvGrpSpPr>
          <p:grpSpPr>
            <a:xfrm rot="0">
              <a:off x="254961" y="1067537"/>
              <a:ext cx="22897610" cy="9778026"/>
              <a:chOff x="0" y="0"/>
              <a:chExt cx="22594507" cy="9648591"/>
            </a:xfrm>
          </p:grpSpPr>
          <p:sp>
            <p:nvSpPr>
              <p:cNvPr name="Freeform 6" id="6"/>
              <p:cNvSpPr/>
              <p:nvPr/>
            </p:nvSpPr>
            <p:spPr>
              <a:xfrm flipH="false" flipV="false" rot="0">
                <a:off x="-1" y="0"/>
                <a:ext cx="22594508" cy="9648591"/>
              </a:xfrm>
              <a:custGeom>
                <a:avLst/>
                <a:gdLst/>
                <a:ahLst/>
                <a:cxnLst/>
                <a:rect r="r" b="b" t="t" l="l"/>
                <a:pathLst>
                  <a:path h="9648591" w="22594508">
                    <a:moveTo>
                      <a:pt x="22095727" y="9631673"/>
                    </a:moveTo>
                    <a:cubicBezTo>
                      <a:pt x="22095727" y="9631673"/>
                      <a:pt x="21858730" y="9621703"/>
                      <a:pt x="21496593" y="9635147"/>
                    </a:cubicBezTo>
                    <a:cubicBezTo>
                      <a:pt x="21134454" y="9648591"/>
                      <a:pt x="490924" y="9648591"/>
                      <a:pt x="490924" y="9648591"/>
                    </a:cubicBezTo>
                    <a:cubicBezTo>
                      <a:pt x="245502" y="9648591"/>
                      <a:pt x="32509" y="9551323"/>
                      <a:pt x="31032" y="9391209"/>
                    </a:cubicBezTo>
                    <a:cubicBezTo>
                      <a:pt x="31032" y="9391209"/>
                      <a:pt x="0" y="6705102"/>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049179" y="0"/>
                      <a:pt x="22049179" y="0"/>
                    </a:cubicBezTo>
                    <a:cubicBezTo>
                      <a:pt x="22361080" y="0"/>
                      <a:pt x="22594507" y="101069"/>
                      <a:pt x="22586650" y="303616"/>
                    </a:cubicBezTo>
                    <a:cubicBezTo>
                      <a:pt x="22586650" y="303616"/>
                      <a:pt x="22584655" y="6162502"/>
                      <a:pt x="22593411" y="8691622"/>
                    </a:cubicBezTo>
                    <a:cubicBezTo>
                      <a:pt x="22602166" y="8984924"/>
                      <a:pt x="22555618" y="9317995"/>
                      <a:pt x="22555618" y="9317995"/>
                    </a:cubicBezTo>
                    <a:cubicBezTo>
                      <a:pt x="22552652" y="9498020"/>
                      <a:pt x="22341149" y="9631673"/>
                      <a:pt x="22095727" y="9631673"/>
                    </a:cubicBezTo>
                    <a:close/>
                  </a:path>
                </a:pathLst>
              </a:custGeom>
              <a:solidFill>
                <a:srgbClr val="8FB7C6"/>
              </a:solidFill>
            </p:spPr>
          </p:sp>
        </p:grpSp>
        <p:grpSp>
          <p:nvGrpSpPr>
            <p:cNvPr name="Group 7" id="7"/>
            <p:cNvGrpSpPr/>
            <p:nvPr/>
          </p:nvGrpSpPr>
          <p:grpSpPr>
            <a:xfrm rot="0">
              <a:off x="919721" y="0"/>
              <a:ext cx="22232850" cy="10328670"/>
              <a:chOff x="0" y="0"/>
              <a:chExt cx="23043639" cy="10705337"/>
            </a:xfrm>
          </p:grpSpPr>
          <p:sp>
            <p:nvSpPr>
              <p:cNvPr name="Freeform 8" id="8"/>
              <p:cNvSpPr/>
              <p:nvPr/>
            </p:nvSpPr>
            <p:spPr>
              <a:xfrm flipH="false" flipV="false" rot="0">
                <a:off x="-1" y="0"/>
                <a:ext cx="23043639" cy="10705337"/>
              </a:xfrm>
              <a:custGeom>
                <a:avLst/>
                <a:gdLst/>
                <a:ahLst/>
                <a:cxnLst/>
                <a:rect r="r" b="b" t="t" l="l"/>
                <a:pathLst>
                  <a:path h="10705337" w="23043639">
                    <a:moveTo>
                      <a:pt x="22544859" y="10688418"/>
                    </a:moveTo>
                    <a:cubicBezTo>
                      <a:pt x="22544859" y="10688418"/>
                      <a:pt x="22307863" y="10678449"/>
                      <a:pt x="21945723" y="10691893"/>
                    </a:cubicBezTo>
                    <a:cubicBezTo>
                      <a:pt x="21583586" y="10705337"/>
                      <a:pt x="490924" y="10705337"/>
                      <a:pt x="490924" y="10705337"/>
                    </a:cubicBezTo>
                    <a:cubicBezTo>
                      <a:pt x="245502" y="10705337"/>
                      <a:pt x="32509" y="10608069"/>
                      <a:pt x="31032" y="10447955"/>
                    </a:cubicBezTo>
                    <a:cubicBezTo>
                      <a:pt x="31032" y="10447955"/>
                      <a:pt x="0" y="7523653"/>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498310" y="0"/>
                      <a:pt x="22498310" y="0"/>
                    </a:cubicBezTo>
                    <a:cubicBezTo>
                      <a:pt x="22810212" y="0"/>
                      <a:pt x="23043639" y="101069"/>
                      <a:pt x="23035783" y="303616"/>
                    </a:cubicBezTo>
                    <a:cubicBezTo>
                      <a:pt x="23035783" y="303616"/>
                      <a:pt x="23033787" y="6908210"/>
                      <a:pt x="23042542" y="9748368"/>
                    </a:cubicBezTo>
                    <a:cubicBezTo>
                      <a:pt x="23051298" y="10041669"/>
                      <a:pt x="23004750" y="10374741"/>
                      <a:pt x="23004750" y="10374741"/>
                    </a:cubicBezTo>
                    <a:cubicBezTo>
                      <a:pt x="23001785" y="10554766"/>
                      <a:pt x="22790281" y="10688418"/>
                      <a:pt x="22544859" y="10688418"/>
                    </a:cubicBezTo>
                    <a:close/>
                  </a:path>
                </a:pathLst>
              </a:custGeom>
              <a:solidFill>
                <a:srgbClr val="F3FCFF"/>
              </a:solidFill>
            </p:spPr>
          </p:sp>
        </p:grpSp>
        <p:sp>
          <p:nvSpPr>
            <p:cNvPr name="AutoShape 9" id="9"/>
            <p:cNvSpPr/>
            <p:nvPr/>
          </p:nvSpPr>
          <p:spPr>
            <a:xfrm>
              <a:off x="2250246" y="9826016"/>
              <a:ext cx="22466735" cy="34286"/>
            </a:xfrm>
            <a:prstGeom prst="line">
              <a:avLst/>
            </a:prstGeom>
            <a:ln cap="rnd" w="50800">
              <a:solidFill>
                <a:srgbClr val="8FB7C6"/>
              </a:solidFill>
              <a:prstDash val="solid"/>
              <a:headEnd type="none" len="sm" w="sm"/>
              <a:tailEnd type="none" len="sm" w="sm"/>
            </a:ln>
          </p:spPr>
        </p:sp>
        <p:sp>
          <p:nvSpPr>
            <p:cNvPr name="AutoShape 10" id="10"/>
            <p:cNvSpPr/>
            <p:nvPr/>
          </p:nvSpPr>
          <p:spPr>
            <a:xfrm>
              <a:off x="2250246" y="717206"/>
              <a:ext cx="22466735" cy="34286"/>
            </a:xfrm>
            <a:prstGeom prst="line">
              <a:avLst/>
            </a:prstGeom>
            <a:ln cap="rnd" w="50800">
              <a:solidFill>
                <a:srgbClr val="8FB7C6"/>
              </a:solidFill>
              <a:prstDash val="solid"/>
              <a:headEnd type="none" len="sm" w="sm"/>
              <a:tailEnd type="none" len="sm" w="sm"/>
            </a:ln>
          </p:spPr>
        </p:sp>
      </p:grpSp>
      <p:grpSp>
        <p:nvGrpSpPr>
          <p:cNvPr name="Group 11" id="11"/>
          <p:cNvGrpSpPr/>
          <p:nvPr/>
        </p:nvGrpSpPr>
        <p:grpSpPr>
          <a:xfrm rot="0">
            <a:off x="2132588" y="1293325"/>
            <a:ext cx="15126712" cy="7124480"/>
            <a:chOff x="0" y="0"/>
            <a:chExt cx="20168950" cy="9499306"/>
          </a:xfrm>
        </p:grpSpPr>
        <p:sp>
          <p:nvSpPr>
            <p:cNvPr name="TextBox 12" id="12"/>
            <p:cNvSpPr txBox="true"/>
            <p:nvPr/>
          </p:nvSpPr>
          <p:spPr>
            <a:xfrm rot="0">
              <a:off x="334686" y="1449797"/>
              <a:ext cx="18841219" cy="4767834"/>
            </a:xfrm>
            <a:prstGeom prst="rect">
              <a:avLst/>
            </a:prstGeom>
          </p:spPr>
          <p:txBody>
            <a:bodyPr anchor="t" rtlCol="false" tIns="0" lIns="0" bIns="0" rIns="0">
              <a:spAutoFit/>
            </a:bodyPr>
            <a:lstStyle/>
            <a:p>
              <a:pPr algn="just">
                <a:lnSpc>
                  <a:spcPts val="4779"/>
                </a:lnSpc>
              </a:pPr>
              <a:r>
                <a:rPr lang="en-US" b="true" sz="3540" spc="-35">
                  <a:solidFill>
                    <a:srgbClr val="000000"/>
                  </a:solidFill>
                  <a:latin typeface="Asap Bold"/>
                  <a:ea typeface="Asap Bold"/>
                  <a:cs typeface="Asap Bold"/>
                  <a:sym typeface="Asap Bold"/>
                </a:rPr>
                <a:t>Logging dùng để làm gì?</a:t>
              </a:r>
            </a:p>
            <a:p>
              <a:pPr algn="just" marL="764289" indent="-382145" lvl="1">
                <a:lnSpc>
                  <a:spcPts val="4779"/>
                </a:lnSpc>
                <a:buFont typeface="Arial"/>
                <a:buChar char="•"/>
              </a:pPr>
              <a:r>
                <a:rPr lang="en-US" sz="3540" spc="-35">
                  <a:solidFill>
                    <a:srgbClr val="000000"/>
                  </a:solidFill>
                  <a:latin typeface="Asap"/>
                  <a:ea typeface="Asap"/>
                  <a:cs typeface="Asap"/>
                  <a:sym typeface="Asap"/>
                </a:rPr>
                <a:t>Ghi</a:t>
              </a:r>
              <a:r>
                <a:rPr lang="en-US" sz="3540" spc="-35">
                  <a:solidFill>
                    <a:srgbClr val="000000"/>
                  </a:solidFill>
                  <a:latin typeface="Asap"/>
                  <a:ea typeface="Asap"/>
                  <a:cs typeface="Asap"/>
                  <a:sym typeface="Asap"/>
                </a:rPr>
                <a:t> lại:</a:t>
              </a:r>
            </a:p>
            <a:p>
              <a:pPr algn="just" marL="1528578" indent="-509526" lvl="2">
                <a:lnSpc>
                  <a:spcPts val="4779"/>
                </a:lnSpc>
                <a:buFont typeface="Arial"/>
                <a:buChar char="⚬"/>
              </a:pPr>
              <a:r>
                <a:rPr lang="en-US" sz="3540" spc="-35">
                  <a:solidFill>
                    <a:srgbClr val="000000"/>
                  </a:solidFill>
                  <a:latin typeface="Asap"/>
                  <a:ea typeface="Asap"/>
                  <a:cs typeface="Asap"/>
                  <a:sym typeface="Asap"/>
                </a:rPr>
                <a:t>hệ</a:t>
              </a:r>
              <a:r>
                <a:rPr lang="en-US" sz="3540" spc="-35">
                  <a:solidFill>
                    <a:srgbClr val="000000"/>
                  </a:solidFill>
                  <a:latin typeface="Asap"/>
                  <a:ea typeface="Asap"/>
                  <a:cs typeface="Asap"/>
                  <a:sym typeface="Asap"/>
                </a:rPr>
                <a:t> thống đang xử lý gì</a:t>
              </a:r>
            </a:p>
            <a:p>
              <a:pPr algn="just" marL="1528578" indent="-509526" lvl="2">
                <a:lnSpc>
                  <a:spcPts val="4779"/>
                </a:lnSpc>
                <a:buFont typeface="Arial"/>
                <a:buChar char="⚬"/>
              </a:pPr>
              <a:r>
                <a:rPr lang="en-US" sz="3540" spc="-35">
                  <a:solidFill>
                    <a:srgbClr val="000000"/>
                  </a:solidFill>
                  <a:latin typeface="Asap"/>
                  <a:ea typeface="Asap"/>
                  <a:cs typeface="Asap"/>
                  <a:sym typeface="Asap"/>
                </a:rPr>
                <a:t>use</a:t>
              </a:r>
              <a:r>
                <a:rPr lang="en-US" sz="3540" spc="-35">
                  <a:solidFill>
                    <a:srgbClr val="000000"/>
                  </a:solidFill>
                  <a:latin typeface="Asap"/>
                  <a:ea typeface="Asap"/>
                  <a:cs typeface="Asap"/>
                  <a:sym typeface="Asap"/>
                </a:rPr>
                <a:t>r đ</a:t>
              </a:r>
              <a:r>
                <a:rPr lang="en-US" sz="3540" spc="-35">
                  <a:solidFill>
                    <a:srgbClr val="000000"/>
                  </a:solidFill>
                  <a:latin typeface="Asap"/>
                  <a:ea typeface="Asap"/>
                  <a:cs typeface="Asap"/>
                  <a:sym typeface="Asap"/>
                </a:rPr>
                <a:t>ang làm gì</a:t>
              </a:r>
            </a:p>
            <a:p>
              <a:pPr algn="just" marL="1528578" indent="-509526" lvl="2">
                <a:lnSpc>
                  <a:spcPts val="4779"/>
                </a:lnSpc>
                <a:buFont typeface="Arial"/>
                <a:buChar char="⚬"/>
              </a:pPr>
              <a:r>
                <a:rPr lang="en-US" sz="3540" spc="-35">
                  <a:solidFill>
                    <a:srgbClr val="000000"/>
                  </a:solidFill>
                  <a:latin typeface="Asap"/>
                  <a:ea typeface="Asap"/>
                  <a:cs typeface="Asap"/>
                  <a:sym typeface="Asap"/>
                </a:rPr>
                <a:t>lỗi xảy ra ở đâu</a:t>
              </a:r>
            </a:p>
            <a:p>
              <a:pPr algn="just">
                <a:lnSpc>
                  <a:spcPts val="4779"/>
                </a:lnSpc>
              </a:pPr>
            </a:p>
          </p:txBody>
        </p:sp>
        <p:sp>
          <p:nvSpPr>
            <p:cNvPr name="TextBox 13" id="13"/>
            <p:cNvSpPr txBox="true"/>
            <p:nvPr/>
          </p:nvSpPr>
          <p:spPr>
            <a:xfrm rot="0">
              <a:off x="0" y="0"/>
              <a:ext cx="20168950" cy="1216660"/>
            </a:xfrm>
            <a:prstGeom prst="rect">
              <a:avLst/>
            </a:prstGeom>
          </p:spPr>
          <p:txBody>
            <a:bodyPr anchor="t" rtlCol="false" tIns="0" lIns="0" bIns="0" rIns="0">
              <a:spAutoFit/>
            </a:bodyPr>
            <a:lstStyle/>
            <a:p>
              <a:pPr algn="ctr">
                <a:lnSpc>
                  <a:spcPts val="7140"/>
                </a:lnSpc>
              </a:pPr>
              <a:r>
                <a:rPr lang="en-US" b="true" sz="5950">
                  <a:solidFill>
                    <a:srgbClr val="1D2B74"/>
                  </a:solidFill>
                  <a:latin typeface="Faustina Bold"/>
                  <a:ea typeface="Faustina Bold"/>
                  <a:cs typeface="Faustina Bold"/>
                  <a:sym typeface="Faustina Bold"/>
                </a:rPr>
                <a:t>LOGGING</a:t>
              </a:r>
            </a:p>
          </p:txBody>
        </p:sp>
        <p:sp>
          <p:nvSpPr>
            <p:cNvPr name="TextBox 14" id="14"/>
            <p:cNvSpPr txBox="true"/>
            <p:nvPr/>
          </p:nvSpPr>
          <p:spPr>
            <a:xfrm rot="0">
              <a:off x="334686" y="5531573"/>
              <a:ext cx="18841219" cy="3967734"/>
            </a:xfrm>
            <a:prstGeom prst="rect">
              <a:avLst/>
            </a:prstGeom>
          </p:spPr>
          <p:txBody>
            <a:bodyPr anchor="t" rtlCol="false" tIns="0" lIns="0" bIns="0" rIns="0">
              <a:spAutoFit/>
            </a:bodyPr>
            <a:lstStyle/>
            <a:p>
              <a:pPr algn="just">
                <a:lnSpc>
                  <a:spcPts val="4779"/>
                </a:lnSpc>
              </a:pPr>
              <a:r>
                <a:rPr lang="en-US" b="true" sz="3540" spc="-35">
                  <a:solidFill>
                    <a:srgbClr val="000000"/>
                  </a:solidFill>
                  <a:latin typeface="Asap Bold"/>
                  <a:ea typeface="Asap Bold"/>
                  <a:cs typeface="Asap Bold"/>
                  <a:sym typeface="Asap Bold"/>
                </a:rPr>
                <a:t>Khi có lỗi</a:t>
              </a:r>
            </a:p>
            <a:p>
              <a:pPr algn="just">
                <a:lnSpc>
                  <a:spcPts val="4779"/>
                </a:lnSpc>
              </a:pPr>
              <a:r>
                <a:rPr lang="en-US" sz="3540" spc="-35">
                  <a:solidFill>
                    <a:srgbClr val="000000"/>
                  </a:solidFill>
                  <a:latin typeface="Asap"/>
                  <a:ea typeface="Asap"/>
                  <a:cs typeface="Asap"/>
                  <a:sym typeface="Asap"/>
                </a:rPr>
                <a:t> </a:t>
              </a:r>
              <a:r>
                <a:rPr lang="en-US" sz="3540" spc="-35">
                  <a:solidFill>
                    <a:srgbClr val="000000"/>
                  </a:solidFill>
                  <a:latin typeface="Asap"/>
                  <a:ea typeface="Asap"/>
                  <a:cs typeface="Asap"/>
                  <a:sym typeface="Asap"/>
                </a:rPr>
                <a:t>D</a:t>
              </a:r>
              <a:r>
                <a:rPr lang="en-US" sz="3540" spc="-35">
                  <a:solidFill>
                    <a:srgbClr val="000000"/>
                  </a:solidFill>
                  <a:latin typeface="Asap"/>
                  <a:ea typeface="Asap"/>
                  <a:cs typeface="Asap"/>
                  <a:sym typeface="Asap"/>
                </a:rPr>
                <a:t>ev chỉ cần:</a:t>
              </a:r>
            </a:p>
            <a:p>
              <a:pPr algn="just" marL="764289" indent="-382145" lvl="1">
                <a:lnSpc>
                  <a:spcPts val="4779"/>
                </a:lnSpc>
                <a:buFont typeface="Arial"/>
                <a:buChar char="•"/>
              </a:pPr>
              <a:r>
                <a:rPr lang="en-US" sz="3540" spc="-35">
                  <a:solidFill>
                    <a:srgbClr val="000000"/>
                  </a:solidFill>
                  <a:latin typeface="Asap"/>
                  <a:ea typeface="Asap"/>
                  <a:cs typeface="Asap"/>
                  <a:sym typeface="Asap"/>
                </a:rPr>
                <a:t>x</a:t>
              </a:r>
              <a:r>
                <a:rPr lang="en-US" sz="3540" spc="-35">
                  <a:solidFill>
                    <a:srgbClr val="000000"/>
                  </a:solidFill>
                  <a:latin typeface="Asap"/>
                  <a:ea typeface="Asap"/>
                  <a:cs typeface="Asap"/>
                  <a:sym typeface="Asap"/>
                </a:rPr>
                <a:t>em l</a:t>
              </a:r>
              <a:r>
                <a:rPr lang="en-US" sz="3540" spc="-35">
                  <a:solidFill>
                    <a:srgbClr val="000000"/>
                  </a:solidFill>
                  <a:latin typeface="Asap"/>
                  <a:ea typeface="Asap"/>
                  <a:cs typeface="Asap"/>
                  <a:sym typeface="Asap"/>
                </a:rPr>
                <a:t>og</a:t>
              </a:r>
            </a:p>
            <a:p>
              <a:pPr algn="just" marL="764289" indent="-382145" lvl="1">
                <a:lnSpc>
                  <a:spcPts val="4779"/>
                </a:lnSpc>
                <a:buFont typeface="Arial"/>
                <a:buChar char="•"/>
              </a:pPr>
              <a:r>
                <a:rPr lang="en-US" sz="3540" spc="-35">
                  <a:solidFill>
                    <a:srgbClr val="000000"/>
                  </a:solidFill>
                  <a:latin typeface="Asap"/>
                  <a:ea typeface="Asap"/>
                  <a:cs typeface="Asap"/>
                  <a:sym typeface="Asap"/>
                </a:rPr>
                <a:t> → biết chính xác lỗi nằm ở bước nào</a:t>
              </a:r>
            </a:p>
            <a:p>
              <a:pPr algn="just">
                <a:lnSpc>
                  <a:spcPts val="4779"/>
                </a:lnSpc>
              </a:pPr>
            </a:p>
          </p:txBody>
        </p:sp>
      </p:grpSp>
    </p:spTree>
  </p:cSld>
  <p:clrMapOvr>
    <a:masterClrMapping/>
  </p:clrMapOvr>
  <p:transition spd="slow">
    <p:push dir="d"/>
  </p:transition>
</p:sld>
</file>

<file path=ppt/slides/slide36.xml><?xml version="1.0" encoding="utf-8"?>
<p:sld xmlns:p="http://schemas.openxmlformats.org/presentationml/2006/main" xmlns:a="http://schemas.openxmlformats.org/drawingml/2006/main">
  <p:cSld>
    <p:bg>
      <p:bgPr>
        <a:solidFill>
          <a:srgbClr val="C8E3ED"/>
        </a:solidFill>
      </p:bgPr>
    </p:bg>
    <p:spTree>
      <p:nvGrpSpPr>
        <p:cNvPr id="1" name=""/>
        <p:cNvGrpSpPr/>
        <p:nvPr/>
      </p:nvGrpSpPr>
      <p:grpSpPr>
        <a:xfrm>
          <a:off x="0" y="0"/>
          <a:ext cx="0" cy="0"/>
          <a:chOff x="0" y="0"/>
          <a:chExt cx="0" cy="0"/>
        </a:xfrm>
      </p:grpSpPr>
      <p:grpSp>
        <p:nvGrpSpPr>
          <p:cNvPr name="Group 2" id="2"/>
          <p:cNvGrpSpPr/>
          <p:nvPr/>
        </p:nvGrpSpPr>
        <p:grpSpPr>
          <a:xfrm rot="0">
            <a:off x="774820" y="1028700"/>
            <a:ext cx="18537765" cy="8229600"/>
            <a:chOff x="0" y="0"/>
            <a:chExt cx="24717020" cy="10972800"/>
          </a:xfrm>
        </p:grpSpPr>
        <p:grpSp>
          <p:nvGrpSpPr>
            <p:cNvPr name="Group 3" id="3"/>
            <p:cNvGrpSpPr/>
            <p:nvPr/>
          </p:nvGrpSpPr>
          <p:grpSpPr>
            <a:xfrm rot="0">
              <a:off x="0" y="977717"/>
              <a:ext cx="23352980" cy="9995083"/>
              <a:chOff x="0" y="0"/>
              <a:chExt cx="22703567" cy="9717134"/>
            </a:xfrm>
          </p:grpSpPr>
          <p:sp>
            <p:nvSpPr>
              <p:cNvPr name="Freeform 4" id="4"/>
              <p:cNvSpPr/>
              <p:nvPr/>
            </p:nvSpPr>
            <p:spPr>
              <a:xfrm flipH="false" flipV="false" rot="0">
                <a:off x="-1" y="0"/>
                <a:ext cx="22703568" cy="9717134"/>
              </a:xfrm>
              <a:custGeom>
                <a:avLst/>
                <a:gdLst/>
                <a:ahLst/>
                <a:cxnLst/>
                <a:rect r="r" b="b" t="t" l="l"/>
                <a:pathLst>
                  <a:path h="9717134" w="22703568">
                    <a:moveTo>
                      <a:pt x="22204787" y="9700216"/>
                    </a:moveTo>
                    <a:cubicBezTo>
                      <a:pt x="22204787" y="9700216"/>
                      <a:pt x="21967792" y="9690246"/>
                      <a:pt x="21605653" y="9703690"/>
                    </a:cubicBezTo>
                    <a:cubicBezTo>
                      <a:pt x="21243514" y="9717134"/>
                      <a:pt x="490924" y="9717134"/>
                      <a:pt x="490924" y="9717134"/>
                    </a:cubicBezTo>
                    <a:cubicBezTo>
                      <a:pt x="245502" y="9717134"/>
                      <a:pt x="32509" y="9619866"/>
                      <a:pt x="31032" y="9459752"/>
                    </a:cubicBezTo>
                    <a:cubicBezTo>
                      <a:pt x="31032" y="9459752"/>
                      <a:pt x="0" y="6758194"/>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158239" y="0"/>
                      <a:pt x="22158239" y="0"/>
                    </a:cubicBezTo>
                    <a:cubicBezTo>
                      <a:pt x="22470140" y="0"/>
                      <a:pt x="22703569" y="101069"/>
                      <a:pt x="22695710" y="303616"/>
                    </a:cubicBezTo>
                    <a:cubicBezTo>
                      <a:pt x="22695710" y="303616"/>
                      <a:pt x="22693715" y="6210870"/>
                      <a:pt x="22702471" y="8760165"/>
                    </a:cubicBezTo>
                    <a:cubicBezTo>
                      <a:pt x="22711226" y="9053467"/>
                      <a:pt x="22664678" y="9386538"/>
                      <a:pt x="22664678" y="9386538"/>
                    </a:cubicBezTo>
                    <a:cubicBezTo>
                      <a:pt x="22661712" y="9566563"/>
                      <a:pt x="22450209" y="9700216"/>
                      <a:pt x="22204787" y="9700216"/>
                    </a:cubicBezTo>
                    <a:close/>
                  </a:path>
                </a:pathLst>
              </a:custGeom>
              <a:solidFill>
                <a:srgbClr val="8FB7C6"/>
              </a:solidFill>
            </p:spPr>
          </p:sp>
        </p:grpSp>
        <p:grpSp>
          <p:nvGrpSpPr>
            <p:cNvPr name="Group 5" id="5"/>
            <p:cNvGrpSpPr/>
            <p:nvPr/>
          </p:nvGrpSpPr>
          <p:grpSpPr>
            <a:xfrm rot="0">
              <a:off x="254961" y="1067537"/>
              <a:ext cx="22897610" cy="9778026"/>
              <a:chOff x="0" y="0"/>
              <a:chExt cx="22594507" cy="9648591"/>
            </a:xfrm>
          </p:grpSpPr>
          <p:sp>
            <p:nvSpPr>
              <p:cNvPr name="Freeform 6" id="6"/>
              <p:cNvSpPr/>
              <p:nvPr/>
            </p:nvSpPr>
            <p:spPr>
              <a:xfrm flipH="false" flipV="false" rot="0">
                <a:off x="-1" y="0"/>
                <a:ext cx="22594508" cy="9648591"/>
              </a:xfrm>
              <a:custGeom>
                <a:avLst/>
                <a:gdLst/>
                <a:ahLst/>
                <a:cxnLst/>
                <a:rect r="r" b="b" t="t" l="l"/>
                <a:pathLst>
                  <a:path h="9648591" w="22594508">
                    <a:moveTo>
                      <a:pt x="22095727" y="9631673"/>
                    </a:moveTo>
                    <a:cubicBezTo>
                      <a:pt x="22095727" y="9631673"/>
                      <a:pt x="21858730" y="9621703"/>
                      <a:pt x="21496593" y="9635147"/>
                    </a:cubicBezTo>
                    <a:cubicBezTo>
                      <a:pt x="21134454" y="9648591"/>
                      <a:pt x="490924" y="9648591"/>
                      <a:pt x="490924" y="9648591"/>
                    </a:cubicBezTo>
                    <a:cubicBezTo>
                      <a:pt x="245502" y="9648591"/>
                      <a:pt x="32509" y="9551323"/>
                      <a:pt x="31032" y="9391209"/>
                    </a:cubicBezTo>
                    <a:cubicBezTo>
                      <a:pt x="31032" y="9391209"/>
                      <a:pt x="0" y="6705102"/>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049179" y="0"/>
                      <a:pt x="22049179" y="0"/>
                    </a:cubicBezTo>
                    <a:cubicBezTo>
                      <a:pt x="22361080" y="0"/>
                      <a:pt x="22594507" y="101069"/>
                      <a:pt x="22586650" y="303616"/>
                    </a:cubicBezTo>
                    <a:cubicBezTo>
                      <a:pt x="22586650" y="303616"/>
                      <a:pt x="22584655" y="6162502"/>
                      <a:pt x="22593411" y="8691622"/>
                    </a:cubicBezTo>
                    <a:cubicBezTo>
                      <a:pt x="22602166" y="8984924"/>
                      <a:pt x="22555618" y="9317995"/>
                      <a:pt x="22555618" y="9317995"/>
                    </a:cubicBezTo>
                    <a:cubicBezTo>
                      <a:pt x="22552652" y="9498020"/>
                      <a:pt x="22341149" y="9631673"/>
                      <a:pt x="22095727" y="9631673"/>
                    </a:cubicBezTo>
                    <a:close/>
                  </a:path>
                </a:pathLst>
              </a:custGeom>
              <a:solidFill>
                <a:srgbClr val="8FB7C6"/>
              </a:solidFill>
            </p:spPr>
          </p:sp>
        </p:grpSp>
        <p:grpSp>
          <p:nvGrpSpPr>
            <p:cNvPr name="Group 7" id="7"/>
            <p:cNvGrpSpPr/>
            <p:nvPr/>
          </p:nvGrpSpPr>
          <p:grpSpPr>
            <a:xfrm rot="0">
              <a:off x="919721" y="0"/>
              <a:ext cx="22232850" cy="10328670"/>
              <a:chOff x="0" y="0"/>
              <a:chExt cx="23043639" cy="10705337"/>
            </a:xfrm>
          </p:grpSpPr>
          <p:sp>
            <p:nvSpPr>
              <p:cNvPr name="Freeform 8" id="8"/>
              <p:cNvSpPr/>
              <p:nvPr/>
            </p:nvSpPr>
            <p:spPr>
              <a:xfrm flipH="false" flipV="false" rot="0">
                <a:off x="-1" y="0"/>
                <a:ext cx="23043639" cy="10705337"/>
              </a:xfrm>
              <a:custGeom>
                <a:avLst/>
                <a:gdLst/>
                <a:ahLst/>
                <a:cxnLst/>
                <a:rect r="r" b="b" t="t" l="l"/>
                <a:pathLst>
                  <a:path h="10705337" w="23043639">
                    <a:moveTo>
                      <a:pt x="22544859" y="10688418"/>
                    </a:moveTo>
                    <a:cubicBezTo>
                      <a:pt x="22544859" y="10688418"/>
                      <a:pt x="22307863" y="10678449"/>
                      <a:pt x="21945723" y="10691893"/>
                    </a:cubicBezTo>
                    <a:cubicBezTo>
                      <a:pt x="21583586" y="10705337"/>
                      <a:pt x="490924" y="10705337"/>
                      <a:pt x="490924" y="10705337"/>
                    </a:cubicBezTo>
                    <a:cubicBezTo>
                      <a:pt x="245502" y="10705337"/>
                      <a:pt x="32509" y="10608069"/>
                      <a:pt x="31032" y="10447955"/>
                    </a:cubicBezTo>
                    <a:cubicBezTo>
                      <a:pt x="31032" y="10447955"/>
                      <a:pt x="0" y="7523653"/>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498310" y="0"/>
                      <a:pt x="22498310" y="0"/>
                    </a:cubicBezTo>
                    <a:cubicBezTo>
                      <a:pt x="22810212" y="0"/>
                      <a:pt x="23043639" y="101069"/>
                      <a:pt x="23035783" y="303616"/>
                    </a:cubicBezTo>
                    <a:cubicBezTo>
                      <a:pt x="23035783" y="303616"/>
                      <a:pt x="23033787" y="6908210"/>
                      <a:pt x="23042542" y="9748368"/>
                    </a:cubicBezTo>
                    <a:cubicBezTo>
                      <a:pt x="23051298" y="10041669"/>
                      <a:pt x="23004750" y="10374741"/>
                      <a:pt x="23004750" y="10374741"/>
                    </a:cubicBezTo>
                    <a:cubicBezTo>
                      <a:pt x="23001785" y="10554766"/>
                      <a:pt x="22790281" y="10688418"/>
                      <a:pt x="22544859" y="10688418"/>
                    </a:cubicBezTo>
                    <a:close/>
                  </a:path>
                </a:pathLst>
              </a:custGeom>
              <a:solidFill>
                <a:srgbClr val="F3FCFF"/>
              </a:solidFill>
            </p:spPr>
          </p:sp>
        </p:grpSp>
        <p:sp>
          <p:nvSpPr>
            <p:cNvPr name="AutoShape 9" id="9"/>
            <p:cNvSpPr/>
            <p:nvPr/>
          </p:nvSpPr>
          <p:spPr>
            <a:xfrm>
              <a:off x="2250246" y="9826016"/>
              <a:ext cx="22466735" cy="34286"/>
            </a:xfrm>
            <a:prstGeom prst="line">
              <a:avLst/>
            </a:prstGeom>
            <a:ln cap="rnd" w="50800">
              <a:solidFill>
                <a:srgbClr val="8FB7C6"/>
              </a:solidFill>
              <a:prstDash val="solid"/>
              <a:headEnd type="none" len="sm" w="sm"/>
              <a:tailEnd type="none" len="sm" w="sm"/>
            </a:ln>
          </p:spPr>
        </p:sp>
        <p:sp>
          <p:nvSpPr>
            <p:cNvPr name="AutoShape 10" id="10"/>
            <p:cNvSpPr/>
            <p:nvPr/>
          </p:nvSpPr>
          <p:spPr>
            <a:xfrm>
              <a:off x="2250246" y="717206"/>
              <a:ext cx="22466735" cy="34286"/>
            </a:xfrm>
            <a:prstGeom prst="line">
              <a:avLst/>
            </a:prstGeom>
            <a:ln cap="rnd" w="50800">
              <a:solidFill>
                <a:srgbClr val="8FB7C6"/>
              </a:solidFill>
              <a:prstDash val="solid"/>
              <a:headEnd type="none" len="sm" w="sm"/>
              <a:tailEnd type="none" len="sm" w="sm"/>
            </a:ln>
          </p:spPr>
        </p:sp>
      </p:grpSp>
      <p:grpSp>
        <p:nvGrpSpPr>
          <p:cNvPr name="Group 11" id="11"/>
          <p:cNvGrpSpPr/>
          <p:nvPr/>
        </p:nvGrpSpPr>
        <p:grpSpPr>
          <a:xfrm rot="0">
            <a:off x="2132588" y="1581260"/>
            <a:ext cx="15126712" cy="7124480"/>
            <a:chOff x="0" y="0"/>
            <a:chExt cx="20168950" cy="9499306"/>
          </a:xfrm>
        </p:grpSpPr>
        <p:sp>
          <p:nvSpPr>
            <p:cNvPr name="TextBox 12" id="12"/>
            <p:cNvSpPr txBox="true"/>
            <p:nvPr/>
          </p:nvSpPr>
          <p:spPr>
            <a:xfrm rot="0">
              <a:off x="334686" y="1408254"/>
              <a:ext cx="18841219" cy="767334"/>
            </a:xfrm>
            <a:prstGeom prst="rect">
              <a:avLst/>
            </a:prstGeom>
          </p:spPr>
          <p:txBody>
            <a:bodyPr anchor="t" rtlCol="false" tIns="0" lIns="0" bIns="0" rIns="0">
              <a:spAutoFit/>
            </a:bodyPr>
            <a:lstStyle/>
            <a:p>
              <a:pPr algn="just">
                <a:lnSpc>
                  <a:spcPts val="4779"/>
                </a:lnSpc>
              </a:pPr>
              <a:r>
                <a:rPr lang="en-US" b="true" sz="3540" spc="-35">
                  <a:solidFill>
                    <a:srgbClr val="000000"/>
                  </a:solidFill>
                  <a:latin typeface="Asap Bold"/>
                  <a:ea typeface="Asap Bold"/>
                  <a:cs typeface="Asap Bold"/>
                  <a:sym typeface="Asap Bold"/>
                </a:rPr>
                <a:t>Ví dụ</a:t>
              </a:r>
            </a:p>
          </p:txBody>
        </p:sp>
        <p:sp>
          <p:nvSpPr>
            <p:cNvPr name="TextBox 13" id="13"/>
            <p:cNvSpPr txBox="true"/>
            <p:nvPr/>
          </p:nvSpPr>
          <p:spPr>
            <a:xfrm rot="0">
              <a:off x="0" y="0"/>
              <a:ext cx="20168950" cy="1216660"/>
            </a:xfrm>
            <a:prstGeom prst="rect">
              <a:avLst/>
            </a:prstGeom>
          </p:spPr>
          <p:txBody>
            <a:bodyPr anchor="t" rtlCol="false" tIns="0" lIns="0" bIns="0" rIns="0">
              <a:spAutoFit/>
            </a:bodyPr>
            <a:lstStyle/>
            <a:p>
              <a:pPr algn="ctr">
                <a:lnSpc>
                  <a:spcPts val="7140"/>
                </a:lnSpc>
              </a:pPr>
              <a:r>
                <a:rPr lang="en-US" b="true" sz="5950">
                  <a:solidFill>
                    <a:srgbClr val="1D2B74"/>
                  </a:solidFill>
                  <a:latin typeface="Faustina Bold"/>
                  <a:ea typeface="Faustina Bold"/>
                  <a:cs typeface="Faustina Bold"/>
                  <a:sym typeface="Faustina Bold"/>
                </a:rPr>
                <a:t>LOGGING</a:t>
              </a:r>
            </a:p>
          </p:txBody>
        </p:sp>
        <p:sp>
          <p:nvSpPr>
            <p:cNvPr name="TextBox 14" id="14"/>
            <p:cNvSpPr txBox="true"/>
            <p:nvPr/>
          </p:nvSpPr>
          <p:spPr>
            <a:xfrm rot="0">
              <a:off x="334686" y="5531573"/>
              <a:ext cx="18841219" cy="3967734"/>
            </a:xfrm>
            <a:prstGeom prst="rect">
              <a:avLst/>
            </a:prstGeom>
          </p:spPr>
          <p:txBody>
            <a:bodyPr anchor="t" rtlCol="false" tIns="0" lIns="0" bIns="0" rIns="0">
              <a:spAutoFit/>
            </a:bodyPr>
            <a:lstStyle/>
            <a:p>
              <a:pPr algn="just">
                <a:lnSpc>
                  <a:spcPts val="4779"/>
                </a:lnSpc>
              </a:pPr>
              <a:r>
                <a:rPr lang="en-US" b="true" sz="3540" spc="-35">
                  <a:solidFill>
                    <a:srgbClr val="000000"/>
                  </a:solidFill>
                  <a:latin typeface="Asap Bold"/>
                  <a:ea typeface="Asap Bold"/>
                  <a:cs typeface="Asap Bold"/>
                  <a:sym typeface="Asap Bold"/>
                </a:rPr>
                <a:t>Nếu không có logging</a:t>
              </a:r>
            </a:p>
            <a:p>
              <a:pPr algn="just" marL="764289" indent="-382145" lvl="1">
                <a:lnSpc>
                  <a:spcPts val="4779"/>
                </a:lnSpc>
                <a:buFont typeface="Arial"/>
                <a:buChar char="•"/>
              </a:pPr>
              <a:r>
                <a:rPr lang="en-US" sz="3540" spc="-35">
                  <a:solidFill>
                    <a:srgbClr val="000000"/>
                  </a:solidFill>
                  <a:latin typeface="Asap"/>
                  <a:ea typeface="Asap"/>
                  <a:cs typeface="Asap"/>
                  <a:sym typeface="Asap"/>
                </a:rPr>
                <a:t>K</a:t>
              </a:r>
              <a:r>
                <a:rPr lang="en-US" sz="3540" spc="-35">
                  <a:solidFill>
                    <a:srgbClr val="000000"/>
                  </a:solidFill>
                  <a:latin typeface="Asap"/>
                  <a:ea typeface="Asap"/>
                  <a:cs typeface="Asap"/>
                  <a:sym typeface="Asap"/>
                </a:rPr>
                <a:t>hông biết lỗi ở đâu</a:t>
              </a:r>
            </a:p>
            <a:p>
              <a:pPr algn="just" marL="764289" indent="-382145" lvl="1">
                <a:lnSpc>
                  <a:spcPts val="4779"/>
                </a:lnSpc>
                <a:buFont typeface="Arial"/>
                <a:buChar char="•"/>
              </a:pPr>
              <a:r>
                <a:rPr lang="en-US" sz="3540" spc="-35">
                  <a:solidFill>
                    <a:srgbClr val="000000"/>
                  </a:solidFill>
                  <a:latin typeface="Asap"/>
                  <a:ea typeface="Asap"/>
                  <a:cs typeface="Asap"/>
                  <a:sym typeface="Asap"/>
                </a:rPr>
                <a:t>Phải debug thủ công</a:t>
              </a:r>
            </a:p>
            <a:p>
              <a:pPr algn="just" marL="764289" indent="-382145" lvl="1">
                <a:lnSpc>
                  <a:spcPts val="4779"/>
                </a:lnSpc>
                <a:buFont typeface="Arial"/>
                <a:buChar char="•"/>
              </a:pPr>
              <a:r>
                <a:rPr lang="en-US" sz="3540" spc="-35">
                  <a:solidFill>
                    <a:srgbClr val="000000"/>
                  </a:solidFill>
                  <a:latin typeface="Asap"/>
                  <a:ea typeface="Asap"/>
                  <a:cs typeface="Asap"/>
                  <a:sym typeface="Asap"/>
                </a:rPr>
                <a:t>Mất thời gian</a:t>
              </a:r>
            </a:p>
            <a:p>
              <a:pPr algn="just">
                <a:lnSpc>
                  <a:spcPts val="4779"/>
                </a:lnSpc>
              </a:pPr>
            </a:p>
          </p:txBody>
        </p:sp>
      </p:grpSp>
      <p:sp>
        <p:nvSpPr>
          <p:cNvPr name="TextBox 15" id="15"/>
          <p:cNvSpPr txBox="true"/>
          <p:nvPr/>
        </p:nvSpPr>
        <p:spPr>
          <a:xfrm rot="0">
            <a:off x="1580644" y="3374881"/>
            <a:ext cx="15126712" cy="1189863"/>
          </a:xfrm>
          <a:prstGeom prst="rect">
            <a:avLst/>
          </a:prstGeom>
        </p:spPr>
        <p:txBody>
          <a:bodyPr anchor="t" rtlCol="false" tIns="0" lIns="0" bIns="0" rIns="0">
            <a:spAutoFit/>
          </a:bodyPr>
          <a:lstStyle/>
          <a:p>
            <a:pPr algn="ctr">
              <a:lnSpc>
                <a:spcPts val="4779"/>
              </a:lnSpc>
              <a:spcBef>
                <a:spcPct val="0"/>
              </a:spcBef>
            </a:pPr>
            <a:r>
              <a:rPr lang="en-US" sz="3540" spc="-35">
                <a:solidFill>
                  <a:srgbClr val="000000"/>
                </a:solidFill>
                <a:latin typeface="Asap"/>
                <a:ea typeface="Asap"/>
                <a:cs typeface="Asap"/>
                <a:sym typeface="Asap"/>
              </a:rPr>
              <a:t>logging.info("Start xử lý đơn hàng")</a:t>
            </a:r>
          </a:p>
          <a:p>
            <a:pPr algn="ctr">
              <a:lnSpc>
                <a:spcPts val="4779"/>
              </a:lnSpc>
              <a:spcBef>
                <a:spcPct val="0"/>
              </a:spcBef>
            </a:pPr>
            <a:r>
              <a:rPr lang="en-US" sz="3540" spc="-35">
                <a:solidFill>
                  <a:srgbClr val="000000"/>
                </a:solidFill>
                <a:latin typeface="Asap"/>
                <a:ea typeface="Asap"/>
                <a:cs typeface="Asap"/>
                <a:sym typeface="Asap"/>
              </a:rPr>
              <a:t>logging.error("Thanh toán thất bại")</a:t>
            </a:r>
          </a:p>
        </p:txBody>
      </p:sp>
    </p:spTree>
  </p:cSld>
  <p:clrMapOvr>
    <a:masterClrMapping/>
  </p:clrMapOvr>
  <p:transition spd="slow">
    <p:push dir="d"/>
  </p:transition>
</p:sld>
</file>

<file path=ppt/slides/slide37.xml><?xml version="1.0" encoding="utf-8"?>
<p:sld xmlns:p="http://schemas.openxmlformats.org/presentationml/2006/main" xmlns:a="http://schemas.openxmlformats.org/drawingml/2006/main">
  <p:cSld>
    <p:bg>
      <p:bgPr>
        <a:solidFill>
          <a:srgbClr val="C8E3ED"/>
        </a:solidFill>
      </p:bgPr>
    </p:bg>
    <p:spTree>
      <p:nvGrpSpPr>
        <p:cNvPr id="1" name=""/>
        <p:cNvGrpSpPr/>
        <p:nvPr/>
      </p:nvGrpSpPr>
      <p:grpSpPr>
        <a:xfrm>
          <a:off x="0" y="0"/>
          <a:ext cx="0" cy="0"/>
          <a:chOff x="0" y="0"/>
          <a:chExt cx="0" cy="0"/>
        </a:xfrm>
      </p:grpSpPr>
      <p:grpSp>
        <p:nvGrpSpPr>
          <p:cNvPr name="Group 2" id="2"/>
          <p:cNvGrpSpPr/>
          <p:nvPr/>
        </p:nvGrpSpPr>
        <p:grpSpPr>
          <a:xfrm rot="0">
            <a:off x="774820" y="1028700"/>
            <a:ext cx="18537765" cy="8229600"/>
            <a:chOff x="0" y="0"/>
            <a:chExt cx="24717020" cy="10972800"/>
          </a:xfrm>
        </p:grpSpPr>
        <p:grpSp>
          <p:nvGrpSpPr>
            <p:cNvPr name="Group 3" id="3"/>
            <p:cNvGrpSpPr/>
            <p:nvPr/>
          </p:nvGrpSpPr>
          <p:grpSpPr>
            <a:xfrm rot="0">
              <a:off x="0" y="977717"/>
              <a:ext cx="23352980" cy="9995083"/>
              <a:chOff x="0" y="0"/>
              <a:chExt cx="22703567" cy="9717134"/>
            </a:xfrm>
          </p:grpSpPr>
          <p:sp>
            <p:nvSpPr>
              <p:cNvPr name="Freeform 4" id="4"/>
              <p:cNvSpPr/>
              <p:nvPr/>
            </p:nvSpPr>
            <p:spPr>
              <a:xfrm flipH="false" flipV="false" rot="0">
                <a:off x="-1" y="0"/>
                <a:ext cx="22703568" cy="9717134"/>
              </a:xfrm>
              <a:custGeom>
                <a:avLst/>
                <a:gdLst/>
                <a:ahLst/>
                <a:cxnLst/>
                <a:rect r="r" b="b" t="t" l="l"/>
                <a:pathLst>
                  <a:path h="9717134" w="22703568">
                    <a:moveTo>
                      <a:pt x="22204787" y="9700216"/>
                    </a:moveTo>
                    <a:cubicBezTo>
                      <a:pt x="22204787" y="9700216"/>
                      <a:pt x="21967792" y="9690246"/>
                      <a:pt x="21605653" y="9703690"/>
                    </a:cubicBezTo>
                    <a:cubicBezTo>
                      <a:pt x="21243514" y="9717134"/>
                      <a:pt x="490924" y="9717134"/>
                      <a:pt x="490924" y="9717134"/>
                    </a:cubicBezTo>
                    <a:cubicBezTo>
                      <a:pt x="245502" y="9717134"/>
                      <a:pt x="32509" y="9619866"/>
                      <a:pt x="31032" y="9459752"/>
                    </a:cubicBezTo>
                    <a:cubicBezTo>
                      <a:pt x="31032" y="9459752"/>
                      <a:pt x="0" y="6758194"/>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158239" y="0"/>
                      <a:pt x="22158239" y="0"/>
                    </a:cubicBezTo>
                    <a:cubicBezTo>
                      <a:pt x="22470140" y="0"/>
                      <a:pt x="22703569" y="101069"/>
                      <a:pt x="22695710" y="303616"/>
                    </a:cubicBezTo>
                    <a:cubicBezTo>
                      <a:pt x="22695710" y="303616"/>
                      <a:pt x="22693715" y="6210870"/>
                      <a:pt x="22702471" y="8760165"/>
                    </a:cubicBezTo>
                    <a:cubicBezTo>
                      <a:pt x="22711226" y="9053467"/>
                      <a:pt x="22664678" y="9386538"/>
                      <a:pt x="22664678" y="9386538"/>
                    </a:cubicBezTo>
                    <a:cubicBezTo>
                      <a:pt x="22661712" y="9566563"/>
                      <a:pt x="22450209" y="9700216"/>
                      <a:pt x="22204787" y="9700216"/>
                    </a:cubicBezTo>
                    <a:close/>
                  </a:path>
                </a:pathLst>
              </a:custGeom>
              <a:solidFill>
                <a:srgbClr val="8FB7C6"/>
              </a:solidFill>
            </p:spPr>
          </p:sp>
        </p:grpSp>
        <p:grpSp>
          <p:nvGrpSpPr>
            <p:cNvPr name="Group 5" id="5"/>
            <p:cNvGrpSpPr/>
            <p:nvPr/>
          </p:nvGrpSpPr>
          <p:grpSpPr>
            <a:xfrm rot="0">
              <a:off x="254961" y="1067537"/>
              <a:ext cx="22897610" cy="9778026"/>
              <a:chOff x="0" y="0"/>
              <a:chExt cx="22594507" cy="9648591"/>
            </a:xfrm>
          </p:grpSpPr>
          <p:sp>
            <p:nvSpPr>
              <p:cNvPr name="Freeform 6" id="6"/>
              <p:cNvSpPr/>
              <p:nvPr/>
            </p:nvSpPr>
            <p:spPr>
              <a:xfrm flipH="false" flipV="false" rot="0">
                <a:off x="-1" y="0"/>
                <a:ext cx="22594508" cy="9648591"/>
              </a:xfrm>
              <a:custGeom>
                <a:avLst/>
                <a:gdLst/>
                <a:ahLst/>
                <a:cxnLst/>
                <a:rect r="r" b="b" t="t" l="l"/>
                <a:pathLst>
                  <a:path h="9648591" w="22594508">
                    <a:moveTo>
                      <a:pt x="22095727" y="9631673"/>
                    </a:moveTo>
                    <a:cubicBezTo>
                      <a:pt x="22095727" y="9631673"/>
                      <a:pt x="21858730" y="9621703"/>
                      <a:pt x="21496593" y="9635147"/>
                    </a:cubicBezTo>
                    <a:cubicBezTo>
                      <a:pt x="21134454" y="9648591"/>
                      <a:pt x="490924" y="9648591"/>
                      <a:pt x="490924" y="9648591"/>
                    </a:cubicBezTo>
                    <a:cubicBezTo>
                      <a:pt x="245502" y="9648591"/>
                      <a:pt x="32509" y="9551323"/>
                      <a:pt x="31032" y="9391209"/>
                    </a:cubicBezTo>
                    <a:cubicBezTo>
                      <a:pt x="31032" y="9391209"/>
                      <a:pt x="0" y="6705102"/>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049179" y="0"/>
                      <a:pt x="22049179" y="0"/>
                    </a:cubicBezTo>
                    <a:cubicBezTo>
                      <a:pt x="22361080" y="0"/>
                      <a:pt x="22594507" y="101069"/>
                      <a:pt x="22586650" y="303616"/>
                    </a:cubicBezTo>
                    <a:cubicBezTo>
                      <a:pt x="22586650" y="303616"/>
                      <a:pt x="22584655" y="6162502"/>
                      <a:pt x="22593411" y="8691622"/>
                    </a:cubicBezTo>
                    <a:cubicBezTo>
                      <a:pt x="22602166" y="8984924"/>
                      <a:pt x="22555618" y="9317995"/>
                      <a:pt x="22555618" y="9317995"/>
                    </a:cubicBezTo>
                    <a:cubicBezTo>
                      <a:pt x="22552652" y="9498020"/>
                      <a:pt x="22341149" y="9631673"/>
                      <a:pt x="22095727" y="9631673"/>
                    </a:cubicBezTo>
                    <a:close/>
                  </a:path>
                </a:pathLst>
              </a:custGeom>
              <a:solidFill>
                <a:srgbClr val="8FB7C6"/>
              </a:solidFill>
            </p:spPr>
          </p:sp>
        </p:grpSp>
        <p:grpSp>
          <p:nvGrpSpPr>
            <p:cNvPr name="Group 7" id="7"/>
            <p:cNvGrpSpPr/>
            <p:nvPr/>
          </p:nvGrpSpPr>
          <p:grpSpPr>
            <a:xfrm rot="0">
              <a:off x="919721" y="0"/>
              <a:ext cx="22232850" cy="10328670"/>
              <a:chOff x="0" y="0"/>
              <a:chExt cx="23043639" cy="10705337"/>
            </a:xfrm>
          </p:grpSpPr>
          <p:sp>
            <p:nvSpPr>
              <p:cNvPr name="Freeform 8" id="8"/>
              <p:cNvSpPr/>
              <p:nvPr/>
            </p:nvSpPr>
            <p:spPr>
              <a:xfrm flipH="false" flipV="false" rot="0">
                <a:off x="-1" y="0"/>
                <a:ext cx="23043639" cy="10705337"/>
              </a:xfrm>
              <a:custGeom>
                <a:avLst/>
                <a:gdLst/>
                <a:ahLst/>
                <a:cxnLst/>
                <a:rect r="r" b="b" t="t" l="l"/>
                <a:pathLst>
                  <a:path h="10705337" w="23043639">
                    <a:moveTo>
                      <a:pt x="22544859" y="10688418"/>
                    </a:moveTo>
                    <a:cubicBezTo>
                      <a:pt x="22544859" y="10688418"/>
                      <a:pt x="22307863" y="10678449"/>
                      <a:pt x="21945723" y="10691893"/>
                    </a:cubicBezTo>
                    <a:cubicBezTo>
                      <a:pt x="21583586" y="10705337"/>
                      <a:pt x="490924" y="10705337"/>
                      <a:pt x="490924" y="10705337"/>
                    </a:cubicBezTo>
                    <a:cubicBezTo>
                      <a:pt x="245502" y="10705337"/>
                      <a:pt x="32509" y="10608069"/>
                      <a:pt x="31032" y="10447955"/>
                    </a:cubicBezTo>
                    <a:cubicBezTo>
                      <a:pt x="31032" y="10447955"/>
                      <a:pt x="0" y="7523653"/>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498310" y="0"/>
                      <a:pt x="22498310" y="0"/>
                    </a:cubicBezTo>
                    <a:cubicBezTo>
                      <a:pt x="22810212" y="0"/>
                      <a:pt x="23043639" y="101069"/>
                      <a:pt x="23035783" y="303616"/>
                    </a:cubicBezTo>
                    <a:cubicBezTo>
                      <a:pt x="23035783" y="303616"/>
                      <a:pt x="23033787" y="6908210"/>
                      <a:pt x="23042542" y="9748368"/>
                    </a:cubicBezTo>
                    <a:cubicBezTo>
                      <a:pt x="23051298" y="10041669"/>
                      <a:pt x="23004750" y="10374741"/>
                      <a:pt x="23004750" y="10374741"/>
                    </a:cubicBezTo>
                    <a:cubicBezTo>
                      <a:pt x="23001785" y="10554766"/>
                      <a:pt x="22790281" y="10688418"/>
                      <a:pt x="22544859" y="10688418"/>
                    </a:cubicBezTo>
                    <a:close/>
                  </a:path>
                </a:pathLst>
              </a:custGeom>
              <a:solidFill>
                <a:srgbClr val="F3FCFF"/>
              </a:solidFill>
            </p:spPr>
          </p:sp>
        </p:grpSp>
        <p:sp>
          <p:nvSpPr>
            <p:cNvPr name="AutoShape 9" id="9"/>
            <p:cNvSpPr/>
            <p:nvPr/>
          </p:nvSpPr>
          <p:spPr>
            <a:xfrm>
              <a:off x="2250246" y="9826016"/>
              <a:ext cx="22466735" cy="34286"/>
            </a:xfrm>
            <a:prstGeom prst="line">
              <a:avLst/>
            </a:prstGeom>
            <a:ln cap="rnd" w="50800">
              <a:solidFill>
                <a:srgbClr val="8FB7C6"/>
              </a:solidFill>
              <a:prstDash val="solid"/>
              <a:headEnd type="none" len="sm" w="sm"/>
              <a:tailEnd type="none" len="sm" w="sm"/>
            </a:ln>
          </p:spPr>
        </p:sp>
        <p:sp>
          <p:nvSpPr>
            <p:cNvPr name="AutoShape 10" id="10"/>
            <p:cNvSpPr/>
            <p:nvPr/>
          </p:nvSpPr>
          <p:spPr>
            <a:xfrm>
              <a:off x="2250246" y="717206"/>
              <a:ext cx="22466735" cy="34286"/>
            </a:xfrm>
            <a:prstGeom prst="line">
              <a:avLst/>
            </a:prstGeom>
            <a:ln cap="rnd" w="50800">
              <a:solidFill>
                <a:srgbClr val="8FB7C6"/>
              </a:solidFill>
              <a:prstDash val="solid"/>
              <a:headEnd type="none" len="sm" w="sm"/>
              <a:tailEnd type="none" len="sm" w="sm"/>
            </a:ln>
          </p:spPr>
        </p:sp>
      </p:grpSp>
      <p:grpSp>
        <p:nvGrpSpPr>
          <p:cNvPr name="Group 11" id="11"/>
          <p:cNvGrpSpPr/>
          <p:nvPr/>
        </p:nvGrpSpPr>
        <p:grpSpPr>
          <a:xfrm rot="0">
            <a:off x="2132588" y="1581260"/>
            <a:ext cx="15126712" cy="7124480"/>
            <a:chOff x="0" y="0"/>
            <a:chExt cx="20168950" cy="9499306"/>
          </a:xfrm>
        </p:grpSpPr>
        <p:sp>
          <p:nvSpPr>
            <p:cNvPr name="TextBox 12" id="12"/>
            <p:cNvSpPr txBox="true"/>
            <p:nvPr/>
          </p:nvSpPr>
          <p:spPr>
            <a:xfrm rot="0">
              <a:off x="334686" y="804418"/>
              <a:ext cx="18841219" cy="767334"/>
            </a:xfrm>
            <a:prstGeom prst="rect">
              <a:avLst/>
            </a:prstGeom>
          </p:spPr>
          <p:txBody>
            <a:bodyPr anchor="t" rtlCol="false" tIns="0" lIns="0" bIns="0" rIns="0">
              <a:spAutoFit/>
            </a:bodyPr>
            <a:lstStyle/>
            <a:p>
              <a:pPr algn="just">
                <a:lnSpc>
                  <a:spcPts val="4779"/>
                </a:lnSpc>
              </a:pPr>
              <a:r>
                <a:rPr lang="en-US" b="true" sz="3540" spc="-35">
                  <a:solidFill>
                    <a:srgbClr val="000000"/>
                  </a:solidFill>
                  <a:latin typeface="Asap Bold"/>
                  <a:ea typeface="Asap Bold"/>
                  <a:cs typeface="Asap Bold"/>
                  <a:sym typeface="Asap Bold"/>
                </a:rPr>
                <a:t>Vấn đề hay gặp</a:t>
              </a:r>
            </a:p>
          </p:txBody>
        </p:sp>
        <p:sp>
          <p:nvSpPr>
            <p:cNvPr name="TextBox 13" id="13"/>
            <p:cNvSpPr txBox="true"/>
            <p:nvPr/>
          </p:nvSpPr>
          <p:spPr>
            <a:xfrm rot="0">
              <a:off x="0" y="0"/>
              <a:ext cx="20168950" cy="1216660"/>
            </a:xfrm>
            <a:prstGeom prst="rect">
              <a:avLst/>
            </a:prstGeom>
          </p:spPr>
          <p:txBody>
            <a:bodyPr anchor="t" rtlCol="false" tIns="0" lIns="0" bIns="0" rIns="0">
              <a:spAutoFit/>
            </a:bodyPr>
            <a:lstStyle/>
            <a:p>
              <a:pPr algn="ctr">
                <a:lnSpc>
                  <a:spcPts val="7140"/>
                </a:lnSpc>
              </a:pPr>
              <a:r>
                <a:rPr lang="en-US" b="true" sz="5950">
                  <a:solidFill>
                    <a:srgbClr val="1D2B74"/>
                  </a:solidFill>
                  <a:latin typeface="Faustina Bold"/>
                  <a:ea typeface="Faustina Bold"/>
                  <a:cs typeface="Faustina Bold"/>
                  <a:sym typeface="Faustina Bold"/>
                </a:rPr>
                <a:t>ERROR HANDLING</a:t>
              </a:r>
            </a:p>
          </p:txBody>
        </p:sp>
        <p:sp>
          <p:nvSpPr>
            <p:cNvPr name="TextBox 14" id="14"/>
            <p:cNvSpPr txBox="true"/>
            <p:nvPr/>
          </p:nvSpPr>
          <p:spPr>
            <a:xfrm rot="0">
              <a:off x="334686" y="5531573"/>
              <a:ext cx="18841219" cy="3967734"/>
            </a:xfrm>
            <a:prstGeom prst="rect">
              <a:avLst/>
            </a:prstGeom>
          </p:spPr>
          <p:txBody>
            <a:bodyPr anchor="t" rtlCol="false" tIns="0" lIns="0" bIns="0" rIns="0">
              <a:spAutoFit/>
            </a:bodyPr>
            <a:lstStyle/>
            <a:p>
              <a:pPr algn="just">
                <a:lnSpc>
                  <a:spcPts val="4779"/>
                </a:lnSpc>
              </a:pPr>
              <a:r>
                <a:rPr lang="en-US" b="true" sz="3540" spc="-35">
                  <a:solidFill>
                    <a:srgbClr val="000000"/>
                  </a:solidFill>
                  <a:latin typeface="Asap Bold"/>
                  <a:ea typeface="Asap Bold"/>
                  <a:cs typeface="Asap Bold"/>
                  <a:sym typeface="Asap Bold"/>
                </a:rPr>
                <a:t>Giải pháp</a:t>
              </a:r>
            </a:p>
            <a:p>
              <a:pPr algn="just" marL="764289" indent="-382145" lvl="1">
                <a:lnSpc>
                  <a:spcPts val="4779"/>
                </a:lnSpc>
                <a:buFont typeface="Arial"/>
                <a:buChar char="•"/>
              </a:pPr>
              <a:r>
                <a:rPr lang="en-US" sz="3540" spc="-35">
                  <a:solidFill>
                    <a:srgbClr val="000000"/>
                  </a:solidFill>
                  <a:latin typeface="Asap"/>
                  <a:ea typeface="Asap"/>
                  <a:cs typeface="Asap"/>
                  <a:sym typeface="Asap"/>
                </a:rPr>
                <a:t>Kiểm tra input</a:t>
              </a:r>
            </a:p>
            <a:p>
              <a:pPr algn="just" marL="764289" indent="-382145" lvl="1">
                <a:lnSpc>
                  <a:spcPts val="4779"/>
                </a:lnSpc>
                <a:buFont typeface="Arial"/>
                <a:buChar char="•"/>
              </a:pPr>
              <a:r>
                <a:rPr lang="en-US" sz="3540" spc="-35">
                  <a:solidFill>
                    <a:srgbClr val="000000"/>
                  </a:solidFill>
                  <a:latin typeface="Asap"/>
                  <a:ea typeface="Asap"/>
                  <a:cs typeface="Asap"/>
                  <a:sym typeface="Asap"/>
                </a:rPr>
                <a:t>Bắ</a:t>
              </a:r>
              <a:r>
                <a:rPr lang="en-US" sz="3540" spc="-35">
                  <a:solidFill>
                    <a:srgbClr val="000000"/>
                  </a:solidFill>
                  <a:latin typeface="Asap"/>
                  <a:ea typeface="Asap"/>
                  <a:cs typeface="Asap"/>
                  <a:sym typeface="Asap"/>
                </a:rPr>
                <a:t>t lỗi bằng try/catch</a:t>
              </a:r>
            </a:p>
            <a:p>
              <a:pPr algn="just" marL="764289" indent="-382145" lvl="1">
                <a:lnSpc>
                  <a:spcPts val="4779"/>
                </a:lnSpc>
                <a:buFont typeface="Arial"/>
                <a:buChar char="•"/>
              </a:pPr>
              <a:r>
                <a:rPr lang="en-US" sz="3540" spc="-35">
                  <a:solidFill>
                    <a:srgbClr val="000000"/>
                  </a:solidFill>
                  <a:latin typeface="Asap"/>
                  <a:ea typeface="Asap"/>
                  <a:cs typeface="Asap"/>
                  <a:sym typeface="Asap"/>
                </a:rPr>
                <a:t>Trả thông báo rõ ràng</a:t>
              </a:r>
            </a:p>
            <a:p>
              <a:pPr algn="just">
                <a:lnSpc>
                  <a:spcPts val="4779"/>
                </a:lnSpc>
              </a:pPr>
            </a:p>
          </p:txBody>
        </p:sp>
      </p:grpSp>
      <p:sp>
        <p:nvSpPr>
          <p:cNvPr name="TextBox 15" id="15"/>
          <p:cNvSpPr txBox="true"/>
          <p:nvPr/>
        </p:nvSpPr>
        <p:spPr>
          <a:xfrm rot="0">
            <a:off x="2488715" y="2800790"/>
            <a:ext cx="9577041" cy="2990088"/>
          </a:xfrm>
          <a:prstGeom prst="rect">
            <a:avLst/>
          </a:prstGeom>
        </p:spPr>
        <p:txBody>
          <a:bodyPr anchor="t" rtlCol="false" tIns="0" lIns="0" bIns="0" rIns="0">
            <a:spAutoFit/>
          </a:bodyPr>
          <a:lstStyle/>
          <a:p>
            <a:pPr algn="l">
              <a:lnSpc>
                <a:spcPts val="4779"/>
              </a:lnSpc>
              <a:spcBef>
                <a:spcPct val="0"/>
              </a:spcBef>
            </a:pPr>
            <a:r>
              <a:rPr lang="en-US" sz="3540" spc="-35">
                <a:solidFill>
                  <a:srgbClr val="000000"/>
                </a:solidFill>
                <a:latin typeface="Asap"/>
                <a:ea typeface="Asap"/>
                <a:cs typeface="Asap"/>
                <a:sym typeface="Asap"/>
              </a:rPr>
              <a:t>Vấn đề thực tế</a:t>
            </a:r>
          </a:p>
          <a:p>
            <a:pPr algn="l">
              <a:lnSpc>
                <a:spcPts val="4779"/>
              </a:lnSpc>
              <a:spcBef>
                <a:spcPct val="0"/>
              </a:spcBef>
            </a:pPr>
            <a:r>
              <a:rPr lang="en-US" sz="3540" spc="-35">
                <a:solidFill>
                  <a:srgbClr val="000000"/>
                </a:solidFill>
                <a:latin typeface="Asap"/>
                <a:ea typeface="Asap"/>
                <a:cs typeface="Asap"/>
                <a:sym typeface="Asap"/>
              </a:rPr>
              <a:t>User nhập sai</a:t>
            </a:r>
          </a:p>
          <a:p>
            <a:pPr algn="l">
              <a:lnSpc>
                <a:spcPts val="4779"/>
              </a:lnSpc>
              <a:spcBef>
                <a:spcPct val="0"/>
              </a:spcBef>
            </a:pPr>
            <a:r>
              <a:rPr lang="en-US" sz="3540" spc="-35">
                <a:solidFill>
                  <a:srgbClr val="000000"/>
                </a:solidFill>
                <a:latin typeface="Asap"/>
                <a:ea typeface="Asap"/>
                <a:cs typeface="Asap"/>
                <a:sym typeface="Asap"/>
              </a:rPr>
              <a:t>API trả lỗi</a:t>
            </a:r>
          </a:p>
          <a:p>
            <a:pPr algn="l">
              <a:lnSpc>
                <a:spcPts val="4779"/>
              </a:lnSpc>
              <a:spcBef>
                <a:spcPct val="0"/>
              </a:spcBef>
            </a:pPr>
            <a:r>
              <a:rPr lang="en-US" sz="3540" spc="-35">
                <a:solidFill>
                  <a:srgbClr val="000000"/>
                </a:solidFill>
                <a:latin typeface="Asap"/>
                <a:ea typeface="Asap"/>
                <a:cs typeface="Asap"/>
                <a:sym typeface="Asap"/>
              </a:rPr>
              <a:t>Dữ liệu bất thường</a:t>
            </a:r>
          </a:p>
          <a:p>
            <a:pPr algn="l">
              <a:lnSpc>
                <a:spcPts val="4779"/>
              </a:lnSpc>
              <a:spcBef>
                <a:spcPct val="0"/>
              </a:spcBef>
            </a:pPr>
            <a:r>
              <a:rPr lang="en-US" sz="3540" spc="-35">
                <a:solidFill>
                  <a:srgbClr val="000000"/>
                </a:solidFill>
                <a:latin typeface="Asap"/>
                <a:ea typeface="Asap"/>
                <a:cs typeface="Asap"/>
                <a:sym typeface="Asap"/>
              </a:rPr>
              <a:t>=&gt;Nếu không xử lý → hệ thống crash</a:t>
            </a:r>
          </a:p>
        </p:txBody>
      </p:sp>
    </p:spTree>
  </p:cSld>
  <p:clrMapOvr>
    <a:masterClrMapping/>
  </p:clrMapOvr>
  <p:transition spd="slow">
    <p:push dir="d"/>
  </p:transition>
</p:sld>
</file>

<file path=ppt/slides/slide38.xml><?xml version="1.0" encoding="utf-8"?>
<p:sld xmlns:p="http://schemas.openxmlformats.org/presentationml/2006/main" xmlns:a="http://schemas.openxmlformats.org/drawingml/2006/main">
  <p:cSld>
    <p:bg>
      <p:bgPr>
        <a:solidFill>
          <a:srgbClr val="C8E3ED"/>
        </a:solidFill>
      </p:bgPr>
    </p:bg>
    <p:spTree>
      <p:nvGrpSpPr>
        <p:cNvPr id="1" name=""/>
        <p:cNvGrpSpPr/>
        <p:nvPr/>
      </p:nvGrpSpPr>
      <p:grpSpPr>
        <a:xfrm>
          <a:off x="0" y="0"/>
          <a:ext cx="0" cy="0"/>
          <a:chOff x="0" y="0"/>
          <a:chExt cx="0" cy="0"/>
        </a:xfrm>
      </p:grpSpPr>
      <p:grpSp>
        <p:nvGrpSpPr>
          <p:cNvPr name="Group 2" id="2"/>
          <p:cNvGrpSpPr/>
          <p:nvPr/>
        </p:nvGrpSpPr>
        <p:grpSpPr>
          <a:xfrm rot="0">
            <a:off x="774820" y="1028700"/>
            <a:ext cx="18537765" cy="8229600"/>
            <a:chOff x="0" y="0"/>
            <a:chExt cx="24717020" cy="10972800"/>
          </a:xfrm>
        </p:grpSpPr>
        <p:grpSp>
          <p:nvGrpSpPr>
            <p:cNvPr name="Group 3" id="3"/>
            <p:cNvGrpSpPr/>
            <p:nvPr/>
          </p:nvGrpSpPr>
          <p:grpSpPr>
            <a:xfrm rot="0">
              <a:off x="0" y="977717"/>
              <a:ext cx="23352980" cy="9995083"/>
              <a:chOff x="0" y="0"/>
              <a:chExt cx="22703567" cy="9717134"/>
            </a:xfrm>
          </p:grpSpPr>
          <p:sp>
            <p:nvSpPr>
              <p:cNvPr name="Freeform 4" id="4"/>
              <p:cNvSpPr/>
              <p:nvPr/>
            </p:nvSpPr>
            <p:spPr>
              <a:xfrm flipH="false" flipV="false" rot="0">
                <a:off x="-1" y="0"/>
                <a:ext cx="22703568" cy="9717134"/>
              </a:xfrm>
              <a:custGeom>
                <a:avLst/>
                <a:gdLst/>
                <a:ahLst/>
                <a:cxnLst/>
                <a:rect r="r" b="b" t="t" l="l"/>
                <a:pathLst>
                  <a:path h="9717134" w="22703568">
                    <a:moveTo>
                      <a:pt x="22204787" y="9700216"/>
                    </a:moveTo>
                    <a:cubicBezTo>
                      <a:pt x="22204787" y="9700216"/>
                      <a:pt x="21967792" y="9690246"/>
                      <a:pt x="21605653" y="9703690"/>
                    </a:cubicBezTo>
                    <a:cubicBezTo>
                      <a:pt x="21243514" y="9717134"/>
                      <a:pt x="490924" y="9717134"/>
                      <a:pt x="490924" y="9717134"/>
                    </a:cubicBezTo>
                    <a:cubicBezTo>
                      <a:pt x="245502" y="9717134"/>
                      <a:pt x="32509" y="9619866"/>
                      <a:pt x="31032" y="9459752"/>
                    </a:cubicBezTo>
                    <a:cubicBezTo>
                      <a:pt x="31032" y="9459752"/>
                      <a:pt x="0" y="6758194"/>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158239" y="0"/>
                      <a:pt x="22158239" y="0"/>
                    </a:cubicBezTo>
                    <a:cubicBezTo>
                      <a:pt x="22470140" y="0"/>
                      <a:pt x="22703569" y="101069"/>
                      <a:pt x="22695710" y="303616"/>
                    </a:cubicBezTo>
                    <a:cubicBezTo>
                      <a:pt x="22695710" y="303616"/>
                      <a:pt x="22693715" y="6210870"/>
                      <a:pt x="22702471" y="8760165"/>
                    </a:cubicBezTo>
                    <a:cubicBezTo>
                      <a:pt x="22711226" y="9053467"/>
                      <a:pt x="22664678" y="9386538"/>
                      <a:pt x="22664678" y="9386538"/>
                    </a:cubicBezTo>
                    <a:cubicBezTo>
                      <a:pt x="22661712" y="9566563"/>
                      <a:pt x="22450209" y="9700216"/>
                      <a:pt x="22204787" y="9700216"/>
                    </a:cubicBezTo>
                    <a:close/>
                  </a:path>
                </a:pathLst>
              </a:custGeom>
              <a:solidFill>
                <a:srgbClr val="8FB7C6"/>
              </a:solidFill>
            </p:spPr>
          </p:sp>
        </p:grpSp>
        <p:grpSp>
          <p:nvGrpSpPr>
            <p:cNvPr name="Group 5" id="5"/>
            <p:cNvGrpSpPr/>
            <p:nvPr/>
          </p:nvGrpSpPr>
          <p:grpSpPr>
            <a:xfrm rot="0">
              <a:off x="254961" y="1067537"/>
              <a:ext cx="22897610" cy="9778026"/>
              <a:chOff x="0" y="0"/>
              <a:chExt cx="22594507" cy="9648591"/>
            </a:xfrm>
          </p:grpSpPr>
          <p:sp>
            <p:nvSpPr>
              <p:cNvPr name="Freeform 6" id="6"/>
              <p:cNvSpPr/>
              <p:nvPr/>
            </p:nvSpPr>
            <p:spPr>
              <a:xfrm flipH="false" flipV="false" rot="0">
                <a:off x="-1" y="0"/>
                <a:ext cx="22594508" cy="9648591"/>
              </a:xfrm>
              <a:custGeom>
                <a:avLst/>
                <a:gdLst/>
                <a:ahLst/>
                <a:cxnLst/>
                <a:rect r="r" b="b" t="t" l="l"/>
                <a:pathLst>
                  <a:path h="9648591" w="22594508">
                    <a:moveTo>
                      <a:pt x="22095727" y="9631673"/>
                    </a:moveTo>
                    <a:cubicBezTo>
                      <a:pt x="22095727" y="9631673"/>
                      <a:pt x="21858730" y="9621703"/>
                      <a:pt x="21496593" y="9635147"/>
                    </a:cubicBezTo>
                    <a:cubicBezTo>
                      <a:pt x="21134454" y="9648591"/>
                      <a:pt x="490924" y="9648591"/>
                      <a:pt x="490924" y="9648591"/>
                    </a:cubicBezTo>
                    <a:cubicBezTo>
                      <a:pt x="245502" y="9648591"/>
                      <a:pt x="32509" y="9551323"/>
                      <a:pt x="31032" y="9391209"/>
                    </a:cubicBezTo>
                    <a:cubicBezTo>
                      <a:pt x="31032" y="9391209"/>
                      <a:pt x="0" y="6705102"/>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049179" y="0"/>
                      <a:pt x="22049179" y="0"/>
                    </a:cubicBezTo>
                    <a:cubicBezTo>
                      <a:pt x="22361080" y="0"/>
                      <a:pt x="22594507" y="101069"/>
                      <a:pt x="22586650" y="303616"/>
                    </a:cubicBezTo>
                    <a:cubicBezTo>
                      <a:pt x="22586650" y="303616"/>
                      <a:pt x="22584655" y="6162502"/>
                      <a:pt x="22593411" y="8691622"/>
                    </a:cubicBezTo>
                    <a:cubicBezTo>
                      <a:pt x="22602166" y="8984924"/>
                      <a:pt x="22555618" y="9317995"/>
                      <a:pt x="22555618" y="9317995"/>
                    </a:cubicBezTo>
                    <a:cubicBezTo>
                      <a:pt x="22552652" y="9498020"/>
                      <a:pt x="22341149" y="9631673"/>
                      <a:pt x="22095727" y="9631673"/>
                    </a:cubicBezTo>
                    <a:close/>
                  </a:path>
                </a:pathLst>
              </a:custGeom>
              <a:solidFill>
                <a:srgbClr val="8FB7C6"/>
              </a:solidFill>
            </p:spPr>
          </p:sp>
        </p:grpSp>
        <p:grpSp>
          <p:nvGrpSpPr>
            <p:cNvPr name="Group 7" id="7"/>
            <p:cNvGrpSpPr/>
            <p:nvPr/>
          </p:nvGrpSpPr>
          <p:grpSpPr>
            <a:xfrm rot="0">
              <a:off x="919721" y="0"/>
              <a:ext cx="22232850" cy="10328670"/>
              <a:chOff x="0" y="0"/>
              <a:chExt cx="23043639" cy="10705337"/>
            </a:xfrm>
          </p:grpSpPr>
          <p:sp>
            <p:nvSpPr>
              <p:cNvPr name="Freeform 8" id="8"/>
              <p:cNvSpPr/>
              <p:nvPr/>
            </p:nvSpPr>
            <p:spPr>
              <a:xfrm flipH="false" flipV="false" rot="0">
                <a:off x="-1" y="0"/>
                <a:ext cx="23043639" cy="10705337"/>
              </a:xfrm>
              <a:custGeom>
                <a:avLst/>
                <a:gdLst/>
                <a:ahLst/>
                <a:cxnLst/>
                <a:rect r="r" b="b" t="t" l="l"/>
                <a:pathLst>
                  <a:path h="10705337" w="23043639">
                    <a:moveTo>
                      <a:pt x="22544859" y="10688418"/>
                    </a:moveTo>
                    <a:cubicBezTo>
                      <a:pt x="22544859" y="10688418"/>
                      <a:pt x="22307863" y="10678449"/>
                      <a:pt x="21945723" y="10691893"/>
                    </a:cubicBezTo>
                    <a:cubicBezTo>
                      <a:pt x="21583586" y="10705337"/>
                      <a:pt x="490924" y="10705337"/>
                      <a:pt x="490924" y="10705337"/>
                    </a:cubicBezTo>
                    <a:cubicBezTo>
                      <a:pt x="245502" y="10705337"/>
                      <a:pt x="32509" y="10608069"/>
                      <a:pt x="31032" y="10447955"/>
                    </a:cubicBezTo>
                    <a:cubicBezTo>
                      <a:pt x="31032" y="10447955"/>
                      <a:pt x="0" y="7523653"/>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498310" y="0"/>
                      <a:pt x="22498310" y="0"/>
                    </a:cubicBezTo>
                    <a:cubicBezTo>
                      <a:pt x="22810212" y="0"/>
                      <a:pt x="23043639" y="101069"/>
                      <a:pt x="23035783" y="303616"/>
                    </a:cubicBezTo>
                    <a:cubicBezTo>
                      <a:pt x="23035783" y="303616"/>
                      <a:pt x="23033787" y="6908210"/>
                      <a:pt x="23042542" y="9748368"/>
                    </a:cubicBezTo>
                    <a:cubicBezTo>
                      <a:pt x="23051298" y="10041669"/>
                      <a:pt x="23004750" y="10374741"/>
                      <a:pt x="23004750" y="10374741"/>
                    </a:cubicBezTo>
                    <a:cubicBezTo>
                      <a:pt x="23001785" y="10554766"/>
                      <a:pt x="22790281" y="10688418"/>
                      <a:pt x="22544859" y="10688418"/>
                    </a:cubicBezTo>
                    <a:close/>
                  </a:path>
                </a:pathLst>
              </a:custGeom>
              <a:solidFill>
                <a:srgbClr val="F3FCFF"/>
              </a:solidFill>
            </p:spPr>
          </p:sp>
        </p:grpSp>
        <p:sp>
          <p:nvSpPr>
            <p:cNvPr name="AutoShape 9" id="9"/>
            <p:cNvSpPr/>
            <p:nvPr/>
          </p:nvSpPr>
          <p:spPr>
            <a:xfrm>
              <a:off x="2250246" y="9826016"/>
              <a:ext cx="22466735" cy="34286"/>
            </a:xfrm>
            <a:prstGeom prst="line">
              <a:avLst/>
            </a:prstGeom>
            <a:ln cap="rnd" w="50800">
              <a:solidFill>
                <a:srgbClr val="8FB7C6"/>
              </a:solidFill>
              <a:prstDash val="solid"/>
              <a:headEnd type="none" len="sm" w="sm"/>
              <a:tailEnd type="none" len="sm" w="sm"/>
            </a:ln>
          </p:spPr>
        </p:sp>
        <p:sp>
          <p:nvSpPr>
            <p:cNvPr name="AutoShape 10" id="10"/>
            <p:cNvSpPr/>
            <p:nvPr/>
          </p:nvSpPr>
          <p:spPr>
            <a:xfrm>
              <a:off x="2250246" y="717206"/>
              <a:ext cx="22466735" cy="34286"/>
            </a:xfrm>
            <a:prstGeom prst="line">
              <a:avLst/>
            </a:prstGeom>
            <a:ln cap="rnd" w="50800">
              <a:solidFill>
                <a:srgbClr val="8FB7C6"/>
              </a:solidFill>
              <a:prstDash val="solid"/>
              <a:headEnd type="none" len="sm" w="sm"/>
              <a:tailEnd type="none" len="sm" w="sm"/>
            </a:ln>
          </p:spPr>
        </p:sp>
      </p:grpSp>
      <p:grpSp>
        <p:nvGrpSpPr>
          <p:cNvPr name="Group 11" id="11"/>
          <p:cNvGrpSpPr/>
          <p:nvPr/>
        </p:nvGrpSpPr>
        <p:grpSpPr>
          <a:xfrm rot="0">
            <a:off x="2132588" y="1581260"/>
            <a:ext cx="15126712" cy="7124480"/>
            <a:chOff x="0" y="0"/>
            <a:chExt cx="20168950" cy="9499306"/>
          </a:xfrm>
        </p:grpSpPr>
        <p:sp>
          <p:nvSpPr>
            <p:cNvPr name="TextBox 12" id="12"/>
            <p:cNvSpPr txBox="true"/>
            <p:nvPr/>
          </p:nvSpPr>
          <p:spPr>
            <a:xfrm rot="0">
              <a:off x="334686" y="804418"/>
              <a:ext cx="18841219" cy="767334"/>
            </a:xfrm>
            <a:prstGeom prst="rect">
              <a:avLst/>
            </a:prstGeom>
          </p:spPr>
          <p:txBody>
            <a:bodyPr anchor="t" rtlCol="false" tIns="0" lIns="0" bIns="0" rIns="0">
              <a:spAutoFit/>
            </a:bodyPr>
            <a:lstStyle/>
            <a:p>
              <a:pPr algn="just">
                <a:lnSpc>
                  <a:spcPts val="4779"/>
                </a:lnSpc>
              </a:pPr>
              <a:r>
                <a:rPr lang="en-US" b="true" sz="3540" spc="-35">
                  <a:solidFill>
                    <a:srgbClr val="000000"/>
                  </a:solidFill>
                  <a:latin typeface="Asap Bold"/>
                  <a:ea typeface="Asap Bold"/>
                  <a:cs typeface="Asap Bold"/>
                  <a:sym typeface="Asap Bold"/>
                </a:rPr>
                <a:t>Vấn đề hay gặp</a:t>
              </a:r>
            </a:p>
          </p:txBody>
        </p:sp>
        <p:sp>
          <p:nvSpPr>
            <p:cNvPr name="TextBox 13" id="13"/>
            <p:cNvSpPr txBox="true"/>
            <p:nvPr/>
          </p:nvSpPr>
          <p:spPr>
            <a:xfrm rot="0">
              <a:off x="0" y="0"/>
              <a:ext cx="20168950" cy="1216660"/>
            </a:xfrm>
            <a:prstGeom prst="rect">
              <a:avLst/>
            </a:prstGeom>
          </p:spPr>
          <p:txBody>
            <a:bodyPr anchor="t" rtlCol="false" tIns="0" lIns="0" bIns="0" rIns="0">
              <a:spAutoFit/>
            </a:bodyPr>
            <a:lstStyle/>
            <a:p>
              <a:pPr algn="ctr">
                <a:lnSpc>
                  <a:spcPts val="7140"/>
                </a:lnSpc>
              </a:pPr>
              <a:r>
                <a:rPr lang="en-US" b="true" sz="5950">
                  <a:solidFill>
                    <a:srgbClr val="1D2B74"/>
                  </a:solidFill>
                  <a:latin typeface="Faustina Bold"/>
                  <a:ea typeface="Faustina Bold"/>
                  <a:cs typeface="Faustina Bold"/>
                  <a:sym typeface="Faustina Bold"/>
                </a:rPr>
                <a:t>ERROR HANDLING</a:t>
              </a:r>
            </a:p>
          </p:txBody>
        </p:sp>
        <p:sp>
          <p:nvSpPr>
            <p:cNvPr name="TextBox 14" id="14"/>
            <p:cNvSpPr txBox="true"/>
            <p:nvPr/>
          </p:nvSpPr>
          <p:spPr>
            <a:xfrm rot="0">
              <a:off x="334686" y="5531573"/>
              <a:ext cx="18841219" cy="3967734"/>
            </a:xfrm>
            <a:prstGeom prst="rect">
              <a:avLst/>
            </a:prstGeom>
          </p:spPr>
          <p:txBody>
            <a:bodyPr anchor="t" rtlCol="false" tIns="0" lIns="0" bIns="0" rIns="0">
              <a:spAutoFit/>
            </a:bodyPr>
            <a:lstStyle/>
            <a:p>
              <a:pPr algn="just">
                <a:lnSpc>
                  <a:spcPts val="4779"/>
                </a:lnSpc>
              </a:pPr>
              <a:r>
                <a:rPr lang="en-US" b="true" sz="3540" spc="-35">
                  <a:solidFill>
                    <a:srgbClr val="000000"/>
                  </a:solidFill>
                  <a:latin typeface="Asap Bold"/>
                  <a:ea typeface="Asap Bold"/>
                  <a:cs typeface="Asap Bold"/>
                  <a:sym typeface="Asap Bold"/>
                </a:rPr>
                <a:t>Giải pháp</a:t>
              </a:r>
            </a:p>
            <a:p>
              <a:pPr algn="just" marL="764289" indent="-382145" lvl="1">
                <a:lnSpc>
                  <a:spcPts val="4779"/>
                </a:lnSpc>
                <a:buFont typeface="Arial"/>
                <a:buChar char="•"/>
              </a:pPr>
              <a:r>
                <a:rPr lang="en-US" sz="3540" spc="-35">
                  <a:solidFill>
                    <a:srgbClr val="000000"/>
                  </a:solidFill>
                  <a:latin typeface="Asap"/>
                  <a:ea typeface="Asap"/>
                  <a:cs typeface="Asap"/>
                  <a:sym typeface="Asap"/>
                </a:rPr>
                <a:t>Kiểm tra input</a:t>
              </a:r>
            </a:p>
            <a:p>
              <a:pPr algn="just" marL="764289" indent="-382145" lvl="1">
                <a:lnSpc>
                  <a:spcPts val="4779"/>
                </a:lnSpc>
                <a:buFont typeface="Arial"/>
                <a:buChar char="•"/>
              </a:pPr>
              <a:r>
                <a:rPr lang="en-US" sz="3540" spc="-35">
                  <a:solidFill>
                    <a:srgbClr val="000000"/>
                  </a:solidFill>
                  <a:latin typeface="Asap"/>
                  <a:ea typeface="Asap"/>
                  <a:cs typeface="Asap"/>
                  <a:sym typeface="Asap"/>
                </a:rPr>
                <a:t>Bắ</a:t>
              </a:r>
              <a:r>
                <a:rPr lang="en-US" sz="3540" spc="-35">
                  <a:solidFill>
                    <a:srgbClr val="000000"/>
                  </a:solidFill>
                  <a:latin typeface="Asap"/>
                  <a:ea typeface="Asap"/>
                  <a:cs typeface="Asap"/>
                  <a:sym typeface="Asap"/>
                </a:rPr>
                <a:t>t lỗi bằng try/catch</a:t>
              </a:r>
            </a:p>
            <a:p>
              <a:pPr algn="just" marL="764289" indent="-382145" lvl="1">
                <a:lnSpc>
                  <a:spcPts val="4779"/>
                </a:lnSpc>
                <a:buFont typeface="Arial"/>
                <a:buChar char="•"/>
              </a:pPr>
              <a:r>
                <a:rPr lang="en-US" sz="3540" spc="-35">
                  <a:solidFill>
                    <a:srgbClr val="000000"/>
                  </a:solidFill>
                  <a:latin typeface="Asap"/>
                  <a:ea typeface="Asap"/>
                  <a:cs typeface="Asap"/>
                  <a:sym typeface="Asap"/>
                </a:rPr>
                <a:t>Trả thông báo rõ ràng</a:t>
              </a:r>
            </a:p>
            <a:p>
              <a:pPr algn="just">
                <a:lnSpc>
                  <a:spcPts val="4779"/>
                </a:lnSpc>
              </a:pPr>
            </a:p>
          </p:txBody>
        </p:sp>
      </p:grpSp>
      <p:sp>
        <p:nvSpPr>
          <p:cNvPr name="TextBox 15" id="15"/>
          <p:cNvSpPr txBox="true"/>
          <p:nvPr/>
        </p:nvSpPr>
        <p:spPr>
          <a:xfrm rot="0">
            <a:off x="2488715" y="2800790"/>
            <a:ext cx="9577041" cy="2990088"/>
          </a:xfrm>
          <a:prstGeom prst="rect">
            <a:avLst/>
          </a:prstGeom>
        </p:spPr>
        <p:txBody>
          <a:bodyPr anchor="t" rtlCol="false" tIns="0" lIns="0" bIns="0" rIns="0">
            <a:spAutoFit/>
          </a:bodyPr>
          <a:lstStyle/>
          <a:p>
            <a:pPr algn="l">
              <a:lnSpc>
                <a:spcPts val="4779"/>
              </a:lnSpc>
              <a:spcBef>
                <a:spcPct val="0"/>
              </a:spcBef>
            </a:pPr>
            <a:r>
              <a:rPr lang="en-US" sz="3540" spc="-35">
                <a:solidFill>
                  <a:srgbClr val="000000"/>
                </a:solidFill>
                <a:latin typeface="Asap"/>
                <a:ea typeface="Asap"/>
                <a:cs typeface="Asap"/>
                <a:sym typeface="Asap"/>
              </a:rPr>
              <a:t>Vấn đề thực tế</a:t>
            </a:r>
          </a:p>
          <a:p>
            <a:pPr algn="l">
              <a:lnSpc>
                <a:spcPts val="4779"/>
              </a:lnSpc>
              <a:spcBef>
                <a:spcPct val="0"/>
              </a:spcBef>
            </a:pPr>
            <a:r>
              <a:rPr lang="en-US" sz="3540" spc="-35">
                <a:solidFill>
                  <a:srgbClr val="000000"/>
                </a:solidFill>
                <a:latin typeface="Asap"/>
                <a:ea typeface="Asap"/>
                <a:cs typeface="Asap"/>
                <a:sym typeface="Asap"/>
              </a:rPr>
              <a:t>User nhập sai</a:t>
            </a:r>
          </a:p>
          <a:p>
            <a:pPr algn="l">
              <a:lnSpc>
                <a:spcPts val="4779"/>
              </a:lnSpc>
              <a:spcBef>
                <a:spcPct val="0"/>
              </a:spcBef>
            </a:pPr>
            <a:r>
              <a:rPr lang="en-US" sz="3540" spc="-35">
                <a:solidFill>
                  <a:srgbClr val="000000"/>
                </a:solidFill>
                <a:latin typeface="Asap"/>
                <a:ea typeface="Asap"/>
                <a:cs typeface="Asap"/>
                <a:sym typeface="Asap"/>
              </a:rPr>
              <a:t>API trả lỗi</a:t>
            </a:r>
          </a:p>
          <a:p>
            <a:pPr algn="l">
              <a:lnSpc>
                <a:spcPts val="4779"/>
              </a:lnSpc>
              <a:spcBef>
                <a:spcPct val="0"/>
              </a:spcBef>
            </a:pPr>
            <a:r>
              <a:rPr lang="en-US" sz="3540" spc="-35">
                <a:solidFill>
                  <a:srgbClr val="000000"/>
                </a:solidFill>
                <a:latin typeface="Asap"/>
                <a:ea typeface="Asap"/>
                <a:cs typeface="Asap"/>
                <a:sym typeface="Asap"/>
              </a:rPr>
              <a:t>Dữ liệu bất thường</a:t>
            </a:r>
          </a:p>
          <a:p>
            <a:pPr algn="l">
              <a:lnSpc>
                <a:spcPts val="4779"/>
              </a:lnSpc>
              <a:spcBef>
                <a:spcPct val="0"/>
              </a:spcBef>
            </a:pPr>
            <a:r>
              <a:rPr lang="en-US" sz="3540" spc="-35">
                <a:solidFill>
                  <a:srgbClr val="000000"/>
                </a:solidFill>
                <a:latin typeface="Asap"/>
                <a:ea typeface="Asap"/>
                <a:cs typeface="Asap"/>
                <a:sym typeface="Asap"/>
              </a:rPr>
              <a:t>=&gt;Nếu không xử lý → hệ thống crash</a:t>
            </a:r>
          </a:p>
        </p:txBody>
      </p:sp>
    </p:spTree>
  </p:cSld>
  <p:clrMapOvr>
    <a:masterClrMapping/>
  </p:clrMapOvr>
  <p:transition spd="slow">
    <p:push dir="d"/>
  </p:transition>
</p:sld>
</file>

<file path=ppt/slides/slide39.xml><?xml version="1.0" encoding="utf-8"?>
<p:sld xmlns:p="http://schemas.openxmlformats.org/presentationml/2006/main" xmlns:a="http://schemas.openxmlformats.org/drawingml/2006/main">
  <p:cSld>
    <p:bg>
      <p:bgPr>
        <a:solidFill>
          <a:srgbClr val="C8E3ED"/>
        </a:solidFill>
      </p:bgPr>
    </p:bg>
    <p:spTree>
      <p:nvGrpSpPr>
        <p:cNvPr id="1" name=""/>
        <p:cNvGrpSpPr/>
        <p:nvPr/>
      </p:nvGrpSpPr>
      <p:grpSpPr>
        <a:xfrm>
          <a:off x="0" y="0"/>
          <a:ext cx="0" cy="0"/>
          <a:chOff x="0" y="0"/>
          <a:chExt cx="0" cy="0"/>
        </a:xfrm>
      </p:grpSpPr>
      <p:grpSp>
        <p:nvGrpSpPr>
          <p:cNvPr name="Group 2" id="2"/>
          <p:cNvGrpSpPr/>
          <p:nvPr/>
        </p:nvGrpSpPr>
        <p:grpSpPr>
          <a:xfrm rot="0">
            <a:off x="774820" y="1028700"/>
            <a:ext cx="18537765" cy="8229600"/>
            <a:chOff x="0" y="0"/>
            <a:chExt cx="24717020" cy="10972800"/>
          </a:xfrm>
        </p:grpSpPr>
        <p:grpSp>
          <p:nvGrpSpPr>
            <p:cNvPr name="Group 3" id="3"/>
            <p:cNvGrpSpPr/>
            <p:nvPr/>
          </p:nvGrpSpPr>
          <p:grpSpPr>
            <a:xfrm rot="0">
              <a:off x="0" y="977717"/>
              <a:ext cx="23352980" cy="9995083"/>
              <a:chOff x="0" y="0"/>
              <a:chExt cx="22703567" cy="9717134"/>
            </a:xfrm>
          </p:grpSpPr>
          <p:sp>
            <p:nvSpPr>
              <p:cNvPr name="Freeform 4" id="4"/>
              <p:cNvSpPr/>
              <p:nvPr/>
            </p:nvSpPr>
            <p:spPr>
              <a:xfrm flipH="false" flipV="false" rot="0">
                <a:off x="-1" y="0"/>
                <a:ext cx="22703568" cy="9717134"/>
              </a:xfrm>
              <a:custGeom>
                <a:avLst/>
                <a:gdLst/>
                <a:ahLst/>
                <a:cxnLst/>
                <a:rect r="r" b="b" t="t" l="l"/>
                <a:pathLst>
                  <a:path h="9717134" w="22703568">
                    <a:moveTo>
                      <a:pt x="22204787" y="9700216"/>
                    </a:moveTo>
                    <a:cubicBezTo>
                      <a:pt x="22204787" y="9700216"/>
                      <a:pt x="21967792" y="9690246"/>
                      <a:pt x="21605653" y="9703690"/>
                    </a:cubicBezTo>
                    <a:cubicBezTo>
                      <a:pt x="21243514" y="9717134"/>
                      <a:pt x="490924" y="9717134"/>
                      <a:pt x="490924" y="9717134"/>
                    </a:cubicBezTo>
                    <a:cubicBezTo>
                      <a:pt x="245502" y="9717134"/>
                      <a:pt x="32509" y="9619866"/>
                      <a:pt x="31032" y="9459752"/>
                    </a:cubicBezTo>
                    <a:cubicBezTo>
                      <a:pt x="31032" y="9459752"/>
                      <a:pt x="0" y="6758194"/>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158239" y="0"/>
                      <a:pt x="22158239" y="0"/>
                    </a:cubicBezTo>
                    <a:cubicBezTo>
                      <a:pt x="22470140" y="0"/>
                      <a:pt x="22703569" y="101069"/>
                      <a:pt x="22695710" y="303616"/>
                    </a:cubicBezTo>
                    <a:cubicBezTo>
                      <a:pt x="22695710" y="303616"/>
                      <a:pt x="22693715" y="6210870"/>
                      <a:pt x="22702471" y="8760165"/>
                    </a:cubicBezTo>
                    <a:cubicBezTo>
                      <a:pt x="22711226" y="9053467"/>
                      <a:pt x="22664678" y="9386538"/>
                      <a:pt x="22664678" y="9386538"/>
                    </a:cubicBezTo>
                    <a:cubicBezTo>
                      <a:pt x="22661712" y="9566563"/>
                      <a:pt x="22450209" y="9700216"/>
                      <a:pt x="22204787" y="9700216"/>
                    </a:cubicBezTo>
                    <a:close/>
                  </a:path>
                </a:pathLst>
              </a:custGeom>
              <a:solidFill>
                <a:srgbClr val="8FB7C6"/>
              </a:solidFill>
            </p:spPr>
          </p:sp>
        </p:grpSp>
        <p:grpSp>
          <p:nvGrpSpPr>
            <p:cNvPr name="Group 5" id="5"/>
            <p:cNvGrpSpPr/>
            <p:nvPr/>
          </p:nvGrpSpPr>
          <p:grpSpPr>
            <a:xfrm rot="0">
              <a:off x="254961" y="1067537"/>
              <a:ext cx="22897610" cy="9778026"/>
              <a:chOff x="0" y="0"/>
              <a:chExt cx="22594507" cy="9648591"/>
            </a:xfrm>
          </p:grpSpPr>
          <p:sp>
            <p:nvSpPr>
              <p:cNvPr name="Freeform 6" id="6"/>
              <p:cNvSpPr/>
              <p:nvPr/>
            </p:nvSpPr>
            <p:spPr>
              <a:xfrm flipH="false" flipV="false" rot="0">
                <a:off x="-1" y="0"/>
                <a:ext cx="22594508" cy="9648591"/>
              </a:xfrm>
              <a:custGeom>
                <a:avLst/>
                <a:gdLst/>
                <a:ahLst/>
                <a:cxnLst/>
                <a:rect r="r" b="b" t="t" l="l"/>
                <a:pathLst>
                  <a:path h="9648591" w="22594508">
                    <a:moveTo>
                      <a:pt x="22095727" y="9631673"/>
                    </a:moveTo>
                    <a:cubicBezTo>
                      <a:pt x="22095727" y="9631673"/>
                      <a:pt x="21858730" y="9621703"/>
                      <a:pt x="21496593" y="9635147"/>
                    </a:cubicBezTo>
                    <a:cubicBezTo>
                      <a:pt x="21134454" y="9648591"/>
                      <a:pt x="490924" y="9648591"/>
                      <a:pt x="490924" y="9648591"/>
                    </a:cubicBezTo>
                    <a:cubicBezTo>
                      <a:pt x="245502" y="9648591"/>
                      <a:pt x="32509" y="9551323"/>
                      <a:pt x="31032" y="9391209"/>
                    </a:cubicBezTo>
                    <a:cubicBezTo>
                      <a:pt x="31032" y="9391209"/>
                      <a:pt x="0" y="6705102"/>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049179" y="0"/>
                      <a:pt x="22049179" y="0"/>
                    </a:cubicBezTo>
                    <a:cubicBezTo>
                      <a:pt x="22361080" y="0"/>
                      <a:pt x="22594507" y="101069"/>
                      <a:pt x="22586650" y="303616"/>
                    </a:cubicBezTo>
                    <a:cubicBezTo>
                      <a:pt x="22586650" y="303616"/>
                      <a:pt x="22584655" y="6162502"/>
                      <a:pt x="22593411" y="8691622"/>
                    </a:cubicBezTo>
                    <a:cubicBezTo>
                      <a:pt x="22602166" y="8984924"/>
                      <a:pt x="22555618" y="9317995"/>
                      <a:pt x="22555618" y="9317995"/>
                    </a:cubicBezTo>
                    <a:cubicBezTo>
                      <a:pt x="22552652" y="9498020"/>
                      <a:pt x="22341149" y="9631673"/>
                      <a:pt x="22095727" y="9631673"/>
                    </a:cubicBezTo>
                    <a:close/>
                  </a:path>
                </a:pathLst>
              </a:custGeom>
              <a:solidFill>
                <a:srgbClr val="8FB7C6"/>
              </a:solidFill>
            </p:spPr>
          </p:sp>
        </p:grpSp>
        <p:grpSp>
          <p:nvGrpSpPr>
            <p:cNvPr name="Group 7" id="7"/>
            <p:cNvGrpSpPr/>
            <p:nvPr/>
          </p:nvGrpSpPr>
          <p:grpSpPr>
            <a:xfrm rot="0">
              <a:off x="919721" y="0"/>
              <a:ext cx="22232850" cy="10328670"/>
              <a:chOff x="0" y="0"/>
              <a:chExt cx="23043639" cy="10705337"/>
            </a:xfrm>
          </p:grpSpPr>
          <p:sp>
            <p:nvSpPr>
              <p:cNvPr name="Freeform 8" id="8"/>
              <p:cNvSpPr/>
              <p:nvPr/>
            </p:nvSpPr>
            <p:spPr>
              <a:xfrm flipH="false" flipV="false" rot="0">
                <a:off x="-1" y="0"/>
                <a:ext cx="23043639" cy="10705337"/>
              </a:xfrm>
              <a:custGeom>
                <a:avLst/>
                <a:gdLst/>
                <a:ahLst/>
                <a:cxnLst/>
                <a:rect r="r" b="b" t="t" l="l"/>
                <a:pathLst>
                  <a:path h="10705337" w="23043639">
                    <a:moveTo>
                      <a:pt x="22544859" y="10688418"/>
                    </a:moveTo>
                    <a:cubicBezTo>
                      <a:pt x="22544859" y="10688418"/>
                      <a:pt x="22307863" y="10678449"/>
                      <a:pt x="21945723" y="10691893"/>
                    </a:cubicBezTo>
                    <a:cubicBezTo>
                      <a:pt x="21583586" y="10705337"/>
                      <a:pt x="490924" y="10705337"/>
                      <a:pt x="490924" y="10705337"/>
                    </a:cubicBezTo>
                    <a:cubicBezTo>
                      <a:pt x="245502" y="10705337"/>
                      <a:pt x="32509" y="10608069"/>
                      <a:pt x="31032" y="10447955"/>
                    </a:cubicBezTo>
                    <a:cubicBezTo>
                      <a:pt x="31032" y="10447955"/>
                      <a:pt x="0" y="7523653"/>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498310" y="0"/>
                      <a:pt x="22498310" y="0"/>
                    </a:cubicBezTo>
                    <a:cubicBezTo>
                      <a:pt x="22810212" y="0"/>
                      <a:pt x="23043639" y="101069"/>
                      <a:pt x="23035783" y="303616"/>
                    </a:cubicBezTo>
                    <a:cubicBezTo>
                      <a:pt x="23035783" y="303616"/>
                      <a:pt x="23033787" y="6908210"/>
                      <a:pt x="23042542" y="9748368"/>
                    </a:cubicBezTo>
                    <a:cubicBezTo>
                      <a:pt x="23051298" y="10041669"/>
                      <a:pt x="23004750" y="10374741"/>
                      <a:pt x="23004750" y="10374741"/>
                    </a:cubicBezTo>
                    <a:cubicBezTo>
                      <a:pt x="23001785" y="10554766"/>
                      <a:pt x="22790281" y="10688418"/>
                      <a:pt x="22544859" y="10688418"/>
                    </a:cubicBezTo>
                    <a:close/>
                  </a:path>
                </a:pathLst>
              </a:custGeom>
              <a:solidFill>
                <a:srgbClr val="F3FCFF"/>
              </a:solidFill>
            </p:spPr>
          </p:sp>
        </p:grpSp>
        <p:sp>
          <p:nvSpPr>
            <p:cNvPr name="AutoShape 9" id="9"/>
            <p:cNvSpPr/>
            <p:nvPr/>
          </p:nvSpPr>
          <p:spPr>
            <a:xfrm>
              <a:off x="2250246" y="9826016"/>
              <a:ext cx="22466735" cy="34286"/>
            </a:xfrm>
            <a:prstGeom prst="line">
              <a:avLst/>
            </a:prstGeom>
            <a:ln cap="rnd" w="50800">
              <a:solidFill>
                <a:srgbClr val="8FB7C6"/>
              </a:solidFill>
              <a:prstDash val="solid"/>
              <a:headEnd type="none" len="sm" w="sm"/>
              <a:tailEnd type="none" len="sm" w="sm"/>
            </a:ln>
          </p:spPr>
        </p:sp>
        <p:sp>
          <p:nvSpPr>
            <p:cNvPr name="AutoShape 10" id="10"/>
            <p:cNvSpPr/>
            <p:nvPr/>
          </p:nvSpPr>
          <p:spPr>
            <a:xfrm>
              <a:off x="2250246" y="717206"/>
              <a:ext cx="22466735" cy="34286"/>
            </a:xfrm>
            <a:prstGeom prst="line">
              <a:avLst/>
            </a:prstGeom>
            <a:ln cap="rnd" w="50800">
              <a:solidFill>
                <a:srgbClr val="8FB7C6"/>
              </a:solidFill>
              <a:prstDash val="solid"/>
              <a:headEnd type="none" len="sm" w="sm"/>
              <a:tailEnd type="none" len="sm" w="sm"/>
            </a:ln>
          </p:spPr>
        </p:sp>
      </p:grpSp>
      <p:grpSp>
        <p:nvGrpSpPr>
          <p:cNvPr name="Group 11" id="11"/>
          <p:cNvGrpSpPr/>
          <p:nvPr/>
        </p:nvGrpSpPr>
        <p:grpSpPr>
          <a:xfrm rot="0">
            <a:off x="2132588" y="1581260"/>
            <a:ext cx="15126712" cy="7124480"/>
            <a:chOff x="0" y="0"/>
            <a:chExt cx="20168950" cy="9499306"/>
          </a:xfrm>
        </p:grpSpPr>
        <p:sp>
          <p:nvSpPr>
            <p:cNvPr name="TextBox 12" id="12"/>
            <p:cNvSpPr txBox="true"/>
            <p:nvPr/>
          </p:nvSpPr>
          <p:spPr>
            <a:xfrm rot="0">
              <a:off x="334686" y="804418"/>
              <a:ext cx="18841219" cy="767334"/>
            </a:xfrm>
            <a:prstGeom prst="rect">
              <a:avLst/>
            </a:prstGeom>
          </p:spPr>
          <p:txBody>
            <a:bodyPr anchor="t" rtlCol="false" tIns="0" lIns="0" bIns="0" rIns="0">
              <a:spAutoFit/>
            </a:bodyPr>
            <a:lstStyle/>
            <a:p>
              <a:pPr algn="just">
                <a:lnSpc>
                  <a:spcPts val="4779"/>
                </a:lnSpc>
              </a:pPr>
              <a:r>
                <a:rPr lang="en-US" b="true" sz="3540" spc="-35">
                  <a:solidFill>
                    <a:srgbClr val="000000"/>
                  </a:solidFill>
                  <a:latin typeface="Asap Bold"/>
                  <a:ea typeface="Asap Bold"/>
                  <a:cs typeface="Asap Bold"/>
                  <a:sym typeface="Asap Bold"/>
                </a:rPr>
                <a:t>Ví dụ</a:t>
              </a:r>
            </a:p>
          </p:txBody>
        </p:sp>
        <p:sp>
          <p:nvSpPr>
            <p:cNvPr name="TextBox 13" id="13"/>
            <p:cNvSpPr txBox="true"/>
            <p:nvPr/>
          </p:nvSpPr>
          <p:spPr>
            <a:xfrm rot="0">
              <a:off x="0" y="0"/>
              <a:ext cx="20168950" cy="1216660"/>
            </a:xfrm>
            <a:prstGeom prst="rect">
              <a:avLst/>
            </a:prstGeom>
          </p:spPr>
          <p:txBody>
            <a:bodyPr anchor="t" rtlCol="false" tIns="0" lIns="0" bIns="0" rIns="0">
              <a:spAutoFit/>
            </a:bodyPr>
            <a:lstStyle/>
            <a:p>
              <a:pPr algn="ctr">
                <a:lnSpc>
                  <a:spcPts val="7140"/>
                </a:lnSpc>
              </a:pPr>
              <a:r>
                <a:rPr lang="en-US" b="true" sz="5950">
                  <a:solidFill>
                    <a:srgbClr val="1D2B74"/>
                  </a:solidFill>
                  <a:latin typeface="Faustina Bold"/>
                  <a:ea typeface="Faustina Bold"/>
                  <a:cs typeface="Faustina Bold"/>
                  <a:sym typeface="Faustina Bold"/>
                </a:rPr>
                <a:t>ERROR HANDLING</a:t>
              </a:r>
            </a:p>
          </p:txBody>
        </p:sp>
        <p:sp>
          <p:nvSpPr>
            <p:cNvPr name="TextBox 14" id="14"/>
            <p:cNvSpPr txBox="true"/>
            <p:nvPr/>
          </p:nvSpPr>
          <p:spPr>
            <a:xfrm rot="0">
              <a:off x="334686" y="5531573"/>
              <a:ext cx="18841219" cy="3967734"/>
            </a:xfrm>
            <a:prstGeom prst="rect">
              <a:avLst/>
            </a:prstGeom>
          </p:spPr>
          <p:txBody>
            <a:bodyPr anchor="t" rtlCol="false" tIns="0" lIns="0" bIns="0" rIns="0">
              <a:spAutoFit/>
            </a:bodyPr>
            <a:lstStyle/>
            <a:p>
              <a:pPr algn="just">
                <a:lnSpc>
                  <a:spcPts val="4779"/>
                </a:lnSpc>
              </a:pPr>
              <a:r>
                <a:rPr lang="en-US" b="true" sz="3540" spc="-35">
                  <a:solidFill>
                    <a:srgbClr val="000000"/>
                  </a:solidFill>
                  <a:latin typeface="Asap Bold"/>
                  <a:ea typeface="Asap Bold"/>
                  <a:cs typeface="Asap Bold"/>
                  <a:sym typeface="Asap Bold"/>
                </a:rPr>
                <a:t>Insight</a:t>
              </a:r>
            </a:p>
            <a:p>
              <a:pPr algn="just">
                <a:lnSpc>
                  <a:spcPts val="4779"/>
                </a:lnSpc>
              </a:pPr>
              <a:r>
                <a:rPr lang="en-US" sz="3540" spc="-35">
                  <a:solidFill>
                    <a:srgbClr val="000000"/>
                  </a:solidFill>
                  <a:latin typeface="Asap"/>
                  <a:ea typeface="Asap"/>
                  <a:cs typeface="Asap"/>
                  <a:sym typeface="Asap"/>
                </a:rPr>
                <a:t>Error hand</a:t>
              </a:r>
              <a:r>
                <a:rPr lang="en-US" sz="3540" spc="-35">
                  <a:solidFill>
                    <a:srgbClr val="000000"/>
                  </a:solidFill>
                  <a:latin typeface="Asap"/>
                  <a:ea typeface="Asap"/>
                  <a:cs typeface="Asap"/>
                  <a:sym typeface="Asap"/>
                </a:rPr>
                <a:t>ling giúp:</a:t>
              </a:r>
            </a:p>
            <a:p>
              <a:pPr algn="just" marL="764289" indent="-382145" lvl="1">
                <a:lnSpc>
                  <a:spcPts val="4779"/>
                </a:lnSpc>
                <a:buFont typeface="Arial"/>
                <a:buChar char="•"/>
              </a:pPr>
              <a:r>
                <a:rPr lang="en-US" sz="3540" spc="-35">
                  <a:solidFill>
                    <a:srgbClr val="000000"/>
                  </a:solidFill>
                  <a:latin typeface="Asap"/>
                  <a:ea typeface="Asap"/>
                  <a:cs typeface="Asap"/>
                  <a:sym typeface="Asap"/>
                </a:rPr>
                <a:t>hệ thống không sập</a:t>
              </a:r>
            </a:p>
            <a:p>
              <a:pPr algn="just" marL="764289" indent="-382145" lvl="1">
                <a:lnSpc>
                  <a:spcPts val="4779"/>
                </a:lnSpc>
                <a:buFont typeface="Arial"/>
                <a:buChar char="•"/>
              </a:pPr>
              <a:r>
                <a:rPr lang="en-US" sz="3540" spc="-35">
                  <a:solidFill>
                    <a:srgbClr val="000000"/>
                  </a:solidFill>
                  <a:latin typeface="Asap"/>
                  <a:ea typeface="Asap"/>
                  <a:cs typeface="Asap"/>
                  <a:sym typeface="Asap"/>
                </a:rPr>
                <a:t>user vẫn dùng được</a:t>
              </a:r>
            </a:p>
            <a:p>
              <a:pPr algn="just">
                <a:lnSpc>
                  <a:spcPts val="4779"/>
                </a:lnSpc>
              </a:pPr>
            </a:p>
          </p:txBody>
        </p:sp>
      </p:grpSp>
      <p:sp>
        <p:nvSpPr>
          <p:cNvPr name="TextBox 15" id="15"/>
          <p:cNvSpPr txBox="true"/>
          <p:nvPr/>
        </p:nvSpPr>
        <p:spPr>
          <a:xfrm rot="0">
            <a:off x="2488715" y="2800790"/>
            <a:ext cx="9577041" cy="2390013"/>
          </a:xfrm>
          <a:prstGeom prst="rect">
            <a:avLst/>
          </a:prstGeom>
        </p:spPr>
        <p:txBody>
          <a:bodyPr anchor="t" rtlCol="false" tIns="0" lIns="0" bIns="0" rIns="0">
            <a:spAutoFit/>
          </a:bodyPr>
          <a:lstStyle/>
          <a:p>
            <a:pPr algn="l">
              <a:lnSpc>
                <a:spcPts val="4779"/>
              </a:lnSpc>
              <a:spcBef>
                <a:spcPct val="0"/>
              </a:spcBef>
            </a:pPr>
            <a:r>
              <a:rPr lang="en-US" sz="3540" spc="-35">
                <a:solidFill>
                  <a:srgbClr val="000000"/>
                </a:solidFill>
                <a:latin typeface="Asap"/>
                <a:ea typeface="Asap"/>
                <a:cs typeface="Asap"/>
                <a:sym typeface="Asap"/>
              </a:rPr>
              <a:t>try:</a:t>
            </a:r>
          </a:p>
          <a:p>
            <a:pPr algn="l">
              <a:lnSpc>
                <a:spcPts val="4779"/>
              </a:lnSpc>
              <a:spcBef>
                <a:spcPct val="0"/>
              </a:spcBef>
            </a:pPr>
            <a:r>
              <a:rPr lang="en-US" sz="3540" spc="-35">
                <a:solidFill>
                  <a:srgbClr val="000000"/>
                </a:solidFill>
                <a:latin typeface="Asap"/>
                <a:ea typeface="Asap"/>
                <a:cs typeface="Asap"/>
                <a:sym typeface="Asap"/>
              </a:rPr>
              <a:t>    result = 10 / 0</a:t>
            </a:r>
          </a:p>
          <a:p>
            <a:pPr algn="l">
              <a:lnSpc>
                <a:spcPts val="4779"/>
              </a:lnSpc>
              <a:spcBef>
                <a:spcPct val="0"/>
              </a:spcBef>
            </a:pPr>
            <a:r>
              <a:rPr lang="en-US" sz="3540" spc="-35">
                <a:solidFill>
                  <a:srgbClr val="000000"/>
                </a:solidFill>
                <a:latin typeface="Asap"/>
                <a:ea typeface="Asap"/>
                <a:cs typeface="Asap"/>
                <a:sym typeface="Asap"/>
              </a:rPr>
              <a:t>except Exception as e:</a:t>
            </a:r>
          </a:p>
          <a:p>
            <a:pPr algn="l">
              <a:lnSpc>
                <a:spcPts val="4779"/>
              </a:lnSpc>
              <a:spcBef>
                <a:spcPct val="0"/>
              </a:spcBef>
            </a:pPr>
            <a:r>
              <a:rPr lang="en-US" sz="3540" spc="-35">
                <a:solidFill>
                  <a:srgbClr val="000000"/>
                </a:solidFill>
                <a:latin typeface="Asap"/>
                <a:ea typeface="Asap"/>
                <a:cs typeface="Asap"/>
                <a:sym typeface="Asap"/>
              </a:rPr>
              <a:t>    print("Lỗi:", e)</a:t>
            </a:r>
          </a:p>
        </p:txBody>
      </p:sp>
    </p:spTree>
  </p:cSld>
  <p:clrMapOvr>
    <a:masterClrMapping/>
  </p:clrMapOvr>
  <p:transition spd="slow">
    <p:push dir="d"/>
  </p:transition>
</p:sld>
</file>

<file path=ppt/slides/slide40.xml><?xml version="1.0" encoding="utf-8"?>
<p:sld xmlns:p="http://schemas.openxmlformats.org/presentationml/2006/main" xmlns:a="http://schemas.openxmlformats.org/drawingml/2006/main">
  <p:cSld>
    <p:bg>
      <p:bgPr>
        <a:solidFill>
          <a:srgbClr val="C8E3ED"/>
        </a:solidFill>
      </p:bgPr>
    </p:bg>
    <p:spTree>
      <p:nvGrpSpPr>
        <p:cNvPr id="1" name=""/>
        <p:cNvGrpSpPr/>
        <p:nvPr/>
      </p:nvGrpSpPr>
      <p:grpSpPr>
        <a:xfrm>
          <a:off x="0" y="0"/>
          <a:ext cx="0" cy="0"/>
          <a:chOff x="0" y="0"/>
          <a:chExt cx="0" cy="0"/>
        </a:xfrm>
      </p:grpSpPr>
      <p:grpSp>
        <p:nvGrpSpPr>
          <p:cNvPr name="Group 2" id="2"/>
          <p:cNvGrpSpPr/>
          <p:nvPr/>
        </p:nvGrpSpPr>
        <p:grpSpPr>
          <a:xfrm rot="0">
            <a:off x="774820" y="1028700"/>
            <a:ext cx="18537765" cy="8229600"/>
            <a:chOff x="0" y="0"/>
            <a:chExt cx="24717020" cy="10972800"/>
          </a:xfrm>
        </p:grpSpPr>
        <p:grpSp>
          <p:nvGrpSpPr>
            <p:cNvPr name="Group 3" id="3"/>
            <p:cNvGrpSpPr/>
            <p:nvPr/>
          </p:nvGrpSpPr>
          <p:grpSpPr>
            <a:xfrm rot="0">
              <a:off x="0" y="977717"/>
              <a:ext cx="23352980" cy="9995083"/>
              <a:chOff x="0" y="0"/>
              <a:chExt cx="22703567" cy="9717134"/>
            </a:xfrm>
          </p:grpSpPr>
          <p:sp>
            <p:nvSpPr>
              <p:cNvPr name="Freeform 4" id="4"/>
              <p:cNvSpPr/>
              <p:nvPr/>
            </p:nvSpPr>
            <p:spPr>
              <a:xfrm flipH="false" flipV="false" rot="0">
                <a:off x="-1" y="0"/>
                <a:ext cx="22703568" cy="9717134"/>
              </a:xfrm>
              <a:custGeom>
                <a:avLst/>
                <a:gdLst/>
                <a:ahLst/>
                <a:cxnLst/>
                <a:rect r="r" b="b" t="t" l="l"/>
                <a:pathLst>
                  <a:path h="9717134" w="22703568">
                    <a:moveTo>
                      <a:pt x="22204787" y="9700216"/>
                    </a:moveTo>
                    <a:cubicBezTo>
                      <a:pt x="22204787" y="9700216"/>
                      <a:pt x="21967792" y="9690246"/>
                      <a:pt x="21605653" y="9703690"/>
                    </a:cubicBezTo>
                    <a:cubicBezTo>
                      <a:pt x="21243514" y="9717134"/>
                      <a:pt x="490924" y="9717134"/>
                      <a:pt x="490924" y="9717134"/>
                    </a:cubicBezTo>
                    <a:cubicBezTo>
                      <a:pt x="245502" y="9717134"/>
                      <a:pt x="32509" y="9619866"/>
                      <a:pt x="31032" y="9459752"/>
                    </a:cubicBezTo>
                    <a:cubicBezTo>
                      <a:pt x="31032" y="9459752"/>
                      <a:pt x="0" y="6758194"/>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158239" y="0"/>
                      <a:pt x="22158239" y="0"/>
                    </a:cubicBezTo>
                    <a:cubicBezTo>
                      <a:pt x="22470140" y="0"/>
                      <a:pt x="22703569" y="101069"/>
                      <a:pt x="22695710" y="303616"/>
                    </a:cubicBezTo>
                    <a:cubicBezTo>
                      <a:pt x="22695710" y="303616"/>
                      <a:pt x="22693715" y="6210870"/>
                      <a:pt x="22702471" y="8760165"/>
                    </a:cubicBezTo>
                    <a:cubicBezTo>
                      <a:pt x="22711226" y="9053467"/>
                      <a:pt x="22664678" y="9386538"/>
                      <a:pt x="22664678" y="9386538"/>
                    </a:cubicBezTo>
                    <a:cubicBezTo>
                      <a:pt x="22661712" y="9566563"/>
                      <a:pt x="22450209" y="9700216"/>
                      <a:pt x="22204787" y="9700216"/>
                    </a:cubicBezTo>
                    <a:close/>
                  </a:path>
                </a:pathLst>
              </a:custGeom>
              <a:solidFill>
                <a:srgbClr val="8FB7C6"/>
              </a:solidFill>
            </p:spPr>
          </p:sp>
        </p:grpSp>
        <p:grpSp>
          <p:nvGrpSpPr>
            <p:cNvPr name="Group 5" id="5"/>
            <p:cNvGrpSpPr/>
            <p:nvPr/>
          </p:nvGrpSpPr>
          <p:grpSpPr>
            <a:xfrm rot="0">
              <a:off x="254961" y="1067537"/>
              <a:ext cx="22897610" cy="9778026"/>
              <a:chOff x="0" y="0"/>
              <a:chExt cx="22594507" cy="9648591"/>
            </a:xfrm>
          </p:grpSpPr>
          <p:sp>
            <p:nvSpPr>
              <p:cNvPr name="Freeform 6" id="6"/>
              <p:cNvSpPr/>
              <p:nvPr/>
            </p:nvSpPr>
            <p:spPr>
              <a:xfrm flipH="false" flipV="false" rot="0">
                <a:off x="-1" y="0"/>
                <a:ext cx="22594508" cy="9648591"/>
              </a:xfrm>
              <a:custGeom>
                <a:avLst/>
                <a:gdLst/>
                <a:ahLst/>
                <a:cxnLst/>
                <a:rect r="r" b="b" t="t" l="l"/>
                <a:pathLst>
                  <a:path h="9648591" w="22594508">
                    <a:moveTo>
                      <a:pt x="22095727" y="9631673"/>
                    </a:moveTo>
                    <a:cubicBezTo>
                      <a:pt x="22095727" y="9631673"/>
                      <a:pt x="21858730" y="9621703"/>
                      <a:pt x="21496593" y="9635147"/>
                    </a:cubicBezTo>
                    <a:cubicBezTo>
                      <a:pt x="21134454" y="9648591"/>
                      <a:pt x="490924" y="9648591"/>
                      <a:pt x="490924" y="9648591"/>
                    </a:cubicBezTo>
                    <a:cubicBezTo>
                      <a:pt x="245502" y="9648591"/>
                      <a:pt x="32509" y="9551323"/>
                      <a:pt x="31032" y="9391209"/>
                    </a:cubicBezTo>
                    <a:cubicBezTo>
                      <a:pt x="31032" y="9391209"/>
                      <a:pt x="0" y="6705102"/>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049179" y="0"/>
                      <a:pt x="22049179" y="0"/>
                    </a:cubicBezTo>
                    <a:cubicBezTo>
                      <a:pt x="22361080" y="0"/>
                      <a:pt x="22594507" y="101069"/>
                      <a:pt x="22586650" y="303616"/>
                    </a:cubicBezTo>
                    <a:cubicBezTo>
                      <a:pt x="22586650" y="303616"/>
                      <a:pt x="22584655" y="6162502"/>
                      <a:pt x="22593411" y="8691622"/>
                    </a:cubicBezTo>
                    <a:cubicBezTo>
                      <a:pt x="22602166" y="8984924"/>
                      <a:pt x="22555618" y="9317995"/>
                      <a:pt x="22555618" y="9317995"/>
                    </a:cubicBezTo>
                    <a:cubicBezTo>
                      <a:pt x="22552652" y="9498020"/>
                      <a:pt x="22341149" y="9631673"/>
                      <a:pt x="22095727" y="9631673"/>
                    </a:cubicBezTo>
                    <a:close/>
                  </a:path>
                </a:pathLst>
              </a:custGeom>
              <a:solidFill>
                <a:srgbClr val="8FB7C6"/>
              </a:solidFill>
            </p:spPr>
          </p:sp>
        </p:grpSp>
        <p:grpSp>
          <p:nvGrpSpPr>
            <p:cNvPr name="Group 7" id="7"/>
            <p:cNvGrpSpPr/>
            <p:nvPr/>
          </p:nvGrpSpPr>
          <p:grpSpPr>
            <a:xfrm rot="0">
              <a:off x="919721" y="0"/>
              <a:ext cx="22232850" cy="10328670"/>
              <a:chOff x="0" y="0"/>
              <a:chExt cx="23043639" cy="10705337"/>
            </a:xfrm>
          </p:grpSpPr>
          <p:sp>
            <p:nvSpPr>
              <p:cNvPr name="Freeform 8" id="8"/>
              <p:cNvSpPr/>
              <p:nvPr/>
            </p:nvSpPr>
            <p:spPr>
              <a:xfrm flipH="false" flipV="false" rot="0">
                <a:off x="-1" y="0"/>
                <a:ext cx="23043639" cy="10705337"/>
              </a:xfrm>
              <a:custGeom>
                <a:avLst/>
                <a:gdLst/>
                <a:ahLst/>
                <a:cxnLst/>
                <a:rect r="r" b="b" t="t" l="l"/>
                <a:pathLst>
                  <a:path h="10705337" w="23043639">
                    <a:moveTo>
                      <a:pt x="22544859" y="10688418"/>
                    </a:moveTo>
                    <a:cubicBezTo>
                      <a:pt x="22544859" y="10688418"/>
                      <a:pt x="22307863" y="10678449"/>
                      <a:pt x="21945723" y="10691893"/>
                    </a:cubicBezTo>
                    <a:cubicBezTo>
                      <a:pt x="21583586" y="10705337"/>
                      <a:pt x="490924" y="10705337"/>
                      <a:pt x="490924" y="10705337"/>
                    </a:cubicBezTo>
                    <a:cubicBezTo>
                      <a:pt x="245502" y="10705337"/>
                      <a:pt x="32509" y="10608069"/>
                      <a:pt x="31032" y="10447955"/>
                    </a:cubicBezTo>
                    <a:cubicBezTo>
                      <a:pt x="31032" y="10447955"/>
                      <a:pt x="0" y="7523653"/>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498310" y="0"/>
                      <a:pt x="22498310" y="0"/>
                    </a:cubicBezTo>
                    <a:cubicBezTo>
                      <a:pt x="22810212" y="0"/>
                      <a:pt x="23043639" y="101069"/>
                      <a:pt x="23035783" y="303616"/>
                    </a:cubicBezTo>
                    <a:cubicBezTo>
                      <a:pt x="23035783" y="303616"/>
                      <a:pt x="23033787" y="6908210"/>
                      <a:pt x="23042542" y="9748368"/>
                    </a:cubicBezTo>
                    <a:cubicBezTo>
                      <a:pt x="23051298" y="10041669"/>
                      <a:pt x="23004750" y="10374741"/>
                      <a:pt x="23004750" y="10374741"/>
                    </a:cubicBezTo>
                    <a:cubicBezTo>
                      <a:pt x="23001785" y="10554766"/>
                      <a:pt x="22790281" y="10688418"/>
                      <a:pt x="22544859" y="10688418"/>
                    </a:cubicBezTo>
                    <a:close/>
                  </a:path>
                </a:pathLst>
              </a:custGeom>
              <a:solidFill>
                <a:srgbClr val="F3FCFF"/>
              </a:solidFill>
            </p:spPr>
          </p:sp>
        </p:grpSp>
        <p:sp>
          <p:nvSpPr>
            <p:cNvPr name="AutoShape 9" id="9"/>
            <p:cNvSpPr/>
            <p:nvPr/>
          </p:nvSpPr>
          <p:spPr>
            <a:xfrm>
              <a:off x="2250246" y="9826016"/>
              <a:ext cx="22466735" cy="34286"/>
            </a:xfrm>
            <a:prstGeom prst="line">
              <a:avLst/>
            </a:prstGeom>
            <a:ln cap="rnd" w="50800">
              <a:solidFill>
                <a:srgbClr val="8FB7C6"/>
              </a:solidFill>
              <a:prstDash val="solid"/>
              <a:headEnd type="none" len="sm" w="sm"/>
              <a:tailEnd type="none" len="sm" w="sm"/>
            </a:ln>
          </p:spPr>
        </p:sp>
        <p:sp>
          <p:nvSpPr>
            <p:cNvPr name="AutoShape 10" id="10"/>
            <p:cNvSpPr/>
            <p:nvPr/>
          </p:nvSpPr>
          <p:spPr>
            <a:xfrm>
              <a:off x="2250246" y="717206"/>
              <a:ext cx="22466735" cy="34286"/>
            </a:xfrm>
            <a:prstGeom prst="line">
              <a:avLst/>
            </a:prstGeom>
            <a:ln cap="rnd" w="50800">
              <a:solidFill>
                <a:srgbClr val="8FB7C6"/>
              </a:solidFill>
              <a:prstDash val="solid"/>
              <a:headEnd type="none" len="sm" w="sm"/>
              <a:tailEnd type="none" len="sm" w="sm"/>
            </a:ln>
          </p:spPr>
        </p:sp>
      </p:grpSp>
      <p:grpSp>
        <p:nvGrpSpPr>
          <p:cNvPr name="Group 11" id="11"/>
          <p:cNvGrpSpPr/>
          <p:nvPr/>
        </p:nvGrpSpPr>
        <p:grpSpPr>
          <a:xfrm rot="0">
            <a:off x="2480346" y="1545869"/>
            <a:ext cx="15126712" cy="6763486"/>
            <a:chOff x="0" y="0"/>
            <a:chExt cx="20168950" cy="9017981"/>
          </a:xfrm>
        </p:grpSpPr>
        <p:sp>
          <p:nvSpPr>
            <p:cNvPr name="TextBox 12" id="12"/>
            <p:cNvSpPr txBox="true"/>
            <p:nvPr/>
          </p:nvSpPr>
          <p:spPr>
            <a:xfrm rot="0">
              <a:off x="334686" y="2649947"/>
              <a:ext cx="18841219" cy="6368034"/>
            </a:xfrm>
            <a:prstGeom prst="rect">
              <a:avLst/>
            </a:prstGeom>
          </p:spPr>
          <p:txBody>
            <a:bodyPr anchor="t" rtlCol="false" tIns="0" lIns="0" bIns="0" rIns="0">
              <a:spAutoFit/>
            </a:bodyPr>
            <a:lstStyle/>
            <a:p>
              <a:pPr algn="just">
                <a:lnSpc>
                  <a:spcPts val="4779"/>
                </a:lnSpc>
              </a:pPr>
              <a:r>
                <a:rPr lang="en-US" b="true" sz="3540" spc="-35">
                  <a:solidFill>
                    <a:srgbClr val="000000"/>
                  </a:solidFill>
                  <a:latin typeface="Asap Bold"/>
                  <a:ea typeface="Asap Bold"/>
                  <a:cs typeface="Asap Bold"/>
                  <a:sym typeface="Asap Bold"/>
                </a:rPr>
                <a:t>Monitoring dùng để:</a:t>
              </a:r>
            </a:p>
            <a:p>
              <a:pPr algn="just" marL="764289" indent="-382145" lvl="1">
                <a:lnSpc>
                  <a:spcPts val="4779"/>
                </a:lnSpc>
                <a:buFont typeface="Arial"/>
                <a:buChar char="•"/>
              </a:pPr>
              <a:r>
                <a:rPr lang="en-US" sz="3540" spc="-35">
                  <a:solidFill>
                    <a:srgbClr val="000000"/>
                  </a:solidFill>
                  <a:latin typeface="Asap"/>
                  <a:ea typeface="Asap"/>
                  <a:cs typeface="Asap"/>
                  <a:sym typeface="Asap"/>
                </a:rPr>
                <a:t>Biết</a:t>
              </a:r>
              <a:r>
                <a:rPr lang="en-US" sz="3540" spc="-35">
                  <a:solidFill>
                    <a:srgbClr val="000000"/>
                  </a:solidFill>
                  <a:latin typeface="Asap"/>
                  <a:ea typeface="Asap"/>
                  <a:cs typeface="Asap"/>
                  <a:sym typeface="Asap"/>
                </a:rPr>
                <a:t> </a:t>
              </a:r>
              <a:r>
                <a:rPr lang="en-US" sz="3540" spc="-35">
                  <a:solidFill>
                    <a:srgbClr val="000000"/>
                  </a:solidFill>
                  <a:latin typeface="Asap"/>
                  <a:ea typeface="Asap"/>
                  <a:cs typeface="Asap"/>
                  <a:sym typeface="Asap"/>
                </a:rPr>
                <a:t>hệ</a:t>
              </a:r>
              <a:r>
                <a:rPr lang="en-US" sz="3540" spc="-35">
                  <a:solidFill>
                    <a:srgbClr val="000000"/>
                  </a:solidFill>
                  <a:latin typeface="Asap"/>
                  <a:ea typeface="Asap"/>
                  <a:cs typeface="Asap"/>
                  <a:sym typeface="Asap"/>
                </a:rPr>
                <a:t> thống có</a:t>
              </a:r>
              <a:r>
                <a:rPr lang="en-US" sz="3540" spc="-35">
                  <a:solidFill>
                    <a:srgbClr val="000000"/>
                  </a:solidFill>
                  <a:latin typeface="Asap"/>
                  <a:ea typeface="Asap"/>
                  <a:cs typeface="Asap"/>
                  <a:sym typeface="Asap"/>
                </a:rPr>
                <a:t> ổ</a:t>
              </a:r>
              <a:r>
                <a:rPr lang="en-US" sz="3540" spc="-35">
                  <a:solidFill>
                    <a:srgbClr val="000000"/>
                  </a:solidFill>
                  <a:latin typeface="Asap"/>
                  <a:ea typeface="Asap"/>
                  <a:cs typeface="Asap"/>
                  <a:sym typeface="Asap"/>
                </a:rPr>
                <a:t>n không</a:t>
              </a:r>
            </a:p>
            <a:p>
              <a:pPr algn="just">
                <a:lnSpc>
                  <a:spcPts val="4779"/>
                </a:lnSpc>
              </a:pPr>
              <a:r>
                <a:rPr lang="en-US" b="true" sz="3540" spc="-35">
                  <a:solidFill>
                    <a:srgbClr val="000000"/>
                  </a:solidFill>
                  <a:latin typeface="Asap Bold"/>
                  <a:ea typeface="Asap Bold"/>
                  <a:cs typeface="Asap Bold"/>
                  <a:sym typeface="Asap Bold"/>
                </a:rPr>
                <a:t>Theo dõi:</a:t>
              </a:r>
            </a:p>
            <a:p>
              <a:pPr algn="just" marL="764289" indent="-382145" lvl="1">
                <a:lnSpc>
                  <a:spcPts val="4779"/>
                </a:lnSpc>
                <a:buFont typeface="Arial"/>
                <a:buChar char="•"/>
              </a:pPr>
              <a:r>
                <a:rPr lang="en-US" sz="3540" spc="-35">
                  <a:solidFill>
                    <a:srgbClr val="000000"/>
                  </a:solidFill>
                  <a:latin typeface="Asap"/>
                  <a:ea typeface="Asap"/>
                  <a:cs typeface="Asap"/>
                  <a:sym typeface="Asap"/>
                </a:rPr>
                <a:t>Response time</a:t>
              </a:r>
            </a:p>
            <a:p>
              <a:pPr algn="just" marL="764289" indent="-382145" lvl="1">
                <a:lnSpc>
                  <a:spcPts val="4779"/>
                </a:lnSpc>
                <a:buFont typeface="Arial"/>
                <a:buChar char="•"/>
              </a:pPr>
              <a:r>
                <a:rPr lang="en-US" sz="3540" spc="-35">
                  <a:solidFill>
                    <a:srgbClr val="000000"/>
                  </a:solidFill>
                  <a:latin typeface="Asap"/>
                  <a:ea typeface="Asap"/>
                  <a:cs typeface="Asap"/>
                  <a:sym typeface="Asap"/>
                </a:rPr>
                <a:t>CPU / RAM</a:t>
              </a:r>
            </a:p>
            <a:p>
              <a:pPr algn="just" marL="764289" indent="-382145" lvl="1">
                <a:lnSpc>
                  <a:spcPts val="4779"/>
                </a:lnSpc>
                <a:buFont typeface="Arial"/>
                <a:buChar char="•"/>
              </a:pPr>
              <a:r>
                <a:rPr lang="en-US" sz="3540" spc="-35">
                  <a:solidFill>
                    <a:srgbClr val="000000"/>
                  </a:solidFill>
                  <a:latin typeface="Asap"/>
                  <a:ea typeface="Asap"/>
                  <a:cs typeface="Asap"/>
                  <a:sym typeface="Asap"/>
                </a:rPr>
                <a:t>Error rate</a:t>
              </a:r>
            </a:p>
            <a:p>
              <a:pPr algn="just">
                <a:lnSpc>
                  <a:spcPts val="4779"/>
                </a:lnSpc>
              </a:pPr>
            </a:p>
            <a:p>
              <a:pPr algn="just">
                <a:lnSpc>
                  <a:spcPts val="4779"/>
                </a:lnSpc>
              </a:pPr>
            </a:p>
          </p:txBody>
        </p:sp>
        <p:sp>
          <p:nvSpPr>
            <p:cNvPr name="TextBox 13" id="13"/>
            <p:cNvSpPr txBox="true"/>
            <p:nvPr/>
          </p:nvSpPr>
          <p:spPr>
            <a:xfrm rot="0">
              <a:off x="0" y="0"/>
              <a:ext cx="20168950" cy="1216660"/>
            </a:xfrm>
            <a:prstGeom prst="rect">
              <a:avLst/>
            </a:prstGeom>
          </p:spPr>
          <p:txBody>
            <a:bodyPr anchor="t" rtlCol="false" tIns="0" lIns="0" bIns="0" rIns="0">
              <a:spAutoFit/>
            </a:bodyPr>
            <a:lstStyle/>
            <a:p>
              <a:pPr algn="ctr">
                <a:lnSpc>
                  <a:spcPts val="7140"/>
                </a:lnSpc>
              </a:pPr>
              <a:r>
                <a:rPr lang="en-US" b="true" sz="5950">
                  <a:solidFill>
                    <a:srgbClr val="1D2B74"/>
                  </a:solidFill>
                  <a:latin typeface="Faustina Bold"/>
                  <a:ea typeface="Faustina Bold"/>
                  <a:cs typeface="Faustina Bold"/>
                  <a:sym typeface="Faustina Bold"/>
                </a:rPr>
                <a:t>MONITORING</a:t>
              </a:r>
            </a:p>
          </p:txBody>
        </p:sp>
      </p:grpSp>
    </p:spTree>
  </p:cSld>
  <p:clrMapOvr>
    <a:masterClrMapping/>
  </p:clrMapOvr>
  <p:transition spd="slow">
    <p:push dir="d"/>
  </p:transition>
</p:sld>
</file>

<file path=ppt/slides/slide41.xml><?xml version="1.0" encoding="utf-8"?>
<p:sld xmlns:p="http://schemas.openxmlformats.org/presentationml/2006/main" xmlns:a="http://schemas.openxmlformats.org/drawingml/2006/main">
  <p:cSld>
    <p:bg>
      <p:bgPr>
        <a:solidFill>
          <a:srgbClr val="C8E3ED"/>
        </a:solidFill>
      </p:bgPr>
    </p:bg>
    <p:spTree>
      <p:nvGrpSpPr>
        <p:cNvPr id="1" name=""/>
        <p:cNvGrpSpPr/>
        <p:nvPr/>
      </p:nvGrpSpPr>
      <p:grpSpPr>
        <a:xfrm>
          <a:off x="0" y="0"/>
          <a:ext cx="0" cy="0"/>
          <a:chOff x="0" y="0"/>
          <a:chExt cx="0" cy="0"/>
        </a:xfrm>
      </p:grpSpPr>
      <p:grpSp>
        <p:nvGrpSpPr>
          <p:cNvPr name="Group 2" id="2"/>
          <p:cNvGrpSpPr/>
          <p:nvPr/>
        </p:nvGrpSpPr>
        <p:grpSpPr>
          <a:xfrm rot="0">
            <a:off x="774820" y="1028700"/>
            <a:ext cx="18537765" cy="8229600"/>
            <a:chOff x="0" y="0"/>
            <a:chExt cx="24717020" cy="10972800"/>
          </a:xfrm>
        </p:grpSpPr>
        <p:grpSp>
          <p:nvGrpSpPr>
            <p:cNvPr name="Group 3" id="3"/>
            <p:cNvGrpSpPr/>
            <p:nvPr/>
          </p:nvGrpSpPr>
          <p:grpSpPr>
            <a:xfrm rot="0">
              <a:off x="0" y="977717"/>
              <a:ext cx="23352980" cy="9995083"/>
              <a:chOff x="0" y="0"/>
              <a:chExt cx="22703567" cy="9717134"/>
            </a:xfrm>
          </p:grpSpPr>
          <p:sp>
            <p:nvSpPr>
              <p:cNvPr name="Freeform 4" id="4"/>
              <p:cNvSpPr/>
              <p:nvPr/>
            </p:nvSpPr>
            <p:spPr>
              <a:xfrm flipH="false" flipV="false" rot="0">
                <a:off x="-1" y="0"/>
                <a:ext cx="22703568" cy="9717134"/>
              </a:xfrm>
              <a:custGeom>
                <a:avLst/>
                <a:gdLst/>
                <a:ahLst/>
                <a:cxnLst/>
                <a:rect r="r" b="b" t="t" l="l"/>
                <a:pathLst>
                  <a:path h="9717134" w="22703568">
                    <a:moveTo>
                      <a:pt x="22204787" y="9700216"/>
                    </a:moveTo>
                    <a:cubicBezTo>
                      <a:pt x="22204787" y="9700216"/>
                      <a:pt x="21967792" y="9690246"/>
                      <a:pt x="21605653" y="9703690"/>
                    </a:cubicBezTo>
                    <a:cubicBezTo>
                      <a:pt x="21243514" y="9717134"/>
                      <a:pt x="490924" y="9717134"/>
                      <a:pt x="490924" y="9717134"/>
                    </a:cubicBezTo>
                    <a:cubicBezTo>
                      <a:pt x="245502" y="9717134"/>
                      <a:pt x="32509" y="9619866"/>
                      <a:pt x="31032" y="9459752"/>
                    </a:cubicBezTo>
                    <a:cubicBezTo>
                      <a:pt x="31032" y="9459752"/>
                      <a:pt x="0" y="6758194"/>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158239" y="0"/>
                      <a:pt x="22158239" y="0"/>
                    </a:cubicBezTo>
                    <a:cubicBezTo>
                      <a:pt x="22470140" y="0"/>
                      <a:pt x="22703569" y="101069"/>
                      <a:pt x="22695710" y="303616"/>
                    </a:cubicBezTo>
                    <a:cubicBezTo>
                      <a:pt x="22695710" y="303616"/>
                      <a:pt x="22693715" y="6210870"/>
                      <a:pt x="22702471" y="8760165"/>
                    </a:cubicBezTo>
                    <a:cubicBezTo>
                      <a:pt x="22711226" y="9053467"/>
                      <a:pt x="22664678" y="9386538"/>
                      <a:pt x="22664678" y="9386538"/>
                    </a:cubicBezTo>
                    <a:cubicBezTo>
                      <a:pt x="22661712" y="9566563"/>
                      <a:pt x="22450209" y="9700216"/>
                      <a:pt x="22204787" y="9700216"/>
                    </a:cubicBezTo>
                    <a:close/>
                  </a:path>
                </a:pathLst>
              </a:custGeom>
              <a:solidFill>
                <a:srgbClr val="8FB7C6"/>
              </a:solidFill>
            </p:spPr>
          </p:sp>
        </p:grpSp>
        <p:grpSp>
          <p:nvGrpSpPr>
            <p:cNvPr name="Group 5" id="5"/>
            <p:cNvGrpSpPr/>
            <p:nvPr/>
          </p:nvGrpSpPr>
          <p:grpSpPr>
            <a:xfrm rot="0">
              <a:off x="254961" y="1067537"/>
              <a:ext cx="22897610" cy="9778026"/>
              <a:chOff x="0" y="0"/>
              <a:chExt cx="22594507" cy="9648591"/>
            </a:xfrm>
          </p:grpSpPr>
          <p:sp>
            <p:nvSpPr>
              <p:cNvPr name="Freeform 6" id="6"/>
              <p:cNvSpPr/>
              <p:nvPr/>
            </p:nvSpPr>
            <p:spPr>
              <a:xfrm flipH="false" flipV="false" rot="0">
                <a:off x="-1" y="0"/>
                <a:ext cx="22594508" cy="9648591"/>
              </a:xfrm>
              <a:custGeom>
                <a:avLst/>
                <a:gdLst/>
                <a:ahLst/>
                <a:cxnLst/>
                <a:rect r="r" b="b" t="t" l="l"/>
                <a:pathLst>
                  <a:path h="9648591" w="22594508">
                    <a:moveTo>
                      <a:pt x="22095727" y="9631673"/>
                    </a:moveTo>
                    <a:cubicBezTo>
                      <a:pt x="22095727" y="9631673"/>
                      <a:pt x="21858730" y="9621703"/>
                      <a:pt x="21496593" y="9635147"/>
                    </a:cubicBezTo>
                    <a:cubicBezTo>
                      <a:pt x="21134454" y="9648591"/>
                      <a:pt x="490924" y="9648591"/>
                      <a:pt x="490924" y="9648591"/>
                    </a:cubicBezTo>
                    <a:cubicBezTo>
                      <a:pt x="245502" y="9648591"/>
                      <a:pt x="32509" y="9551323"/>
                      <a:pt x="31032" y="9391209"/>
                    </a:cubicBezTo>
                    <a:cubicBezTo>
                      <a:pt x="31032" y="9391209"/>
                      <a:pt x="0" y="6705102"/>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049179" y="0"/>
                      <a:pt x="22049179" y="0"/>
                    </a:cubicBezTo>
                    <a:cubicBezTo>
                      <a:pt x="22361080" y="0"/>
                      <a:pt x="22594507" y="101069"/>
                      <a:pt x="22586650" y="303616"/>
                    </a:cubicBezTo>
                    <a:cubicBezTo>
                      <a:pt x="22586650" y="303616"/>
                      <a:pt x="22584655" y="6162502"/>
                      <a:pt x="22593411" y="8691622"/>
                    </a:cubicBezTo>
                    <a:cubicBezTo>
                      <a:pt x="22602166" y="8984924"/>
                      <a:pt x="22555618" y="9317995"/>
                      <a:pt x="22555618" y="9317995"/>
                    </a:cubicBezTo>
                    <a:cubicBezTo>
                      <a:pt x="22552652" y="9498020"/>
                      <a:pt x="22341149" y="9631673"/>
                      <a:pt x="22095727" y="9631673"/>
                    </a:cubicBezTo>
                    <a:close/>
                  </a:path>
                </a:pathLst>
              </a:custGeom>
              <a:solidFill>
                <a:srgbClr val="8FB7C6"/>
              </a:solidFill>
            </p:spPr>
          </p:sp>
        </p:grpSp>
        <p:grpSp>
          <p:nvGrpSpPr>
            <p:cNvPr name="Group 7" id="7"/>
            <p:cNvGrpSpPr/>
            <p:nvPr/>
          </p:nvGrpSpPr>
          <p:grpSpPr>
            <a:xfrm rot="0">
              <a:off x="919721" y="0"/>
              <a:ext cx="22232850" cy="10328670"/>
              <a:chOff x="0" y="0"/>
              <a:chExt cx="23043639" cy="10705337"/>
            </a:xfrm>
          </p:grpSpPr>
          <p:sp>
            <p:nvSpPr>
              <p:cNvPr name="Freeform 8" id="8"/>
              <p:cNvSpPr/>
              <p:nvPr/>
            </p:nvSpPr>
            <p:spPr>
              <a:xfrm flipH="false" flipV="false" rot="0">
                <a:off x="-1" y="0"/>
                <a:ext cx="23043639" cy="10705337"/>
              </a:xfrm>
              <a:custGeom>
                <a:avLst/>
                <a:gdLst/>
                <a:ahLst/>
                <a:cxnLst/>
                <a:rect r="r" b="b" t="t" l="l"/>
                <a:pathLst>
                  <a:path h="10705337" w="23043639">
                    <a:moveTo>
                      <a:pt x="22544859" y="10688418"/>
                    </a:moveTo>
                    <a:cubicBezTo>
                      <a:pt x="22544859" y="10688418"/>
                      <a:pt x="22307863" y="10678449"/>
                      <a:pt x="21945723" y="10691893"/>
                    </a:cubicBezTo>
                    <a:cubicBezTo>
                      <a:pt x="21583586" y="10705337"/>
                      <a:pt x="490924" y="10705337"/>
                      <a:pt x="490924" y="10705337"/>
                    </a:cubicBezTo>
                    <a:cubicBezTo>
                      <a:pt x="245502" y="10705337"/>
                      <a:pt x="32509" y="10608069"/>
                      <a:pt x="31032" y="10447955"/>
                    </a:cubicBezTo>
                    <a:cubicBezTo>
                      <a:pt x="31032" y="10447955"/>
                      <a:pt x="0" y="7523653"/>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498310" y="0"/>
                      <a:pt x="22498310" y="0"/>
                    </a:cubicBezTo>
                    <a:cubicBezTo>
                      <a:pt x="22810212" y="0"/>
                      <a:pt x="23043639" y="101069"/>
                      <a:pt x="23035783" y="303616"/>
                    </a:cubicBezTo>
                    <a:cubicBezTo>
                      <a:pt x="23035783" y="303616"/>
                      <a:pt x="23033787" y="6908210"/>
                      <a:pt x="23042542" y="9748368"/>
                    </a:cubicBezTo>
                    <a:cubicBezTo>
                      <a:pt x="23051298" y="10041669"/>
                      <a:pt x="23004750" y="10374741"/>
                      <a:pt x="23004750" y="10374741"/>
                    </a:cubicBezTo>
                    <a:cubicBezTo>
                      <a:pt x="23001785" y="10554766"/>
                      <a:pt x="22790281" y="10688418"/>
                      <a:pt x="22544859" y="10688418"/>
                    </a:cubicBezTo>
                    <a:close/>
                  </a:path>
                </a:pathLst>
              </a:custGeom>
              <a:solidFill>
                <a:srgbClr val="F3FCFF"/>
              </a:solidFill>
            </p:spPr>
          </p:sp>
        </p:grpSp>
        <p:sp>
          <p:nvSpPr>
            <p:cNvPr name="AutoShape 9" id="9"/>
            <p:cNvSpPr/>
            <p:nvPr/>
          </p:nvSpPr>
          <p:spPr>
            <a:xfrm>
              <a:off x="2250246" y="9826016"/>
              <a:ext cx="22466735" cy="34286"/>
            </a:xfrm>
            <a:prstGeom prst="line">
              <a:avLst/>
            </a:prstGeom>
            <a:ln cap="rnd" w="50800">
              <a:solidFill>
                <a:srgbClr val="8FB7C6"/>
              </a:solidFill>
              <a:prstDash val="solid"/>
              <a:headEnd type="none" len="sm" w="sm"/>
              <a:tailEnd type="none" len="sm" w="sm"/>
            </a:ln>
          </p:spPr>
        </p:sp>
        <p:sp>
          <p:nvSpPr>
            <p:cNvPr name="AutoShape 10" id="10"/>
            <p:cNvSpPr/>
            <p:nvPr/>
          </p:nvSpPr>
          <p:spPr>
            <a:xfrm>
              <a:off x="2250246" y="717206"/>
              <a:ext cx="22466735" cy="34286"/>
            </a:xfrm>
            <a:prstGeom prst="line">
              <a:avLst/>
            </a:prstGeom>
            <a:ln cap="rnd" w="50800">
              <a:solidFill>
                <a:srgbClr val="8FB7C6"/>
              </a:solidFill>
              <a:prstDash val="solid"/>
              <a:headEnd type="none" len="sm" w="sm"/>
              <a:tailEnd type="none" len="sm" w="sm"/>
            </a:ln>
          </p:spPr>
        </p:sp>
      </p:grpSp>
      <p:grpSp>
        <p:nvGrpSpPr>
          <p:cNvPr name="Group 11" id="11"/>
          <p:cNvGrpSpPr/>
          <p:nvPr/>
        </p:nvGrpSpPr>
        <p:grpSpPr>
          <a:xfrm rot="0">
            <a:off x="2480346" y="1643872"/>
            <a:ext cx="15126712" cy="3833220"/>
            <a:chOff x="0" y="0"/>
            <a:chExt cx="20168950" cy="5110960"/>
          </a:xfrm>
        </p:grpSpPr>
        <p:sp>
          <p:nvSpPr>
            <p:cNvPr name="TextBox 12" id="12"/>
            <p:cNvSpPr txBox="true"/>
            <p:nvPr/>
          </p:nvSpPr>
          <p:spPr>
            <a:xfrm rot="0">
              <a:off x="0" y="2743426"/>
              <a:ext cx="18841219" cy="2367534"/>
            </a:xfrm>
            <a:prstGeom prst="rect">
              <a:avLst/>
            </a:prstGeom>
          </p:spPr>
          <p:txBody>
            <a:bodyPr anchor="t" rtlCol="false" tIns="0" lIns="0" bIns="0" rIns="0">
              <a:spAutoFit/>
            </a:bodyPr>
            <a:lstStyle/>
            <a:p>
              <a:pPr algn="just">
                <a:lnSpc>
                  <a:spcPts val="4779"/>
                </a:lnSpc>
              </a:pPr>
              <a:r>
                <a:rPr lang="en-US" sz="3540" spc="-35">
                  <a:solidFill>
                    <a:srgbClr val="000000"/>
                  </a:solidFill>
                  <a:latin typeface="Asap"/>
                  <a:ea typeface="Asap"/>
                  <a:cs typeface="Asap"/>
                  <a:sym typeface="Asap"/>
                </a:rPr>
                <a:t>star</a:t>
              </a:r>
              <a:r>
                <a:rPr lang="en-US" sz="3540" spc="-35">
                  <a:solidFill>
                    <a:srgbClr val="000000"/>
                  </a:solidFill>
                  <a:latin typeface="Asap"/>
                  <a:ea typeface="Asap"/>
                  <a:cs typeface="Asap"/>
                  <a:sym typeface="Asap"/>
                </a:rPr>
                <a:t>t</a:t>
              </a:r>
              <a:r>
                <a:rPr lang="en-US" sz="3540" spc="-35">
                  <a:solidFill>
                    <a:srgbClr val="000000"/>
                  </a:solidFill>
                  <a:latin typeface="Asap"/>
                  <a:ea typeface="Asap"/>
                  <a:cs typeface="Asap"/>
                  <a:sym typeface="Asap"/>
                </a:rPr>
                <a:t> = t</a:t>
              </a:r>
              <a:r>
                <a:rPr lang="en-US" sz="3540" spc="-35">
                  <a:solidFill>
                    <a:srgbClr val="000000"/>
                  </a:solidFill>
                  <a:latin typeface="Asap"/>
                  <a:ea typeface="Asap"/>
                  <a:cs typeface="Asap"/>
                  <a:sym typeface="Asap"/>
                </a:rPr>
                <a:t>ime.time()</a:t>
              </a:r>
            </a:p>
            <a:p>
              <a:pPr algn="just">
                <a:lnSpc>
                  <a:spcPts val="4779"/>
                </a:lnSpc>
              </a:pPr>
              <a:r>
                <a:rPr lang="en-US" sz="3540" spc="-35">
                  <a:solidFill>
                    <a:srgbClr val="000000"/>
                  </a:solidFill>
                  <a:latin typeface="Asap"/>
                  <a:ea typeface="Asap"/>
                  <a:cs typeface="Asap"/>
                  <a:sym typeface="Asap"/>
                </a:rPr>
                <a:t># xử lý</a:t>
              </a:r>
            </a:p>
            <a:p>
              <a:pPr algn="just">
                <a:lnSpc>
                  <a:spcPts val="4779"/>
                </a:lnSpc>
              </a:pPr>
              <a:r>
                <a:rPr lang="en-US" sz="3540" spc="-35">
                  <a:solidFill>
                    <a:srgbClr val="000000"/>
                  </a:solidFill>
                  <a:latin typeface="Asap"/>
                  <a:ea typeface="Asap"/>
                  <a:cs typeface="Asap"/>
                  <a:sym typeface="Asap"/>
                </a:rPr>
                <a:t>end = time.time()</a:t>
              </a:r>
            </a:p>
          </p:txBody>
        </p:sp>
        <p:sp>
          <p:nvSpPr>
            <p:cNvPr name="TextBox 13" id="13"/>
            <p:cNvSpPr txBox="true"/>
            <p:nvPr/>
          </p:nvSpPr>
          <p:spPr>
            <a:xfrm rot="0">
              <a:off x="0" y="0"/>
              <a:ext cx="20168950" cy="1216660"/>
            </a:xfrm>
            <a:prstGeom prst="rect">
              <a:avLst/>
            </a:prstGeom>
          </p:spPr>
          <p:txBody>
            <a:bodyPr anchor="t" rtlCol="false" tIns="0" lIns="0" bIns="0" rIns="0">
              <a:spAutoFit/>
            </a:bodyPr>
            <a:lstStyle/>
            <a:p>
              <a:pPr algn="ctr">
                <a:lnSpc>
                  <a:spcPts val="7140"/>
                </a:lnSpc>
              </a:pPr>
              <a:r>
                <a:rPr lang="en-US" b="true" sz="5950">
                  <a:solidFill>
                    <a:srgbClr val="1D2B74"/>
                  </a:solidFill>
                  <a:latin typeface="Faustina Bold"/>
                  <a:ea typeface="Faustina Bold"/>
                  <a:cs typeface="Faustina Bold"/>
                  <a:sym typeface="Faustina Bold"/>
                </a:rPr>
                <a:t>MONITORING</a:t>
              </a:r>
            </a:p>
          </p:txBody>
        </p:sp>
      </p:grpSp>
      <p:sp>
        <p:nvSpPr>
          <p:cNvPr name="TextBox 14" id="14"/>
          <p:cNvSpPr txBox="true"/>
          <p:nvPr/>
        </p:nvSpPr>
        <p:spPr>
          <a:xfrm rot="0">
            <a:off x="2231353" y="6288179"/>
            <a:ext cx="4360545" cy="1789938"/>
          </a:xfrm>
          <a:prstGeom prst="rect">
            <a:avLst/>
          </a:prstGeom>
        </p:spPr>
        <p:txBody>
          <a:bodyPr anchor="t" rtlCol="false" tIns="0" lIns="0" bIns="0" rIns="0">
            <a:spAutoFit/>
          </a:bodyPr>
          <a:lstStyle/>
          <a:p>
            <a:pPr algn="l">
              <a:lnSpc>
                <a:spcPts val="4779"/>
              </a:lnSpc>
              <a:spcBef>
                <a:spcPct val="0"/>
              </a:spcBef>
            </a:pPr>
            <a:r>
              <a:rPr lang="en-US" b="true" sz="3540" spc="-35">
                <a:solidFill>
                  <a:srgbClr val="000000"/>
                </a:solidFill>
                <a:latin typeface="Asap Bold"/>
                <a:ea typeface="Asap Bold"/>
                <a:cs typeface="Asap Bold"/>
                <a:sym typeface="Asap Bold"/>
              </a:rPr>
              <a:t>Không monitoring:</a:t>
            </a:r>
          </a:p>
          <a:p>
            <a:pPr algn="l">
              <a:lnSpc>
                <a:spcPts val="4779"/>
              </a:lnSpc>
              <a:spcBef>
                <a:spcPct val="0"/>
              </a:spcBef>
            </a:pPr>
            <a:r>
              <a:rPr lang="en-US" sz="3540" spc="-35">
                <a:solidFill>
                  <a:srgbClr val="000000"/>
                </a:solidFill>
                <a:latin typeface="Asap"/>
                <a:ea typeface="Asap"/>
                <a:cs typeface="Asap"/>
                <a:sym typeface="Asap"/>
              </a:rPr>
              <a:t>Server chết không biết</a:t>
            </a:r>
          </a:p>
          <a:p>
            <a:pPr algn="l">
              <a:lnSpc>
                <a:spcPts val="4779"/>
              </a:lnSpc>
              <a:spcBef>
                <a:spcPct val="0"/>
              </a:spcBef>
            </a:pPr>
            <a:r>
              <a:rPr lang="en-US" sz="3540" spc="-35">
                <a:solidFill>
                  <a:srgbClr val="000000"/>
                </a:solidFill>
                <a:latin typeface="Asap"/>
                <a:ea typeface="Asap"/>
                <a:cs typeface="Asap"/>
                <a:sym typeface="Asap"/>
              </a:rPr>
              <a:t>User báo mới biết</a:t>
            </a:r>
          </a:p>
        </p:txBody>
      </p:sp>
      <p:sp>
        <p:nvSpPr>
          <p:cNvPr name="TextBox 15" id="15"/>
          <p:cNvSpPr txBox="true"/>
          <p:nvPr/>
        </p:nvSpPr>
        <p:spPr>
          <a:xfrm rot="0">
            <a:off x="2480346" y="2970694"/>
            <a:ext cx="15126712" cy="589788"/>
          </a:xfrm>
          <a:prstGeom prst="rect">
            <a:avLst/>
          </a:prstGeom>
        </p:spPr>
        <p:txBody>
          <a:bodyPr anchor="t" rtlCol="false" tIns="0" lIns="0" bIns="0" rIns="0">
            <a:spAutoFit/>
          </a:bodyPr>
          <a:lstStyle/>
          <a:p>
            <a:pPr algn="l">
              <a:lnSpc>
                <a:spcPts val="4779"/>
              </a:lnSpc>
              <a:spcBef>
                <a:spcPct val="0"/>
              </a:spcBef>
            </a:pPr>
            <a:r>
              <a:rPr lang="en-US" b="true" sz="3540" spc="-35">
                <a:solidFill>
                  <a:srgbClr val="000000"/>
                </a:solidFill>
                <a:latin typeface="Asap Bold"/>
                <a:ea typeface="Asap Bold"/>
                <a:cs typeface="Asap Bold"/>
                <a:sym typeface="Asap Bold"/>
              </a:rPr>
              <a:t>Ví dụ</a:t>
            </a:r>
          </a:p>
        </p:txBody>
      </p:sp>
    </p:spTree>
  </p:cSld>
  <p:clrMapOvr>
    <a:masterClrMapping/>
  </p:clrMapOvr>
  <p:transition spd="slow">
    <p:push dir="d"/>
  </p:transition>
</p:sld>
</file>

<file path=ppt/slides/slide42.xml><?xml version="1.0" encoding="utf-8"?>
<p:sld xmlns:p="http://schemas.openxmlformats.org/presentationml/2006/main" xmlns:a="http://schemas.openxmlformats.org/drawingml/2006/main">
  <p:cSld>
    <p:bg>
      <p:bgPr>
        <a:solidFill>
          <a:srgbClr val="C8E3ED"/>
        </a:solidFill>
      </p:bgPr>
    </p:bg>
    <p:spTree>
      <p:nvGrpSpPr>
        <p:cNvPr id="1" name=""/>
        <p:cNvGrpSpPr/>
        <p:nvPr/>
      </p:nvGrpSpPr>
      <p:grpSpPr>
        <a:xfrm>
          <a:off x="0" y="0"/>
          <a:ext cx="0" cy="0"/>
          <a:chOff x="0" y="0"/>
          <a:chExt cx="0" cy="0"/>
        </a:xfrm>
      </p:grpSpPr>
      <p:grpSp>
        <p:nvGrpSpPr>
          <p:cNvPr name="Group 2" id="2"/>
          <p:cNvGrpSpPr/>
          <p:nvPr/>
        </p:nvGrpSpPr>
        <p:grpSpPr>
          <a:xfrm rot="0">
            <a:off x="774820" y="1028700"/>
            <a:ext cx="18537765" cy="8229600"/>
            <a:chOff x="0" y="0"/>
            <a:chExt cx="24717020" cy="10972800"/>
          </a:xfrm>
        </p:grpSpPr>
        <p:grpSp>
          <p:nvGrpSpPr>
            <p:cNvPr name="Group 3" id="3"/>
            <p:cNvGrpSpPr/>
            <p:nvPr/>
          </p:nvGrpSpPr>
          <p:grpSpPr>
            <a:xfrm rot="0">
              <a:off x="0" y="977717"/>
              <a:ext cx="23352980" cy="9995083"/>
              <a:chOff x="0" y="0"/>
              <a:chExt cx="22703567" cy="9717134"/>
            </a:xfrm>
          </p:grpSpPr>
          <p:sp>
            <p:nvSpPr>
              <p:cNvPr name="Freeform 4" id="4"/>
              <p:cNvSpPr/>
              <p:nvPr/>
            </p:nvSpPr>
            <p:spPr>
              <a:xfrm flipH="false" flipV="false" rot="0">
                <a:off x="-1" y="0"/>
                <a:ext cx="22703568" cy="9717134"/>
              </a:xfrm>
              <a:custGeom>
                <a:avLst/>
                <a:gdLst/>
                <a:ahLst/>
                <a:cxnLst/>
                <a:rect r="r" b="b" t="t" l="l"/>
                <a:pathLst>
                  <a:path h="9717134" w="22703568">
                    <a:moveTo>
                      <a:pt x="22204787" y="9700216"/>
                    </a:moveTo>
                    <a:cubicBezTo>
                      <a:pt x="22204787" y="9700216"/>
                      <a:pt x="21967792" y="9690246"/>
                      <a:pt x="21605653" y="9703690"/>
                    </a:cubicBezTo>
                    <a:cubicBezTo>
                      <a:pt x="21243514" y="9717134"/>
                      <a:pt x="490924" y="9717134"/>
                      <a:pt x="490924" y="9717134"/>
                    </a:cubicBezTo>
                    <a:cubicBezTo>
                      <a:pt x="245502" y="9717134"/>
                      <a:pt x="32509" y="9619866"/>
                      <a:pt x="31032" y="9459752"/>
                    </a:cubicBezTo>
                    <a:cubicBezTo>
                      <a:pt x="31032" y="9459752"/>
                      <a:pt x="0" y="6758194"/>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158239" y="0"/>
                      <a:pt x="22158239" y="0"/>
                    </a:cubicBezTo>
                    <a:cubicBezTo>
                      <a:pt x="22470140" y="0"/>
                      <a:pt x="22703569" y="101069"/>
                      <a:pt x="22695710" y="303616"/>
                    </a:cubicBezTo>
                    <a:cubicBezTo>
                      <a:pt x="22695710" y="303616"/>
                      <a:pt x="22693715" y="6210870"/>
                      <a:pt x="22702471" y="8760165"/>
                    </a:cubicBezTo>
                    <a:cubicBezTo>
                      <a:pt x="22711226" y="9053467"/>
                      <a:pt x="22664678" y="9386538"/>
                      <a:pt x="22664678" y="9386538"/>
                    </a:cubicBezTo>
                    <a:cubicBezTo>
                      <a:pt x="22661712" y="9566563"/>
                      <a:pt x="22450209" y="9700216"/>
                      <a:pt x="22204787" y="9700216"/>
                    </a:cubicBezTo>
                    <a:close/>
                  </a:path>
                </a:pathLst>
              </a:custGeom>
              <a:solidFill>
                <a:srgbClr val="8FB7C6"/>
              </a:solidFill>
            </p:spPr>
          </p:sp>
        </p:grpSp>
        <p:grpSp>
          <p:nvGrpSpPr>
            <p:cNvPr name="Group 5" id="5"/>
            <p:cNvGrpSpPr/>
            <p:nvPr/>
          </p:nvGrpSpPr>
          <p:grpSpPr>
            <a:xfrm rot="0">
              <a:off x="254961" y="1067537"/>
              <a:ext cx="22897610" cy="9778026"/>
              <a:chOff x="0" y="0"/>
              <a:chExt cx="22594507" cy="9648591"/>
            </a:xfrm>
          </p:grpSpPr>
          <p:sp>
            <p:nvSpPr>
              <p:cNvPr name="Freeform 6" id="6"/>
              <p:cNvSpPr/>
              <p:nvPr/>
            </p:nvSpPr>
            <p:spPr>
              <a:xfrm flipH="false" flipV="false" rot="0">
                <a:off x="-1" y="0"/>
                <a:ext cx="22594508" cy="9648591"/>
              </a:xfrm>
              <a:custGeom>
                <a:avLst/>
                <a:gdLst/>
                <a:ahLst/>
                <a:cxnLst/>
                <a:rect r="r" b="b" t="t" l="l"/>
                <a:pathLst>
                  <a:path h="9648591" w="22594508">
                    <a:moveTo>
                      <a:pt x="22095727" y="9631673"/>
                    </a:moveTo>
                    <a:cubicBezTo>
                      <a:pt x="22095727" y="9631673"/>
                      <a:pt x="21858730" y="9621703"/>
                      <a:pt x="21496593" y="9635147"/>
                    </a:cubicBezTo>
                    <a:cubicBezTo>
                      <a:pt x="21134454" y="9648591"/>
                      <a:pt x="490924" y="9648591"/>
                      <a:pt x="490924" y="9648591"/>
                    </a:cubicBezTo>
                    <a:cubicBezTo>
                      <a:pt x="245502" y="9648591"/>
                      <a:pt x="32509" y="9551323"/>
                      <a:pt x="31032" y="9391209"/>
                    </a:cubicBezTo>
                    <a:cubicBezTo>
                      <a:pt x="31032" y="9391209"/>
                      <a:pt x="0" y="6705102"/>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049179" y="0"/>
                      <a:pt x="22049179" y="0"/>
                    </a:cubicBezTo>
                    <a:cubicBezTo>
                      <a:pt x="22361080" y="0"/>
                      <a:pt x="22594507" y="101069"/>
                      <a:pt x="22586650" y="303616"/>
                    </a:cubicBezTo>
                    <a:cubicBezTo>
                      <a:pt x="22586650" y="303616"/>
                      <a:pt x="22584655" y="6162502"/>
                      <a:pt x="22593411" y="8691622"/>
                    </a:cubicBezTo>
                    <a:cubicBezTo>
                      <a:pt x="22602166" y="8984924"/>
                      <a:pt x="22555618" y="9317995"/>
                      <a:pt x="22555618" y="9317995"/>
                    </a:cubicBezTo>
                    <a:cubicBezTo>
                      <a:pt x="22552652" y="9498020"/>
                      <a:pt x="22341149" y="9631673"/>
                      <a:pt x="22095727" y="9631673"/>
                    </a:cubicBezTo>
                    <a:close/>
                  </a:path>
                </a:pathLst>
              </a:custGeom>
              <a:solidFill>
                <a:srgbClr val="8FB7C6"/>
              </a:solidFill>
            </p:spPr>
          </p:sp>
        </p:grpSp>
        <p:grpSp>
          <p:nvGrpSpPr>
            <p:cNvPr name="Group 7" id="7"/>
            <p:cNvGrpSpPr/>
            <p:nvPr/>
          </p:nvGrpSpPr>
          <p:grpSpPr>
            <a:xfrm rot="0">
              <a:off x="919721" y="0"/>
              <a:ext cx="22232850" cy="10328670"/>
              <a:chOff x="0" y="0"/>
              <a:chExt cx="23043639" cy="10705337"/>
            </a:xfrm>
          </p:grpSpPr>
          <p:sp>
            <p:nvSpPr>
              <p:cNvPr name="Freeform 8" id="8"/>
              <p:cNvSpPr/>
              <p:nvPr/>
            </p:nvSpPr>
            <p:spPr>
              <a:xfrm flipH="false" flipV="false" rot="0">
                <a:off x="-1" y="0"/>
                <a:ext cx="23043639" cy="10705337"/>
              </a:xfrm>
              <a:custGeom>
                <a:avLst/>
                <a:gdLst/>
                <a:ahLst/>
                <a:cxnLst/>
                <a:rect r="r" b="b" t="t" l="l"/>
                <a:pathLst>
                  <a:path h="10705337" w="23043639">
                    <a:moveTo>
                      <a:pt x="22544859" y="10688418"/>
                    </a:moveTo>
                    <a:cubicBezTo>
                      <a:pt x="22544859" y="10688418"/>
                      <a:pt x="22307863" y="10678449"/>
                      <a:pt x="21945723" y="10691893"/>
                    </a:cubicBezTo>
                    <a:cubicBezTo>
                      <a:pt x="21583586" y="10705337"/>
                      <a:pt x="490924" y="10705337"/>
                      <a:pt x="490924" y="10705337"/>
                    </a:cubicBezTo>
                    <a:cubicBezTo>
                      <a:pt x="245502" y="10705337"/>
                      <a:pt x="32509" y="10608069"/>
                      <a:pt x="31032" y="10447955"/>
                    </a:cubicBezTo>
                    <a:cubicBezTo>
                      <a:pt x="31032" y="10447955"/>
                      <a:pt x="0" y="7523653"/>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498310" y="0"/>
                      <a:pt x="22498310" y="0"/>
                    </a:cubicBezTo>
                    <a:cubicBezTo>
                      <a:pt x="22810212" y="0"/>
                      <a:pt x="23043639" y="101069"/>
                      <a:pt x="23035783" y="303616"/>
                    </a:cubicBezTo>
                    <a:cubicBezTo>
                      <a:pt x="23035783" y="303616"/>
                      <a:pt x="23033787" y="6908210"/>
                      <a:pt x="23042542" y="9748368"/>
                    </a:cubicBezTo>
                    <a:cubicBezTo>
                      <a:pt x="23051298" y="10041669"/>
                      <a:pt x="23004750" y="10374741"/>
                      <a:pt x="23004750" y="10374741"/>
                    </a:cubicBezTo>
                    <a:cubicBezTo>
                      <a:pt x="23001785" y="10554766"/>
                      <a:pt x="22790281" y="10688418"/>
                      <a:pt x="22544859" y="10688418"/>
                    </a:cubicBezTo>
                    <a:close/>
                  </a:path>
                </a:pathLst>
              </a:custGeom>
              <a:solidFill>
                <a:srgbClr val="F3FCFF"/>
              </a:solidFill>
            </p:spPr>
          </p:sp>
        </p:grpSp>
        <p:sp>
          <p:nvSpPr>
            <p:cNvPr name="AutoShape 9" id="9"/>
            <p:cNvSpPr/>
            <p:nvPr/>
          </p:nvSpPr>
          <p:spPr>
            <a:xfrm>
              <a:off x="2250246" y="9826016"/>
              <a:ext cx="22466735" cy="34286"/>
            </a:xfrm>
            <a:prstGeom prst="line">
              <a:avLst/>
            </a:prstGeom>
            <a:ln cap="rnd" w="50800">
              <a:solidFill>
                <a:srgbClr val="8FB7C6"/>
              </a:solidFill>
              <a:prstDash val="solid"/>
              <a:headEnd type="none" len="sm" w="sm"/>
              <a:tailEnd type="none" len="sm" w="sm"/>
            </a:ln>
          </p:spPr>
        </p:sp>
        <p:sp>
          <p:nvSpPr>
            <p:cNvPr name="AutoShape 10" id="10"/>
            <p:cNvSpPr/>
            <p:nvPr/>
          </p:nvSpPr>
          <p:spPr>
            <a:xfrm>
              <a:off x="2250246" y="717206"/>
              <a:ext cx="22466735" cy="34286"/>
            </a:xfrm>
            <a:prstGeom prst="line">
              <a:avLst/>
            </a:prstGeom>
            <a:ln cap="rnd" w="50800">
              <a:solidFill>
                <a:srgbClr val="8FB7C6"/>
              </a:solidFill>
              <a:prstDash val="solid"/>
              <a:headEnd type="none" len="sm" w="sm"/>
              <a:tailEnd type="none" len="sm" w="sm"/>
            </a:ln>
          </p:spPr>
        </p:sp>
      </p:grpSp>
      <p:grpSp>
        <p:nvGrpSpPr>
          <p:cNvPr name="Group 11" id="11"/>
          <p:cNvGrpSpPr/>
          <p:nvPr/>
        </p:nvGrpSpPr>
        <p:grpSpPr>
          <a:xfrm rot="0">
            <a:off x="2480346" y="1461720"/>
            <a:ext cx="15126712" cy="6557304"/>
            <a:chOff x="0" y="0"/>
            <a:chExt cx="20168950" cy="8743072"/>
          </a:xfrm>
        </p:grpSpPr>
        <p:sp>
          <p:nvSpPr>
            <p:cNvPr name="TextBox 12" id="12"/>
            <p:cNvSpPr txBox="true"/>
            <p:nvPr/>
          </p:nvSpPr>
          <p:spPr>
            <a:xfrm rot="0">
              <a:off x="0" y="1574939"/>
              <a:ext cx="18841219" cy="7168134"/>
            </a:xfrm>
            <a:prstGeom prst="rect">
              <a:avLst/>
            </a:prstGeom>
          </p:spPr>
          <p:txBody>
            <a:bodyPr anchor="t" rtlCol="false" tIns="0" lIns="0" bIns="0" rIns="0">
              <a:spAutoFit/>
            </a:bodyPr>
            <a:lstStyle/>
            <a:p>
              <a:pPr algn="just">
                <a:lnSpc>
                  <a:spcPts val="4779"/>
                </a:lnSpc>
              </a:pPr>
              <a:r>
                <a:rPr lang="en-US" b="true" sz="3540" spc="-35">
                  <a:solidFill>
                    <a:srgbClr val="000000"/>
                  </a:solidFill>
                  <a:latin typeface="Asap Bold"/>
                  <a:ea typeface="Asap Bold"/>
                  <a:cs typeface="Asap Bold"/>
                  <a:sym typeface="Asap Bold"/>
                </a:rPr>
                <a:t>Vai trò của GenAI</a:t>
              </a:r>
            </a:p>
            <a:p>
              <a:pPr algn="just" marL="764289" indent="-382145" lvl="1">
                <a:lnSpc>
                  <a:spcPts val="4779"/>
                </a:lnSpc>
                <a:buFont typeface="Arial"/>
                <a:buChar char="•"/>
              </a:pPr>
              <a:r>
                <a:rPr lang="en-US" sz="3540" spc="-35">
                  <a:solidFill>
                    <a:srgbClr val="000000"/>
                  </a:solidFill>
                  <a:latin typeface="Asap"/>
                  <a:ea typeface="Asap"/>
                  <a:cs typeface="Asap"/>
                  <a:sym typeface="Asap"/>
                </a:rPr>
                <a:t>Hỗ trợ</a:t>
              </a:r>
              <a:r>
                <a:rPr lang="en-US" sz="3540" spc="-35">
                  <a:solidFill>
                    <a:srgbClr val="000000"/>
                  </a:solidFill>
                  <a:latin typeface="Asap"/>
                  <a:ea typeface="Asap"/>
                  <a:cs typeface="Asap"/>
                  <a:sym typeface="Asap"/>
                </a:rPr>
                <a:t> viết code</a:t>
              </a:r>
              <a:r>
                <a:rPr lang="en-US" sz="3540" spc="-35">
                  <a:solidFill>
                    <a:srgbClr val="000000"/>
                  </a:solidFill>
                  <a:latin typeface="Asap"/>
                  <a:ea typeface="Asap"/>
                  <a:cs typeface="Asap"/>
                  <a:sym typeface="Asap"/>
                </a:rPr>
                <a:t> </a:t>
              </a:r>
              <a:r>
                <a:rPr lang="en-US" sz="3540" spc="-35">
                  <a:solidFill>
                    <a:srgbClr val="000000"/>
                  </a:solidFill>
                  <a:latin typeface="Asap"/>
                  <a:ea typeface="Asap"/>
                  <a:cs typeface="Asap"/>
                  <a:sym typeface="Asap"/>
                </a:rPr>
                <a:t>nhan</a:t>
              </a:r>
              <a:r>
                <a:rPr lang="en-US" sz="3540" spc="-35">
                  <a:solidFill>
                    <a:srgbClr val="000000"/>
                  </a:solidFill>
                  <a:latin typeface="Asap"/>
                  <a:ea typeface="Asap"/>
                  <a:cs typeface="Asap"/>
                  <a:sym typeface="Asap"/>
                </a:rPr>
                <a:t>h hơn</a:t>
              </a:r>
            </a:p>
            <a:p>
              <a:pPr algn="just" marL="764289" indent="-382145" lvl="1">
                <a:lnSpc>
                  <a:spcPts val="4779"/>
                </a:lnSpc>
                <a:buFont typeface="Arial"/>
                <a:buChar char="•"/>
              </a:pPr>
              <a:r>
                <a:rPr lang="en-US" sz="3540" spc="-35">
                  <a:solidFill>
                    <a:srgbClr val="000000"/>
                  </a:solidFill>
                  <a:latin typeface="Asap"/>
                  <a:ea typeface="Asap"/>
                  <a:cs typeface="Asap"/>
                  <a:sym typeface="Asap"/>
                </a:rPr>
                <a:t>Á</a:t>
              </a:r>
              <a:r>
                <a:rPr lang="en-US" sz="3540" spc="-35">
                  <a:solidFill>
                    <a:srgbClr val="000000"/>
                  </a:solidFill>
                  <a:latin typeface="Asap"/>
                  <a:ea typeface="Asap"/>
                  <a:cs typeface="Asap"/>
                  <a:sym typeface="Asap"/>
                </a:rPr>
                <a:t>p dụng best practices</a:t>
              </a:r>
            </a:p>
            <a:p>
              <a:pPr algn="just">
                <a:lnSpc>
                  <a:spcPts val="4779"/>
                </a:lnSpc>
              </a:pPr>
              <a:r>
                <a:rPr lang="en-US" b="true" sz="3540" spc="-35">
                  <a:solidFill>
                    <a:srgbClr val="000000"/>
                  </a:solidFill>
                  <a:latin typeface="Asap Bold"/>
                  <a:ea typeface="Asap Bold"/>
                  <a:cs typeface="Asap Bold"/>
                  <a:sym typeface="Asap Bold"/>
                </a:rPr>
                <a:t>GenAI có thể:</a:t>
              </a:r>
            </a:p>
            <a:p>
              <a:pPr algn="just" marL="764289" indent="-382145" lvl="1">
                <a:lnSpc>
                  <a:spcPts val="4779"/>
                </a:lnSpc>
                <a:buFont typeface="Arial"/>
                <a:buChar char="•"/>
              </a:pPr>
              <a:r>
                <a:rPr lang="en-US" sz="3540" spc="-35">
                  <a:solidFill>
                    <a:srgbClr val="000000"/>
                  </a:solidFill>
                  <a:latin typeface="Asap"/>
                  <a:ea typeface="Asap"/>
                  <a:cs typeface="Asap"/>
                  <a:sym typeface="Asap"/>
                </a:rPr>
                <a:t>Thêm logging vào code</a:t>
              </a:r>
            </a:p>
            <a:p>
              <a:pPr algn="just" marL="764289" indent="-382145" lvl="1">
                <a:lnSpc>
                  <a:spcPts val="4779"/>
                </a:lnSpc>
                <a:buFont typeface="Arial"/>
                <a:buChar char="•"/>
              </a:pPr>
              <a:r>
                <a:rPr lang="en-US" sz="3540" spc="-35">
                  <a:solidFill>
                    <a:srgbClr val="000000"/>
                  </a:solidFill>
                  <a:latin typeface="Asap"/>
                  <a:ea typeface="Asap"/>
                  <a:cs typeface="Asap"/>
                  <a:sym typeface="Asap"/>
                </a:rPr>
                <a:t>Thêm error handling</a:t>
              </a:r>
            </a:p>
            <a:p>
              <a:pPr algn="just" marL="764289" indent="-382145" lvl="1">
                <a:lnSpc>
                  <a:spcPts val="4779"/>
                </a:lnSpc>
                <a:buFont typeface="Arial"/>
                <a:buChar char="•"/>
              </a:pPr>
              <a:r>
                <a:rPr lang="en-US" sz="3540" spc="-35">
                  <a:solidFill>
                    <a:srgbClr val="000000"/>
                  </a:solidFill>
                  <a:latin typeface="Asap"/>
                  <a:ea typeface="Asap"/>
                  <a:cs typeface="Asap"/>
                  <a:sym typeface="Asap"/>
                </a:rPr>
                <a:t>Viết code theo chuẩn production</a:t>
              </a:r>
            </a:p>
            <a:p>
              <a:pPr algn="just">
                <a:lnSpc>
                  <a:spcPts val="4779"/>
                </a:lnSpc>
              </a:pPr>
            </a:p>
            <a:p>
              <a:pPr algn="just">
                <a:lnSpc>
                  <a:spcPts val="4779"/>
                </a:lnSpc>
              </a:pPr>
            </a:p>
          </p:txBody>
        </p:sp>
        <p:sp>
          <p:nvSpPr>
            <p:cNvPr name="TextBox 13" id="13"/>
            <p:cNvSpPr txBox="true"/>
            <p:nvPr/>
          </p:nvSpPr>
          <p:spPr>
            <a:xfrm rot="0">
              <a:off x="0" y="0"/>
              <a:ext cx="20168950" cy="1216660"/>
            </a:xfrm>
            <a:prstGeom prst="rect">
              <a:avLst/>
            </a:prstGeom>
          </p:spPr>
          <p:txBody>
            <a:bodyPr anchor="t" rtlCol="false" tIns="0" lIns="0" bIns="0" rIns="0">
              <a:spAutoFit/>
            </a:bodyPr>
            <a:lstStyle/>
            <a:p>
              <a:pPr algn="ctr">
                <a:lnSpc>
                  <a:spcPts val="7140"/>
                </a:lnSpc>
              </a:pPr>
              <a:r>
                <a:rPr lang="en-US" b="true" sz="5950">
                  <a:solidFill>
                    <a:srgbClr val="1D2B74"/>
                  </a:solidFill>
                  <a:latin typeface="Faustina Bold"/>
                  <a:ea typeface="Faustina Bold"/>
                  <a:cs typeface="Faustina Bold"/>
                  <a:sym typeface="Faustina Bold"/>
                </a:rPr>
                <a:t>GENAI TRONG PRODUCTION</a:t>
              </a:r>
            </a:p>
          </p:txBody>
        </p:sp>
      </p:grpSp>
    </p:spTree>
  </p:cSld>
  <p:clrMapOvr>
    <a:masterClrMapping/>
  </p:clrMapOvr>
  <p:transition spd="slow">
    <p:push dir="d"/>
  </p:transition>
</p:sld>
</file>

<file path=ppt/slides/slide43.xml><?xml version="1.0" encoding="utf-8"?>
<p:sld xmlns:p="http://schemas.openxmlformats.org/presentationml/2006/main" xmlns:a="http://schemas.openxmlformats.org/drawingml/2006/main">
  <p:cSld>
    <p:bg>
      <p:bgPr>
        <a:solidFill>
          <a:srgbClr val="C8E3ED"/>
        </a:solidFill>
      </p:bgPr>
    </p:bg>
    <p:spTree>
      <p:nvGrpSpPr>
        <p:cNvPr id="1" name=""/>
        <p:cNvGrpSpPr/>
        <p:nvPr/>
      </p:nvGrpSpPr>
      <p:grpSpPr>
        <a:xfrm>
          <a:off x="0" y="0"/>
          <a:ext cx="0" cy="0"/>
          <a:chOff x="0" y="0"/>
          <a:chExt cx="0" cy="0"/>
        </a:xfrm>
      </p:grpSpPr>
      <p:grpSp>
        <p:nvGrpSpPr>
          <p:cNvPr name="Group 2" id="2"/>
          <p:cNvGrpSpPr/>
          <p:nvPr/>
        </p:nvGrpSpPr>
        <p:grpSpPr>
          <a:xfrm rot="0">
            <a:off x="774820" y="1028700"/>
            <a:ext cx="18537765" cy="8229600"/>
            <a:chOff x="0" y="0"/>
            <a:chExt cx="24717020" cy="10972800"/>
          </a:xfrm>
        </p:grpSpPr>
        <p:grpSp>
          <p:nvGrpSpPr>
            <p:cNvPr name="Group 3" id="3"/>
            <p:cNvGrpSpPr/>
            <p:nvPr/>
          </p:nvGrpSpPr>
          <p:grpSpPr>
            <a:xfrm rot="0">
              <a:off x="0" y="977717"/>
              <a:ext cx="23352980" cy="9995083"/>
              <a:chOff x="0" y="0"/>
              <a:chExt cx="22703567" cy="9717134"/>
            </a:xfrm>
          </p:grpSpPr>
          <p:sp>
            <p:nvSpPr>
              <p:cNvPr name="Freeform 4" id="4"/>
              <p:cNvSpPr/>
              <p:nvPr/>
            </p:nvSpPr>
            <p:spPr>
              <a:xfrm flipH="false" flipV="false" rot="0">
                <a:off x="-1" y="0"/>
                <a:ext cx="22703568" cy="9717134"/>
              </a:xfrm>
              <a:custGeom>
                <a:avLst/>
                <a:gdLst/>
                <a:ahLst/>
                <a:cxnLst/>
                <a:rect r="r" b="b" t="t" l="l"/>
                <a:pathLst>
                  <a:path h="9717134" w="22703568">
                    <a:moveTo>
                      <a:pt x="22204787" y="9700216"/>
                    </a:moveTo>
                    <a:cubicBezTo>
                      <a:pt x="22204787" y="9700216"/>
                      <a:pt x="21967792" y="9690246"/>
                      <a:pt x="21605653" y="9703690"/>
                    </a:cubicBezTo>
                    <a:cubicBezTo>
                      <a:pt x="21243514" y="9717134"/>
                      <a:pt x="490924" y="9717134"/>
                      <a:pt x="490924" y="9717134"/>
                    </a:cubicBezTo>
                    <a:cubicBezTo>
                      <a:pt x="245502" y="9717134"/>
                      <a:pt x="32509" y="9619866"/>
                      <a:pt x="31032" y="9459752"/>
                    </a:cubicBezTo>
                    <a:cubicBezTo>
                      <a:pt x="31032" y="9459752"/>
                      <a:pt x="0" y="6758194"/>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158239" y="0"/>
                      <a:pt x="22158239" y="0"/>
                    </a:cubicBezTo>
                    <a:cubicBezTo>
                      <a:pt x="22470140" y="0"/>
                      <a:pt x="22703569" y="101069"/>
                      <a:pt x="22695710" y="303616"/>
                    </a:cubicBezTo>
                    <a:cubicBezTo>
                      <a:pt x="22695710" y="303616"/>
                      <a:pt x="22693715" y="6210870"/>
                      <a:pt x="22702471" y="8760165"/>
                    </a:cubicBezTo>
                    <a:cubicBezTo>
                      <a:pt x="22711226" y="9053467"/>
                      <a:pt x="22664678" y="9386538"/>
                      <a:pt x="22664678" y="9386538"/>
                    </a:cubicBezTo>
                    <a:cubicBezTo>
                      <a:pt x="22661712" y="9566563"/>
                      <a:pt x="22450209" y="9700216"/>
                      <a:pt x="22204787" y="9700216"/>
                    </a:cubicBezTo>
                    <a:close/>
                  </a:path>
                </a:pathLst>
              </a:custGeom>
              <a:solidFill>
                <a:srgbClr val="8FB7C6"/>
              </a:solidFill>
            </p:spPr>
          </p:sp>
        </p:grpSp>
        <p:grpSp>
          <p:nvGrpSpPr>
            <p:cNvPr name="Group 5" id="5"/>
            <p:cNvGrpSpPr/>
            <p:nvPr/>
          </p:nvGrpSpPr>
          <p:grpSpPr>
            <a:xfrm rot="0">
              <a:off x="254961" y="1067537"/>
              <a:ext cx="22897610" cy="9778026"/>
              <a:chOff x="0" y="0"/>
              <a:chExt cx="22594507" cy="9648591"/>
            </a:xfrm>
          </p:grpSpPr>
          <p:sp>
            <p:nvSpPr>
              <p:cNvPr name="Freeform 6" id="6"/>
              <p:cNvSpPr/>
              <p:nvPr/>
            </p:nvSpPr>
            <p:spPr>
              <a:xfrm flipH="false" flipV="false" rot="0">
                <a:off x="-1" y="0"/>
                <a:ext cx="22594508" cy="9648591"/>
              </a:xfrm>
              <a:custGeom>
                <a:avLst/>
                <a:gdLst/>
                <a:ahLst/>
                <a:cxnLst/>
                <a:rect r="r" b="b" t="t" l="l"/>
                <a:pathLst>
                  <a:path h="9648591" w="22594508">
                    <a:moveTo>
                      <a:pt x="22095727" y="9631673"/>
                    </a:moveTo>
                    <a:cubicBezTo>
                      <a:pt x="22095727" y="9631673"/>
                      <a:pt x="21858730" y="9621703"/>
                      <a:pt x="21496593" y="9635147"/>
                    </a:cubicBezTo>
                    <a:cubicBezTo>
                      <a:pt x="21134454" y="9648591"/>
                      <a:pt x="490924" y="9648591"/>
                      <a:pt x="490924" y="9648591"/>
                    </a:cubicBezTo>
                    <a:cubicBezTo>
                      <a:pt x="245502" y="9648591"/>
                      <a:pt x="32509" y="9551323"/>
                      <a:pt x="31032" y="9391209"/>
                    </a:cubicBezTo>
                    <a:cubicBezTo>
                      <a:pt x="31032" y="9391209"/>
                      <a:pt x="0" y="6705102"/>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049179" y="0"/>
                      <a:pt x="22049179" y="0"/>
                    </a:cubicBezTo>
                    <a:cubicBezTo>
                      <a:pt x="22361080" y="0"/>
                      <a:pt x="22594507" y="101069"/>
                      <a:pt x="22586650" y="303616"/>
                    </a:cubicBezTo>
                    <a:cubicBezTo>
                      <a:pt x="22586650" y="303616"/>
                      <a:pt x="22584655" y="6162502"/>
                      <a:pt x="22593411" y="8691622"/>
                    </a:cubicBezTo>
                    <a:cubicBezTo>
                      <a:pt x="22602166" y="8984924"/>
                      <a:pt x="22555618" y="9317995"/>
                      <a:pt x="22555618" y="9317995"/>
                    </a:cubicBezTo>
                    <a:cubicBezTo>
                      <a:pt x="22552652" y="9498020"/>
                      <a:pt x="22341149" y="9631673"/>
                      <a:pt x="22095727" y="9631673"/>
                    </a:cubicBezTo>
                    <a:close/>
                  </a:path>
                </a:pathLst>
              </a:custGeom>
              <a:solidFill>
                <a:srgbClr val="8FB7C6"/>
              </a:solidFill>
            </p:spPr>
          </p:sp>
        </p:grpSp>
        <p:grpSp>
          <p:nvGrpSpPr>
            <p:cNvPr name="Group 7" id="7"/>
            <p:cNvGrpSpPr/>
            <p:nvPr/>
          </p:nvGrpSpPr>
          <p:grpSpPr>
            <a:xfrm rot="0">
              <a:off x="919721" y="0"/>
              <a:ext cx="22232850" cy="10328670"/>
              <a:chOff x="0" y="0"/>
              <a:chExt cx="23043639" cy="10705337"/>
            </a:xfrm>
          </p:grpSpPr>
          <p:sp>
            <p:nvSpPr>
              <p:cNvPr name="Freeform 8" id="8"/>
              <p:cNvSpPr/>
              <p:nvPr/>
            </p:nvSpPr>
            <p:spPr>
              <a:xfrm flipH="false" flipV="false" rot="0">
                <a:off x="-1" y="0"/>
                <a:ext cx="23043639" cy="10705337"/>
              </a:xfrm>
              <a:custGeom>
                <a:avLst/>
                <a:gdLst/>
                <a:ahLst/>
                <a:cxnLst/>
                <a:rect r="r" b="b" t="t" l="l"/>
                <a:pathLst>
                  <a:path h="10705337" w="23043639">
                    <a:moveTo>
                      <a:pt x="22544859" y="10688418"/>
                    </a:moveTo>
                    <a:cubicBezTo>
                      <a:pt x="22544859" y="10688418"/>
                      <a:pt x="22307863" y="10678449"/>
                      <a:pt x="21945723" y="10691893"/>
                    </a:cubicBezTo>
                    <a:cubicBezTo>
                      <a:pt x="21583586" y="10705337"/>
                      <a:pt x="490924" y="10705337"/>
                      <a:pt x="490924" y="10705337"/>
                    </a:cubicBezTo>
                    <a:cubicBezTo>
                      <a:pt x="245502" y="10705337"/>
                      <a:pt x="32509" y="10608069"/>
                      <a:pt x="31032" y="10447955"/>
                    </a:cubicBezTo>
                    <a:cubicBezTo>
                      <a:pt x="31032" y="10447955"/>
                      <a:pt x="0" y="7523653"/>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498310" y="0"/>
                      <a:pt x="22498310" y="0"/>
                    </a:cubicBezTo>
                    <a:cubicBezTo>
                      <a:pt x="22810212" y="0"/>
                      <a:pt x="23043639" y="101069"/>
                      <a:pt x="23035783" y="303616"/>
                    </a:cubicBezTo>
                    <a:cubicBezTo>
                      <a:pt x="23035783" y="303616"/>
                      <a:pt x="23033787" y="6908210"/>
                      <a:pt x="23042542" y="9748368"/>
                    </a:cubicBezTo>
                    <a:cubicBezTo>
                      <a:pt x="23051298" y="10041669"/>
                      <a:pt x="23004750" y="10374741"/>
                      <a:pt x="23004750" y="10374741"/>
                    </a:cubicBezTo>
                    <a:cubicBezTo>
                      <a:pt x="23001785" y="10554766"/>
                      <a:pt x="22790281" y="10688418"/>
                      <a:pt x="22544859" y="10688418"/>
                    </a:cubicBezTo>
                    <a:close/>
                  </a:path>
                </a:pathLst>
              </a:custGeom>
              <a:solidFill>
                <a:srgbClr val="F3FCFF"/>
              </a:solidFill>
            </p:spPr>
          </p:sp>
        </p:grpSp>
        <p:sp>
          <p:nvSpPr>
            <p:cNvPr name="AutoShape 9" id="9"/>
            <p:cNvSpPr/>
            <p:nvPr/>
          </p:nvSpPr>
          <p:spPr>
            <a:xfrm>
              <a:off x="2250246" y="9826016"/>
              <a:ext cx="22466735" cy="34286"/>
            </a:xfrm>
            <a:prstGeom prst="line">
              <a:avLst/>
            </a:prstGeom>
            <a:ln cap="rnd" w="50800">
              <a:solidFill>
                <a:srgbClr val="8FB7C6"/>
              </a:solidFill>
              <a:prstDash val="solid"/>
              <a:headEnd type="none" len="sm" w="sm"/>
              <a:tailEnd type="none" len="sm" w="sm"/>
            </a:ln>
          </p:spPr>
        </p:sp>
        <p:sp>
          <p:nvSpPr>
            <p:cNvPr name="AutoShape 10" id="10"/>
            <p:cNvSpPr/>
            <p:nvPr/>
          </p:nvSpPr>
          <p:spPr>
            <a:xfrm>
              <a:off x="2250246" y="717206"/>
              <a:ext cx="22466735" cy="34286"/>
            </a:xfrm>
            <a:prstGeom prst="line">
              <a:avLst/>
            </a:prstGeom>
            <a:ln cap="rnd" w="50800">
              <a:solidFill>
                <a:srgbClr val="8FB7C6"/>
              </a:solidFill>
              <a:prstDash val="solid"/>
              <a:headEnd type="none" len="sm" w="sm"/>
              <a:tailEnd type="none" len="sm" w="sm"/>
            </a:ln>
          </p:spPr>
        </p:sp>
      </p:grpSp>
      <p:grpSp>
        <p:nvGrpSpPr>
          <p:cNvPr name="Group 11" id="11"/>
          <p:cNvGrpSpPr/>
          <p:nvPr/>
        </p:nvGrpSpPr>
        <p:grpSpPr>
          <a:xfrm rot="0">
            <a:off x="2340128" y="1655926"/>
            <a:ext cx="16111787" cy="8319844"/>
            <a:chOff x="0" y="0"/>
            <a:chExt cx="21482383" cy="11093126"/>
          </a:xfrm>
        </p:grpSpPr>
        <p:sp>
          <p:nvSpPr>
            <p:cNvPr name="TextBox 12" id="12"/>
            <p:cNvSpPr txBox="true"/>
            <p:nvPr/>
          </p:nvSpPr>
          <p:spPr>
            <a:xfrm rot="0">
              <a:off x="0" y="1159095"/>
              <a:ext cx="21482383" cy="9934031"/>
            </a:xfrm>
            <a:prstGeom prst="rect">
              <a:avLst/>
            </a:prstGeom>
          </p:spPr>
          <p:txBody>
            <a:bodyPr anchor="t" rtlCol="false" tIns="0" lIns="0" bIns="0" rIns="0">
              <a:spAutoFit/>
            </a:bodyPr>
            <a:lstStyle/>
            <a:p>
              <a:pPr algn="just">
                <a:lnSpc>
                  <a:spcPts val="4247"/>
                </a:lnSpc>
              </a:pPr>
              <a:r>
                <a:rPr lang="en-US" b="true" sz="3146" spc="-31">
                  <a:solidFill>
                    <a:srgbClr val="000000"/>
                  </a:solidFill>
                  <a:latin typeface="Asap Bold"/>
                  <a:ea typeface="Asap Bold"/>
                  <a:cs typeface="Asap Bold"/>
                  <a:sym typeface="Asap Bold"/>
                </a:rPr>
                <a:t>Vấ</a:t>
              </a:r>
              <a:r>
                <a:rPr lang="en-US" b="true" sz="3146" spc="-31">
                  <a:solidFill>
                    <a:srgbClr val="000000"/>
                  </a:solidFill>
                  <a:latin typeface="Asap Bold"/>
                  <a:ea typeface="Asap Bold"/>
                  <a:cs typeface="Asap Bold"/>
                  <a:sym typeface="Asap Bold"/>
                </a:rPr>
                <a:t>n</a:t>
              </a:r>
              <a:r>
                <a:rPr lang="en-US" b="true" sz="3146" spc="-31">
                  <a:solidFill>
                    <a:srgbClr val="000000"/>
                  </a:solidFill>
                  <a:latin typeface="Asap Bold"/>
                  <a:ea typeface="Asap Bold"/>
                  <a:cs typeface="Asap Bold"/>
                  <a:sym typeface="Asap Bold"/>
                </a:rPr>
                <a:t> đề</a:t>
              </a:r>
            </a:p>
            <a:p>
              <a:pPr algn="just" marL="679311" indent="-339655" lvl="1">
                <a:lnSpc>
                  <a:spcPts val="4247"/>
                </a:lnSpc>
                <a:buFont typeface="Arial"/>
                <a:buChar char="•"/>
              </a:pPr>
              <a:r>
                <a:rPr lang="en-US" sz="3146" spc="-31">
                  <a:solidFill>
                    <a:srgbClr val="000000"/>
                  </a:solidFill>
                  <a:latin typeface="Asap"/>
                  <a:ea typeface="Asap"/>
                  <a:cs typeface="Asap"/>
                  <a:sym typeface="Asap"/>
                </a:rPr>
                <a:t>Logic chính và logging bị trộn lẫn</a:t>
              </a:r>
            </a:p>
            <a:p>
              <a:pPr algn="just">
                <a:lnSpc>
                  <a:spcPts val="4247"/>
                </a:lnSpc>
              </a:pPr>
              <a:r>
                <a:rPr lang="en-US" sz="3146" spc="-31">
                  <a:solidFill>
                    <a:srgbClr val="000000"/>
                  </a:solidFill>
                  <a:latin typeface="Asap"/>
                  <a:ea typeface="Asap"/>
                  <a:cs typeface="Asap"/>
                  <a:sym typeface="Asap"/>
                </a:rPr>
                <a:t>→ code khó đọc, khó maintain</a:t>
              </a:r>
            </a:p>
            <a:p>
              <a:pPr algn="just">
                <a:lnSpc>
                  <a:spcPts val="4247"/>
                </a:lnSpc>
              </a:pPr>
              <a:r>
                <a:rPr lang="en-US" b="true" sz="3146" spc="-31">
                  <a:solidFill>
                    <a:srgbClr val="000000"/>
                  </a:solidFill>
                  <a:latin typeface="Asap Bold"/>
                  <a:ea typeface="Asap Bold"/>
                  <a:cs typeface="Asap Bold"/>
                  <a:sym typeface="Asap Bold"/>
                </a:rPr>
                <a:t>Giải pháp</a:t>
              </a:r>
            </a:p>
            <a:p>
              <a:pPr algn="just" marL="679311" indent="-339655" lvl="1">
                <a:lnSpc>
                  <a:spcPts val="4247"/>
                </a:lnSpc>
                <a:buFont typeface="Arial"/>
                <a:buChar char="•"/>
              </a:pPr>
              <a:r>
                <a:rPr lang="en-US" sz="3146" spc="-31">
                  <a:solidFill>
                    <a:srgbClr val="000000"/>
                  </a:solidFill>
                  <a:latin typeface="Asap"/>
                  <a:ea typeface="Asap"/>
                  <a:cs typeface="Asap"/>
                  <a:sym typeface="Asap"/>
                </a:rPr>
                <a:t>Sử dụng decorator để tách:</a:t>
              </a:r>
            </a:p>
            <a:p>
              <a:pPr algn="just" marL="1358622" indent="-452874" lvl="2">
                <a:lnSpc>
                  <a:spcPts val="4247"/>
                </a:lnSpc>
                <a:buFont typeface="Arial"/>
                <a:buChar char="⚬"/>
              </a:pPr>
              <a:r>
                <a:rPr lang="en-US" sz="3146" spc="-31">
                  <a:solidFill>
                    <a:srgbClr val="000000"/>
                  </a:solidFill>
                  <a:latin typeface="Asap"/>
                  <a:ea typeface="Asap"/>
                  <a:cs typeface="Asap"/>
                  <a:sym typeface="Asap"/>
                </a:rPr>
                <a:t>business logic</a:t>
              </a:r>
            </a:p>
            <a:p>
              <a:pPr algn="just" marL="1358622" indent="-452874" lvl="2">
                <a:lnSpc>
                  <a:spcPts val="4247"/>
                </a:lnSpc>
                <a:buFont typeface="Arial"/>
                <a:buChar char="⚬"/>
              </a:pPr>
              <a:r>
                <a:rPr lang="en-US" sz="3146" spc="-31">
                  <a:solidFill>
                    <a:srgbClr val="000000"/>
                  </a:solidFill>
                  <a:latin typeface="Asap"/>
                  <a:ea typeface="Asap"/>
                  <a:cs typeface="Asap"/>
                  <a:sym typeface="Asap"/>
                </a:rPr>
                <a:t>logging / monitoring</a:t>
              </a:r>
            </a:p>
            <a:p>
              <a:pPr algn="just">
                <a:lnSpc>
                  <a:spcPts val="4247"/>
                </a:lnSpc>
              </a:pPr>
              <a:r>
                <a:rPr lang="en-US" b="true" sz="3146" spc="-31">
                  <a:solidFill>
                    <a:srgbClr val="000000"/>
                  </a:solidFill>
                  <a:latin typeface="Asap Bold"/>
                  <a:ea typeface="Asap Bold"/>
                  <a:cs typeface="Asap Bold"/>
                  <a:sym typeface="Asap Bold"/>
                </a:rPr>
                <a:t>Lợi ích</a:t>
              </a:r>
            </a:p>
            <a:p>
              <a:pPr algn="just" marL="679311" indent="-339655" lvl="1">
                <a:lnSpc>
                  <a:spcPts val="4247"/>
                </a:lnSpc>
                <a:buFont typeface="Arial"/>
                <a:buChar char="•"/>
              </a:pPr>
              <a:r>
                <a:rPr lang="en-US" sz="3146" spc="-31">
                  <a:solidFill>
                    <a:srgbClr val="000000"/>
                  </a:solidFill>
                  <a:latin typeface="Asap"/>
                  <a:ea typeface="Asap"/>
                  <a:cs typeface="Asap"/>
                  <a:sym typeface="Asap"/>
                </a:rPr>
                <a:t>Code rõ ràng</a:t>
              </a:r>
            </a:p>
            <a:p>
              <a:pPr algn="just" marL="679311" indent="-339655" lvl="1">
                <a:lnSpc>
                  <a:spcPts val="4247"/>
                </a:lnSpc>
                <a:buFont typeface="Arial"/>
                <a:buChar char="•"/>
              </a:pPr>
              <a:r>
                <a:rPr lang="en-US" sz="3146" spc="-31">
                  <a:solidFill>
                    <a:srgbClr val="000000"/>
                  </a:solidFill>
                  <a:latin typeface="Asap"/>
                  <a:ea typeface="Asap"/>
                  <a:cs typeface="Asap"/>
                  <a:sym typeface="Asap"/>
                </a:rPr>
                <a:t>Dễ bảo trì</a:t>
              </a:r>
            </a:p>
            <a:p>
              <a:pPr algn="just" marL="679311" indent="-339655" lvl="1">
                <a:lnSpc>
                  <a:spcPts val="4247"/>
                </a:lnSpc>
                <a:buFont typeface="Arial"/>
                <a:buChar char="•"/>
              </a:pPr>
              <a:r>
                <a:rPr lang="en-US" sz="3146" spc="-31">
                  <a:solidFill>
                    <a:srgbClr val="000000"/>
                  </a:solidFill>
                  <a:latin typeface="Asap"/>
                  <a:ea typeface="Asap"/>
                  <a:cs typeface="Asap"/>
                  <a:sym typeface="Asap"/>
                </a:rPr>
                <a:t>Tái sử dụng</a:t>
              </a:r>
            </a:p>
            <a:p>
              <a:pPr algn="just">
                <a:lnSpc>
                  <a:spcPts val="4247"/>
                </a:lnSpc>
              </a:pPr>
            </a:p>
            <a:p>
              <a:pPr algn="just">
                <a:lnSpc>
                  <a:spcPts val="4247"/>
                </a:lnSpc>
              </a:pPr>
            </a:p>
            <a:p>
              <a:pPr algn="just">
                <a:lnSpc>
                  <a:spcPts val="4247"/>
                </a:lnSpc>
              </a:pPr>
            </a:p>
          </p:txBody>
        </p:sp>
        <p:sp>
          <p:nvSpPr>
            <p:cNvPr name="TextBox 13" id="13"/>
            <p:cNvSpPr txBox="true"/>
            <p:nvPr/>
          </p:nvSpPr>
          <p:spPr>
            <a:xfrm rot="0">
              <a:off x="0" y="0"/>
              <a:ext cx="20168950" cy="1216660"/>
            </a:xfrm>
            <a:prstGeom prst="rect">
              <a:avLst/>
            </a:prstGeom>
          </p:spPr>
          <p:txBody>
            <a:bodyPr anchor="t" rtlCol="false" tIns="0" lIns="0" bIns="0" rIns="0">
              <a:spAutoFit/>
            </a:bodyPr>
            <a:lstStyle/>
            <a:p>
              <a:pPr algn="ctr">
                <a:lnSpc>
                  <a:spcPts val="7140"/>
                </a:lnSpc>
              </a:pPr>
              <a:r>
                <a:rPr lang="en-US" b="true" sz="5950">
                  <a:solidFill>
                    <a:srgbClr val="1D2B74"/>
                  </a:solidFill>
                  <a:latin typeface="Faustina Bold"/>
                  <a:ea typeface="Faustina Bold"/>
                  <a:cs typeface="Faustina Bold"/>
                  <a:sym typeface="Faustina Bold"/>
                </a:rPr>
                <a:t>DECORATOR</a:t>
              </a:r>
            </a:p>
          </p:txBody>
        </p:sp>
      </p:grpSp>
    </p:spTree>
  </p:cSld>
  <p:clrMapOvr>
    <a:masterClrMapping/>
  </p:clrMapOvr>
  <p:transition spd="slow">
    <p:push dir="d"/>
  </p:transition>
</p:sld>
</file>

<file path=ppt/slides/slide44.xml><?xml version="1.0" encoding="utf-8"?>
<p:sld xmlns:p="http://schemas.openxmlformats.org/presentationml/2006/main" xmlns:a="http://schemas.openxmlformats.org/drawingml/2006/main">
  <p:cSld>
    <p:bg>
      <p:bgPr>
        <a:solidFill>
          <a:srgbClr val="C8E3ED"/>
        </a:solidFill>
      </p:bgPr>
    </p:bg>
    <p:spTree>
      <p:nvGrpSpPr>
        <p:cNvPr id="1" name=""/>
        <p:cNvGrpSpPr/>
        <p:nvPr/>
      </p:nvGrpSpPr>
      <p:grpSpPr>
        <a:xfrm>
          <a:off x="0" y="0"/>
          <a:ext cx="0" cy="0"/>
          <a:chOff x="0" y="0"/>
          <a:chExt cx="0" cy="0"/>
        </a:xfrm>
      </p:grpSpPr>
      <p:grpSp>
        <p:nvGrpSpPr>
          <p:cNvPr name="Group 2" id="2"/>
          <p:cNvGrpSpPr/>
          <p:nvPr/>
        </p:nvGrpSpPr>
        <p:grpSpPr>
          <a:xfrm rot="0">
            <a:off x="774820" y="1028700"/>
            <a:ext cx="18537765" cy="8229600"/>
            <a:chOff x="0" y="0"/>
            <a:chExt cx="24717020" cy="10972800"/>
          </a:xfrm>
        </p:grpSpPr>
        <p:grpSp>
          <p:nvGrpSpPr>
            <p:cNvPr name="Group 3" id="3"/>
            <p:cNvGrpSpPr/>
            <p:nvPr/>
          </p:nvGrpSpPr>
          <p:grpSpPr>
            <a:xfrm rot="0">
              <a:off x="0" y="977717"/>
              <a:ext cx="23352980" cy="9995083"/>
              <a:chOff x="0" y="0"/>
              <a:chExt cx="22703567" cy="9717134"/>
            </a:xfrm>
          </p:grpSpPr>
          <p:sp>
            <p:nvSpPr>
              <p:cNvPr name="Freeform 4" id="4"/>
              <p:cNvSpPr/>
              <p:nvPr/>
            </p:nvSpPr>
            <p:spPr>
              <a:xfrm flipH="false" flipV="false" rot="0">
                <a:off x="-1" y="0"/>
                <a:ext cx="22703568" cy="9717134"/>
              </a:xfrm>
              <a:custGeom>
                <a:avLst/>
                <a:gdLst/>
                <a:ahLst/>
                <a:cxnLst/>
                <a:rect r="r" b="b" t="t" l="l"/>
                <a:pathLst>
                  <a:path h="9717134" w="22703568">
                    <a:moveTo>
                      <a:pt x="22204787" y="9700216"/>
                    </a:moveTo>
                    <a:cubicBezTo>
                      <a:pt x="22204787" y="9700216"/>
                      <a:pt x="21967792" y="9690246"/>
                      <a:pt x="21605653" y="9703690"/>
                    </a:cubicBezTo>
                    <a:cubicBezTo>
                      <a:pt x="21243514" y="9717134"/>
                      <a:pt x="490924" y="9717134"/>
                      <a:pt x="490924" y="9717134"/>
                    </a:cubicBezTo>
                    <a:cubicBezTo>
                      <a:pt x="245502" y="9717134"/>
                      <a:pt x="32509" y="9619866"/>
                      <a:pt x="31032" y="9459752"/>
                    </a:cubicBezTo>
                    <a:cubicBezTo>
                      <a:pt x="31032" y="9459752"/>
                      <a:pt x="0" y="6758194"/>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158239" y="0"/>
                      <a:pt x="22158239" y="0"/>
                    </a:cubicBezTo>
                    <a:cubicBezTo>
                      <a:pt x="22470140" y="0"/>
                      <a:pt x="22703569" y="101069"/>
                      <a:pt x="22695710" y="303616"/>
                    </a:cubicBezTo>
                    <a:cubicBezTo>
                      <a:pt x="22695710" y="303616"/>
                      <a:pt x="22693715" y="6210870"/>
                      <a:pt x="22702471" y="8760165"/>
                    </a:cubicBezTo>
                    <a:cubicBezTo>
                      <a:pt x="22711226" y="9053467"/>
                      <a:pt x="22664678" y="9386538"/>
                      <a:pt x="22664678" y="9386538"/>
                    </a:cubicBezTo>
                    <a:cubicBezTo>
                      <a:pt x="22661712" y="9566563"/>
                      <a:pt x="22450209" y="9700216"/>
                      <a:pt x="22204787" y="9700216"/>
                    </a:cubicBezTo>
                    <a:close/>
                  </a:path>
                </a:pathLst>
              </a:custGeom>
              <a:solidFill>
                <a:srgbClr val="8FB7C6"/>
              </a:solidFill>
            </p:spPr>
          </p:sp>
        </p:grpSp>
        <p:grpSp>
          <p:nvGrpSpPr>
            <p:cNvPr name="Group 5" id="5"/>
            <p:cNvGrpSpPr/>
            <p:nvPr/>
          </p:nvGrpSpPr>
          <p:grpSpPr>
            <a:xfrm rot="0">
              <a:off x="254961" y="1067537"/>
              <a:ext cx="22897610" cy="9778026"/>
              <a:chOff x="0" y="0"/>
              <a:chExt cx="22594507" cy="9648591"/>
            </a:xfrm>
          </p:grpSpPr>
          <p:sp>
            <p:nvSpPr>
              <p:cNvPr name="Freeform 6" id="6"/>
              <p:cNvSpPr/>
              <p:nvPr/>
            </p:nvSpPr>
            <p:spPr>
              <a:xfrm flipH="false" flipV="false" rot="0">
                <a:off x="-1" y="0"/>
                <a:ext cx="22594508" cy="9648591"/>
              </a:xfrm>
              <a:custGeom>
                <a:avLst/>
                <a:gdLst/>
                <a:ahLst/>
                <a:cxnLst/>
                <a:rect r="r" b="b" t="t" l="l"/>
                <a:pathLst>
                  <a:path h="9648591" w="22594508">
                    <a:moveTo>
                      <a:pt x="22095727" y="9631673"/>
                    </a:moveTo>
                    <a:cubicBezTo>
                      <a:pt x="22095727" y="9631673"/>
                      <a:pt x="21858730" y="9621703"/>
                      <a:pt x="21496593" y="9635147"/>
                    </a:cubicBezTo>
                    <a:cubicBezTo>
                      <a:pt x="21134454" y="9648591"/>
                      <a:pt x="490924" y="9648591"/>
                      <a:pt x="490924" y="9648591"/>
                    </a:cubicBezTo>
                    <a:cubicBezTo>
                      <a:pt x="245502" y="9648591"/>
                      <a:pt x="32509" y="9551323"/>
                      <a:pt x="31032" y="9391209"/>
                    </a:cubicBezTo>
                    <a:cubicBezTo>
                      <a:pt x="31032" y="9391209"/>
                      <a:pt x="0" y="6705102"/>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049179" y="0"/>
                      <a:pt x="22049179" y="0"/>
                    </a:cubicBezTo>
                    <a:cubicBezTo>
                      <a:pt x="22361080" y="0"/>
                      <a:pt x="22594507" y="101069"/>
                      <a:pt x="22586650" y="303616"/>
                    </a:cubicBezTo>
                    <a:cubicBezTo>
                      <a:pt x="22586650" y="303616"/>
                      <a:pt x="22584655" y="6162502"/>
                      <a:pt x="22593411" y="8691622"/>
                    </a:cubicBezTo>
                    <a:cubicBezTo>
                      <a:pt x="22602166" y="8984924"/>
                      <a:pt x="22555618" y="9317995"/>
                      <a:pt x="22555618" y="9317995"/>
                    </a:cubicBezTo>
                    <a:cubicBezTo>
                      <a:pt x="22552652" y="9498020"/>
                      <a:pt x="22341149" y="9631673"/>
                      <a:pt x="22095727" y="9631673"/>
                    </a:cubicBezTo>
                    <a:close/>
                  </a:path>
                </a:pathLst>
              </a:custGeom>
              <a:solidFill>
                <a:srgbClr val="8FB7C6"/>
              </a:solidFill>
            </p:spPr>
          </p:sp>
        </p:grpSp>
        <p:grpSp>
          <p:nvGrpSpPr>
            <p:cNvPr name="Group 7" id="7"/>
            <p:cNvGrpSpPr/>
            <p:nvPr/>
          </p:nvGrpSpPr>
          <p:grpSpPr>
            <a:xfrm rot="0">
              <a:off x="919721" y="0"/>
              <a:ext cx="22232850" cy="10328670"/>
              <a:chOff x="0" y="0"/>
              <a:chExt cx="23043639" cy="10705337"/>
            </a:xfrm>
          </p:grpSpPr>
          <p:sp>
            <p:nvSpPr>
              <p:cNvPr name="Freeform 8" id="8"/>
              <p:cNvSpPr/>
              <p:nvPr/>
            </p:nvSpPr>
            <p:spPr>
              <a:xfrm flipH="false" flipV="false" rot="0">
                <a:off x="-1" y="0"/>
                <a:ext cx="23043639" cy="10705337"/>
              </a:xfrm>
              <a:custGeom>
                <a:avLst/>
                <a:gdLst/>
                <a:ahLst/>
                <a:cxnLst/>
                <a:rect r="r" b="b" t="t" l="l"/>
                <a:pathLst>
                  <a:path h="10705337" w="23043639">
                    <a:moveTo>
                      <a:pt x="22544859" y="10688418"/>
                    </a:moveTo>
                    <a:cubicBezTo>
                      <a:pt x="22544859" y="10688418"/>
                      <a:pt x="22307863" y="10678449"/>
                      <a:pt x="21945723" y="10691893"/>
                    </a:cubicBezTo>
                    <a:cubicBezTo>
                      <a:pt x="21583586" y="10705337"/>
                      <a:pt x="490924" y="10705337"/>
                      <a:pt x="490924" y="10705337"/>
                    </a:cubicBezTo>
                    <a:cubicBezTo>
                      <a:pt x="245502" y="10705337"/>
                      <a:pt x="32509" y="10608069"/>
                      <a:pt x="31032" y="10447955"/>
                    </a:cubicBezTo>
                    <a:cubicBezTo>
                      <a:pt x="31032" y="10447955"/>
                      <a:pt x="0" y="7523653"/>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498310" y="0"/>
                      <a:pt x="22498310" y="0"/>
                    </a:cubicBezTo>
                    <a:cubicBezTo>
                      <a:pt x="22810212" y="0"/>
                      <a:pt x="23043639" y="101069"/>
                      <a:pt x="23035783" y="303616"/>
                    </a:cubicBezTo>
                    <a:cubicBezTo>
                      <a:pt x="23035783" y="303616"/>
                      <a:pt x="23033787" y="6908210"/>
                      <a:pt x="23042542" y="9748368"/>
                    </a:cubicBezTo>
                    <a:cubicBezTo>
                      <a:pt x="23051298" y="10041669"/>
                      <a:pt x="23004750" y="10374741"/>
                      <a:pt x="23004750" y="10374741"/>
                    </a:cubicBezTo>
                    <a:cubicBezTo>
                      <a:pt x="23001785" y="10554766"/>
                      <a:pt x="22790281" y="10688418"/>
                      <a:pt x="22544859" y="10688418"/>
                    </a:cubicBezTo>
                    <a:close/>
                  </a:path>
                </a:pathLst>
              </a:custGeom>
              <a:solidFill>
                <a:srgbClr val="F3FCFF"/>
              </a:solidFill>
            </p:spPr>
          </p:sp>
        </p:grpSp>
        <p:sp>
          <p:nvSpPr>
            <p:cNvPr name="AutoShape 9" id="9"/>
            <p:cNvSpPr/>
            <p:nvPr/>
          </p:nvSpPr>
          <p:spPr>
            <a:xfrm>
              <a:off x="2250246" y="9826016"/>
              <a:ext cx="22466735" cy="34286"/>
            </a:xfrm>
            <a:prstGeom prst="line">
              <a:avLst/>
            </a:prstGeom>
            <a:ln cap="rnd" w="50800">
              <a:solidFill>
                <a:srgbClr val="8FB7C6"/>
              </a:solidFill>
              <a:prstDash val="solid"/>
              <a:headEnd type="none" len="sm" w="sm"/>
              <a:tailEnd type="none" len="sm" w="sm"/>
            </a:ln>
          </p:spPr>
        </p:sp>
        <p:sp>
          <p:nvSpPr>
            <p:cNvPr name="AutoShape 10" id="10"/>
            <p:cNvSpPr/>
            <p:nvPr/>
          </p:nvSpPr>
          <p:spPr>
            <a:xfrm>
              <a:off x="2250246" y="717206"/>
              <a:ext cx="22466735" cy="34286"/>
            </a:xfrm>
            <a:prstGeom prst="line">
              <a:avLst/>
            </a:prstGeom>
            <a:ln cap="rnd" w="50800">
              <a:solidFill>
                <a:srgbClr val="8FB7C6"/>
              </a:solidFill>
              <a:prstDash val="solid"/>
              <a:headEnd type="none" len="sm" w="sm"/>
              <a:tailEnd type="none" len="sm" w="sm"/>
            </a:ln>
          </p:spPr>
        </p:sp>
      </p:grpSp>
      <p:grpSp>
        <p:nvGrpSpPr>
          <p:cNvPr name="Group 11" id="11"/>
          <p:cNvGrpSpPr/>
          <p:nvPr/>
        </p:nvGrpSpPr>
        <p:grpSpPr>
          <a:xfrm rot="0">
            <a:off x="2680684" y="1497965"/>
            <a:ext cx="15418802" cy="4260682"/>
            <a:chOff x="0" y="0"/>
            <a:chExt cx="20558402" cy="5680910"/>
          </a:xfrm>
        </p:grpSpPr>
        <p:sp>
          <p:nvSpPr>
            <p:cNvPr name="TextBox 12" id="12"/>
            <p:cNvSpPr txBox="true"/>
            <p:nvPr/>
          </p:nvSpPr>
          <p:spPr>
            <a:xfrm rot="0">
              <a:off x="0" y="1751276"/>
              <a:ext cx="20558402" cy="3929634"/>
            </a:xfrm>
            <a:prstGeom prst="rect">
              <a:avLst/>
            </a:prstGeom>
          </p:spPr>
          <p:txBody>
            <a:bodyPr anchor="t" rtlCol="false" tIns="0" lIns="0" bIns="0" rIns="0">
              <a:spAutoFit/>
            </a:bodyPr>
            <a:lstStyle/>
            <a:p>
              <a:pPr algn="just">
                <a:lnSpc>
                  <a:spcPts val="4779"/>
                </a:lnSpc>
              </a:pPr>
              <a:r>
                <a:rPr lang="en-US" sz="3540" spc="-35">
                  <a:solidFill>
                    <a:srgbClr val="000000"/>
                  </a:solidFill>
                  <a:latin typeface="Asap"/>
                  <a:ea typeface="Asap"/>
                  <a:cs typeface="Asap"/>
                  <a:sym typeface="Asap"/>
                </a:rPr>
                <a:t>@log_function_args // tên hàm giá trị truyền vào</a:t>
              </a:r>
            </a:p>
            <a:p>
              <a:pPr algn="just">
                <a:lnSpc>
                  <a:spcPts val="4779"/>
                </a:lnSpc>
              </a:pPr>
              <a:r>
                <a:rPr lang="en-US" sz="3540" spc="-35">
                  <a:solidFill>
                    <a:srgbClr val="000000"/>
                  </a:solidFill>
                  <a:latin typeface="Asap"/>
                  <a:ea typeface="Asap"/>
                  <a:cs typeface="Asap"/>
                  <a:sym typeface="Asap"/>
                </a:rPr>
                <a:t>@</a:t>
              </a:r>
              <a:r>
                <a:rPr lang="en-US" sz="3540" spc="-35">
                  <a:solidFill>
                    <a:srgbClr val="000000"/>
                  </a:solidFill>
                  <a:latin typeface="Asap"/>
                  <a:ea typeface="Asap"/>
                  <a:cs typeface="Asap"/>
                  <a:sym typeface="Asap"/>
                </a:rPr>
                <a:t>increment_counter // tăng biến đếm =&gt; bt hàm được gọi bao lần</a:t>
              </a:r>
            </a:p>
            <a:p>
              <a:pPr algn="just">
                <a:lnSpc>
                  <a:spcPts val="4509"/>
                </a:lnSpc>
              </a:pPr>
              <a:r>
                <a:rPr lang="en-US" sz="3340" spc="-33">
                  <a:solidFill>
                    <a:srgbClr val="000000"/>
                  </a:solidFill>
                  <a:latin typeface="Asap"/>
                  <a:ea typeface="Asap"/>
                  <a:cs typeface="Asap"/>
                  <a:sym typeface="Asap"/>
                </a:rPr>
                <a:t>@va</a:t>
              </a:r>
              <a:r>
                <a:rPr lang="en-US" sz="3340" spc="-33">
                  <a:solidFill>
                    <a:srgbClr val="000000"/>
                  </a:solidFill>
                  <a:latin typeface="Asap"/>
                  <a:ea typeface="Asap"/>
                  <a:cs typeface="Asap"/>
                  <a:sym typeface="Asap"/>
                </a:rPr>
                <a:t>lidate_args_types_and_limits(0, 500) // kiểm tra: có phải số và chạy từ 0-500</a:t>
              </a:r>
            </a:p>
            <a:p>
              <a:pPr algn="just">
                <a:lnSpc>
                  <a:spcPts val="4779"/>
                </a:lnSpc>
              </a:pPr>
              <a:r>
                <a:rPr lang="en-US" sz="3540" spc="-35">
                  <a:solidFill>
                    <a:srgbClr val="000000"/>
                  </a:solidFill>
                  <a:latin typeface="Asap"/>
                  <a:ea typeface="Asap"/>
                  <a:cs typeface="Asap"/>
                  <a:sym typeface="Asap"/>
                </a:rPr>
                <a:t>def print_fizzbuzz(limit: int):</a:t>
              </a:r>
            </a:p>
            <a:p>
              <a:pPr algn="just">
                <a:lnSpc>
                  <a:spcPts val="4779"/>
                </a:lnSpc>
              </a:pPr>
              <a:r>
                <a:rPr lang="en-US" sz="3540" spc="-35">
                  <a:solidFill>
                    <a:srgbClr val="000000"/>
                  </a:solidFill>
                  <a:latin typeface="Asap"/>
                  <a:ea typeface="Asap"/>
                  <a:cs typeface="Asap"/>
                  <a:sym typeface="Asap"/>
                </a:rPr>
                <a:t>    pass</a:t>
              </a:r>
            </a:p>
          </p:txBody>
        </p:sp>
        <p:sp>
          <p:nvSpPr>
            <p:cNvPr name="TextBox 13" id="13"/>
            <p:cNvSpPr txBox="true"/>
            <p:nvPr/>
          </p:nvSpPr>
          <p:spPr>
            <a:xfrm rot="0">
              <a:off x="0" y="0"/>
              <a:ext cx="20168950" cy="1216660"/>
            </a:xfrm>
            <a:prstGeom prst="rect">
              <a:avLst/>
            </a:prstGeom>
          </p:spPr>
          <p:txBody>
            <a:bodyPr anchor="t" rtlCol="false" tIns="0" lIns="0" bIns="0" rIns="0">
              <a:spAutoFit/>
            </a:bodyPr>
            <a:lstStyle/>
            <a:p>
              <a:pPr algn="ctr">
                <a:lnSpc>
                  <a:spcPts val="7140"/>
                </a:lnSpc>
              </a:pPr>
              <a:r>
                <a:rPr lang="en-US" b="true" sz="5950">
                  <a:solidFill>
                    <a:srgbClr val="1D2B74"/>
                  </a:solidFill>
                  <a:latin typeface="Faustina Bold"/>
                  <a:ea typeface="Faustina Bold"/>
                  <a:cs typeface="Faustina Bold"/>
                  <a:sym typeface="Faustina Bold"/>
                </a:rPr>
                <a:t>DECORATOR</a:t>
              </a:r>
            </a:p>
          </p:txBody>
        </p:sp>
      </p:grpSp>
      <p:sp>
        <p:nvSpPr>
          <p:cNvPr name="TextBox 14" id="14"/>
          <p:cNvSpPr txBox="true"/>
          <p:nvPr/>
        </p:nvSpPr>
        <p:spPr>
          <a:xfrm rot="0">
            <a:off x="2259972" y="5715785"/>
            <a:ext cx="9513408" cy="2990088"/>
          </a:xfrm>
          <a:prstGeom prst="rect">
            <a:avLst/>
          </a:prstGeom>
        </p:spPr>
        <p:txBody>
          <a:bodyPr anchor="t" rtlCol="false" tIns="0" lIns="0" bIns="0" rIns="0">
            <a:spAutoFit/>
          </a:bodyPr>
          <a:lstStyle/>
          <a:p>
            <a:pPr algn="l">
              <a:lnSpc>
                <a:spcPts val="4779"/>
              </a:lnSpc>
              <a:spcBef>
                <a:spcPct val="0"/>
              </a:spcBef>
            </a:pPr>
            <a:r>
              <a:rPr lang="en-US" b="true" sz="3540" spc="-35">
                <a:solidFill>
                  <a:srgbClr val="000000"/>
                </a:solidFill>
                <a:latin typeface="Asap Bold"/>
                <a:ea typeface="Asap Bold"/>
                <a:cs typeface="Asap Bold"/>
                <a:sym typeface="Asap Bold"/>
              </a:rPr>
              <a:t>Kết quả:</a:t>
            </a:r>
          </a:p>
          <a:p>
            <a:pPr algn="l" marL="764289" indent="-382145" lvl="1">
              <a:lnSpc>
                <a:spcPts val="4779"/>
              </a:lnSpc>
              <a:spcBef>
                <a:spcPct val="0"/>
              </a:spcBef>
              <a:buFont typeface="Arial"/>
              <a:buChar char="•"/>
            </a:pPr>
            <a:r>
              <a:rPr lang="en-US" sz="3540" spc="-35">
                <a:solidFill>
                  <a:srgbClr val="000000"/>
                </a:solidFill>
                <a:latin typeface="Asap"/>
                <a:ea typeface="Asap"/>
                <a:cs typeface="Asap"/>
                <a:sym typeface="Asap"/>
              </a:rPr>
              <a:t>Logging  → ghi lại thông tin</a:t>
            </a:r>
          </a:p>
          <a:p>
            <a:pPr algn="l" marL="764289" indent="-382145" lvl="1">
              <a:lnSpc>
                <a:spcPts val="4779"/>
              </a:lnSpc>
              <a:spcBef>
                <a:spcPct val="0"/>
              </a:spcBef>
              <a:buFont typeface="Arial"/>
              <a:buChar char="•"/>
            </a:pPr>
            <a:r>
              <a:rPr lang="en-US" sz="3540" spc="-35">
                <a:solidFill>
                  <a:srgbClr val="000000"/>
                </a:solidFill>
                <a:latin typeface="Asap"/>
                <a:ea typeface="Asap"/>
                <a:cs typeface="Asap"/>
                <a:sym typeface="Asap"/>
              </a:rPr>
              <a:t>Tracking → biết số lần chạy</a:t>
            </a:r>
          </a:p>
          <a:p>
            <a:pPr algn="l" marL="764289" indent="-382145" lvl="1">
              <a:lnSpc>
                <a:spcPts val="4779"/>
              </a:lnSpc>
              <a:spcBef>
                <a:spcPct val="0"/>
              </a:spcBef>
              <a:buFont typeface="Arial"/>
              <a:buChar char="•"/>
            </a:pPr>
            <a:r>
              <a:rPr lang="en-US" sz="3540" spc="-35">
                <a:solidFill>
                  <a:srgbClr val="000000"/>
                </a:solidFill>
                <a:latin typeface="Asap"/>
                <a:ea typeface="Asap"/>
                <a:cs typeface="Asap"/>
                <a:sym typeface="Asap"/>
              </a:rPr>
              <a:t>Validation → đảm bảo input đúng</a:t>
            </a:r>
          </a:p>
          <a:p>
            <a:pPr algn="l">
              <a:lnSpc>
                <a:spcPts val="4779"/>
              </a:lnSpc>
              <a:spcBef>
                <a:spcPct val="0"/>
              </a:spcBef>
            </a:pPr>
          </a:p>
        </p:txBody>
      </p:sp>
      <p:sp>
        <p:nvSpPr>
          <p:cNvPr name="TextBox 15" id="15"/>
          <p:cNvSpPr txBox="true"/>
          <p:nvPr/>
        </p:nvSpPr>
        <p:spPr>
          <a:xfrm rot="0">
            <a:off x="2480346" y="2197961"/>
            <a:ext cx="15126712" cy="589788"/>
          </a:xfrm>
          <a:prstGeom prst="rect">
            <a:avLst/>
          </a:prstGeom>
        </p:spPr>
        <p:txBody>
          <a:bodyPr anchor="t" rtlCol="false" tIns="0" lIns="0" bIns="0" rIns="0">
            <a:spAutoFit/>
          </a:bodyPr>
          <a:lstStyle/>
          <a:p>
            <a:pPr algn="l">
              <a:lnSpc>
                <a:spcPts val="4779"/>
              </a:lnSpc>
              <a:spcBef>
                <a:spcPct val="0"/>
              </a:spcBef>
            </a:pPr>
            <a:r>
              <a:rPr lang="en-US" b="true" sz="3540" spc="-35">
                <a:solidFill>
                  <a:srgbClr val="000000"/>
                </a:solidFill>
                <a:latin typeface="Asap Bold"/>
                <a:ea typeface="Asap Bold"/>
                <a:cs typeface="Asap Bold"/>
                <a:sym typeface="Asap Bold"/>
              </a:rPr>
              <a:t>Ví dụ</a:t>
            </a:r>
          </a:p>
        </p:txBody>
      </p:sp>
    </p:spTree>
  </p:cSld>
  <p:clrMapOvr>
    <a:masterClrMapping/>
  </p:clrMapOvr>
  <p:transition spd="slow">
    <p:push dir="d"/>
  </p:transition>
</p:sld>
</file>

<file path=ppt/slides/slide45.xml><?xml version="1.0" encoding="utf-8"?>
<p:sld xmlns:p="http://schemas.openxmlformats.org/presentationml/2006/main" xmlns:a="http://schemas.openxmlformats.org/drawingml/2006/main">
  <p:cSld>
    <p:bg>
      <p:bgPr>
        <a:solidFill>
          <a:srgbClr val="C8E3ED"/>
        </a:solidFill>
      </p:bgPr>
    </p:bg>
    <p:spTree>
      <p:nvGrpSpPr>
        <p:cNvPr id="1" name=""/>
        <p:cNvGrpSpPr/>
        <p:nvPr/>
      </p:nvGrpSpPr>
      <p:grpSpPr>
        <a:xfrm>
          <a:off x="0" y="0"/>
          <a:ext cx="0" cy="0"/>
          <a:chOff x="0" y="0"/>
          <a:chExt cx="0" cy="0"/>
        </a:xfrm>
      </p:grpSpPr>
      <p:grpSp>
        <p:nvGrpSpPr>
          <p:cNvPr name="Group 2" id="2"/>
          <p:cNvGrpSpPr/>
          <p:nvPr/>
        </p:nvGrpSpPr>
        <p:grpSpPr>
          <a:xfrm rot="0">
            <a:off x="774820" y="1028700"/>
            <a:ext cx="18537765" cy="8229600"/>
            <a:chOff x="0" y="0"/>
            <a:chExt cx="24717020" cy="10972800"/>
          </a:xfrm>
        </p:grpSpPr>
        <p:grpSp>
          <p:nvGrpSpPr>
            <p:cNvPr name="Group 3" id="3"/>
            <p:cNvGrpSpPr/>
            <p:nvPr/>
          </p:nvGrpSpPr>
          <p:grpSpPr>
            <a:xfrm rot="0">
              <a:off x="0" y="977717"/>
              <a:ext cx="23352980" cy="9995083"/>
              <a:chOff x="0" y="0"/>
              <a:chExt cx="22703567" cy="9717134"/>
            </a:xfrm>
          </p:grpSpPr>
          <p:sp>
            <p:nvSpPr>
              <p:cNvPr name="Freeform 4" id="4"/>
              <p:cNvSpPr/>
              <p:nvPr/>
            </p:nvSpPr>
            <p:spPr>
              <a:xfrm flipH="false" flipV="false" rot="0">
                <a:off x="-1" y="0"/>
                <a:ext cx="22703568" cy="9717134"/>
              </a:xfrm>
              <a:custGeom>
                <a:avLst/>
                <a:gdLst/>
                <a:ahLst/>
                <a:cxnLst/>
                <a:rect r="r" b="b" t="t" l="l"/>
                <a:pathLst>
                  <a:path h="9717134" w="22703568">
                    <a:moveTo>
                      <a:pt x="22204787" y="9700216"/>
                    </a:moveTo>
                    <a:cubicBezTo>
                      <a:pt x="22204787" y="9700216"/>
                      <a:pt x="21967792" y="9690246"/>
                      <a:pt x="21605653" y="9703690"/>
                    </a:cubicBezTo>
                    <a:cubicBezTo>
                      <a:pt x="21243514" y="9717134"/>
                      <a:pt x="490924" y="9717134"/>
                      <a:pt x="490924" y="9717134"/>
                    </a:cubicBezTo>
                    <a:cubicBezTo>
                      <a:pt x="245502" y="9717134"/>
                      <a:pt x="32509" y="9619866"/>
                      <a:pt x="31032" y="9459752"/>
                    </a:cubicBezTo>
                    <a:cubicBezTo>
                      <a:pt x="31032" y="9459752"/>
                      <a:pt x="0" y="6758194"/>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158239" y="0"/>
                      <a:pt x="22158239" y="0"/>
                    </a:cubicBezTo>
                    <a:cubicBezTo>
                      <a:pt x="22470140" y="0"/>
                      <a:pt x="22703569" y="101069"/>
                      <a:pt x="22695710" y="303616"/>
                    </a:cubicBezTo>
                    <a:cubicBezTo>
                      <a:pt x="22695710" y="303616"/>
                      <a:pt x="22693715" y="6210870"/>
                      <a:pt x="22702471" y="8760165"/>
                    </a:cubicBezTo>
                    <a:cubicBezTo>
                      <a:pt x="22711226" y="9053467"/>
                      <a:pt x="22664678" y="9386538"/>
                      <a:pt x="22664678" y="9386538"/>
                    </a:cubicBezTo>
                    <a:cubicBezTo>
                      <a:pt x="22661712" y="9566563"/>
                      <a:pt x="22450209" y="9700216"/>
                      <a:pt x="22204787" y="9700216"/>
                    </a:cubicBezTo>
                    <a:close/>
                  </a:path>
                </a:pathLst>
              </a:custGeom>
              <a:solidFill>
                <a:srgbClr val="8FB7C6"/>
              </a:solidFill>
            </p:spPr>
          </p:sp>
        </p:grpSp>
        <p:grpSp>
          <p:nvGrpSpPr>
            <p:cNvPr name="Group 5" id="5"/>
            <p:cNvGrpSpPr/>
            <p:nvPr/>
          </p:nvGrpSpPr>
          <p:grpSpPr>
            <a:xfrm rot="0">
              <a:off x="254961" y="1067537"/>
              <a:ext cx="22897610" cy="9778026"/>
              <a:chOff x="0" y="0"/>
              <a:chExt cx="22594507" cy="9648591"/>
            </a:xfrm>
          </p:grpSpPr>
          <p:sp>
            <p:nvSpPr>
              <p:cNvPr name="Freeform 6" id="6"/>
              <p:cNvSpPr/>
              <p:nvPr/>
            </p:nvSpPr>
            <p:spPr>
              <a:xfrm flipH="false" flipV="false" rot="0">
                <a:off x="-1" y="0"/>
                <a:ext cx="22594508" cy="9648591"/>
              </a:xfrm>
              <a:custGeom>
                <a:avLst/>
                <a:gdLst/>
                <a:ahLst/>
                <a:cxnLst/>
                <a:rect r="r" b="b" t="t" l="l"/>
                <a:pathLst>
                  <a:path h="9648591" w="22594508">
                    <a:moveTo>
                      <a:pt x="22095727" y="9631673"/>
                    </a:moveTo>
                    <a:cubicBezTo>
                      <a:pt x="22095727" y="9631673"/>
                      <a:pt x="21858730" y="9621703"/>
                      <a:pt x="21496593" y="9635147"/>
                    </a:cubicBezTo>
                    <a:cubicBezTo>
                      <a:pt x="21134454" y="9648591"/>
                      <a:pt x="490924" y="9648591"/>
                      <a:pt x="490924" y="9648591"/>
                    </a:cubicBezTo>
                    <a:cubicBezTo>
                      <a:pt x="245502" y="9648591"/>
                      <a:pt x="32509" y="9551323"/>
                      <a:pt x="31032" y="9391209"/>
                    </a:cubicBezTo>
                    <a:cubicBezTo>
                      <a:pt x="31032" y="9391209"/>
                      <a:pt x="0" y="6705102"/>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049179" y="0"/>
                      <a:pt x="22049179" y="0"/>
                    </a:cubicBezTo>
                    <a:cubicBezTo>
                      <a:pt x="22361080" y="0"/>
                      <a:pt x="22594507" y="101069"/>
                      <a:pt x="22586650" y="303616"/>
                    </a:cubicBezTo>
                    <a:cubicBezTo>
                      <a:pt x="22586650" y="303616"/>
                      <a:pt x="22584655" y="6162502"/>
                      <a:pt x="22593411" y="8691622"/>
                    </a:cubicBezTo>
                    <a:cubicBezTo>
                      <a:pt x="22602166" y="8984924"/>
                      <a:pt x="22555618" y="9317995"/>
                      <a:pt x="22555618" y="9317995"/>
                    </a:cubicBezTo>
                    <a:cubicBezTo>
                      <a:pt x="22552652" y="9498020"/>
                      <a:pt x="22341149" y="9631673"/>
                      <a:pt x="22095727" y="9631673"/>
                    </a:cubicBezTo>
                    <a:close/>
                  </a:path>
                </a:pathLst>
              </a:custGeom>
              <a:solidFill>
                <a:srgbClr val="8FB7C6"/>
              </a:solidFill>
            </p:spPr>
          </p:sp>
        </p:grpSp>
        <p:grpSp>
          <p:nvGrpSpPr>
            <p:cNvPr name="Group 7" id="7"/>
            <p:cNvGrpSpPr/>
            <p:nvPr/>
          </p:nvGrpSpPr>
          <p:grpSpPr>
            <a:xfrm rot="0">
              <a:off x="919721" y="0"/>
              <a:ext cx="22232850" cy="10328670"/>
              <a:chOff x="0" y="0"/>
              <a:chExt cx="23043639" cy="10705337"/>
            </a:xfrm>
          </p:grpSpPr>
          <p:sp>
            <p:nvSpPr>
              <p:cNvPr name="Freeform 8" id="8"/>
              <p:cNvSpPr/>
              <p:nvPr/>
            </p:nvSpPr>
            <p:spPr>
              <a:xfrm flipH="false" flipV="false" rot="0">
                <a:off x="-1" y="0"/>
                <a:ext cx="23043639" cy="10705337"/>
              </a:xfrm>
              <a:custGeom>
                <a:avLst/>
                <a:gdLst/>
                <a:ahLst/>
                <a:cxnLst/>
                <a:rect r="r" b="b" t="t" l="l"/>
                <a:pathLst>
                  <a:path h="10705337" w="23043639">
                    <a:moveTo>
                      <a:pt x="22544859" y="10688418"/>
                    </a:moveTo>
                    <a:cubicBezTo>
                      <a:pt x="22544859" y="10688418"/>
                      <a:pt x="22307863" y="10678449"/>
                      <a:pt x="21945723" y="10691893"/>
                    </a:cubicBezTo>
                    <a:cubicBezTo>
                      <a:pt x="21583586" y="10705337"/>
                      <a:pt x="490924" y="10705337"/>
                      <a:pt x="490924" y="10705337"/>
                    </a:cubicBezTo>
                    <a:cubicBezTo>
                      <a:pt x="245502" y="10705337"/>
                      <a:pt x="32509" y="10608069"/>
                      <a:pt x="31032" y="10447955"/>
                    </a:cubicBezTo>
                    <a:cubicBezTo>
                      <a:pt x="31032" y="10447955"/>
                      <a:pt x="0" y="7523653"/>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498310" y="0"/>
                      <a:pt x="22498310" y="0"/>
                    </a:cubicBezTo>
                    <a:cubicBezTo>
                      <a:pt x="22810212" y="0"/>
                      <a:pt x="23043639" y="101069"/>
                      <a:pt x="23035783" y="303616"/>
                    </a:cubicBezTo>
                    <a:cubicBezTo>
                      <a:pt x="23035783" y="303616"/>
                      <a:pt x="23033787" y="6908210"/>
                      <a:pt x="23042542" y="9748368"/>
                    </a:cubicBezTo>
                    <a:cubicBezTo>
                      <a:pt x="23051298" y="10041669"/>
                      <a:pt x="23004750" y="10374741"/>
                      <a:pt x="23004750" y="10374741"/>
                    </a:cubicBezTo>
                    <a:cubicBezTo>
                      <a:pt x="23001785" y="10554766"/>
                      <a:pt x="22790281" y="10688418"/>
                      <a:pt x="22544859" y="10688418"/>
                    </a:cubicBezTo>
                    <a:close/>
                  </a:path>
                </a:pathLst>
              </a:custGeom>
              <a:solidFill>
                <a:srgbClr val="F3FCFF"/>
              </a:solidFill>
            </p:spPr>
          </p:sp>
        </p:grpSp>
        <p:sp>
          <p:nvSpPr>
            <p:cNvPr name="AutoShape 9" id="9"/>
            <p:cNvSpPr/>
            <p:nvPr/>
          </p:nvSpPr>
          <p:spPr>
            <a:xfrm>
              <a:off x="2250246" y="9826016"/>
              <a:ext cx="22466735" cy="34286"/>
            </a:xfrm>
            <a:prstGeom prst="line">
              <a:avLst/>
            </a:prstGeom>
            <a:ln cap="rnd" w="50800">
              <a:solidFill>
                <a:srgbClr val="8FB7C6"/>
              </a:solidFill>
              <a:prstDash val="solid"/>
              <a:headEnd type="none" len="sm" w="sm"/>
              <a:tailEnd type="none" len="sm" w="sm"/>
            </a:ln>
          </p:spPr>
        </p:sp>
        <p:sp>
          <p:nvSpPr>
            <p:cNvPr name="AutoShape 10" id="10"/>
            <p:cNvSpPr/>
            <p:nvPr/>
          </p:nvSpPr>
          <p:spPr>
            <a:xfrm>
              <a:off x="2250246" y="717206"/>
              <a:ext cx="22466735" cy="34286"/>
            </a:xfrm>
            <a:prstGeom prst="line">
              <a:avLst/>
            </a:prstGeom>
            <a:ln cap="rnd" w="50800">
              <a:solidFill>
                <a:srgbClr val="8FB7C6"/>
              </a:solidFill>
              <a:prstDash val="solid"/>
              <a:headEnd type="none" len="sm" w="sm"/>
              <a:tailEnd type="none" len="sm" w="sm"/>
            </a:ln>
          </p:spPr>
        </p:sp>
      </p:grpSp>
      <p:grpSp>
        <p:nvGrpSpPr>
          <p:cNvPr name="Group 11" id="11"/>
          <p:cNvGrpSpPr/>
          <p:nvPr/>
        </p:nvGrpSpPr>
        <p:grpSpPr>
          <a:xfrm rot="0">
            <a:off x="2028366" y="1709298"/>
            <a:ext cx="14109802" cy="6788586"/>
            <a:chOff x="0" y="0"/>
            <a:chExt cx="18813069" cy="9051448"/>
          </a:xfrm>
        </p:grpSpPr>
        <p:sp>
          <p:nvSpPr>
            <p:cNvPr name="TextBox 12" id="12"/>
            <p:cNvSpPr txBox="true"/>
            <p:nvPr/>
          </p:nvSpPr>
          <p:spPr>
            <a:xfrm rot="0">
              <a:off x="0" y="1392790"/>
              <a:ext cx="16367365" cy="7658658"/>
            </a:xfrm>
            <a:prstGeom prst="rect">
              <a:avLst/>
            </a:prstGeom>
          </p:spPr>
          <p:txBody>
            <a:bodyPr anchor="t" rtlCol="false" tIns="0" lIns="0" bIns="0" rIns="0">
              <a:spAutoFit/>
            </a:bodyPr>
            <a:lstStyle/>
            <a:p>
              <a:pPr algn="just">
                <a:lnSpc>
                  <a:spcPts val="3527"/>
                </a:lnSpc>
              </a:pPr>
              <a:r>
                <a:rPr lang="en-US" b="true" sz="2612" spc="-26">
                  <a:solidFill>
                    <a:srgbClr val="000000"/>
                  </a:solidFill>
                  <a:latin typeface="Asap Bold"/>
                  <a:ea typeface="Asap Bold"/>
                  <a:cs typeface="Asap Bold"/>
                  <a:sym typeface="Asap Bold"/>
                </a:rPr>
                <a:t>Vấ</a:t>
              </a:r>
              <a:r>
                <a:rPr lang="en-US" b="true" sz="2612" spc="-26">
                  <a:solidFill>
                    <a:srgbClr val="000000"/>
                  </a:solidFill>
                  <a:latin typeface="Asap Bold"/>
                  <a:ea typeface="Asap Bold"/>
                  <a:cs typeface="Asap Bold"/>
                  <a:sym typeface="Asap Bold"/>
                </a:rPr>
                <a:t>n</a:t>
              </a:r>
              <a:r>
                <a:rPr lang="en-US" b="true" sz="2612" spc="-26">
                  <a:solidFill>
                    <a:srgbClr val="000000"/>
                  </a:solidFill>
                  <a:latin typeface="Asap Bold"/>
                  <a:ea typeface="Asap Bold"/>
                  <a:cs typeface="Asap Bold"/>
                  <a:sym typeface="Asap Bold"/>
                </a:rPr>
                <a:t> đề</a:t>
              </a:r>
            </a:p>
            <a:p>
              <a:pPr algn="just" marL="564089" indent="-282044" lvl="1">
                <a:lnSpc>
                  <a:spcPts val="3527"/>
                </a:lnSpc>
                <a:buFont typeface="Arial"/>
                <a:buChar char="•"/>
              </a:pPr>
              <a:r>
                <a:rPr lang="en-US" sz="2612" spc="-26">
                  <a:solidFill>
                    <a:srgbClr val="000000"/>
                  </a:solidFill>
                  <a:latin typeface="Asap"/>
                  <a:ea typeface="Asap"/>
                  <a:cs typeface="Asap"/>
                  <a:sym typeface="Asap"/>
                </a:rPr>
                <a:t>AI</a:t>
              </a:r>
              <a:r>
                <a:rPr lang="en-US" sz="2612" spc="-26">
                  <a:solidFill>
                    <a:srgbClr val="000000"/>
                  </a:solidFill>
                  <a:latin typeface="Asap"/>
                  <a:ea typeface="Asap"/>
                  <a:cs typeface="Asap"/>
                  <a:sym typeface="Asap"/>
                </a:rPr>
                <a:t> thường trả về:</a:t>
              </a:r>
            </a:p>
            <a:p>
              <a:pPr algn="just" marL="1128178" indent="-376059" lvl="2">
                <a:lnSpc>
                  <a:spcPts val="3527"/>
                </a:lnSpc>
                <a:buFont typeface="Arial"/>
                <a:buChar char="⚬"/>
              </a:pPr>
              <a:r>
                <a:rPr lang="en-US" sz="2612" spc="-26">
                  <a:solidFill>
                    <a:srgbClr val="000000"/>
                  </a:solidFill>
                  <a:latin typeface="Asap"/>
                  <a:ea typeface="Asap"/>
                  <a:cs typeface="Asap"/>
                  <a:sym typeface="Asap"/>
                </a:rPr>
                <a:t>code + giải th</a:t>
              </a:r>
              <a:r>
                <a:rPr lang="en-US" sz="2612" spc="-26">
                  <a:solidFill>
                    <a:srgbClr val="000000"/>
                  </a:solidFill>
                  <a:latin typeface="Asap"/>
                  <a:ea typeface="Asap"/>
                  <a:cs typeface="Asap"/>
                  <a:sym typeface="Asap"/>
                </a:rPr>
                <a:t>ích dài</a:t>
              </a:r>
            </a:p>
            <a:p>
              <a:pPr algn="just">
                <a:lnSpc>
                  <a:spcPts val="3527"/>
                </a:lnSpc>
              </a:pPr>
              <a:r>
                <a:rPr lang="en-US" b="true" sz="2612" spc="-26">
                  <a:solidFill>
                    <a:srgbClr val="000000"/>
                  </a:solidFill>
                  <a:latin typeface="Asap Bold"/>
                  <a:ea typeface="Asap Bold"/>
                  <a:cs typeface="Asap Bold"/>
                  <a:sym typeface="Asap Bold"/>
                </a:rPr>
                <a:t>Giải pháp</a:t>
              </a:r>
            </a:p>
            <a:p>
              <a:pPr algn="just" marL="564089" indent="-282044" lvl="1">
                <a:lnSpc>
                  <a:spcPts val="3527"/>
                </a:lnSpc>
                <a:buFont typeface="Arial"/>
                <a:buChar char="•"/>
              </a:pPr>
              <a:r>
                <a:rPr lang="en-US" sz="2612" spc="-26">
                  <a:solidFill>
                    <a:srgbClr val="000000"/>
                  </a:solidFill>
                  <a:latin typeface="Asap"/>
                  <a:ea typeface="Asap"/>
                  <a:cs typeface="Asap"/>
                  <a:sym typeface="Asap"/>
                </a:rPr>
                <a:t>Sử dụng prompt:</a:t>
              </a:r>
            </a:p>
            <a:p>
              <a:pPr algn="just" marL="1128178" indent="-376059" lvl="2">
                <a:lnSpc>
                  <a:spcPts val="3527"/>
                </a:lnSpc>
                <a:buFont typeface="Arial"/>
                <a:buChar char="⚬"/>
              </a:pPr>
              <a:r>
                <a:rPr lang="en-US" sz="2612" spc="-26">
                  <a:solidFill>
                    <a:srgbClr val="000000"/>
                  </a:solidFill>
                  <a:latin typeface="Asap"/>
                  <a:ea typeface="Asap"/>
                  <a:cs typeface="Asap"/>
                  <a:sym typeface="Asap"/>
                </a:rPr>
                <a:t>“Return code only”</a:t>
              </a:r>
            </a:p>
            <a:p>
              <a:pPr algn="just" marL="1128178" indent="-376059" lvl="2">
                <a:lnSpc>
                  <a:spcPts val="3527"/>
                </a:lnSpc>
                <a:buFont typeface="Arial"/>
                <a:buChar char="⚬"/>
              </a:pPr>
              <a:r>
                <a:rPr lang="en-US" sz="2612" spc="-26">
                  <a:solidFill>
                    <a:srgbClr val="000000"/>
                  </a:solidFill>
                  <a:latin typeface="Asap"/>
                  <a:ea typeface="Asap"/>
                  <a:cs typeface="Asap"/>
                  <a:sym typeface="Asap"/>
                </a:rPr>
                <a:t>“Do not explain”</a:t>
              </a:r>
            </a:p>
            <a:p>
              <a:pPr algn="just">
                <a:lnSpc>
                  <a:spcPts val="3527"/>
                </a:lnSpc>
              </a:pPr>
              <a:r>
                <a:rPr lang="en-US" b="true" sz="2612" spc="-26">
                  <a:solidFill>
                    <a:srgbClr val="000000"/>
                  </a:solidFill>
                  <a:latin typeface="Asap Bold"/>
                  <a:ea typeface="Asap Bold"/>
                  <a:cs typeface="Asap Bold"/>
                  <a:sym typeface="Asap Bold"/>
                </a:rPr>
                <a:t>Lợi ích</a:t>
              </a:r>
            </a:p>
            <a:p>
              <a:pPr algn="just" marL="564089" indent="-282044" lvl="1">
                <a:lnSpc>
                  <a:spcPts val="3527"/>
                </a:lnSpc>
                <a:buFont typeface="Arial"/>
                <a:buChar char="•"/>
              </a:pPr>
              <a:r>
                <a:rPr lang="en-US" sz="2612" spc="-26">
                  <a:solidFill>
                    <a:srgbClr val="000000"/>
                  </a:solidFill>
                  <a:latin typeface="Asap"/>
                  <a:ea typeface="Asap"/>
                  <a:cs typeface="Asap"/>
                  <a:sym typeface="Asap"/>
                </a:rPr>
                <a:t>Code gọn gàng</a:t>
              </a:r>
            </a:p>
            <a:p>
              <a:pPr algn="just" marL="564089" indent="-282044" lvl="1">
                <a:lnSpc>
                  <a:spcPts val="3527"/>
                </a:lnSpc>
                <a:buFont typeface="Arial"/>
                <a:buChar char="•"/>
              </a:pPr>
              <a:r>
                <a:rPr lang="en-US" sz="2612" spc="-26">
                  <a:solidFill>
                    <a:srgbClr val="000000"/>
                  </a:solidFill>
                  <a:latin typeface="Asap"/>
                  <a:ea typeface="Asap"/>
                  <a:cs typeface="Asap"/>
                  <a:sym typeface="Asap"/>
                </a:rPr>
                <a:t>Dễ sử dụng trực tiếp</a:t>
              </a:r>
            </a:p>
            <a:p>
              <a:pPr algn="just" marL="564089" indent="-282044" lvl="1">
                <a:lnSpc>
                  <a:spcPts val="3527"/>
                </a:lnSpc>
                <a:buFont typeface="Arial"/>
                <a:buChar char="•"/>
              </a:pPr>
              <a:r>
                <a:rPr lang="en-US" sz="2612" spc="-26">
                  <a:solidFill>
                    <a:srgbClr val="000000"/>
                  </a:solidFill>
                  <a:latin typeface="Asap"/>
                  <a:ea typeface="Asap"/>
                  <a:cs typeface="Asap"/>
                  <a:sym typeface="Asap"/>
                </a:rPr>
                <a:t>Phù hợp production</a:t>
              </a:r>
            </a:p>
            <a:p>
              <a:pPr algn="just">
                <a:lnSpc>
                  <a:spcPts val="3527"/>
                </a:lnSpc>
              </a:pPr>
            </a:p>
            <a:p>
              <a:pPr algn="just">
                <a:lnSpc>
                  <a:spcPts val="3527"/>
                </a:lnSpc>
              </a:pPr>
            </a:p>
          </p:txBody>
        </p:sp>
        <p:sp>
          <p:nvSpPr>
            <p:cNvPr name="TextBox 13" id="13"/>
            <p:cNvSpPr txBox="true"/>
            <p:nvPr/>
          </p:nvSpPr>
          <p:spPr>
            <a:xfrm rot="0">
              <a:off x="175932" y="0"/>
              <a:ext cx="18637137" cy="1003300"/>
            </a:xfrm>
            <a:prstGeom prst="rect">
              <a:avLst/>
            </a:prstGeom>
          </p:spPr>
          <p:txBody>
            <a:bodyPr anchor="t" rtlCol="false" tIns="0" lIns="0" bIns="0" rIns="0">
              <a:spAutoFit/>
            </a:bodyPr>
            <a:lstStyle/>
            <a:p>
              <a:pPr algn="ctr">
                <a:lnSpc>
                  <a:spcPts val="5929"/>
                </a:lnSpc>
              </a:pPr>
              <a:r>
                <a:rPr lang="en-US" b="true" sz="4941">
                  <a:solidFill>
                    <a:srgbClr val="1D2B74"/>
                  </a:solidFill>
                  <a:latin typeface="Faustina Bold"/>
                  <a:ea typeface="Faustina Bold"/>
                  <a:cs typeface="Faustina Bold"/>
                  <a:sym typeface="Faustina Bold"/>
                </a:rPr>
                <a:t>INVERSE CoT (PROMPT)</a:t>
              </a:r>
            </a:p>
          </p:txBody>
        </p:sp>
      </p:grpSp>
    </p:spTree>
  </p:cSld>
  <p:clrMapOvr>
    <a:masterClrMapping/>
  </p:clrMapOvr>
  <p:transition spd="slow">
    <p:push dir="d"/>
  </p:transition>
</p:sld>
</file>

<file path=ppt/slides/slide46.xml><?xml version="1.0" encoding="utf-8"?>
<p:sld xmlns:p="http://schemas.openxmlformats.org/presentationml/2006/main" xmlns:a="http://schemas.openxmlformats.org/drawingml/2006/main">
  <p:cSld>
    <p:bg>
      <p:bgPr>
        <a:solidFill>
          <a:srgbClr val="C8E3ED"/>
        </a:solidFill>
      </p:bgPr>
    </p:bg>
    <p:spTree>
      <p:nvGrpSpPr>
        <p:cNvPr id="1" name=""/>
        <p:cNvGrpSpPr/>
        <p:nvPr/>
      </p:nvGrpSpPr>
      <p:grpSpPr>
        <a:xfrm>
          <a:off x="0" y="0"/>
          <a:ext cx="0" cy="0"/>
          <a:chOff x="0" y="0"/>
          <a:chExt cx="0" cy="0"/>
        </a:xfrm>
      </p:grpSpPr>
      <p:grpSp>
        <p:nvGrpSpPr>
          <p:cNvPr name="Group 2" id="2"/>
          <p:cNvGrpSpPr/>
          <p:nvPr/>
        </p:nvGrpSpPr>
        <p:grpSpPr>
          <a:xfrm rot="0">
            <a:off x="774820" y="1028700"/>
            <a:ext cx="18537765" cy="8229600"/>
            <a:chOff x="0" y="0"/>
            <a:chExt cx="24717020" cy="10972800"/>
          </a:xfrm>
        </p:grpSpPr>
        <p:grpSp>
          <p:nvGrpSpPr>
            <p:cNvPr name="Group 3" id="3"/>
            <p:cNvGrpSpPr/>
            <p:nvPr/>
          </p:nvGrpSpPr>
          <p:grpSpPr>
            <a:xfrm rot="0">
              <a:off x="0" y="977717"/>
              <a:ext cx="23352980" cy="9995083"/>
              <a:chOff x="0" y="0"/>
              <a:chExt cx="22703567" cy="9717134"/>
            </a:xfrm>
          </p:grpSpPr>
          <p:sp>
            <p:nvSpPr>
              <p:cNvPr name="Freeform 4" id="4"/>
              <p:cNvSpPr/>
              <p:nvPr/>
            </p:nvSpPr>
            <p:spPr>
              <a:xfrm flipH="false" flipV="false" rot="0">
                <a:off x="-1" y="0"/>
                <a:ext cx="22703568" cy="9717134"/>
              </a:xfrm>
              <a:custGeom>
                <a:avLst/>
                <a:gdLst/>
                <a:ahLst/>
                <a:cxnLst/>
                <a:rect r="r" b="b" t="t" l="l"/>
                <a:pathLst>
                  <a:path h="9717134" w="22703568">
                    <a:moveTo>
                      <a:pt x="22204787" y="9700216"/>
                    </a:moveTo>
                    <a:cubicBezTo>
                      <a:pt x="22204787" y="9700216"/>
                      <a:pt x="21967792" y="9690246"/>
                      <a:pt x="21605653" y="9703690"/>
                    </a:cubicBezTo>
                    <a:cubicBezTo>
                      <a:pt x="21243514" y="9717134"/>
                      <a:pt x="490924" y="9717134"/>
                      <a:pt x="490924" y="9717134"/>
                    </a:cubicBezTo>
                    <a:cubicBezTo>
                      <a:pt x="245502" y="9717134"/>
                      <a:pt x="32509" y="9619866"/>
                      <a:pt x="31032" y="9459752"/>
                    </a:cubicBezTo>
                    <a:cubicBezTo>
                      <a:pt x="31032" y="9459752"/>
                      <a:pt x="0" y="6758194"/>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158239" y="0"/>
                      <a:pt x="22158239" y="0"/>
                    </a:cubicBezTo>
                    <a:cubicBezTo>
                      <a:pt x="22470140" y="0"/>
                      <a:pt x="22703569" y="101069"/>
                      <a:pt x="22695710" y="303616"/>
                    </a:cubicBezTo>
                    <a:cubicBezTo>
                      <a:pt x="22695710" y="303616"/>
                      <a:pt x="22693715" y="6210870"/>
                      <a:pt x="22702471" y="8760165"/>
                    </a:cubicBezTo>
                    <a:cubicBezTo>
                      <a:pt x="22711226" y="9053467"/>
                      <a:pt x="22664678" y="9386538"/>
                      <a:pt x="22664678" y="9386538"/>
                    </a:cubicBezTo>
                    <a:cubicBezTo>
                      <a:pt x="22661712" y="9566563"/>
                      <a:pt x="22450209" y="9700216"/>
                      <a:pt x="22204787" y="9700216"/>
                    </a:cubicBezTo>
                    <a:close/>
                  </a:path>
                </a:pathLst>
              </a:custGeom>
              <a:solidFill>
                <a:srgbClr val="8FB7C6"/>
              </a:solidFill>
            </p:spPr>
          </p:sp>
        </p:grpSp>
        <p:grpSp>
          <p:nvGrpSpPr>
            <p:cNvPr name="Group 5" id="5"/>
            <p:cNvGrpSpPr/>
            <p:nvPr/>
          </p:nvGrpSpPr>
          <p:grpSpPr>
            <a:xfrm rot="0">
              <a:off x="254961" y="1067537"/>
              <a:ext cx="22897610" cy="9778026"/>
              <a:chOff x="0" y="0"/>
              <a:chExt cx="22594507" cy="9648591"/>
            </a:xfrm>
          </p:grpSpPr>
          <p:sp>
            <p:nvSpPr>
              <p:cNvPr name="Freeform 6" id="6"/>
              <p:cNvSpPr/>
              <p:nvPr/>
            </p:nvSpPr>
            <p:spPr>
              <a:xfrm flipH="false" flipV="false" rot="0">
                <a:off x="-1" y="0"/>
                <a:ext cx="22594508" cy="9648591"/>
              </a:xfrm>
              <a:custGeom>
                <a:avLst/>
                <a:gdLst/>
                <a:ahLst/>
                <a:cxnLst/>
                <a:rect r="r" b="b" t="t" l="l"/>
                <a:pathLst>
                  <a:path h="9648591" w="22594508">
                    <a:moveTo>
                      <a:pt x="22095727" y="9631673"/>
                    </a:moveTo>
                    <a:cubicBezTo>
                      <a:pt x="22095727" y="9631673"/>
                      <a:pt x="21858730" y="9621703"/>
                      <a:pt x="21496593" y="9635147"/>
                    </a:cubicBezTo>
                    <a:cubicBezTo>
                      <a:pt x="21134454" y="9648591"/>
                      <a:pt x="490924" y="9648591"/>
                      <a:pt x="490924" y="9648591"/>
                    </a:cubicBezTo>
                    <a:cubicBezTo>
                      <a:pt x="245502" y="9648591"/>
                      <a:pt x="32509" y="9551323"/>
                      <a:pt x="31032" y="9391209"/>
                    </a:cubicBezTo>
                    <a:cubicBezTo>
                      <a:pt x="31032" y="9391209"/>
                      <a:pt x="0" y="6705102"/>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049179" y="0"/>
                      <a:pt x="22049179" y="0"/>
                    </a:cubicBezTo>
                    <a:cubicBezTo>
                      <a:pt x="22361080" y="0"/>
                      <a:pt x="22594507" y="101069"/>
                      <a:pt x="22586650" y="303616"/>
                    </a:cubicBezTo>
                    <a:cubicBezTo>
                      <a:pt x="22586650" y="303616"/>
                      <a:pt x="22584655" y="6162502"/>
                      <a:pt x="22593411" y="8691622"/>
                    </a:cubicBezTo>
                    <a:cubicBezTo>
                      <a:pt x="22602166" y="8984924"/>
                      <a:pt x="22555618" y="9317995"/>
                      <a:pt x="22555618" y="9317995"/>
                    </a:cubicBezTo>
                    <a:cubicBezTo>
                      <a:pt x="22552652" y="9498020"/>
                      <a:pt x="22341149" y="9631673"/>
                      <a:pt x="22095727" y="9631673"/>
                    </a:cubicBezTo>
                    <a:close/>
                  </a:path>
                </a:pathLst>
              </a:custGeom>
              <a:solidFill>
                <a:srgbClr val="8FB7C6"/>
              </a:solidFill>
            </p:spPr>
          </p:sp>
        </p:grpSp>
        <p:grpSp>
          <p:nvGrpSpPr>
            <p:cNvPr name="Group 7" id="7"/>
            <p:cNvGrpSpPr/>
            <p:nvPr/>
          </p:nvGrpSpPr>
          <p:grpSpPr>
            <a:xfrm rot="0">
              <a:off x="919721" y="0"/>
              <a:ext cx="22232850" cy="10328670"/>
              <a:chOff x="0" y="0"/>
              <a:chExt cx="23043639" cy="10705337"/>
            </a:xfrm>
          </p:grpSpPr>
          <p:sp>
            <p:nvSpPr>
              <p:cNvPr name="Freeform 8" id="8"/>
              <p:cNvSpPr/>
              <p:nvPr/>
            </p:nvSpPr>
            <p:spPr>
              <a:xfrm flipH="false" flipV="false" rot="0">
                <a:off x="-1" y="0"/>
                <a:ext cx="23043639" cy="10705337"/>
              </a:xfrm>
              <a:custGeom>
                <a:avLst/>
                <a:gdLst/>
                <a:ahLst/>
                <a:cxnLst/>
                <a:rect r="r" b="b" t="t" l="l"/>
                <a:pathLst>
                  <a:path h="10705337" w="23043639">
                    <a:moveTo>
                      <a:pt x="22544859" y="10688418"/>
                    </a:moveTo>
                    <a:cubicBezTo>
                      <a:pt x="22544859" y="10688418"/>
                      <a:pt x="22307863" y="10678449"/>
                      <a:pt x="21945723" y="10691893"/>
                    </a:cubicBezTo>
                    <a:cubicBezTo>
                      <a:pt x="21583586" y="10705337"/>
                      <a:pt x="490924" y="10705337"/>
                      <a:pt x="490924" y="10705337"/>
                    </a:cubicBezTo>
                    <a:cubicBezTo>
                      <a:pt x="245502" y="10705337"/>
                      <a:pt x="32509" y="10608069"/>
                      <a:pt x="31032" y="10447955"/>
                    </a:cubicBezTo>
                    <a:cubicBezTo>
                      <a:pt x="31032" y="10447955"/>
                      <a:pt x="0" y="7523653"/>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22498310" y="0"/>
                      <a:pt x="22498310" y="0"/>
                    </a:cubicBezTo>
                    <a:cubicBezTo>
                      <a:pt x="22810212" y="0"/>
                      <a:pt x="23043639" y="101069"/>
                      <a:pt x="23035783" y="303616"/>
                    </a:cubicBezTo>
                    <a:cubicBezTo>
                      <a:pt x="23035783" y="303616"/>
                      <a:pt x="23033787" y="6908210"/>
                      <a:pt x="23042542" y="9748368"/>
                    </a:cubicBezTo>
                    <a:cubicBezTo>
                      <a:pt x="23051298" y="10041669"/>
                      <a:pt x="23004750" y="10374741"/>
                      <a:pt x="23004750" y="10374741"/>
                    </a:cubicBezTo>
                    <a:cubicBezTo>
                      <a:pt x="23001785" y="10554766"/>
                      <a:pt x="22790281" y="10688418"/>
                      <a:pt x="22544859" y="10688418"/>
                    </a:cubicBezTo>
                    <a:close/>
                  </a:path>
                </a:pathLst>
              </a:custGeom>
              <a:solidFill>
                <a:srgbClr val="F3FCFF"/>
              </a:solidFill>
            </p:spPr>
          </p:sp>
        </p:grpSp>
        <p:sp>
          <p:nvSpPr>
            <p:cNvPr name="AutoShape 9" id="9"/>
            <p:cNvSpPr/>
            <p:nvPr/>
          </p:nvSpPr>
          <p:spPr>
            <a:xfrm>
              <a:off x="2250246" y="9826016"/>
              <a:ext cx="22466735" cy="34286"/>
            </a:xfrm>
            <a:prstGeom prst="line">
              <a:avLst/>
            </a:prstGeom>
            <a:ln cap="rnd" w="50800">
              <a:solidFill>
                <a:srgbClr val="8FB7C6"/>
              </a:solidFill>
              <a:prstDash val="solid"/>
              <a:headEnd type="none" len="sm" w="sm"/>
              <a:tailEnd type="none" len="sm" w="sm"/>
            </a:ln>
          </p:spPr>
        </p:sp>
        <p:sp>
          <p:nvSpPr>
            <p:cNvPr name="AutoShape 10" id="10"/>
            <p:cNvSpPr/>
            <p:nvPr/>
          </p:nvSpPr>
          <p:spPr>
            <a:xfrm>
              <a:off x="2250246" y="717206"/>
              <a:ext cx="22466735" cy="34286"/>
            </a:xfrm>
            <a:prstGeom prst="line">
              <a:avLst/>
            </a:prstGeom>
            <a:ln cap="rnd" w="50800">
              <a:solidFill>
                <a:srgbClr val="8FB7C6"/>
              </a:solidFill>
              <a:prstDash val="solid"/>
              <a:headEnd type="none" len="sm" w="sm"/>
              <a:tailEnd type="none" len="sm" w="sm"/>
            </a:ln>
          </p:spPr>
        </p:sp>
      </p:grpSp>
      <p:grpSp>
        <p:nvGrpSpPr>
          <p:cNvPr name="Group 11" id="11"/>
          <p:cNvGrpSpPr/>
          <p:nvPr/>
        </p:nvGrpSpPr>
        <p:grpSpPr>
          <a:xfrm rot="0">
            <a:off x="2321137" y="1942180"/>
            <a:ext cx="15966863" cy="6402639"/>
            <a:chOff x="0" y="0"/>
            <a:chExt cx="21289151" cy="8536852"/>
          </a:xfrm>
        </p:grpSpPr>
        <p:sp>
          <p:nvSpPr>
            <p:cNvPr name="TextBox 12" id="12"/>
            <p:cNvSpPr txBox="true"/>
            <p:nvPr/>
          </p:nvSpPr>
          <p:spPr>
            <a:xfrm rot="0">
              <a:off x="0" y="1392790"/>
              <a:ext cx="18521555" cy="7144062"/>
            </a:xfrm>
            <a:prstGeom prst="rect">
              <a:avLst/>
            </a:prstGeom>
          </p:spPr>
          <p:txBody>
            <a:bodyPr anchor="t" rtlCol="false" tIns="0" lIns="0" bIns="0" rIns="0">
              <a:spAutoFit/>
            </a:bodyPr>
            <a:lstStyle/>
            <a:p>
              <a:pPr algn="just">
                <a:lnSpc>
                  <a:spcPts val="3527"/>
                </a:lnSpc>
              </a:pPr>
              <a:r>
                <a:rPr lang="en-US" b="true" sz="2612" spc="-26">
                  <a:solidFill>
                    <a:srgbClr val="000000"/>
                  </a:solidFill>
                  <a:latin typeface="Asap Bold"/>
                  <a:ea typeface="Asap Bold"/>
                  <a:cs typeface="Asap Bold"/>
                  <a:sym typeface="Asap Bold"/>
                </a:rPr>
                <a:t>F</a:t>
              </a:r>
              <a:r>
                <a:rPr lang="en-US" b="true" sz="2612" spc="-26">
                  <a:solidFill>
                    <a:srgbClr val="000000"/>
                  </a:solidFill>
                  <a:latin typeface="Asap Bold"/>
                  <a:ea typeface="Asap Bold"/>
                  <a:cs typeface="Asap Bold"/>
                  <a:sym typeface="Asap Bold"/>
                </a:rPr>
                <a:t>ew-s</a:t>
              </a:r>
              <a:r>
                <a:rPr lang="en-US" b="true" sz="2612" spc="-26">
                  <a:solidFill>
                    <a:srgbClr val="000000"/>
                  </a:solidFill>
                  <a:latin typeface="Asap Bold"/>
                  <a:ea typeface="Asap Bold"/>
                  <a:cs typeface="Asap Bold"/>
                  <a:sym typeface="Asap Bold"/>
                </a:rPr>
                <a:t>hot learning</a:t>
              </a:r>
            </a:p>
            <a:p>
              <a:pPr algn="just" marL="564088" indent="-282044" lvl="1">
                <a:lnSpc>
                  <a:spcPts val="3527"/>
                </a:lnSpc>
                <a:buFont typeface="Arial"/>
                <a:buChar char="•"/>
              </a:pPr>
              <a:r>
                <a:rPr lang="en-US" sz="2612" spc="-26">
                  <a:solidFill>
                    <a:srgbClr val="000000"/>
                  </a:solidFill>
                  <a:latin typeface="Asap"/>
                  <a:ea typeface="Asap"/>
                  <a:cs typeface="Asap"/>
                  <a:sym typeface="Asap"/>
                </a:rPr>
                <a:t>Cung cấp ví dụ</a:t>
              </a:r>
            </a:p>
            <a:p>
              <a:pPr algn="just" marL="564088" indent="-282044" lvl="1">
                <a:lnSpc>
                  <a:spcPts val="3527"/>
                </a:lnSpc>
                <a:buFont typeface="Arial"/>
                <a:buChar char="•"/>
              </a:pPr>
              <a:r>
                <a:rPr lang="en-US" sz="2612" spc="-26">
                  <a:solidFill>
                    <a:srgbClr val="000000"/>
                  </a:solidFill>
                  <a:latin typeface="Asap"/>
                  <a:ea typeface="Asap"/>
                  <a:cs typeface="Asap"/>
                  <a:sym typeface="Asap"/>
                </a:rPr>
                <a:t>AI học theo</a:t>
              </a:r>
            </a:p>
            <a:p>
              <a:pPr algn="just">
                <a:lnSpc>
                  <a:spcPts val="3527"/>
                </a:lnSpc>
              </a:pPr>
              <a:r>
                <a:rPr lang="en-US" b="true" sz="2612" spc="-26">
                  <a:solidFill>
                    <a:srgbClr val="000000"/>
                  </a:solidFill>
                  <a:latin typeface="Asap Bold"/>
                  <a:ea typeface="Asap Bold"/>
                  <a:cs typeface="Asap Bold"/>
                  <a:sym typeface="Asap Bold"/>
                </a:rPr>
                <a:t>Fine-tuning</a:t>
              </a:r>
            </a:p>
            <a:p>
              <a:pPr algn="just" marL="564088" indent="-282044" lvl="1">
                <a:lnSpc>
                  <a:spcPts val="3527"/>
                </a:lnSpc>
                <a:buFont typeface="Arial"/>
                <a:buChar char="•"/>
              </a:pPr>
              <a:r>
                <a:rPr lang="en-US" sz="2612" spc="-26">
                  <a:solidFill>
                    <a:srgbClr val="000000"/>
                  </a:solidFill>
                  <a:latin typeface="Asap"/>
                  <a:ea typeface="Asap"/>
                  <a:cs typeface="Asap"/>
                  <a:sym typeface="Asap"/>
                </a:rPr>
                <a:t>Huấn luyện model theo:</a:t>
              </a:r>
            </a:p>
            <a:p>
              <a:pPr algn="just" marL="1128177" indent="-376059" lvl="2">
                <a:lnSpc>
                  <a:spcPts val="3527"/>
                </a:lnSpc>
                <a:buFont typeface="Arial"/>
                <a:buChar char="⚬"/>
              </a:pPr>
              <a:r>
                <a:rPr lang="en-US" sz="2612" spc="-26">
                  <a:solidFill>
                    <a:srgbClr val="000000"/>
                  </a:solidFill>
                  <a:latin typeface="Asap"/>
                  <a:ea typeface="Asap"/>
                  <a:cs typeface="Asap"/>
                  <a:sym typeface="Asap"/>
                </a:rPr>
                <a:t>style code</a:t>
              </a:r>
            </a:p>
            <a:p>
              <a:pPr algn="just" marL="1128177" indent="-376059" lvl="2">
                <a:lnSpc>
                  <a:spcPts val="3527"/>
                </a:lnSpc>
                <a:buFont typeface="Arial"/>
                <a:buChar char="⚬"/>
              </a:pPr>
              <a:r>
                <a:rPr lang="en-US" sz="2612" spc="-26">
                  <a:solidFill>
                    <a:srgbClr val="000000"/>
                  </a:solidFill>
                  <a:latin typeface="Asap"/>
                  <a:ea typeface="Asap"/>
                  <a:cs typeface="Asap"/>
                  <a:sym typeface="Asap"/>
                </a:rPr>
                <a:t>format logging</a:t>
              </a:r>
            </a:p>
            <a:p>
              <a:pPr algn="just">
                <a:lnSpc>
                  <a:spcPts val="3527"/>
                </a:lnSpc>
              </a:pPr>
              <a:r>
                <a:rPr lang="en-US" b="true" sz="2612" spc="-26">
                  <a:solidFill>
                    <a:srgbClr val="000000"/>
                  </a:solidFill>
                  <a:latin typeface="Asap Bold"/>
                  <a:ea typeface="Asap Bold"/>
                  <a:cs typeface="Asap Bold"/>
                  <a:sym typeface="Asap Bold"/>
                </a:rPr>
                <a:t>Lợi ích</a:t>
              </a:r>
            </a:p>
            <a:p>
              <a:pPr algn="just" marL="564088" indent="-282044" lvl="1">
                <a:lnSpc>
                  <a:spcPts val="3527"/>
                </a:lnSpc>
                <a:buFont typeface="Arial"/>
                <a:buChar char="•"/>
              </a:pPr>
              <a:r>
                <a:rPr lang="en-US" sz="2612" spc="-26">
                  <a:solidFill>
                    <a:srgbClr val="000000"/>
                  </a:solidFill>
                  <a:latin typeface="Asap"/>
                  <a:ea typeface="Asap"/>
                  <a:cs typeface="Asap"/>
                  <a:sym typeface="Asap"/>
                </a:rPr>
                <a:t>Output consistent</a:t>
              </a:r>
            </a:p>
            <a:p>
              <a:pPr algn="just" marL="564088" indent="-282044" lvl="1">
                <a:lnSpc>
                  <a:spcPts val="3527"/>
                </a:lnSpc>
                <a:buFont typeface="Arial"/>
                <a:buChar char="•"/>
              </a:pPr>
              <a:r>
                <a:rPr lang="en-US" sz="2612" spc="-26">
                  <a:solidFill>
                    <a:srgbClr val="000000"/>
                  </a:solidFill>
                  <a:latin typeface="Asap"/>
                  <a:ea typeface="Asap"/>
                  <a:cs typeface="Asap"/>
                  <a:sym typeface="Asap"/>
                </a:rPr>
                <a:t>Chuẩn hóa code trong team</a:t>
              </a:r>
            </a:p>
            <a:p>
              <a:pPr algn="just">
                <a:lnSpc>
                  <a:spcPts val="3527"/>
                </a:lnSpc>
              </a:pPr>
            </a:p>
            <a:p>
              <a:pPr algn="just">
                <a:lnSpc>
                  <a:spcPts val="3527"/>
                </a:lnSpc>
              </a:pPr>
            </a:p>
          </p:txBody>
        </p:sp>
        <p:sp>
          <p:nvSpPr>
            <p:cNvPr name="TextBox 13" id="13"/>
            <p:cNvSpPr txBox="true"/>
            <p:nvPr/>
          </p:nvSpPr>
          <p:spPr>
            <a:xfrm rot="0">
              <a:off x="199087" y="0"/>
              <a:ext cx="21090064" cy="1003300"/>
            </a:xfrm>
            <a:prstGeom prst="rect">
              <a:avLst/>
            </a:prstGeom>
          </p:spPr>
          <p:txBody>
            <a:bodyPr anchor="t" rtlCol="false" tIns="0" lIns="0" bIns="0" rIns="0">
              <a:spAutoFit/>
            </a:bodyPr>
            <a:lstStyle/>
            <a:p>
              <a:pPr algn="ctr">
                <a:lnSpc>
                  <a:spcPts val="5929"/>
                </a:lnSpc>
              </a:pPr>
              <a:r>
                <a:rPr lang="en-US" b="true" sz="4941">
                  <a:solidFill>
                    <a:srgbClr val="1D2B74"/>
                  </a:solidFill>
                  <a:latin typeface="Faustina Bold"/>
                  <a:ea typeface="Faustina Bold"/>
                  <a:cs typeface="Faustina Bold"/>
                  <a:sym typeface="Faustina Bold"/>
                </a:rPr>
                <a:t>FEW-SHOT &amp; FINE-TUNING</a:t>
              </a:r>
            </a:p>
          </p:txBody>
        </p:sp>
      </p:grpSp>
    </p:spTree>
  </p:cSld>
  <p:clrMapOvr>
    <a:masterClrMapping/>
  </p:clrMapOvr>
  <p:transition spd="slow">
    <p:push dir="d"/>
  </p:transition>
</p:sld>
</file>

<file path=ppt/slides/slide47.xml><?xml version="1.0" encoding="utf-8"?>
<p:sld xmlns:p="http://schemas.openxmlformats.org/presentationml/2006/main" xmlns:a="http://schemas.openxmlformats.org/drawingml/2006/main">
  <p:cSld>
    <p:bg>
      <p:bgPr>
        <a:solidFill>
          <a:srgbClr val="C8E3ED"/>
        </a:solidFill>
      </p:bgPr>
    </p:bg>
    <p:spTree>
      <p:nvGrpSpPr>
        <p:cNvPr id="1" name=""/>
        <p:cNvGrpSpPr/>
        <p:nvPr/>
      </p:nvGrpSpPr>
      <p:grpSpPr>
        <a:xfrm>
          <a:off x="0" y="0"/>
          <a:ext cx="0" cy="0"/>
          <a:chOff x="0" y="0"/>
          <a:chExt cx="0" cy="0"/>
        </a:xfrm>
      </p:grpSpPr>
      <p:grpSp>
        <p:nvGrpSpPr>
          <p:cNvPr name="Group 2" id="2"/>
          <p:cNvGrpSpPr/>
          <p:nvPr/>
        </p:nvGrpSpPr>
        <p:grpSpPr>
          <a:xfrm rot="0">
            <a:off x="-525698" y="566431"/>
            <a:ext cx="6951585" cy="3878556"/>
            <a:chOff x="0" y="0"/>
            <a:chExt cx="9268781" cy="5171408"/>
          </a:xfrm>
        </p:grpSpPr>
        <p:grpSp>
          <p:nvGrpSpPr>
            <p:cNvPr name="Group 3" id="3"/>
            <p:cNvGrpSpPr/>
            <p:nvPr/>
          </p:nvGrpSpPr>
          <p:grpSpPr>
            <a:xfrm rot="0">
              <a:off x="705379" y="460791"/>
              <a:ext cx="8563401" cy="4710616"/>
              <a:chOff x="0" y="0"/>
              <a:chExt cx="17664721" cy="9717134"/>
            </a:xfrm>
          </p:grpSpPr>
          <p:sp>
            <p:nvSpPr>
              <p:cNvPr name="Freeform 4" id="4"/>
              <p:cNvSpPr/>
              <p:nvPr/>
            </p:nvSpPr>
            <p:spPr>
              <a:xfrm flipH="false" flipV="false" rot="0">
                <a:off x="-1" y="0"/>
                <a:ext cx="17664722" cy="9717134"/>
              </a:xfrm>
              <a:custGeom>
                <a:avLst/>
                <a:gdLst/>
                <a:ahLst/>
                <a:cxnLst/>
                <a:rect r="r" b="b" t="t" l="l"/>
                <a:pathLst>
                  <a:path h="9717134" w="17664722">
                    <a:moveTo>
                      <a:pt x="17165941" y="9700216"/>
                    </a:moveTo>
                    <a:cubicBezTo>
                      <a:pt x="17165941" y="9700216"/>
                      <a:pt x="16928944" y="9690246"/>
                      <a:pt x="16566805" y="9703690"/>
                    </a:cubicBezTo>
                    <a:cubicBezTo>
                      <a:pt x="16204668" y="9717134"/>
                      <a:pt x="490924" y="9717134"/>
                      <a:pt x="490924" y="9717134"/>
                    </a:cubicBezTo>
                    <a:cubicBezTo>
                      <a:pt x="245502" y="9717134"/>
                      <a:pt x="32509" y="9619866"/>
                      <a:pt x="31032" y="9459752"/>
                    </a:cubicBezTo>
                    <a:cubicBezTo>
                      <a:pt x="31032" y="9459752"/>
                      <a:pt x="0" y="6758194"/>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17119393" y="0"/>
                      <a:pt x="17119393" y="0"/>
                    </a:cubicBezTo>
                    <a:cubicBezTo>
                      <a:pt x="17431294" y="0"/>
                      <a:pt x="17664721" y="101069"/>
                      <a:pt x="17656864" y="303616"/>
                    </a:cubicBezTo>
                    <a:cubicBezTo>
                      <a:pt x="17656864" y="303616"/>
                      <a:pt x="17654869" y="6210870"/>
                      <a:pt x="17663625" y="8760165"/>
                    </a:cubicBezTo>
                    <a:cubicBezTo>
                      <a:pt x="17672380" y="9053467"/>
                      <a:pt x="17625832" y="9386538"/>
                      <a:pt x="17625832" y="9386538"/>
                    </a:cubicBezTo>
                    <a:cubicBezTo>
                      <a:pt x="17622866" y="9566563"/>
                      <a:pt x="17411363" y="9700216"/>
                      <a:pt x="17165941" y="9700216"/>
                    </a:cubicBezTo>
                    <a:close/>
                  </a:path>
                </a:pathLst>
              </a:custGeom>
              <a:solidFill>
                <a:srgbClr val="8FB7C6"/>
              </a:solidFill>
            </p:spPr>
          </p:sp>
        </p:grpSp>
        <p:grpSp>
          <p:nvGrpSpPr>
            <p:cNvPr name="Group 5" id="5"/>
            <p:cNvGrpSpPr/>
            <p:nvPr/>
          </p:nvGrpSpPr>
          <p:grpSpPr>
            <a:xfrm rot="0">
              <a:off x="705379" y="503123"/>
              <a:ext cx="8489526" cy="4608319"/>
              <a:chOff x="0" y="0"/>
              <a:chExt cx="17774806" cy="9648591"/>
            </a:xfrm>
          </p:grpSpPr>
          <p:sp>
            <p:nvSpPr>
              <p:cNvPr name="Freeform 6" id="6"/>
              <p:cNvSpPr/>
              <p:nvPr/>
            </p:nvSpPr>
            <p:spPr>
              <a:xfrm flipH="false" flipV="false" rot="0">
                <a:off x="-1" y="0"/>
                <a:ext cx="17774806" cy="9648591"/>
              </a:xfrm>
              <a:custGeom>
                <a:avLst/>
                <a:gdLst/>
                <a:ahLst/>
                <a:cxnLst/>
                <a:rect r="r" b="b" t="t" l="l"/>
                <a:pathLst>
                  <a:path h="9648591" w="17774806">
                    <a:moveTo>
                      <a:pt x="17276026" y="9631673"/>
                    </a:moveTo>
                    <a:cubicBezTo>
                      <a:pt x="17276026" y="9631673"/>
                      <a:pt x="17039031" y="9621703"/>
                      <a:pt x="16676892" y="9635147"/>
                    </a:cubicBezTo>
                    <a:cubicBezTo>
                      <a:pt x="16314754" y="9648591"/>
                      <a:pt x="490924" y="9648591"/>
                      <a:pt x="490924" y="9648591"/>
                    </a:cubicBezTo>
                    <a:cubicBezTo>
                      <a:pt x="245502" y="9648591"/>
                      <a:pt x="32509" y="9551323"/>
                      <a:pt x="31032" y="9391209"/>
                    </a:cubicBezTo>
                    <a:cubicBezTo>
                      <a:pt x="31032" y="9391209"/>
                      <a:pt x="0" y="6705102"/>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17229478" y="0"/>
                      <a:pt x="17229478" y="0"/>
                    </a:cubicBezTo>
                    <a:cubicBezTo>
                      <a:pt x="17541378" y="0"/>
                      <a:pt x="17774808" y="101069"/>
                      <a:pt x="17766949" y="303616"/>
                    </a:cubicBezTo>
                    <a:cubicBezTo>
                      <a:pt x="17766949" y="303616"/>
                      <a:pt x="17764954" y="6162502"/>
                      <a:pt x="17773710" y="8691622"/>
                    </a:cubicBezTo>
                    <a:cubicBezTo>
                      <a:pt x="17782464" y="8984924"/>
                      <a:pt x="17735917" y="9317995"/>
                      <a:pt x="17735917" y="9317995"/>
                    </a:cubicBezTo>
                    <a:cubicBezTo>
                      <a:pt x="17732953" y="9498020"/>
                      <a:pt x="17521448" y="9631673"/>
                      <a:pt x="17276026" y="9631673"/>
                    </a:cubicBezTo>
                    <a:close/>
                  </a:path>
                </a:pathLst>
              </a:custGeom>
              <a:solidFill>
                <a:srgbClr val="8FB7C6"/>
              </a:solidFill>
            </p:spPr>
          </p:sp>
        </p:grpSp>
        <p:grpSp>
          <p:nvGrpSpPr>
            <p:cNvPr name="Group 7" id="7"/>
            <p:cNvGrpSpPr/>
            <p:nvPr/>
          </p:nvGrpSpPr>
          <p:grpSpPr>
            <a:xfrm rot="0">
              <a:off x="705379" y="0"/>
              <a:ext cx="8246031" cy="4867834"/>
              <a:chOff x="0" y="0"/>
              <a:chExt cx="18134668" cy="10705337"/>
            </a:xfrm>
          </p:grpSpPr>
          <p:sp>
            <p:nvSpPr>
              <p:cNvPr name="Freeform 8" id="8"/>
              <p:cNvSpPr/>
              <p:nvPr/>
            </p:nvSpPr>
            <p:spPr>
              <a:xfrm flipH="false" flipV="false" rot="0">
                <a:off x="-1" y="0"/>
                <a:ext cx="18134668" cy="10705337"/>
              </a:xfrm>
              <a:custGeom>
                <a:avLst/>
                <a:gdLst/>
                <a:ahLst/>
                <a:cxnLst/>
                <a:rect r="r" b="b" t="t" l="l"/>
                <a:pathLst>
                  <a:path h="10705337" w="18134668">
                    <a:moveTo>
                      <a:pt x="17635887" y="10688418"/>
                    </a:moveTo>
                    <a:cubicBezTo>
                      <a:pt x="17635887" y="10688418"/>
                      <a:pt x="17398892" y="10678449"/>
                      <a:pt x="17036753" y="10691893"/>
                    </a:cubicBezTo>
                    <a:cubicBezTo>
                      <a:pt x="16674614" y="10705337"/>
                      <a:pt x="490924" y="10705337"/>
                      <a:pt x="490924" y="10705337"/>
                    </a:cubicBezTo>
                    <a:cubicBezTo>
                      <a:pt x="245502" y="10705337"/>
                      <a:pt x="32509" y="10608069"/>
                      <a:pt x="31032" y="10447955"/>
                    </a:cubicBezTo>
                    <a:cubicBezTo>
                      <a:pt x="31032" y="10447955"/>
                      <a:pt x="0" y="7523653"/>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17589340" y="0"/>
                      <a:pt x="17589340" y="0"/>
                    </a:cubicBezTo>
                    <a:cubicBezTo>
                      <a:pt x="17901240" y="0"/>
                      <a:pt x="18134669" y="101069"/>
                      <a:pt x="18126811" y="303616"/>
                    </a:cubicBezTo>
                    <a:cubicBezTo>
                      <a:pt x="18126811" y="303616"/>
                      <a:pt x="18124816" y="6908210"/>
                      <a:pt x="18133572" y="9748368"/>
                    </a:cubicBezTo>
                    <a:cubicBezTo>
                      <a:pt x="18142326" y="10041669"/>
                      <a:pt x="18095779" y="10374741"/>
                      <a:pt x="18095779" y="10374741"/>
                    </a:cubicBezTo>
                    <a:cubicBezTo>
                      <a:pt x="18092813" y="10554766"/>
                      <a:pt x="17881310" y="10688418"/>
                      <a:pt x="17635887" y="10688418"/>
                    </a:cubicBezTo>
                    <a:close/>
                  </a:path>
                </a:pathLst>
              </a:custGeom>
              <a:solidFill>
                <a:srgbClr val="F3FCFF"/>
              </a:solidFill>
            </p:spPr>
          </p:sp>
        </p:grpSp>
        <p:sp>
          <p:nvSpPr>
            <p:cNvPr name="AutoShape 9" id="9"/>
            <p:cNvSpPr/>
            <p:nvPr/>
          </p:nvSpPr>
          <p:spPr>
            <a:xfrm>
              <a:off x="23" y="4630936"/>
              <a:ext cx="8281688" cy="16159"/>
            </a:xfrm>
            <a:prstGeom prst="line">
              <a:avLst/>
            </a:prstGeom>
            <a:ln cap="rnd" w="23942">
              <a:solidFill>
                <a:srgbClr val="8FB7C6"/>
              </a:solidFill>
              <a:prstDash val="solid"/>
              <a:headEnd type="none" len="sm" w="sm"/>
              <a:tailEnd type="none" len="sm" w="sm"/>
            </a:ln>
          </p:spPr>
        </p:sp>
        <p:sp>
          <p:nvSpPr>
            <p:cNvPr name="AutoShape 10" id="10"/>
            <p:cNvSpPr/>
            <p:nvPr/>
          </p:nvSpPr>
          <p:spPr>
            <a:xfrm>
              <a:off x="23" y="338015"/>
              <a:ext cx="8281688" cy="16159"/>
            </a:xfrm>
            <a:prstGeom prst="line">
              <a:avLst/>
            </a:prstGeom>
            <a:ln cap="rnd" w="23942">
              <a:solidFill>
                <a:srgbClr val="8FB7C6"/>
              </a:solidFill>
              <a:prstDash val="solid"/>
              <a:headEnd type="none" len="sm" w="sm"/>
              <a:tailEnd type="none" len="sm" w="sm"/>
            </a:ln>
          </p:spPr>
        </p:sp>
        <p:sp>
          <p:nvSpPr>
            <p:cNvPr name="TextBox 11" id="11"/>
            <p:cNvSpPr txBox="true"/>
            <p:nvPr/>
          </p:nvSpPr>
          <p:spPr>
            <a:xfrm rot="0">
              <a:off x="1197026" y="1652740"/>
              <a:ext cx="7111625" cy="2801837"/>
            </a:xfrm>
            <a:prstGeom prst="rect">
              <a:avLst/>
            </a:prstGeom>
          </p:spPr>
          <p:txBody>
            <a:bodyPr anchor="t" rtlCol="false" tIns="0" lIns="0" bIns="0" rIns="0">
              <a:spAutoFit/>
            </a:bodyPr>
            <a:lstStyle/>
            <a:p>
              <a:pPr algn="l">
                <a:lnSpc>
                  <a:spcPts val="5516"/>
                </a:lnSpc>
                <a:spcBef>
                  <a:spcPct val="0"/>
                </a:spcBef>
              </a:pPr>
              <a:r>
                <a:rPr lang="en-US" b="true" sz="4755">
                  <a:solidFill>
                    <a:srgbClr val="2E3192"/>
                  </a:solidFill>
                  <a:latin typeface="Asap Bold"/>
                  <a:ea typeface="Asap Bold"/>
                  <a:cs typeface="Asap Bold"/>
                  <a:sym typeface="Asap Bold"/>
                </a:rPr>
                <a:t>Chương 16 : </a:t>
              </a:r>
            </a:p>
            <a:p>
              <a:pPr algn="l">
                <a:lnSpc>
                  <a:spcPts val="5516"/>
                </a:lnSpc>
                <a:spcBef>
                  <a:spcPct val="0"/>
                </a:spcBef>
              </a:pPr>
              <a:r>
                <a:rPr lang="en-US" b="true" sz="4755">
                  <a:solidFill>
                    <a:srgbClr val="2E3192"/>
                  </a:solidFill>
                  <a:latin typeface="Asap Bold"/>
                  <a:ea typeface="Asap Bold"/>
                  <a:cs typeface="Asap Bold"/>
                  <a:sym typeface="Asap Bold"/>
                </a:rPr>
                <a:t>Kiến trúc, thiết kế và tương lai</a:t>
              </a:r>
            </a:p>
          </p:txBody>
        </p:sp>
      </p:grpSp>
      <p:grpSp>
        <p:nvGrpSpPr>
          <p:cNvPr name="Group 12" id="12"/>
          <p:cNvGrpSpPr/>
          <p:nvPr/>
        </p:nvGrpSpPr>
        <p:grpSpPr>
          <a:xfrm rot="0">
            <a:off x="6947039" y="517777"/>
            <a:ext cx="2843638" cy="1472155"/>
            <a:chOff x="0" y="0"/>
            <a:chExt cx="3791517" cy="1962874"/>
          </a:xfrm>
        </p:grpSpPr>
        <p:grpSp>
          <p:nvGrpSpPr>
            <p:cNvPr name="Group 13" id="13"/>
            <p:cNvGrpSpPr/>
            <p:nvPr/>
          </p:nvGrpSpPr>
          <p:grpSpPr>
            <a:xfrm rot="0">
              <a:off x="0" y="0"/>
              <a:ext cx="3791517" cy="1962874"/>
              <a:chOff x="0" y="0"/>
              <a:chExt cx="12264101" cy="6349143"/>
            </a:xfrm>
          </p:grpSpPr>
          <p:sp>
            <p:nvSpPr>
              <p:cNvPr name="Freeform 14" id="14"/>
              <p:cNvSpPr/>
              <p:nvPr/>
            </p:nvSpPr>
            <p:spPr>
              <a:xfrm flipH="false" flipV="false" rot="0">
                <a:off x="-1" y="0"/>
                <a:ext cx="12264102" cy="6349143"/>
              </a:xfrm>
              <a:custGeom>
                <a:avLst/>
                <a:gdLst/>
                <a:ahLst/>
                <a:cxnLst/>
                <a:rect r="r" b="b" t="t" l="l"/>
                <a:pathLst>
                  <a:path h="6349143" w="12264102">
                    <a:moveTo>
                      <a:pt x="11765322" y="6332224"/>
                    </a:moveTo>
                    <a:cubicBezTo>
                      <a:pt x="11765322" y="6332224"/>
                      <a:pt x="11528325" y="6322254"/>
                      <a:pt x="11166186" y="6335699"/>
                    </a:cubicBezTo>
                    <a:cubicBezTo>
                      <a:pt x="10804049" y="6349143"/>
                      <a:pt x="490924" y="6349143"/>
                      <a:pt x="490924" y="6349143"/>
                    </a:cubicBezTo>
                    <a:cubicBezTo>
                      <a:pt x="245502" y="6349143"/>
                      <a:pt x="32509" y="6251875"/>
                      <a:pt x="31032" y="6091761"/>
                    </a:cubicBezTo>
                    <a:cubicBezTo>
                      <a:pt x="31032" y="6091761"/>
                      <a:pt x="0" y="4149359"/>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11718773" y="0"/>
                      <a:pt x="11718773" y="0"/>
                    </a:cubicBezTo>
                    <a:cubicBezTo>
                      <a:pt x="12030674" y="0"/>
                      <a:pt x="12264102" y="101069"/>
                      <a:pt x="12256244" y="303616"/>
                    </a:cubicBezTo>
                    <a:cubicBezTo>
                      <a:pt x="12256244" y="303616"/>
                      <a:pt x="12254250" y="3834197"/>
                      <a:pt x="12263005" y="5392174"/>
                    </a:cubicBezTo>
                    <a:cubicBezTo>
                      <a:pt x="12271760" y="5685475"/>
                      <a:pt x="12225212" y="6018547"/>
                      <a:pt x="12225212" y="6018547"/>
                    </a:cubicBezTo>
                    <a:cubicBezTo>
                      <a:pt x="12222247" y="6198572"/>
                      <a:pt x="12010744" y="6332224"/>
                      <a:pt x="11765322" y="6332224"/>
                    </a:cubicBezTo>
                    <a:close/>
                  </a:path>
                </a:pathLst>
              </a:custGeom>
              <a:solidFill>
                <a:srgbClr val="97C0CF"/>
              </a:solidFill>
            </p:spPr>
          </p:sp>
        </p:grpSp>
        <p:sp>
          <p:nvSpPr>
            <p:cNvPr name="TextBox 15" id="15"/>
            <p:cNvSpPr txBox="true"/>
            <p:nvPr/>
          </p:nvSpPr>
          <p:spPr>
            <a:xfrm rot="0">
              <a:off x="206421" y="313036"/>
              <a:ext cx="3585096" cy="1327277"/>
            </a:xfrm>
            <a:prstGeom prst="rect">
              <a:avLst/>
            </a:prstGeom>
          </p:spPr>
          <p:txBody>
            <a:bodyPr anchor="t" rtlCol="false" tIns="0" lIns="0" bIns="0" rIns="0">
              <a:spAutoFit/>
            </a:bodyPr>
            <a:lstStyle/>
            <a:p>
              <a:pPr algn="ctr">
                <a:lnSpc>
                  <a:spcPts val="3828"/>
                </a:lnSpc>
              </a:pPr>
              <a:r>
                <a:rPr lang="en-US" sz="3300" b="true">
                  <a:solidFill>
                    <a:srgbClr val="2E3192"/>
                  </a:solidFill>
                  <a:latin typeface="Asap Bold"/>
                  <a:ea typeface="Asap Bold"/>
                  <a:cs typeface="Asap Bold"/>
                  <a:sym typeface="Asap Bold"/>
                </a:rPr>
                <a:t>Kiến trúc</a:t>
              </a:r>
            </a:p>
            <a:p>
              <a:pPr algn="ctr">
                <a:lnSpc>
                  <a:spcPts val="3828"/>
                </a:lnSpc>
                <a:spcBef>
                  <a:spcPct val="0"/>
                </a:spcBef>
              </a:pPr>
              <a:r>
                <a:rPr lang="en-US" b="true" sz="3300">
                  <a:solidFill>
                    <a:srgbClr val="2E3192"/>
                  </a:solidFill>
                  <a:latin typeface="Asap Bold"/>
                  <a:ea typeface="Asap Bold"/>
                  <a:cs typeface="Asap Bold"/>
                  <a:sym typeface="Asap Bold"/>
                </a:rPr>
                <a:t>(Architecture)</a:t>
              </a:r>
            </a:p>
          </p:txBody>
        </p:sp>
      </p:grpSp>
      <p:grpSp>
        <p:nvGrpSpPr>
          <p:cNvPr name="Group 16" id="16"/>
          <p:cNvGrpSpPr/>
          <p:nvPr/>
        </p:nvGrpSpPr>
        <p:grpSpPr>
          <a:xfrm rot="0">
            <a:off x="6947039" y="3460483"/>
            <a:ext cx="2843638" cy="1514244"/>
            <a:chOff x="0" y="0"/>
            <a:chExt cx="3791517" cy="2018992"/>
          </a:xfrm>
        </p:grpSpPr>
        <p:grpSp>
          <p:nvGrpSpPr>
            <p:cNvPr name="Group 17" id="17"/>
            <p:cNvGrpSpPr/>
            <p:nvPr/>
          </p:nvGrpSpPr>
          <p:grpSpPr>
            <a:xfrm rot="0">
              <a:off x="0" y="0"/>
              <a:ext cx="3791517" cy="2018992"/>
              <a:chOff x="0" y="0"/>
              <a:chExt cx="13515013" cy="7196778"/>
            </a:xfrm>
          </p:grpSpPr>
          <p:sp>
            <p:nvSpPr>
              <p:cNvPr name="Freeform 18" id="18"/>
              <p:cNvSpPr/>
              <p:nvPr/>
            </p:nvSpPr>
            <p:spPr>
              <a:xfrm flipH="false" flipV="false" rot="0">
                <a:off x="-1" y="0"/>
                <a:ext cx="13515014" cy="7196778"/>
              </a:xfrm>
              <a:custGeom>
                <a:avLst/>
                <a:gdLst/>
                <a:ahLst/>
                <a:cxnLst/>
                <a:rect r="r" b="b" t="t" l="l"/>
                <a:pathLst>
                  <a:path h="7196778" w="13515014">
                    <a:moveTo>
                      <a:pt x="13016233" y="7179859"/>
                    </a:moveTo>
                    <a:cubicBezTo>
                      <a:pt x="13016233" y="7179859"/>
                      <a:pt x="12779237" y="7169889"/>
                      <a:pt x="12417098" y="7183334"/>
                    </a:cubicBezTo>
                    <a:cubicBezTo>
                      <a:pt x="12054960" y="7196778"/>
                      <a:pt x="490924" y="7196778"/>
                      <a:pt x="490924" y="7196778"/>
                    </a:cubicBezTo>
                    <a:cubicBezTo>
                      <a:pt x="245502" y="7196778"/>
                      <a:pt x="32509" y="7099509"/>
                      <a:pt x="31032" y="6939396"/>
                    </a:cubicBezTo>
                    <a:cubicBezTo>
                      <a:pt x="31032" y="6939396"/>
                      <a:pt x="0" y="4805935"/>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12969685" y="0"/>
                      <a:pt x="12969685" y="0"/>
                    </a:cubicBezTo>
                    <a:cubicBezTo>
                      <a:pt x="13281586" y="0"/>
                      <a:pt x="13515013" y="101069"/>
                      <a:pt x="13507156" y="303616"/>
                    </a:cubicBezTo>
                    <a:cubicBezTo>
                      <a:pt x="13507156" y="303616"/>
                      <a:pt x="13505161" y="4432343"/>
                      <a:pt x="13513917" y="6239809"/>
                    </a:cubicBezTo>
                    <a:cubicBezTo>
                      <a:pt x="13522672" y="6533110"/>
                      <a:pt x="13476124" y="6866182"/>
                      <a:pt x="13476124" y="6866182"/>
                    </a:cubicBezTo>
                    <a:cubicBezTo>
                      <a:pt x="13473158" y="7046206"/>
                      <a:pt x="13261655" y="7179859"/>
                      <a:pt x="13016233" y="7179859"/>
                    </a:cubicBezTo>
                    <a:close/>
                  </a:path>
                </a:pathLst>
              </a:custGeom>
              <a:solidFill>
                <a:srgbClr val="97C0CF"/>
              </a:solidFill>
            </p:spPr>
          </p:sp>
        </p:grpSp>
        <p:sp>
          <p:nvSpPr>
            <p:cNvPr name="TextBox 19" id="19"/>
            <p:cNvSpPr txBox="true"/>
            <p:nvPr/>
          </p:nvSpPr>
          <p:spPr>
            <a:xfrm rot="0">
              <a:off x="369983" y="341095"/>
              <a:ext cx="3051550" cy="1327277"/>
            </a:xfrm>
            <a:prstGeom prst="rect">
              <a:avLst/>
            </a:prstGeom>
          </p:spPr>
          <p:txBody>
            <a:bodyPr anchor="t" rtlCol="false" tIns="0" lIns="0" bIns="0" rIns="0">
              <a:spAutoFit/>
            </a:bodyPr>
            <a:lstStyle/>
            <a:p>
              <a:pPr algn="ctr">
                <a:lnSpc>
                  <a:spcPts val="3827"/>
                </a:lnSpc>
              </a:pPr>
              <a:r>
                <a:rPr lang="en-US" sz="3300" b="true">
                  <a:solidFill>
                    <a:srgbClr val="2E3192"/>
                  </a:solidFill>
                  <a:latin typeface="Asap Bold"/>
                  <a:ea typeface="Asap Bold"/>
                  <a:cs typeface="Asap Bold"/>
                  <a:sym typeface="Asap Bold"/>
                </a:rPr>
                <a:t>Thiết kế</a:t>
              </a:r>
            </a:p>
            <a:p>
              <a:pPr algn="ctr">
                <a:lnSpc>
                  <a:spcPts val="3827"/>
                </a:lnSpc>
                <a:spcBef>
                  <a:spcPct val="0"/>
                </a:spcBef>
              </a:pPr>
              <a:r>
                <a:rPr lang="en-US" b="true" sz="3300">
                  <a:solidFill>
                    <a:srgbClr val="2E3192"/>
                  </a:solidFill>
                  <a:latin typeface="Asap Bold"/>
                  <a:ea typeface="Asap Bold"/>
                  <a:cs typeface="Asap Bold"/>
                  <a:sym typeface="Asap Bold"/>
                </a:rPr>
                <a:t>(Design)</a:t>
              </a:r>
            </a:p>
          </p:txBody>
        </p:sp>
      </p:grpSp>
      <p:grpSp>
        <p:nvGrpSpPr>
          <p:cNvPr name="Group 20" id="20"/>
          <p:cNvGrpSpPr/>
          <p:nvPr/>
        </p:nvGrpSpPr>
        <p:grpSpPr>
          <a:xfrm rot="0">
            <a:off x="6947039" y="6445279"/>
            <a:ext cx="2843638" cy="1514244"/>
            <a:chOff x="0" y="0"/>
            <a:chExt cx="3791517" cy="2018992"/>
          </a:xfrm>
        </p:grpSpPr>
        <p:grpSp>
          <p:nvGrpSpPr>
            <p:cNvPr name="Group 21" id="21"/>
            <p:cNvGrpSpPr/>
            <p:nvPr/>
          </p:nvGrpSpPr>
          <p:grpSpPr>
            <a:xfrm rot="0">
              <a:off x="0" y="0"/>
              <a:ext cx="3791517" cy="2018992"/>
              <a:chOff x="0" y="0"/>
              <a:chExt cx="13515013" cy="7196778"/>
            </a:xfrm>
          </p:grpSpPr>
          <p:sp>
            <p:nvSpPr>
              <p:cNvPr name="Freeform 22" id="22"/>
              <p:cNvSpPr/>
              <p:nvPr/>
            </p:nvSpPr>
            <p:spPr>
              <a:xfrm flipH="false" flipV="false" rot="0">
                <a:off x="-1" y="0"/>
                <a:ext cx="13515014" cy="7196778"/>
              </a:xfrm>
              <a:custGeom>
                <a:avLst/>
                <a:gdLst/>
                <a:ahLst/>
                <a:cxnLst/>
                <a:rect r="r" b="b" t="t" l="l"/>
                <a:pathLst>
                  <a:path h="7196778" w="13515014">
                    <a:moveTo>
                      <a:pt x="13016233" y="7179859"/>
                    </a:moveTo>
                    <a:cubicBezTo>
                      <a:pt x="13016233" y="7179859"/>
                      <a:pt x="12779237" y="7169889"/>
                      <a:pt x="12417098" y="7183334"/>
                    </a:cubicBezTo>
                    <a:cubicBezTo>
                      <a:pt x="12054960" y="7196778"/>
                      <a:pt x="490924" y="7196778"/>
                      <a:pt x="490924" y="7196778"/>
                    </a:cubicBezTo>
                    <a:cubicBezTo>
                      <a:pt x="245502" y="7196778"/>
                      <a:pt x="32509" y="7099509"/>
                      <a:pt x="31032" y="6939396"/>
                    </a:cubicBezTo>
                    <a:cubicBezTo>
                      <a:pt x="31032" y="6939396"/>
                      <a:pt x="0" y="4805935"/>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12969685" y="0"/>
                      <a:pt x="12969685" y="0"/>
                    </a:cubicBezTo>
                    <a:cubicBezTo>
                      <a:pt x="13281586" y="0"/>
                      <a:pt x="13515013" y="101069"/>
                      <a:pt x="13507156" y="303616"/>
                    </a:cubicBezTo>
                    <a:cubicBezTo>
                      <a:pt x="13507156" y="303616"/>
                      <a:pt x="13505161" y="4432343"/>
                      <a:pt x="13513917" y="6239809"/>
                    </a:cubicBezTo>
                    <a:cubicBezTo>
                      <a:pt x="13522672" y="6533110"/>
                      <a:pt x="13476124" y="6866182"/>
                      <a:pt x="13476124" y="6866182"/>
                    </a:cubicBezTo>
                    <a:cubicBezTo>
                      <a:pt x="13473158" y="7046206"/>
                      <a:pt x="13261655" y="7179859"/>
                      <a:pt x="13016233" y="7179859"/>
                    </a:cubicBezTo>
                    <a:close/>
                  </a:path>
                </a:pathLst>
              </a:custGeom>
              <a:solidFill>
                <a:srgbClr val="97C0CF"/>
              </a:solidFill>
            </p:spPr>
          </p:sp>
        </p:grpSp>
        <p:sp>
          <p:nvSpPr>
            <p:cNvPr name="TextBox 23" id="23"/>
            <p:cNvSpPr txBox="true"/>
            <p:nvPr/>
          </p:nvSpPr>
          <p:spPr>
            <a:xfrm rot="0">
              <a:off x="369983" y="341095"/>
              <a:ext cx="3051550" cy="1327277"/>
            </a:xfrm>
            <a:prstGeom prst="rect">
              <a:avLst/>
            </a:prstGeom>
          </p:spPr>
          <p:txBody>
            <a:bodyPr anchor="t" rtlCol="false" tIns="0" lIns="0" bIns="0" rIns="0">
              <a:spAutoFit/>
            </a:bodyPr>
            <a:lstStyle/>
            <a:p>
              <a:pPr algn="ctr">
                <a:lnSpc>
                  <a:spcPts val="3827"/>
                </a:lnSpc>
              </a:pPr>
              <a:r>
                <a:rPr lang="en-US" sz="3300" b="true">
                  <a:solidFill>
                    <a:srgbClr val="2E3192"/>
                  </a:solidFill>
                  <a:latin typeface="Asap Bold"/>
                  <a:ea typeface="Asap Bold"/>
                  <a:cs typeface="Asap Bold"/>
                  <a:sym typeface="Asap Bold"/>
                </a:rPr>
                <a:t>Tương lai</a:t>
              </a:r>
            </a:p>
            <a:p>
              <a:pPr algn="ctr">
                <a:lnSpc>
                  <a:spcPts val="3827"/>
                </a:lnSpc>
                <a:spcBef>
                  <a:spcPct val="0"/>
                </a:spcBef>
              </a:pPr>
              <a:r>
                <a:rPr lang="en-US" b="true" sz="3300">
                  <a:solidFill>
                    <a:srgbClr val="2E3192"/>
                  </a:solidFill>
                  <a:latin typeface="Asap Bold"/>
                  <a:ea typeface="Asap Bold"/>
                  <a:cs typeface="Asap Bold"/>
                  <a:sym typeface="Asap Bold"/>
                </a:rPr>
                <a:t>(Future)</a:t>
              </a:r>
            </a:p>
          </p:txBody>
        </p:sp>
      </p:grpSp>
      <p:grpSp>
        <p:nvGrpSpPr>
          <p:cNvPr name="Group 24" id="24"/>
          <p:cNvGrpSpPr/>
          <p:nvPr/>
        </p:nvGrpSpPr>
        <p:grpSpPr>
          <a:xfrm rot="0">
            <a:off x="10554053" y="153106"/>
            <a:ext cx="7498259" cy="2201496"/>
            <a:chOff x="0" y="0"/>
            <a:chExt cx="9997678" cy="2935328"/>
          </a:xfrm>
        </p:grpSpPr>
        <p:grpSp>
          <p:nvGrpSpPr>
            <p:cNvPr name="Group 25" id="25"/>
            <p:cNvGrpSpPr/>
            <p:nvPr/>
          </p:nvGrpSpPr>
          <p:grpSpPr>
            <a:xfrm rot="0">
              <a:off x="0" y="0"/>
              <a:ext cx="9997678" cy="2935328"/>
              <a:chOff x="0" y="0"/>
              <a:chExt cx="18325410" cy="5380358"/>
            </a:xfrm>
          </p:grpSpPr>
          <p:sp>
            <p:nvSpPr>
              <p:cNvPr name="Freeform 26" id="26"/>
              <p:cNvSpPr/>
              <p:nvPr/>
            </p:nvSpPr>
            <p:spPr>
              <a:xfrm flipH="false" flipV="false" rot="0">
                <a:off x="-1" y="0"/>
                <a:ext cx="18325410" cy="5380358"/>
              </a:xfrm>
              <a:custGeom>
                <a:avLst/>
                <a:gdLst/>
                <a:ahLst/>
                <a:cxnLst/>
                <a:rect r="r" b="b" t="t" l="l"/>
                <a:pathLst>
                  <a:path h="5380358" w="18325410">
                    <a:moveTo>
                      <a:pt x="17826631" y="5363439"/>
                    </a:moveTo>
                    <a:cubicBezTo>
                      <a:pt x="17826631" y="5363439"/>
                      <a:pt x="17589634" y="5353469"/>
                      <a:pt x="17227495" y="5366913"/>
                    </a:cubicBezTo>
                    <a:cubicBezTo>
                      <a:pt x="16865358" y="5380358"/>
                      <a:pt x="490924" y="5380358"/>
                      <a:pt x="490924" y="5380358"/>
                    </a:cubicBezTo>
                    <a:cubicBezTo>
                      <a:pt x="245502" y="5380358"/>
                      <a:pt x="32509" y="5283090"/>
                      <a:pt x="31032" y="5122976"/>
                    </a:cubicBezTo>
                    <a:cubicBezTo>
                      <a:pt x="31032" y="5122976"/>
                      <a:pt x="0" y="3398941"/>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17780082" y="0"/>
                      <a:pt x="17780082" y="0"/>
                    </a:cubicBezTo>
                    <a:cubicBezTo>
                      <a:pt x="18091982" y="0"/>
                      <a:pt x="18325411" y="101069"/>
                      <a:pt x="18317554" y="303616"/>
                    </a:cubicBezTo>
                    <a:cubicBezTo>
                      <a:pt x="18317554" y="303616"/>
                      <a:pt x="18315559" y="3150560"/>
                      <a:pt x="18324314" y="4423389"/>
                    </a:cubicBezTo>
                    <a:cubicBezTo>
                      <a:pt x="18333070" y="4716690"/>
                      <a:pt x="18286520" y="5049761"/>
                      <a:pt x="18286520" y="5049761"/>
                    </a:cubicBezTo>
                    <a:cubicBezTo>
                      <a:pt x="18283556" y="5229786"/>
                      <a:pt x="18072053" y="5363439"/>
                      <a:pt x="17826631" y="5363439"/>
                    </a:cubicBezTo>
                    <a:close/>
                  </a:path>
                </a:pathLst>
              </a:custGeom>
              <a:solidFill>
                <a:srgbClr val="F3FCFF"/>
              </a:solidFill>
            </p:spPr>
          </p:sp>
        </p:grpSp>
        <p:sp>
          <p:nvSpPr>
            <p:cNvPr name="TextBox 27" id="27"/>
            <p:cNvSpPr txBox="true"/>
            <p:nvPr/>
          </p:nvSpPr>
          <p:spPr>
            <a:xfrm rot="0">
              <a:off x="440562" y="476702"/>
              <a:ext cx="9116554" cy="2041525"/>
            </a:xfrm>
            <a:prstGeom prst="rect">
              <a:avLst/>
            </a:prstGeom>
          </p:spPr>
          <p:txBody>
            <a:bodyPr anchor="t" rtlCol="false" tIns="0" lIns="0" bIns="0" rIns="0">
              <a:spAutoFit/>
            </a:bodyPr>
            <a:lstStyle/>
            <a:p>
              <a:pPr algn="l">
                <a:lnSpc>
                  <a:spcPts val="3000"/>
                </a:lnSpc>
                <a:spcBef>
                  <a:spcPct val="0"/>
                </a:spcBef>
              </a:pPr>
              <a:r>
                <a:rPr lang="en-US" b="true" sz="2500" spc="-25">
                  <a:solidFill>
                    <a:srgbClr val="2E3192"/>
                  </a:solidFill>
                  <a:latin typeface="Asap Bold"/>
                  <a:ea typeface="Asap Bold"/>
                  <a:cs typeface="Asap Bold"/>
                  <a:sym typeface="Asap Bold"/>
                </a:rPr>
                <a:t>GenAI chưa thể tự thiết kế hệ thống phức tạp. Con người vẫn cần quyết định cấu trúc hệ thống, phân chia module và đảm bảo tính mở rộng, bảo mật và hiệu năng.</a:t>
              </a:r>
            </a:p>
          </p:txBody>
        </p:sp>
      </p:grpSp>
      <p:grpSp>
        <p:nvGrpSpPr>
          <p:cNvPr name="Group 28" id="28"/>
          <p:cNvGrpSpPr/>
          <p:nvPr/>
        </p:nvGrpSpPr>
        <p:grpSpPr>
          <a:xfrm rot="0">
            <a:off x="10554053" y="3137902"/>
            <a:ext cx="7498259" cy="2201496"/>
            <a:chOff x="0" y="0"/>
            <a:chExt cx="9997678" cy="2935328"/>
          </a:xfrm>
        </p:grpSpPr>
        <p:grpSp>
          <p:nvGrpSpPr>
            <p:cNvPr name="Group 29" id="29"/>
            <p:cNvGrpSpPr/>
            <p:nvPr/>
          </p:nvGrpSpPr>
          <p:grpSpPr>
            <a:xfrm rot="0">
              <a:off x="0" y="0"/>
              <a:ext cx="9997678" cy="2935328"/>
              <a:chOff x="0" y="0"/>
              <a:chExt cx="18325410" cy="5380358"/>
            </a:xfrm>
          </p:grpSpPr>
          <p:sp>
            <p:nvSpPr>
              <p:cNvPr name="Freeform 30" id="30"/>
              <p:cNvSpPr/>
              <p:nvPr/>
            </p:nvSpPr>
            <p:spPr>
              <a:xfrm flipH="false" flipV="false" rot="0">
                <a:off x="-1" y="0"/>
                <a:ext cx="18325410" cy="5380358"/>
              </a:xfrm>
              <a:custGeom>
                <a:avLst/>
                <a:gdLst/>
                <a:ahLst/>
                <a:cxnLst/>
                <a:rect r="r" b="b" t="t" l="l"/>
                <a:pathLst>
                  <a:path h="5380358" w="18325410">
                    <a:moveTo>
                      <a:pt x="17826631" y="5363439"/>
                    </a:moveTo>
                    <a:cubicBezTo>
                      <a:pt x="17826631" y="5363439"/>
                      <a:pt x="17589634" y="5353469"/>
                      <a:pt x="17227495" y="5366913"/>
                    </a:cubicBezTo>
                    <a:cubicBezTo>
                      <a:pt x="16865358" y="5380358"/>
                      <a:pt x="490924" y="5380358"/>
                      <a:pt x="490924" y="5380358"/>
                    </a:cubicBezTo>
                    <a:cubicBezTo>
                      <a:pt x="245502" y="5380358"/>
                      <a:pt x="32509" y="5283090"/>
                      <a:pt x="31032" y="5122976"/>
                    </a:cubicBezTo>
                    <a:cubicBezTo>
                      <a:pt x="31032" y="5122976"/>
                      <a:pt x="0" y="3398941"/>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17780082" y="0"/>
                      <a:pt x="17780082" y="0"/>
                    </a:cubicBezTo>
                    <a:cubicBezTo>
                      <a:pt x="18091982" y="0"/>
                      <a:pt x="18325411" y="101069"/>
                      <a:pt x="18317554" y="303616"/>
                    </a:cubicBezTo>
                    <a:cubicBezTo>
                      <a:pt x="18317554" y="303616"/>
                      <a:pt x="18315559" y="3150560"/>
                      <a:pt x="18324314" y="4423389"/>
                    </a:cubicBezTo>
                    <a:cubicBezTo>
                      <a:pt x="18333070" y="4716690"/>
                      <a:pt x="18286520" y="5049761"/>
                      <a:pt x="18286520" y="5049761"/>
                    </a:cubicBezTo>
                    <a:cubicBezTo>
                      <a:pt x="18283556" y="5229786"/>
                      <a:pt x="18072053" y="5363439"/>
                      <a:pt x="17826631" y="5363439"/>
                    </a:cubicBezTo>
                    <a:close/>
                  </a:path>
                </a:pathLst>
              </a:custGeom>
              <a:solidFill>
                <a:srgbClr val="F3FCFF"/>
              </a:solidFill>
            </p:spPr>
          </p:sp>
        </p:grpSp>
        <p:sp>
          <p:nvSpPr>
            <p:cNvPr name="TextBox 31" id="31"/>
            <p:cNvSpPr txBox="true"/>
            <p:nvPr/>
          </p:nvSpPr>
          <p:spPr>
            <a:xfrm rot="0">
              <a:off x="440562" y="476702"/>
              <a:ext cx="9116554" cy="2041525"/>
            </a:xfrm>
            <a:prstGeom prst="rect">
              <a:avLst/>
            </a:prstGeom>
          </p:spPr>
          <p:txBody>
            <a:bodyPr anchor="t" rtlCol="false" tIns="0" lIns="0" bIns="0" rIns="0">
              <a:spAutoFit/>
            </a:bodyPr>
            <a:lstStyle/>
            <a:p>
              <a:pPr algn="l">
                <a:lnSpc>
                  <a:spcPts val="3000"/>
                </a:lnSpc>
                <a:spcBef>
                  <a:spcPct val="0"/>
                </a:spcBef>
              </a:pPr>
              <a:r>
                <a:rPr lang="en-US" b="true" sz="2500" spc="-25">
                  <a:solidFill>
                    <a:srgbClr val="2E3192"/>
                  </a:solidFill>
                  <a:latin typeface="Asap Bold"/>
                  <a:ea typeface="Asap Bold"/>
                  <a:cs typeface="Asap Bold"/>
                  <a:sym typeface="Asap Bold"/>
                </a:rPr>
                <a:t>GenAI chưa thể tự thiết kế hệ thống phức tạp. Con người vẫn cần quyết định cấu trúc hệ thống, phân chia module và đảm bảo tính mở rộng, bảo mật và hiệu năng.</a:t>
              </a:r>
            </a:p>
          </p:txBody>
        </p:sp>
      </p:grpSp>
      <p:grpSp>
        <p:nvGrpSpPr>
          <p:cNvPr name="Group 32" id="32"/>
          <p:cNvGrpSpPr/>
          <p:nvPr/>
        </p:nvGrpSpPr>
        <p:grpSpPr>
          <a:xfrm rot="0">
            <a:off x="10554053" y="5872187"/>
            <a:ext cx="7498259" cy="4174670"/>
            <a:chOff x="0" y="0"/>
            <a:chExt cx="9997678" cy="5566227"/>
          </a:xfrm>
        </p:grpSpPr>
        <p:grpSp>
          <p:nvGrpSpPr>
            <p:cNvPr name="Group 33" id="33"/>
            <p:cNvGrpSpPr/>
            <p:nvPr/>
          </p:nvGrpSpPr>
          <p:grpSpPr>
            <a:xfrm rot="0">
              <a:off x="0" y="0"/>
              <a:ext cx="9997678" cy="5566227"/>
              <a:chOff x="0" y="0"/>
              <a:chExt cx="18325410" cy="10202708"/>
            </a:xfrm>
          </p:grpSpPr>
          <p:sp>
            <p:nvSpPr>
              <p:cNvPr name="Freeform 34" id="34"/>
              <p:cNvSpPr/>
              <p:nvPr/>
            </p:nvSpPr>
            <p:spPr>
              <a:xfrm flipH="false" flipV="false" rot="0">
                <a:off x="-1" y="0"/>
                <a:ext cx="18325410" cy="10202708"/>
              </a:xfrm>
              <a:custGeom>
                <a:avLst/>
                <a:gdLst/>
                <a:ahLst/>
                <a:cxnLst/>
                <a:rect r="r" b="b" t="t" l="l"/>
                <a:pathLst>
                  <a:path h="10202708" w="18325410">
                    <a:moveTo>
                      <a:pt x="17826631" y="10185789"/>
                    </a:moveTo>
                    <a:cubicBezTo>
                      <a:pt x="17826631" y="10185789"/>
                      <a:pt x="17589634" y="10175820"/>
                      <a:pt x="17227495" y="10189264"/>
                    </a:cubicBezTo>
                    <a:cubicBezTo>
                      <a:pt x="16865358" y="10202708"/>
                      <a:pt x="490924" y="10202708"/>
                      <a:pt x="490924" y="10202708"/>
                    </a:cubicBezTo>
                    <a:cubicBezTo>
                      <a:pt x="245502" y="10202708"/>
                      <a:pt x="32509" y="10105441"/>
                      <a:pt x="31032" y="9945326"/>
                    </a:cubicBezTo>
                    <a:cubicBezTo>
                      <a:pt x="31032" y="9945326"/>
                      <a:pt x="0" y="7134319"/>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17780082" y="0"/>
                      <a:pt x="17780082" y="0"/>
                    </a:cubicBezTo>
                    <a:cubicBezTo>
                      <a:pt x="18091982" y="0"/>
                      <a:pt x="18325411" y="101069"/>
                      <a:pt x="18317554" y="303616"/>
                    </a:cubicBezTo>
                    <a:cubicBezTo>
                      <a:pt x="18317554" y="303616"/>
                      <a:pt x="18315559" y="6553522"/>
                      <a:pt x="18324314" y="9245740"/>
                    </a:cubicBezTo>
                    <a:cubicBezTo>
                      <a:pt x="18333070" y="9539041"/>
                      <a:pt x="18286520" y="9872112"/>
                      <a:pt x="18286520" y="9872112"/>
                    </a:cubicBezTo>
                    <a:cubicBezTo>
                      <a:pt x="18283556" y="10052137"/>
                      <a:pt x="18072053" y="10185789"/>
                      <a:pt x="17826631" y="10185789"/>
                    </a:cubicBezTo>
                    <a:close/>
                  </a:path>
                </a:pathLst>
              </a:custGeom>
              <a:solidFill>
                <a:srgbClr val="F3FCFF"/>
              </a:solidFill>
            </p:spPr>
          </p:sp>
        </p:grpSp>
        <p:sp>
          <p:nvSpPr>
            <p:cNvPr name="TextBox 35" id="35"/>
            <p:cNvSpPr txBox="true"/>
            <p:nvPr/>
          </p:nvSpPr>
          <p:spPr>
            <a:xfrm rot="0">
              <a:off x="181011" y="476702"/>
              <a:ext cx="9364141" cy="5089525"/>
            </a:xfrm>
            <a:prstGeom prst="rect">
              <a:avLst/>
            </a:prstGeom>
          </p:spPr>
          <p:txBody>
            <a:bodyPr anchor="t" rtlCol="false" tIns="0" lIns="0" bIns="0" rIns="0">
              <a:spAutoFit/>
            </a:bodyPr>
            <a:lstStyle/>
            <a:p>
              <a:pPr algn="just" marL="539758" indent="-269879" lvl="1">
                <a:lnSpc>
                  <a:spcPts val="3000"/>
                </a:lnSpc>
                <a:spcBef>
                  <a:spcPct val="0"/>
                </a:spcBef>
                <a:buFont typeface="Arial"/>
                <a:buChar char="•"/>
              </a:pPr>
              <a:r>
                <a:rPr lang="en-US" b="true" sz="2500" spc="-25">
                  <a:solidFill>
                    <a:srgbClr val="2E3192"/>
                  </a:solidFill>
                  <a:latin typeface="Asap Bold"/>
                  <a:ea typeface="Asap Bold"/>
                  <a:cs typeface="Asap Bold"/>
                  <a:sym typeface="Asap Bold"/>
                </a:rPr>
                <a:t>Ngắn hạn: </a:t>
              </a:r>
              <a:r>
                <a:rPr lang="en-US" b="true" sz="2500" spc="-25">
                  <a:solidFill>
                    <a:srgbClr val="2E3192"/>
                  </a:solidFill>
                  <a:latin typeface="Asap Bold"/>
                  <a:ea typeface="Asap Bold"/>
                  <a:cs typeface="Asap Bold"/>
                  <a:sym typeface="Asap Bold"/>
                </a:rPr>
                <a:t>GenAI trở thành trợ lý lập trình phổ biến trong IDE, giúp tăng tốc phát triển phần mềm</a:t>
              </a:r>
            </a:p>
            <a:p>
              <a:pPr algn="just" marL="539758" indent="-269879" lvl="1">
                <a:lnSpc>
                  <a:spcPts val="3000"/>
                </a:lnSpc>
                <a:spcBef>
                  <a:spcPct val="0"/>
                </a:spcBef>
                <a:buFont typeface="Arial"/>
                <a:buChar char="•"/>
              </a:pPr>
              <a:r>
                <a:rPr lang="en-US" b="true" sz="2500" spc="-25">
                  <a:solidFill>
                    <a:srgbClr val="2E3192"/>
                  </a:solidFill>
                  <a:latin typeface="Asap Bold"/>
                  <a:ea typeface="Asap Bold"/>
                  <a:cs typeface="Asap Bold"/>
                  <a:sym typeface="Asap Bold"/>
                </a:rPr>
                <a:t>Dài hạn: Có thể chuyển từ yêu cầu → code tự động, tiến tới lập trình bằng ngôn ngữ tự nhiên hoặc pseudocode</a:t>
              </a:r>
            </a:p>
            <a:p>
              <a:pPr algn="just" marL="539758" indent="-269879" lvl="1">
                <a:lnSpc>
                  <a:spcPts val="3000"/>
                </a:lnSpc>
                <a:spcBef>
                  <a:spcPct val="0"/>
                </a:spcBef>
                <a:buFont typeface="Arial"/>
                <a:buChar char="•"/>
              </a:pPr>
              <a:r>
                <a:rPr lang="en-US" b="true" sz="2500" spc="-25">
                  <a:solidFill>
                    <a:srgbClr val="2E3192"/>
                  </a:solidFill>
                  <a:latin typeface="Asap Bold"/>
                  <a:ea typeface="Asap Bold"/>
                  <a:cs typeface="Asap Bold"/>
                  <a:sym typeface="Asap Bold"/>
                </a:rPr>
                <a:t>Xu hướng mới như </a:t>
              </a:r>
              <a:r>
                <a:rPr lang="en-US" b="true" sz="2500" spc="-25" u="sng">
                  <a:solidFill>
                    <a:srgbClr val="2E3192"/>
                  </a:solidFill>
                  <a:latin typeface="Asap Bold"/>
                  <a:ea typeface="Asap Bold"/>
                  <a:cs typeface="Asap Bold"/>
                  <a:sym typeface="Asap Bold"/>
                </a:rPr>
                <a:t>vibe coding</a:t>
              </a:r>
              <a:r>
                <a:rPr lang="en-US" b="true" sz="2500" spc="-25">
                  <a:solidFill>
                    <a:srgbClr val="2E3192"/>
                  </a:solidFill>
                  <a:latin typeface="Asap Bold"/>
                  <a:ea typeface="Asap Bold"/>
                  <a:cs typeface="Asap Bold"/>
                  <a:sym typeface="Asap Bold"/>
                </a:rPr>
                <a:t> xuất hiện nhưng chưa thay thế hoàn toàn phương pháp truyền thống</a:t>
              </a:r>
            </a:p>
            <a:p>
              <a:pPr algn="just">
                <a:lnSpc>
                  <a:spcPts val="3000"/>
                </a:lnSpc>
                <a:spcBef>
                  <a:spcPct val="0"/>
                </a:spcBef>
              </a:pPr>
            </a:p>
          </p:txBody>
        </p:sp>
      </p:grpSp>
    </p:spTree>
  </p:cSld>
  <p:clrMapOvr>
    <a:masterClrMapping/>
  </p:clrMapOvr>
  <p:transition spd="slow">
    <p:push dir="d"/>
  </p:transition>
</p:sld>
</file>

<file path=ppt/slides/slide48.xml><?xml version="1.0" encoding="utf-8"?>
<p:sld xmlns:p="http://schemas.openxmlformats.org/presentationml/2006/main" xmlns:a="http://schemas.openxmlformats.org/drawingml/2006/main">
  <p:cSld>
    <p:bg>
      <p:bgPr>
        <a:solidFill>
          <a:srgbClr val="C8E3ED"/>
        </a:solidFill>
      </p:bgPr>
    </p:bg>
    <p:spTree>
      <p:nvGrpSpPr>
        <p:cNvPr id="1" name=""/>
        <p:cNvGrpSpPr/>
        <p:nvPr/>
      </p:nvGrpSpPr>
      <p:grpSpPr>
        <a:xfrm>
          <a:off x="0" y="0"/>
          <a:ext cx="0" cy="0"/>
          <a:chOff x="0" y="0"/>
          <a:chExt cx="0" cy="0"/>
        </a:xfrm>
      </p:grpSpPr>
      <p:grpSp>
        <p:nvGrpSpPr>
          <p:cNvPr name="Group 2" id="2"/>
          <p:cNvGrpSpPr/>
          <p:nvPr/>
        </p:nvGrpSpPr>
        <p:grpSpPr>
          <a:xfrm rot="0">
            <a:off x="-388850" y="769575"/>
            <a:ext cx="6419142" cy="8722103"/>
            <a:chOff x="0" y="0"/>
            <a:chExt cx="8320847" cy="11306071"/>
          </a:xfrm>
        </p:grpSpPr>
        <p:sp>
          <p:nvSpPr>
            <p:cNvPr name="Freeform 3" id="3"/>
            <p:cNvSpPr/>
            <p:nvPr/>
          </p:nvSpPr>
          <p:spPr>
            <a:xfrm flipH="false" flipV="false" rot="0">
              <a:off x="-1" y="0"/>
              <a:ext cx="8320847" cy="11306071"/>
            </a:xfrm>
            <a:custGeom>
              <a:avLst/>
              <a:gdLst/>
              <a:ahLst/>
              <a:cxnLst/>
              <a:rect r="r" b="b" t="t" l="l"/>
              <a:pathLst>
                <a:path h="11306071" w="8320847">
                  <a:moveTo>
                    <a:pt x="7822067" y="11289153"/>
                  </a:moveTo>
                  <a:cubicBezTo>
                    <a:pt x="7822067" y="11289153"/>
                    <a:pt x="7585071" y="11279183"/>
                    <a:pt x="7222931" y="11292627"/>
                  </a:cubicBezTo>
                  <a:cubicBezTo>
                    <a:pt x="6860794" y="11306071"/>
                    <a:pt x="490924" y="11306071"/>
                    <a:pt x="490924" y="11306071"/>
                  </a:cubicBezTo>
                  <a:cubicBezTo>
                    <a:pt x="245502" y="11306071"/>
                    <a:pt x="32509" y="11208803"/>
                    <a:pt x="31032" y="11048689"/>
                  </a:cubicBezTo>
                  <a:cubicBezTo>
                    <a:pt x="31032" y="11048689"/>
                    <a:pt x="0" y="7988981"/>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7775519" y="0"/>
                    <a:pt x="7775519" y="0"/>
                  </a:cubicBezTo>
                  <a:cubicBezTo>
                    <a:pt x="8087419" y="0"/>
                    <a:pt x="8320847" y="101069"/>
                    <a:pt x="8312990" y="303616"/>
                  </a:cubicBezTo>
                  <a:cubicBezTo>
                    <a:pt x="8312990" y="303616"/>
                    <a:pt x="8310995" y="7332127"/>
                    <a:pt x="8319751" y="10349102"/>
                  </a:cubicBezTo>
                  <a:cubicBezTo>
                    <a:pt x="8328506" y="10642404"/>
                    <a:pt x="8281957" y="10975475"/>
                    <a:pt x="8281957" y="10975475"/>
                  </a:cubicBezTo>
                  <a:cubicBezTo>
                    <a:pt x="8278993" y="11155500"/>
                    <a:pt x="8067489" y="11289153"/>
                    <a:pt x="7822067" y="11289153"/>
                  </a:cubicBezTo>
                  <a:close/>
                </a:path>
              </a:pathLst>
            </a:custGeom>
            <a:solidFill>
              <a:srgbClr val="97C0CF"/>
            </a:solidFill>
          </p:spPr>
        </p:sp>
      </p:grpSp>
      <p:grpSp>
        <p:nvGrpSpPr>
          <p:cNvPr name="Group 4" id="4"/>
          <p:cNvGrpSpPr/>
          <p:nvPr/>
        </p:nvGrpSpPr>
        <p:grpSpPr>
          <a:xfrm rot="0">
            <a:off x="6544073" y="1028700"/>
            <a:ext cx="12768544" cy="8229600"/>
            <a:chOff x="0" y="0"/>
            <a:chExt cx="17024725" cy="10972800"/>
          </a:xfrm>
        </p:grpSpPr>
        <p:grpSp>
          <p:nvGrpSpPr>
            <p:cNvPr name="Group 5" id="5"/>
            <p:cNvGrpSpPr/>
            <p:nvPr/>
          </p:nvGrpSpPr>
          <p:grpSpPr>
            <a:xfrm rot="0">
              <a:off x="0" y="977717"/>
              <a:ext cx="16085166" cy="9995083"/>
              <a:chOff x="0" y="0"/>
              <a:chExt cx="15637861" cy="9717134"/>
            </a:xfrm>
          </p:grpSpPr>
          <p:sp>
            <p:nvSpPr>
              <p:cNvPr name="Freeform 6" id="6"/>
              <p:cNvSpPr/>
              <p:nvPr/>
            </p:nvSpPr>
            <p:spPr>
              <a:xfrm flipH="false" flipV="false" rot="0">
                <a:off x="-1" y="0"/>
                <a:ext cx="15637861" cy="9717134"/>
              </a:xfrm>
              <a:custGeom>
                <a:avLst/>
                <a:gdLst/>
                <a:ahLst/>
                <a:cxnLst/>
                <a:rect r="r" b="b" t="t" l="l"/>
                <a:pathLst>
                  <a:path h="9717134" w="15637861">
                    <a:moveTo>
                      <a:pt x="15139082" y="9700216"/>
                    </a:moveTo>
                    <a:cubicBezTo>
                      <a:pt x="15139082" y="9700216"/>
                      <a:pt x="14902085" y="9690246"/>
                      <a:pt x="14539946" y="9703690"/>
                    </a:cubicBezTo>
                    <a:cubicBezTo>
                      <a:pt x="14177807" y="9717134"/>
                      <a:pt x="490924" y="9717134"/>
                      <a:pt x="490924" y="9717134"/>
                    </a:cubicBezTo>
                    <a:cubicBezTo>
                      <a:pt x="245502" y="9717134"/>
                      <a:pt x="32509" y="9619866"/>
                      <a:pt x="31032" y="9459752"/>
                    </a:cubicBezTo>
                    <a:cubicBezTo>
                      <a:pt x="31032" y="9459752"/>
                      <a:pt x="0" y="6758194"/>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15092532" y="0"/>
                      <a:pt x="15092532" y="0"/>
                    </a:cubicBezTo>
                    <a:cubicBezTo>
                      <a:pt x="15404433" y="0"/>
                      <a:pt x="15637862" y="101069"/>
                      <a:pt x="15630004" y="303616"/>
                    </a:cubicBezTo>
                    <a:cubicBezTo>
                      <a:pt x="15630004" y="303616"/>
                      <a:pt x="15628010" y="6210870"/>
                      <a:pt x="15636764" y="8760165"/>
                    </a:cubicBezTo>
                    <a:cubicBezTo>
                      <a:pt x="15645519" y="9053467"/>
                      <a:pt x="15598971" y="9386538"/>
                      <a:pt x="15598971" y="9386538"/>
                    </a:cubicBezTo>
                    <a:cubicBezTo>
                      <a:pt x="15596006" y="9566563"/>
                      <a:pt x="15384502" y="9700216"/>
                      <a:pt x="15139082" y="9700216"/>
                    </a:cubicBezTo>
                    <a:close/>
                  </a:path>
                </a:pathLst>
              </a:custGeom>
              <a:solidFill>
                <a:srgbClr val="8FB7C6"/>
              </a:solidFill>
            </p:spPr>
          </p:sp>
        </p:grpSp>
        <p:grpSp>
          <p:nvGrpSpPr>
            <p:cNvPr name="Group 7" id="7"/>
            <p:cNvGrpSpPr/>
            <p:nvPr/>
          </p:nvGrpSpPr>
          <p:grpSpPr>
            <a:xfrm rot="0">
              <a:off x="175613" y="1067537"/>
              <a:ext cx="15771514" cy="9778026"/>
              <a:chOff x="0" y="0"/>
              <a:chExt cx="15562742" cy="9648591"/>
            </a:xfrm>
          </p:grpSpPr>
          <p:sp>
            <p:nvSpPr>
              <p:cNvPr name="Freeform 8" id="8"/>
              <p:cNvSpPr/>
              <p:nvPr/>
            </p:nvSpPr>
            <p:spPr>
              <a:xfrm flipH="false" flipV="false" rot="0">
                <a:off x="-1" y="0"/>
                <a:ext cx="15562742" cy="9648591"/>
              </a:xfrm>
              <a:custGeom>
                <a:avLst/>
                <a:gdLst/>
                <a:ahLst/>
                <a:cxnLst/>
                <a:rect r="r" b="b" t="t" l="l"/>
                <a:pathLst>
                  <a:path h="9648591" w="15562742">
                    <a:moveTo>
                      <a:pt x="15063962" y="9631673"/>
                    </a:moveTo>
                    <a:cubicBezTo>
                      <a:pt x="15063962" y="9631673"/>
                      <a:pt x="14826966" y="9621703"/>
                      <a:pt x="14464827" y="9635147"/>
                    </a:cubicBezTo>
                    <a:cubicBezTo>
                      <a:pt x="14102689" y="9648591"/>
                      <a:pt x="490924" y="9648591"/>
                      <a:pt x="490924" y="9648591"/>
                    </a:cubicBezTo>
                    <a:cubicBezTo>
                      <a:pt x="245502" y="9648591"/>
                      <a:pt x="32509" y="9551323"/>
                      <a:pt x="31032" y="9391209"/>
                    </a:cubicBezTo>
                    <a:cubicBezTo>
                      <a:pt x="31032" y="9391209"/>
                      <a:pt x="0" y="6705102"/>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15017413" y="0"/>
                      <a:pt x="15017413" y="0"/>
                    </a:cubicBezTo>
                    <a:cubicBezTo>
                      <a:pt x="15329315" y="0"/>
                      <a:pt x="15562743" y="101069"/>
                      <a:pt x="15554886" y="303616"/>
                    </a:cubicBezTo>
                    <a:cubicBezTo>
                      <a:pt x="15554886" y="303616"/>
                      <a:pt x="15552890" y="6162502"/>
                      <a:pt x="15561645" y="8691622"/>
                    </a:cubicBezTo>
                    <a:cubicBezTo>
                      <a:pt x="15570401" y="8984924"/>
                      <a:pt x="15523853" y="9317995"/>
                      <a:pt x="15523853" y="9317995"/>
                    </a:cubicBezTo>
                    <a:cubicBezTo>
                      <a:pt x="15520888" y="9498020"/>
                      <a:pt x="15309384" y="9631673"/>
                      <a:pt x="15063962" y="9631673"/>
                    </a:cubicBezTo>
                    <a:close/>
                  </a:path>
                </a:pathLst>
              </a:custGeom>
              <a:solidFill>
                <a:srgbClr val="8FB7C6"/>
              </a:solidFill>
            </p:spPr>
          </p:sp>
        </p:grpSp>
        <p:grpSp>
          <p:nvGrpSpPr>
            <p:cNvPr name="Group 9" id="9"/>
            <p:cNvGrpSpPr/>
            <p:nvPr/>
          </p:nvGrpSpPr>
          <p:grpSpPr>
            <a:xfrm rot="0">
              <a:off x="633489" y="0"/>
              <a:ext cx="15313638" cy="10328670"/>
              <a:chOff x="0" y="0"/>
              <a:chExt cx="15872097" cy="10705337"/>
            </a:xfrm>
          </p:grpSpPr>
          <p:sp>
            <p:nvSpPr>
              <p:cNvPr name="Freeform 10" id="10"/>
              <p:cNvSpPr/>
              <p:nvPr/>
            </p:nvSpPr>
            <p:spPr>
              <a:xfrm flipH="false" flipV="false" rot="0">
                <a:off x="-1" y="0"/>
                <a:ext cx="15872097" cy="10705337"/>
              </a:xfrm>
              <a:custGeom>
                <a:avLst/>
                <a:gdLst/>
                <a:ahLst/>
                <a:cxnLst/>
                <a:rect r="r" b="b" t="t" l="l"/>
                <a:pathLst>
                  <a:path h="10705337" w="15872097">
                    <a:moveTo>
                      <a:pt x="15373317" y="10688418"/>
                    </a:moveTo>
                    <a:cubicBezTo>
                      <a:pt x="15373317" y="10688418"/>
                      <a:pt x="15136321" y="10678449"/>
                      <a:pt x="14774181" y="10691893"/>
                    </a:cubicBezTo>
                    <a:cubicBezTo>
                      <a:pt x="14412044" y="10705337"/>
                      <a:pt x="490924" y="10705337"/>
                      <a:pt x="490924" y="10705337"/>
                    </a:cubicBezTo>
                    <a:cubicBezTo>
                      <a:pt x="245502" y="10705337"/>
                      <a:pt x="32509" y="10608069"/>
                      <a:pt x="31032" y="10447955"/>
                    </a:cubicBezTo>
                    <a:cubicBezTo>
                      <a:pt x="31032" y="10447955"/>
                      <a:pt x="0" y="7523653"/>
                      <a:pt x="0" y="606979"/>
                    </a:cubicBezTo>
                    <a:cubicBezTo>
                      <a:pt x="0" y="392820"/>
                      <a:pt x="15517" y="249246"/>
                      <a:pt x="15517" y="249246"/>
                    </a:cubicBezTo>
                    <a:cubicBezTo>
                      <a:pt x="15518" y="120578"/>
                      <a:pt x="1" y="0"/>
                      <a:pt x="459892" y="8134"/>
                    </a:cubicBezTo>
                    <a:cubicBezTo>
                      <a:pt x="459892" y="8134"/>
                      <a:pt x="1144663" y="28433"/>
                      <a:pt x="1627778" y="20834"/>
                    </a:cubicBezTo>
                    <a:cubicBezTo>
                      <a:pt x="2144992" y="12700"/>
                      <a:pt x="15326768" y="0"/>
                      <a:pt x="15326768" y="0"/>
                    </a:cubicBezTo>
                    <a:cubicBezTo>
                      <a:pt x="15638670" y="0"/>
                      <a:pt x="15872097" y="101069"/>
                      <a:pt x="15864240" y="303616"/>
                    </a:cubicBezTo>
                    <a:cubicBezTo>
                      <a:pt x="15864240" y="303616"/>
                      <a:pt x="15862245" y="6908210"/>
                      <a:pt x="15871000" y="9748368"/>
                    </a:cubicBezTo>
                    <a:cubicBezTo>
                      <a:pt x="15879756" y="10041669"/>
                      <a:pt x="15833208" y="10374741"/>
                      <a:pt x="15833208" y="10374741"/>
                    </a:cubicBezTo>
                    <a:cubicBezTo>
                      <a:pt x="15830242" y="10554766"/>
                      <a:pt x="15618739" y="10688418"/>
                      <a:pt x="15373317" y="10688418"/>
                    </a:cubicBezTo>
                    <a:close/>
                  </a:path>
                </a:pathLst>
              </a:custGeom>
              <a:solidFill>
                <a:srgbClr val="F3FCFF"/>
              </a:solidFill>
            </p:spPr>
          </p:sp>
        </p:grpSp>
        <p:sp>
          <p:nvSpPr>
            <p:cNvPr name="AutoShape 11" id="11"/>
            <p:cNvSpPr/>
            <p:nvPr/>
          </p:nvSpPr>
          <p:spPr>
            <a:xfrm>
              <a:off x="1549934" y="9826016"/>
              <a:ext cx="15474734" cy="34286"/>
            </a:xfrm>
            <a:prstGeom prst="line">
              <a:avLst/>
            </a:prstGeom>
            <a:ln cap="rnd" w="50800">
              <a:solidFill>
                <a:srgbClr val="8FB7C6"/>
              </a:solidFill>
              <a:prstDash val="solid"/>
              <a:headEnd type="none" len="sm" w="sm"/>
              <a:tailEnd type="none" len="sm" w="sm"/>
            </a:ln>
          </p:spPr>
        </p:sp>
      </p:grpSp>
      <p:sp>
        <p:nvSpPr>
          <p:cNvPr name="TextBox 12" id="12"/>
          <p:cNvSpPr txBox="true"/>
          <p:nvPr/>
        </p:nvSpPr>
        <p:spPr>
          <a:xfrm rot="0">
            <a:off x="7708820" y="2718492"/>
            <a:ext cx="9550480" cy="3849751"/>
          </a:xfrm>
          <a:prstGeom prst="rect">
            <a:avLst/>
          </a:prstGeom>
        </p:spPr>
        <p:txBody>
          <a:bodyPr anchor="t" rtlCol="false" tIns="0" lIns="0" bIns="0" rIns="0">
            <a:spAutoFit/>
          </a:bodyPr>
          <a:lstStyle/>
          <a:p>
            <a:pPr algn="l" marL="690882" indent="-345441" lvl="1">
              <a:lnSpc>
                <a:spcPts val="4352"/>
              </a:lnSpc>
              <a:buAutoNum type="arabicPeriod" startAt="1"/>
            </a:pPr>
            <a:r>
              <a:rPr lang="en-US" b="true" sz="3200">
                <a:solidFill>
                  <a:srgbClr val="1D2B74"/>
                </a:solidFill>
                <a:latin typeface="Faustina Bold"/>
                <a:ea typeface="Faustina Bold"/>
                <a:cs typeface="Faustina Bold"/>
                <a:sym typeface="Faustina Bold"/>
              </a:rPr>
              <a:t>Tí</a:t>
            </a:r>
            <a:r>
              <a:rPr lang="en-US" b="true" sz="3200">
                <a:solidFill>
                  <a:srgbClr val="1D2B74"/>
                </a:solidFill>
                <a:latin typeface="Faustina Bold"/>
                <a:ea typeface="Faustina Bold"/>
                <a:cs typeface="Faustina Bold"/>
                <a:sym typeface="Faustina Bold"/>
              </a:rPr>
              <a:t>nh bạch (explainability) và khả năng truy vết nguồn gốc code (ai hoặc AI tạo ra) sẽ trở nên quan trọng, </a:t>
            </a:r>
            <a:r>
              <a:rPr lang="en-US" sz="3200">
                <a:solidFill>
                  <a:srgbClr val="1D2B74"/>
                </a:solidFill>
                <a:latin typeface="Faustina"/>
                <a:ea typeface="Faustina"/>
                <a:cs typeface="Faustina"/>
                <a:sym typeface="Faustina"/>
              </a:rPr>
              <a:t>đặc biệt trong các ngành được quản lý chặt chẽ như giao thông, ngân hàng và y tế.</a:t>
            </a:r>
          </a:p>
          <a:p>
            <a:pPr algn="l" marL="690882" indent="-345441" lvl="1">
              <a:lnSpc>
                <a:spcPts val="4352"/>
              </a:lnSpc>
              <a:buAutoNum type="arabicPeriod" startAt="1"/>
            </a:pPr>
            <a:r>
              <a:rPr lang="en-US" sz="3200">
                <a:solidFill>
                  <a:srgbClr val="1D2B74"/>
                </a:solidFill>
                <a:latin typeface="Faustina"/>
                <a:ea typeface="Faustina"/>
                <a:cs typeface="Faustina"/>
                <a:sym typeface="Faustina"/>
              </a:rPr>
              <a:t>Các vấn đề về </a:t>
            </a:r>
            <a:r>
              <a:rPr lang="en-US" b="true" sz="3200">
                <a:solidFill>
                  <a:srgbClr val="1D2B74"/>
                </a:solidFill>
                <a:latin typeface="Faustina Bold"/>
                <a:ea typeface="Faustina Bold"/>
                <a:cs typeface="Faustina Bold"/>
                <a:sym typeface="Faustina Bold"/>
              </a:rPr>
              <a:t>pháp lý, đạo đức và trách nhiệm </a:t>
            </a:r>
            <a:r>
              <a:rPr lang="en-US" sz="3200">
                <a:solidFill>
                  <a:srgbClr val="1D2B74"/>
                </a:solidFill>
                <a:latin typeface="Faustina"/>
                <a:ea typeface="Faustina"/>
                <a:cs typeface="Faustina"/>
                <a:sym typeface="Faustina"/>
              </a:rPr>
              <a:t>cũng cần được cân nhắc giải quyết.</a:t>
            </a:r>
          </a:p>
          <a:p>
            <a:pPr algn="l" marL="690882" indent="-345441" lvl="1">
              <a:lnSpc>
                <a:spcPts val="4352"/>
              </a:lnSpc>
              <a:buAutoNum type="arabicPeriod" startAt="1"/>
            </a:pPr>
            <a:r>
              <a:rPr lang="en-US" sz="3200">
                <a:solidFill>
                  <a:srgbClr val="1D2B74"/>
                </a:solidFill>
                <a:latin typeface="Faustina"/>
                <a:ea typeface="Faustina"/>
                <a:cs typeface="Faustina"/>
                <a:sym typeface="Faustina"/>
              </a:rPr>
              <a:t>Một thách thức khác là </a:t>
            </a:r>
            <a:r>
              <a:rPr lang="en-US" b="true" sz="3200">
                <a:solidFill>
                  <a:srgbClr val="1D2B74"/>
                </a:solidFill>
                <a:latin typeface="Faustina Bold"/>
                <a:ea typeface="Faustina Bold"/>
                <a:cs typeface="Faustina Bold"/>
                <a:sym typeface="Faustina Bold"/>
              </a:rPr>
              <a:t>bản quyền phần mềm. </a:t>
            </a:r>
          </a:p>
        </p:txBody>
      </p:sp>
      <p:sp>
        <p:nvSpPr>
          <p:cNvPr name="TextBox 13" id="13"/>
          <p:cNvSpPr txBox="true"/>
          <p:nvPr/>
        </p:nvSpPr>
        <p:spPr>
          <a:xfrm rot="0">
            <a:off x="592201" y="1866620"/>
            <a:ext cx="5102816" cy="2371725"/>
          </a:xfrm>
          <a:prstGeom prst="rect">
            <a:avLst/>
          </a:prstGeom>
        </p:spPr>
        <p:txBody>
          <a:bodyPr anchor="t" rtlCol="false" tIns="0" lIns="0" bIns="0" rIns="0">
            <a:spAutoFit/>
          </a:bodyPr>
          <a:lstStyle/>
          <a:p>
            <a:pPr algn="l">
              <a:lnSpc>
                <a:spcPts val="6269"/>
              </a:lnSpc>
            </a:pPr>
            <a:r>
              <a:rPr lang="en-US" sz="5224" b="true">
                <a:solidFill>
                  <a:srgbClr val="1D2B74"/>
                </a:solidFill>
                <a:latin typeface="Faustina Bold"/>
                <a:ea typeface="Faustina Bold"/>
                <a:cs typeface="Faustina Bold"/>
                <a:sym typeface="Faustina Bold"/>
              </a:rPr>
              <a:t>Rủi ro và quản trị</a:t>
            </a:r>
          </a:p>
          <a:p>
            <a:pPr algn="l">
              <a:lnSpc>
                <a:spcPts val="6269"/>
              </a:lnSpc>
            </a:pPr>
            <a:r>
              <a:rPr lang="en-US" sz="5224" b="true">
                <a:solidFill>
                  <a:srgbClr val="1D2B74"/>
                </a:solidFill>
                <a:latin typeface="Faustina Bold"/>
                <a:ea typeface="Faustina Bold"/>
                <a:cs typeface="Faustina Bold"/>
                <a:sym typeface="Faustina Bold"/>
              </a:rPr>
              <a:t>(Risk and governance)</a:t>
            </a:r>
          </a:p>
        </p:txBody>
      </p:sp>
      <p:sp>
        <p:nvSpPr>
          <p:cNvPr name="TextBox 14" id="14"/>
          <p:cNvSpPr txBox="true"/>
          <p:nvPr/>
        </p:nvSpPr>
        <p:spPr>
          <a:xfrm rot="0">
            <a:off x="592201" y="5609012"/>
            <a:ext cx="4706310" cy="959231"/>
          </a:xfrm>
          <a:prstGeom prst="rect">
            <a:avLst/>
          </a:prstGeom>
        </p:spPr>
        <p:txBody>
          <a:bodyPr anchor="t" rtlCol="false" tIns="0" lIns="0" bIns="0" rIns="0">
            <a:spAutoFit/>
          </a:bodyPr>
          <a:lstStyle/>
          <a:p>
            <a:pPr algn="l" marL="0" indent="0" lvl="0">
              <a:lnSpc>
                <a:spcPts val="3712"/>
              </a:lnSpc>
              <a:spcBef>
                <a:spcPct val="0"/>
              </a:spcBef>
            </a:pPr>
            <a:r>
              <a:rPr lang="en-US" sz="3200">
                <a:solidFill>
                  <a:srgbClr val="1D2B74"/>
                </a:solidFill>
                <a:latin typeface="Asap"/>
                <a:ea typeface="Asap"/>
                <a:cs typeface="Asap"/>
                <a:sym typeface="Asap"/>
              </a:rPr>
              <a:t>Con</a:t>
            </a:r>
            <a:r>
              <a:rPr lang="en-US" sz="3200" strike="noStrike" u="none">
                <a:solidFill>
                  <a:srgbClr val="1D2B74"/>
                </a:solidFill>
                <a:latin typeface="Asap"/>
                <a:ea typeface="Asap"/>
                <a:cs typeface="Asap"/>
                <a:sym typeface="Asap"/>
              </a:rPr>
              <a:t> người vẫn chịu trách nhiệm cuối cùng về code.</a:t>
            </a:r>
          </a:p>
        </p:txBody>
      </p:sp>
    </p:spTree>
  </p:cSld>
  <p:clrMapOvr>
    <a:masterClrMapping/>
  </p:clrMapOvr>
</p:sld>
</file>

<file path=ppt/slides/slide49.xml><?xml version="1.0" encoding="utf-8"?>
<p:sld xmlns:p="http://schemas.openxmlformats.org/presentationml/2006/main" xmlns:a="http://schemas.openxmlformats.org/drawingml/2006/main">
  <p:cSld>
    <p:bg>
      <p:bgPr>
        <a:solidFill>
          <a:srgbClr val="C8E3ED"/>
        </a:solidFill>
      </p:bgPr>
    </p:bg>
    <p:spTree>
      <p:nvGrpSpPr>
        <p:cNvPr id="1" name=""/>
        <p:cNvGrpSpPr/>
        <p:nvPr/>
      </p:nvGrpSpPr>
      <p:grpSpPr>
        <a:xfrm>
          <a:off x="0" y="0"/>
          <a:ext cx="0" cy="0"/>
          <a:chOff x="0" y="0"/>
          <a:chExt cx="0" cy="0"/>
        </a:xfrm>
      </p:grpSpPr>
      <p:sp>
        <p:nvSpPr>
          <p:cNvPr name="TextBox 2" id="2"/>
          <p:cNvSpPr txBox="true"/>
          <p:nvPr/>
        </p:nvSpPr>
        <p:spPr>
          <a:xfrm rot="0">
            <a:off x="4094942" y="4396576"/>
            <a:ext cx="10098116" cy="1531948"/>
          </a:xfrm>
          <a:prstGeom prst="rect">
            <a:avLst/>
          </a:prstGeom>
        </p:spPr>
        <p:txBody>
          <a:bodyPr anchor="t" rtlCol="false" tIns="0" lIns="0" bIns="0" rIns="0">
            <a:spAutoFit/>
          </a:bodyPr>
          <a:lstStyle/>
          <a:p>
            <a:pPr algn="ctr">
              <a:lnSpc>
                <a:spcPts val="12008"/>
              </a:lnSpc>
              <a:spcBef>
                <a:spcPct val="0"/>
              </a:spcBef>
            </a:pPr>
            <a:r>
              <a:rPr lang="en-US" b="true" sz="10351">
                <a:solidFill>
                  <a:srgbClr val="000000"/>
                </a:solidFill>
                <a:latin typeface="Birthstone Bounce Medium"/>
                <a:ea typeface="Birthstone Bounce Medium"/>
                <a:cs typeface="Birthstone Bounce Medium"/>
                <a:sym typeface="Birthstone Bounce Medium"/>
              </a:rPr>
              <a:t>Thank   for  watching &lt;3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DAHFb-gHpVg</dc:identifier>
  <dcterms:modified xsi:type="dcterms:W3CDTF">2011-08-01T06:04:30Z</dcterms:modified>
  <cp:revision>1</cp:revision>
  <dc:title>Bài thuyết trình Giáo dục Chủ đề hoặc Ý tưởng chủ đạo trong một câu chuyện Xanh dương Trắng Thân thiện Phong cách Vẽ tay</dc:title>
</cp:coreProperties>
</file>